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2aCl8hsbN2BMD0/jk4rcNiz6Q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087f136a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c087f136a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c087f136a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087f136a6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c087f136a6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087f136a6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087f136a6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c087f136a6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c087f136a6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087f136a6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c087f136a6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c087f136a6_0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ba40ec40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cba40ec40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cba40ec40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ba40ec40a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cba40ec40a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cba40ec40a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c0148990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cc0148990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cc0148990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cc0148990a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cc0148990a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cc0148990a_0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cc0148990a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cc0148990a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cc0148990a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cc0148990a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cc0148990a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cc0148990a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cc0148990a_0_4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3cc0148990a_0_4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cc0148990a_0_4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86cf4f2a54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g386cf4f2a54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g386cf4f2a54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" name="Google Shape;11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c4f9b62440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3c4f9b62440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g3c4f9b62440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c4f9b62440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g3c4f9b62440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g3c4f9b62440_0_2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c4f9b62440_0_3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g3c4f9b62440_0_3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c4f9b62440_0_3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cd8d7dd2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2" name="Google Shape;1302;g3cd8d7dd2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g3cd8d7dd27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cd8d7dd279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3" name="Google Shape;1363;g3cd8d7dd279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g3cd8d7dd279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cd8d7dd279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g3cd8d7dd279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g3cd8d7dd279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3cd8d7dd279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g3cd8d7dd279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g3cd8d7dd279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3cfe42002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4" name="Google Shape;1594;g3cfe42002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g3cfe42002f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2514600"/>
            <a:ext cx="9144000" cy="640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Spin Framework Overview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92480" y="2926080"/>
            <a:ext cx="3474600" cy="1737300"/>
          </a:xfrm>
          <a:prstGeom prst="rect">
            <a:avLst/>
          </a:prstGeom>
          <a:solidFill>
            <a:srgbClr val="1A4A6A"/>
          </a:solidFill>
          <a:ln cap="flat" cmpd="sng" w="12700">
            <a:solidFill>
              <a:srgbClr val="1A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92480" y="2926080"/>
            <a:ext cx="63900" cy="17373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57072" y="3017520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6: 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Phases 1–3 &amp; Features 1–8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09100" y="204827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Phases 1–3  |  Features 1–8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212080" y="2926080"/>
            <a:ext cx="3474600" cy="17373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376672" y="3017520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Session 7: </a:t>
            </a:r>
            <a:b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Features 9–14 &amp; Phase 5 (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Rule Vetting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320040"/>
            <a:ext cx="2011800" cy="3474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" y="32004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SESSION </a:t>
            </a:r>
            <a:r>
              <a:rPr b="1" lang="en-US" sz="1100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212080" y="2926080"/>
            <a:ext cx="63900" cy="173730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20040" y="4572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5-Phase Spin Evaluation Framework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74320" y="1417320"/>
            <a:ext cx="457200" cy="457200"/>
          </a:xfrm>
          <a:prstGeom prst="ellipse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41248" y="1435608"/>
            <a:ext cx="7772400" cy="420624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41248" y="1435608"/>
            <a:ext cx="54864" cy="420624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60120" y="1435608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Phase 1: Is it a Spin?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— Spinning motion, 3+ consecutive revolutions, on the blade — gets a 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229600" y="1508760"/>
            <a:ext cx="685800" cy="246888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229600" y="1508760"/>
            <a:ext cx="685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2148840"/>
            <a:ext cx="457200" cy="45720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41248" y="2167128"/>
            <a:ext cx="77724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41248" y="2167128"/>
            <a:ext cx="54864" cy="42062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60120" y="2167128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Phase 2: What Code?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— Flying? Change of foot? Combination? One position? → 20 valid codes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229600" y="2240280"/>
            <a:ext cx="685800" cy="24688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229600" y="2240280"/>
            <a:ext cx="685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74320" y="2880360"/>
            <a:ext cx="457200" cy="457200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7432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41248" y="2898648"/>
            <a:ext cx="7772400" cy="420624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41248" y="2898648"/>
            <a:ext cx="54864" cy="420624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960120" y="2898648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Phase 3: Does it Have Value?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— Revolution count, 2 continuous revs in position, combination positions, V-flags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229600" y="2971800"/>
            <a:ext cx="685800" cy="24688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229600" y="2971800"/>
            <a:ext cx="685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74320" y="3611880"/>
            <a:ext cx="457200" cy="457200"/>
          </a:xfrm>
          <a:prstGeom prst="ellipse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41248" y="3630168"/>
            <a:ext cx="77724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41248" y="3630168"/>
            <a:ext cx="54864" cy="420624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960120" y="3630168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Phase 4: What Level?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— 14 features, 6 mandatory </a:t>
            </a: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features 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(1 for L4), level caps by competitive 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229600" y="3703320"/>
            <a:ext cx="685800" cy="246888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229600" y="3703320"/>
            <a:ext cx="685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S6+7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74320" y="4343400"/>
            <a:ext cx="457200" cy="457200"/>
          </a:xfrm>
          <a:prstGeom prst="ellipse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7432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41248" y="4361688"/>
            <a:ext cx="7772400" cy="420624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841248" y="4361688"/>
            <a:ext cx="54864" cy="420624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960120" y="4361688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Phase 5: Program Requirements?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— </a:t>
            </a: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Rule vetting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asterisks, same-code rule, level-specific rules, 2026-27 changes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229600" y="4434840"/>
            <a:ext cx="685800" cy="246888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229600" y="4434840"/>
            <a:ext cx="685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74320" y="5093208"/>
            <a:ext cx="8595360" cy="2286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20040" y="5093208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Phase 3 failure = No Value (Sp).  Phase 5 violation = Asterisk (*).  These are different outcomes with different consequences.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087f136a6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087f136a6_0_0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c087f136a6_0_0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Is It a Spin? — The Rules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c087f136a6_0_0"/>
          <p:cNvSpPr/>
          <p:nvPr/>
        </p:nvSpPr>
        <p:spPr>
          <a:xfrm>
            <a:off x="1874520" y="1005840"/>
            <a:ext cx="6949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Four qualification criteria that must ALL be satisfied before a spin occupies a 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c087f136a6_0_0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c087f136a6_0_0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— RULES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c087f136a6_0_0"/>
          <p:cNvSpPr/>
          <p:nvPr/>
        </p:nvSpPr>
        <p:spPr>
          <a:xfrm>
            <a:off x="274320" y="1371600"/>
            <a:ext cx="4251900" cy="17373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c087f136a6_0_0"/>
          <p:cNvSpPr/>
          <p:nvPr/>
        </p:nvSpPr>
        <p:spPr>
          <a:xfrm>
            <a:off x="274320" y="1371600"/>
            <a:ext cx="63900" cy="17373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c087f136a6_0_0"/>
          <p:cNvSpPr/>
          <p:nvPr/>
        </p:nvSpPr>
        <p:spPr>
          <a:xfrm>
            <a:off x="402336" y="1463040"/>
            <a:ext cx="301800" cy="301800"/>
          </a:xfrm>
          <a:prstGeom prst="ellipse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087f136a6_0_0"/>
          <p:cNvSpPr/>
          <p:nvPr/>
        </p:nvSpPr>
        <p:spPr>
          <a:xfrm>
            <a:off x="402336" y="1463040"/>
            <a:ext cx="301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c087f136a6_0_0"/>
          <p:cNvSpPr/>
          <p:nvPr/>
        </p:nvSpPr>
        <p:spPr>
          <a:xfrm>
            <a:off x="795528" y="1463040"/>
            <a:ext cx="363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3+ Revolutions on a Sustained 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c087f136a6_0_0"/>
          <p:cNvSpPr/>
          <p:nvPr/>
        </p:nvSpPr>
        <p:spPr>
          <a:xfrm>
            <a:off x="795528" y="1764792"/>
            <a:ext cx="17109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087f136a6_0_0"/>
          <p:cNvSpPr/>
          <p:nvPr/>
        </p:nvSpPr>
        <p:spPr>
          <a:xfrm>
            <a:off x="795528" y="1764792"/>
            <a:ext cx="1710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20"/>
              <a:buFont typeface="Courier New"/>
              <a:buNone/>
            </a:pPr>
            <a:r>
              <a:rPr b="1" i="0" lang="en-US" sz="72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§SPIN.GEN.NOVALUE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c087f136a6_0_0"/>
          <p:cNvSpPr/>
          <p:nvPr/>
        </p:nvSpPr>
        <p:spPr>
          <a:xfrm>
            <a:off x="402336" y="1984248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Minimum 3 revolutions performed continuously on an edge on the 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c087f136a6_0_0"/>
          <p:cNvSpPr/>
          <p:nvPr/>
        </p:nvSpPr>
        <p:spPr>
          <a:xfrm>
            <a:off x="402336" y="2240280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Blade must maintain contact with the ice on an edge — not a twizzle (quick rotation with continuous uninterrupted action not on an edge)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c087f136a6_0_0"/>
          <p:cNvSpPr/>
          <p:nvPr/>
        </p:nvSpPr>
        <p:spPr>
          <a:xfrm>
            <a:off x="402336" y="2496312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Entrance rotations typically count as part of the beginning phase even if not yet in any recognized 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c087f136a6_0_0"/>
          <p:cNvSpPr/>
          <p:nvPr/>
        </p:nvSpPr>
        <p:spPr>
          <a:xfrm>
            <a:off x="402336" y="2752344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Applies regardless of speed or distance covered across the 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c087f136a6_0_0"/>
          <p:cNvSpPr/>
          <p:nvPr/>
        </p:nvSpPr>
        <p:spPr>
          <a:xfrm>
            <a:off x="4617725" y="1371600"/>
            <a:ext cx="4251900" cy="17373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087f136a6_0_0"/>
          <p:cNvSpPr/>
          <p:nvPr/>
        </p:nvSpPr>
        <p:spPr>
          <a:xfrm>
            <a:off x="4617725" y="1371600"/>
            <a:ext cx="63900" cy="1737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c087f136a6_0_0"/>
          <p:cNvSpPr/>
          <p:nvPr/>
        </p:nvSpPr>
        <p:spPr>
          <a:xfrm>
            <a:off x="4745736" y="1463040"/>
            <a:ext cx="301800" cy="30180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c087f136a6_0_0"/>
          <p:cNvSpPr/>
          <p:nvPr/>
        </p:nvSpPr>
        <p:spPr>
          <a:xfrm>
            <a:off x="4745736" y="1463040"/>
            <a:ext cx="301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c087f136a6_0_0"/>
          <p:cNvSpPr/>
          <p:nvPr/>
        </p:nvSpPr>
        <p:spPr>
          <a:xfrm>
            <a:off x="5138928" y="1463040"/>
            <a:ext cx="363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Not Performed Within a Choreographic Sequence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c087f136a6_0_0"/>
          <p:cNvSpPr/>
          <p:nvPr/>
        </p:nvSpPr>
        <p:spPr>
          <a:xfrm>
            <a:off x="5138928" y="1764792"/>
            <a:ext cx="16404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c087f136a6_0_0"/>
          <p:cNvSpPr/>
          <p:nvPr/>
        </p:nvSpPr>
        <p:spPr>
          <a:xfrm>
            <a:off x="5138928" y="1764792"/>
            <a:ext cx="1640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20"/>
              <a:buFont typeface="Courier New"/>
              <a:buNone/>
            </a:pPr>
            <a:r>
              <a:rPr b="1" i="0" lang="en-US" sz="72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§CHOREO.CL.SPINS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c087f136a6_0_0"/>
          <p:cNvSpPr/>
          <p:nvPr/>
        </p:nvSpPr>
        <p:spPr>
          <a:xfrm>
            <a:off x="4745736" y="1984248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Any spin included in the Choreographic Sequence will not be called and will not occupy an element's 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c087f136a6_0_0"/>
          <p:cNvSpPr/>
          <p:nvPr/>
        </p:nvSpPr>
        <p:spPr>
          <a:xfrm>
            <a:off x="4745736" y="2240280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Rule exists to protect skaters: artistic/musical spinning movements during ChSq should not penalize later technical elements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c087f136a6_0_0"/>
          <p:cNvSpPr/>
          <p:nvPr/>
        </p:nvSpPr>
        <p:spPr>
          <a:xfrm>
            <a:off x="4745736" y="2496312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Spins during ChSq are for artistic and musical expression — intentionally excluded from technical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c087f136a6_0_0"/>
          <p:cNvSpPr/>
          <p:nvPr/>
        </p:nvSpPr>
        <p:spPr>
          <a:xfrm>
            <a:off x="274320" y="3163824"/>
            <a:ext cx="4251900" cy="15729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c087f136a6_0_0"/>
          <p:cNvSpPr/>
          <p:nvPr/>
        </p:nvSpPr>
        <p:spPr>
          <a:xfrm>
            <a:off x="274320" y="3163824"/>
            <a:ext cx="63900" cy="1572900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087f136a6_0_0"/>
          <p:cNvSpPr/>
          <p:nvPr/>
        </p:nvSpPr>
        <p:spPr>
          <a:xfrm>
            <a:off x="402336" y="3255264"/>
            <a:ext cx="301800" cy="301800"/>
          </a:xfrm>
          <a:prstGeom prst="ellipse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c087f136a6_0_0"/>
          <p:cNvSpPr/>
          <p:nvPr/>
        </p:nvSpPr>
        <p:spPr>
          <a:xfrm>
            <a:off x="402336" y="3255264"/>
            <a:ext cx="301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c087f136a6_0_0"/>
          <p:cNvSpPr/>
          <p:nvPr/>
        </p:nvSpPr>
        <p:spPr>
          <a:xfrm>
            <a:off x="795528" y="3255264"/>
            <a:ext cx="363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Not Post-Fall Spinning (Time-Filling)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c087f136a6_0_0"/>
          <p:cNvSpPr/>
          <p:nvPr/>
        </p:nvSpPr>
        <p:spPr>
          <a:xfrm>
            <a:off x="795528" y="3557016"/>
            <a:ext cx="14997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c087f136a6_0_0"/>
          <p:cNvSpPr/>
          <p:nvPr/>
        </p:nvSpPr>
        <p:spPr>
          <a:xfrm>
            <a:off x="795528" y="3557016"/>
            <a:ext cx="1499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20"/>
              <a:buFont typeface="Courier New"/>
              <a:buNone/>
            </a:pPr>
            <a:r>
              <a:rPr b="1" i="0" lang="en-US" sz="72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§SPIN.GEN.FALL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c087f136a6_0_0"/>
          <p:cNvSpPr/>
          <p:nvPr/>
        </p:nvSpPr>
        <p:spPr>
          <a:xfrm>
            <a:off x="402336" y="3776472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a skater falls when entering a spin, or during any failed spin, spinning movement immediately after the fall is allowed for time-filling purposes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c087f136a6_0_0"/>
          <p:cNvSpPr/>
          <p:nvPr/>
        </p:nvSpPr>
        <p:spPr>
          <a:xfrm>
            <a:off x="402336" y="4032504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Post-fall spinning: NOT evaluated, NOT counted as an element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c087f136a6_0_0"/>
          <p:cNvSpPr/>
          <p:nvPr/>
        </p:nvSpPr>
        <p:spPr>
          <a:xfrm>
            <a:off x="402336" y="4288536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Only the first attempt (before the fall) is evaluated — the post-fall movement is ignored by the Technical Panel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c087f136a6_0_0"/>
          <p:cNvSpPr/>
          <p:nvPr/>
        </p:nvSpPr>
        <p:spPr>
          <a:xfrm>
            <a:off x="4617720" y="3163824"/>
            <a:ext cx="4251900" cy="15729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087f136a6_0_0"/>
          <p:cNvSpPr/>
          <p:nvPr/>
        </p:nvSpPr>
        <p:spPr>
          <a:xfrm>
            <a:off x="4617720" y="3163824"/>
            <a:ext cx="63900" cy="157290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c087f136a6_0_0"/>
          <p:cNvSpPr/>
          <p:nvPr/>
        </p:nvSpPr>
        <p:spPr>
          <a:xfrm>
            <a:off x="4745736" y="3255264"/>
            <a:ext cx="301800" cy="301800"/>
          </a:xfrm>
          <a:prstGeom prst="ellipse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087f136a6_0_0"/>
          <p:cNvSpPr/>
          <p:nvPr/>
        </p:nvSpPr>
        <p:spPr>
          <a:xfrm>
            <a:off x="4745736" y="3255264"/>
            <a:ext cx="301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c087f136a6_0_0"/>
          <p:cNvSpPr/>
          <p:nvPr/>
        </p:nvSpPr>
        <p:spPr>
          <a:xfrm>
            <a:off x="5138928" y="3255264"/>
            <a:ext cx="363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Started Within Required Program Time (+10 Sec)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c087f136a6_0_0"/>
          <p:cNvSpPr/>
          <p:nvPr/>
        </p:nvSpPr>
        <p:spPr>
          <a:xfrm>
            <a:off x="5138928" y="3557016"/>
            <a:ext cx="12801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c087f136a6_0_0"/>
          <p:cNvSpPr/>
          <p:nvPr/>
        </p:nvSpPr>
        <p:spPr>
          <a:xfrm>
            <a:off x="5138928" y="3557016"/>
            <a:ext cx="1280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20"/>
              <a:buFont typeface="Courier New"/>
              <a:buNone/>
            </a:pPr>
            <a:r>
              <a:rPr b="1" i="0" lang="en-US" sz="72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§CALL.TIME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c087f136a6_0_0"/>
          <p:cNvSpPr/>
          <p:nvPr/>
        </p:nvSpPr>
        <p:spPr>
          <a:xfrm>
            <a:off x="4745736" y="3776472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Any element started after the required program time plus the 10-second grace period must not be identified by the Technical Panel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c087f136a6_0_0"/>
          <p:cNvSpPr/>
          <p:nvPr/>
        </p:nvSpPr>
        <p:spPr>
          <a:xfrm>
            <a:off x="4745736" y="4032504"/>
            <a:ext cx="4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Result: element started too late = no value, not identified by TP — it does not exist in the protocol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c087f136a6_0_0"/>
          <p:cNvSpPr/>
          <p:nvPr/>
        </p:nvSpPr>
        <p:spPr>
          <a:xfrm>
            <a:off x="274300" y="4813250"/>
            <a:ext cx="8595300" cy="2742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087f136a6_0_0"/>
          <p:cNvSpPr/>
          <p:nvPr/>
        </p:nvSpPr>
        <p:spPr>
          <a:xfrm>
            <a:off x="274300" y="481887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Special case — fall before 3 revolutions  </a:t>
            </a:r>
            <a:r>
              <a:rPr b="0" i="0" lang="en-US" sz="900" u="none" cap="none" strike="noStrike">
                <a:solidFill>
                  <a:srgbClr val="2E5E38"/>
                </a:solidFill>
                <a:latin typeface="Calibri"/>
                <a:ea typeface="Calibri"/>
                <a:cs typeface="Calibri"/>
                <a:sym typeface="Calibri"/>
              </a:rPr>
              <a:t> Intended spin + fall before 3 revs = element </a:t>
            </a:r>
            <a:r>
              <a:rPr b="1" i="0" lang="en-US" sz="9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still occupies a box</a:t>
            </a:r>
            <a:r>
              <a:rPr b="0" i="0" lang="en-US" sz="900" u="none" cap="none" strike="noStrike">
                <a:solidFill>
                  <a:srgbClr val="2E5E38"/>
                </a:solidFill>
                <a:latin typeface="Calibri"/>
                <a:ea typeface="Calibri"/>
                <a:cs typeface="Calibri"/>
                <a:sym typeface="Calibri"/>
              </a:rPr>
              <a:t> (weight transfer). No intended spin = skating movement, no box.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087f136a6_0_5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c087f136a6_0_54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087f136a6_0_54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Is It a Spin? — Practical Flowchart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c087f136a6_0_54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c087f136a6_0_54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— FLOWCHART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c087f136a6_0_54"/>
          <p:cNvSpPr/>
          <p:nvPr/>
        </p:nvSpPr>
        <p:spPr>
          <a:xfrm>
            <a:off x="3200400" y="1021080"/>
            <a:ext cx="2286000" cy="3018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g3c087f136a6_0_54"/>
          <p:cNvCxnSpPr>
            <a:stCxn id="138" idx="2"/>
            <a:endCxn id="139" idx="0"/>
          </p:cNvCxnSpPr>
          <p:nvPr/>
        </p:nvCxnSpPr>
        <p:spPr>
          <a:xfrm>
            <a:off x="4343400" y="1322880"/>
            <a:ext cx="0" cy="1584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g3c087f136a6_0_54"/>
          <p:cNvSpPr/>
          <p:nvPr/>
        </p:nvSpPr>
        <p:spPr>
          <a:xfrm>
            <a:off x="3200400" y="1021080"/>
            <a:ext cx="2286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Element observed on 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c087f136a6_0_54"/>
          <p:cNvSpPr/>
          <p:nvPr/>
        </p:nvSpPr>
        <p:spPr>
          <a:xfrm>
            <a:off x="3200400" y="1481328"/>
            <a:ext cx="2286000" cy="4755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087f136a6_0_54"/>
          <p:cNvSpPr/>
          <p:nvPr/>
        </p:nvSpPr>
        <p:spPr>
          <a:xfrm>
            <a:off x="3200400" y="1481328"/>
            <a:ext cx="228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Q1: 3 or more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revolutions?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g3c087f136a6_0_54"/>
          <p:cNvCxnSpPr/>
          <p:nvPr/>
        </p:nvCxnSpPr>
        <p:spPr>
          <a:xfrm>
            <a:off x="4343400" y="1956816"/>
            <a:ext cx="0" cy="2559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g3c087f136a6_0_54"/>
          <p:cNvSpPr/>
          <p:nvPr/>
        </p:nvSpPr>
        <p:spPr>
          <a:xfrm>
            <a:off x="4398264" y="1993392"/>
            <a:ext cx="29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g3c087f136a6_0_54"/>
          <p:cNvCxnSpPr/>
          <p:nvPr/>
        </p:nvCxnSpPr>
        <p:spPr>
          <a:xfrm>
            <a:off x="5486400" y="1719072"/>
            <a:ext cx="411600" cy="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g3c087f136a6_0_54"/>
          <p:cNvSpPr/>
          <p:nvPr/>
        </p:nvSpPr>
        <p:spPr>
          <a:xfrm>
            <a:off x="5532120" y="1536192"/>
            <a:ext cx="25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c087f136a6_0_54"/>
          <p:cNvSpPr/>
          <p:nvPr/>
        </p:nvSpPr>
        <p:spPr>
          <a:xfrm>
            <a:off x="5897880" y="1481328"/>
            <a:ext cx="2084700" cy="4755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087f136a6_0_54"/>
          <p:cNvSpPr/>
          <p:nvPr/>
        </p:nvSpPr>
        <p:spPr>
          <a:xfrm>
            <a:off x="5897880" y="1481328"/>
            <a:ext cx="208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Q5: Fall while entering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an intended spin?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g3c087f136a6_0_54"/>
          <p:cNvCxnSpPr/>
          <p:nvPr/>
        </p:nvCxnSpPr>
        <p:spPr>
          <a:xfrm>
            <a:off x="6940296" y="1956816"/>
            <a:ext cx="0" cy="2376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g3c087f136a6_0_54"/>
          <p:cNvSpPr/>
          <p:nvPr/>
        </p:nvSpPr>
        <p:spPr>
          <a:xfrm>
            <a:off x="6995160" y="1993392"/>
            <a:ext cx="29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087f136a6_0_54"/>
          <p:cNvSpPr/>
          <p:nvPr/>
        </p:nvSpPr>
        <p:spPr>
          <a:xfrm>
            <a:off x="5897880" y="2194560"/>
            <a:ext cx="2084700" cy="6585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c087f136a6_0_54"/>
          <p:cNvSpPr/>
          <p:nvPr/>
        </p:nvSpPr>
        <p:spPr>
          <a:xfrm>
            <a:off x="5897875" y="2194545"/>
            <a:ext cx="2084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1" i="0" lang="en-US" sz="9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Spin — occupies a 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50"/>
              <a:buFont typeface="Calibri"/>
              <a:buNone/>
            </a:pPr>
            <a:r>
              <a:t/>
            </a:r>
            <a:endParaRPr b="1" sz="950">
              <a:solidFill>
                <a:srgbClr val="1A7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(intended spin; value assessed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before fall = weight transfer)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c087f136a6_0_54"/>
          <p:cNvCxnSpPr/>
          <p:nvPr/>
        </p:nvCxnSpPr>
        <p:spPr>
          <a:xfrm flipH="1" rot="10800000">
            <a:off x="7982712" y="1718772"/>
            <a:ext cx="275100" cy="3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g3c087f136a6_0_54"/>
          <p:cNvSpPr/>
          <p:nvPr/>
        </p:nvSpPr>
        <p:spPr>
          <a:xfrm>
            <a:off x="8067907" y="1437492"/>
            <a:ext cx="25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087f136a6_0_54"/>
          <p:cNvSpPr/>
          <p:nvPr/>
        </p:nvSpPr>
        <p:spPr>
          <a:xfrm>
            <a:off x="5897880" y="2999232"/>
            <a:ext cx="2084700" cy="4023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087f136a6_0_54"/>
          <p:cNvSpPr/>
          <p:nvPr/>
        </p:nvSpPr>
        <p:spPr>
          <a:xfrm>
            <a:off x="5897880" y="2999232"/>
            <a:ext cx="2084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Skating movement — no 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087f136a6_0_54"/>
          <p:cNvSpPr/>
          <p:nvPr/>
        </p:nvSpPr>
        <p:spPr>
          <a:xfrm>
            <a:off x="3200400" y="2212848"/>
            <a:ext cx="2286000" cy="4755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087f136a6_0_54"/>
          <p:cNvSpPr/>
          <p:nvPr/>
        </p:nvSpPr>
        <p:spPr>
          <a:xfrm>
            <a:off x="3200400" y="2212848"/>
            <a:ext cx="228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Q2: Started within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program time +10 sec?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c087f136a6_0_54"/>
          <p:cNvCxnSpPr/>
          <p:nvPr/>
        </p:nvCxnSpPr>
        <p:spPr>
          <a:xfrm>
            <a:off x="4343400" y="2688336"/>
            <a:ext cx="0" cy="2559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g3c087f136a6_0_54"/>
          <p:cNvSpPr/>
          <p:nvPr/>
        </p:nvSpPr>
        <p:spPr>
          <a:xfrm>
            <a:off x="4398264" y="2724912"/>
            <a:ext cx="29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3c087f136a6_0_54"/>
          <p:cNvCxnSpPr/>
          <p:nvPr/>
        </p:nvCxnSpPr>
        <p:spPr>
          <a:xfrm rot="10800000">
            <a:off x="2359200" y="2450592"/>
            <a:ext cx="841200" cy="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g3c087f136a6_0_54"/>
          <p:cNvSpPr/>
          <p:nvPr/>
        </p:nvSpPr>
        <p:spPr>
          <a:xfrm>
            <a:off x="2898648" y="2267712"/>
            <a:ext cx="25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c087f136a6_0_54"/>
          <p:cNvSpPr/>
          <p:nvPr/>
        </p:nvSpPr>
        <p:spPr>
          <a:xfrm>
            <a:off x="274320" y="2139696"/>
            <a:ext cx="2084700" cy="6219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c087f136a6_0_54"/>
          <p:cNvSpPr/>
          <p:nvPr/>
        </p:nvSpPr>
        <p:spPr>
          <a:xfrm>
            <a:off x="274320" y="2139696"/>
            <a:ext cx="2084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Not a spin — no 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(ignored by Technical Panel)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c087f136a6_0_54"/>
          <p:cNvSpPr/>
          <p:nvPr/>
        </p:nvSpPr>
        <p:spPr>
          <a:xfrm>
            <a:off x="676656" y="2560320"/>
            <a:ext cx="12801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087f136a6_0_54"/>
          <p:cNvSpPr/>
          <p:nvPr/>
        </p:nvSpPr>
        <p:spPr>
          <a:xfrm>
            <a:off x="676656" y="2560320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650"/>
              <a:buFont typeface="Courier New"/>
              <a:buNone/>
            </a:pPr>
            <a:r>
              <a:rPr b="1" i="0" lang="en-US" sz="6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§CALL.TIME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c087f136a6_0_54"/>
          <p:cNvSpPr/>
          <p:nvPr/>
        </p:nvSpPr>
        <p:spPr>
          <a:xfrm>
            <a:off x="3200400" y="2944368"/>
            <a:ext cx="2286000" cy="4755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087f136a6_0_54"/>
          <p:cNvSpPr/>
          <p:nvPr/>
        </p:nvSpPr>
        <p:spPr>
          <a:xfrm>
            <a:off x="3200400" y="2944368"/>
            <a:ext cx="228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Q3: Revolutions performed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after a fall on 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intended spin?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g3c087f136a6_0_54"/>
          <p:cNvCxnSpPr/>
          <p:nvPr/>
        </p:nvCxnSpPr>
        <p:spPr>
          <a:xfrm>
            <a:off x="4343400" y="3419856"/>
            <a:ext cx="0" cy="2559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g3c087f136a6_0_54"/>
          <p:cNvSpPr/>
          <p:nvPr/>
        </p:nvSpPr>
        <p:spPr>
          <a:xfrm>
            <a:off x="4398264" y="3456432"/>
            <a:ext cx="25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g3c087f136a6_0_54"/>
          <p:cNvCxnSpPr/>
          <p:nvPr/>
        </p:nvCxnSpPr>
        <p:spPr>
          <a:xfrm rot="10800000">
            <a:off x="2359200" y="3182112"/>
            <a:ext cx="841200" cy="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g3c087f136a6_0_54"/>
          <p:cNvSpPr/>
          <p:nvPr/>
        </p:nvSpPr>
        <p:spPr>
          <a:xfrm>
            <a:off x="2852928" y="2999232"/>
            <a:ext cx="29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c087f136a6_0_54"/>
          <p:cNvSpPr/>
          <p:nvPr/>
        </p:nvSpPr>
        <p:spPr>
          <a:xfrm>
            <a:off x="274320" y="2871216"/>
            <a:ext cx="2084700" cy="6219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087f136a6_0_54"/>
          <p:cNvSpPr/>
          <p:nvPr/>
        </p:nvSpPr>
        <p:spPr>
          <a:xfrm>
            <a:off x="274320" y="2871216"/>
            <a:ext cx="2084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Not a spin — no 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(post-fall time-filling only)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c087f136a6_0_54"/>
          <p:cNvSpPr/>
          <p:nvPr/>
        </p:nvSpPr>
        <p:spPr>
          <a:xfrm>
            <a:off x="566928" y="3291840"/>
            <a:ext cx="14997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c087f136a6_0_54"/>
          <p:cNvSpPr/>
          <p:nvPr/>
        </p:nvSpPr>
        <p:spPr>
          <a:xfrm>
            <a:off x="566928" y="3291840"/>
            <a:ext cx="1499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650"/>
              <a:buFont typeface="Courier New"/>
              <a:buNone/>
            </a:pPr>
            <a:r>
              <a:rPr b="1" i="0" lang="en-US" sz="6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§SPIN.GEN.FALL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c087f136a6_0_54"/>
          <p:cNvSpPr/>
          <p:nvPr/>
        </p:nvSpPr>
        <p:spPr>
          <a:xfrm>
            <a:off x="3200400" y="3675888"/>
            <a:ext cx="2286000" cy="4755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087f136a6_0_54"/>
          <p:cNvSpPr/>
          <p:nvPr/>
        </p:nvSpPr>
        <p:spPr>
          <a:xfrm>
            <a:off x="3200400" y="3675888"/>
            <a:ext cx="228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Q4: Revolutions performed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within a Choreographic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Sequence (ChSq)?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g3c087f136a6_0_54"/>
          <p:cNvCxnSpPr/>
          <p:nvPr/>
        </p:nvCxnSpPr>
        <p:spPr>
          <a:xfrm>
            <a:off x="4343400" y="4151376"/>
            <a:ext cx="0" cy="2376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g3c087f136a6_0_54"/>
          <p:cNvSpPr/>
          <p:nvPr/>
        </p:nvSpPr>
        <p:spPr>
          <a:xfrm>
            <a:off x="4398264" y="4187952"/>
            <a:ext cx="25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c087f136a6_0_54"/>
          <p:cNvSpPr/>
          <p:nvPr/>
        </p:nvSpPr>
        <p:spPr>
          <a:xfrm>
            <a:off x="3090672" y="4389120"/>
            <a:ext cx="2505600" cy="4938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c087f136a6_0_54"/>
          <p:cNvSpPr/>
          <p:nvPr/>
        </p:nvSpPr>
        <p:spPr>
          <a:xfrm>
            <a:off x="3090672" y="4389120"/>
            <a:ext cx="2505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SPIN — Occupies a 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Proceed to Phase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c087f136a6_0_54"/>
          <p:cNvCxnSpPr/>
          <p:nvPr/>
        </p:nvCxnSpPr>
        <p:spPr>
          <a:xfrm rot="10800000">
            <a:off x="2359200" y="3913632"/>
            <a:ext cx="841200" cy="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g3c087f136a6_0_54"/>
          <p:cNvSpPr/>
          <p:nvPr/>
        </p:nvSpPr>
        <p:spPr>
          <a:xfrm>
            <a:off x="2852928" y="3730752"/>
            <a:ext cx="29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c087f136a6_0_54"/>
          <p:cNvSpPr/>
          <p:nvPr/>
        </p:nvSpPr>
        <p:spPr>
          <a:xfrm>
            <a:off x="274320" y="3602736"/>
            <a:ext cx="2084700" cy="6219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087f136a6_0_54"/>
          <p:cNvSpPr/>
          <p:nvPr/>
        </p:nvSpPr>
        <p:spPr>
          <a:xfrm>
            <a:off x="274320" y="3602736"/>
            <a:ext cx="2084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Not a spin — no 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(ChSq: artistic, not evaluated)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c087f136a6_0_54"/>
          <p:cNvSpPr/>
          <p:nvPr/>
        </p:nvSpPr>
        <p:spPr>
          <a:xfrm>
            <a:off x="496519" y="4023360"/>
            <a:ext cx="16404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c087f136a6_0_54"/>
          <p:cNvSpPr/>
          <p:nvPr/>
        </p:nvSpPr>
        <p:spPr>
          <a:xfrm>
            <a:off x="496519" y="4023360"/>
            <a:ext cx="164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650"/>
              <a:buFont typeface="Courier New"/>
              <a:buNone/>
            </a:pPr>
            <a:r>
              <a:rPr b="1" i="0" lang="en-US" sz="6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§CHOREO.CL.SPINS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c087f136a6_0_54"/>
          <p:cNvSpPr/>
          <p:nvPr/>
        </p:nvSpPr>
        <p:spPr>
          <a:xfrm>
            <a:off x="274320" y="5010912"/>
            <a:ext cx="8595300" cy="219600"/>
          </a:xfrm>
          <a:prstGeom prst="rect">
            <a:avLst/>
          </a:prstGeom>
          <a:solidFill>
            <a:srgbClr val="F0F0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087f136a6_0_54"/>
          <p:cNvSpPr/>
          <p:nvPr/>
        </p:nvSpPr>
        <p:spPr>
          <a:xfrm>
            <a:off x="411480" y="5056632"/>
            <a:ext cx="146400" cy="1188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087f136a6_0_54"/>
          <p:cNvSpPr/>
          <p:nvPr/>
        </p:nvSpPr>
        <p:spPr>
          <a:xfrm>
            <a:off x="594360" y="5047488"/>
            <a:ext cx="182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Decision question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c087f136a6_0_54"/>
          <p:cNvSpPr/>
          <p:nvPr/>
        </p:nvSpPr>
        <p:spPr>
          <a:xfrm>
            <a:off x="2606040" y="5056632"/>
            <a:ext cx="146400" cy="1188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c087f136a6_0_54"/>
          <p:cNvSpPr/>
          <p:nvPr/>
        </p:nvSpPr>
        <p:spPr>
          <a:xfrm>
            <a:off x="2788920" y="5047488"/>
            <a:ext cx="182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Spin: occupies a box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c087f136a6_0_54"/>
          <p:cNvSpPr/>
          <p:nvPr/>
        </p:nvSpPr>
        <p:spPr>
          <a:xfrm>
            <a:off x="4892040" y="5056632"/>
            <a:ext cx="146400" cy="1188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c087f136a6_0_54"/>
          <p:cNvSpPr/>
          <p:nvPr/>
        </p:nvSpPr>
        <p:spPr>
          <a:xfrm>
            <a:off x="5074920" y="5047488"/>
            <a:ext cx="182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Not a spin: no box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3c087f136a6_0_54"/>
          <p:cNvCxnSpPr/>
          <p:nvPr/>
        </p:nvCxnSpPr>
        <p:spPr>
          <a:xfrm flipH="1">
            <a:off x="8238450" y="1719075"/>
            <a:ext cx="9000" cy="14874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g3c087f136a6_0_54"/>
          <p:cNvCxnSpPr>
            <a:endCxn id="154" idx="3"/>
          </p:cNvCxnSpPr>
          <p:nvPr/>
        </p:nvCxnSpPr>
        <p:spPr>
          <a:xfrm flipH="1">
            <a:off x="7982580" y="3197982"/>
            <a:ext cx="264000" cy="2400"/>
          </a:xfrm>
          <a:prstGeom prst="straightConnector1">
            <a:avLst/>
          </a:prstGeom>
          <a:noFill/>
          <a:ln cap="flat" cmpd="sng" w="2285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087f136a6_0_1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087f136a6_0_130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c087f136a6_0_130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2: What Code Goes in the Box? — Evaluation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c087f136a6_0_130"/>
          <p:cNvSpPr/>
          <p:nvPr/>
        </p:nvSpPr>
        <p:spPr>
          <a:xfrm>
            <a:off x="1847170" y="1033278"/>
            <a:ext cx="6949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When does assessment begin and end? Three events that terminate evaluation early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c087f136a6_0_130"/>
          <p:cNvSpPr/>
          <p:nvPr/>
        </p:nvSpPr>
        <p:spPr>
          <a:xfrm>
            <a:off x="274315" y="1042353"/>
            <a:ext cx="1508700" cy="2196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087f136a6_0_130"/>
          <p:cNvSpPr/>
          <p:nvPr/>
        </p:nvSpPr>
        <p:spPr>
          <a:xfrm>
            <a:off x="274315" y="1042353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— WINDOW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c087f136a6_0_130"/>
          <p:cNvSpPr/>
          <p:nvPr/>
        </p:nvSpPr>
        <p:spPr>
          <a:xfrm>
            <a:off x="274325" y="1389900"/>
            <a:ext cx="3516300" cy="10953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c087f136a6_0_130"/>
          <p:cNvSpPr/>
          <p:nvPr/>
        </p:nvSpPr>
        <p:spPr>
          <a:xfrm>
            <a:off x="274325" y="1389900"/>
            <a:ext cx="3516300" cy="2013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087f136a6_0_130"/>
          <p:cNvSpPr/>
          <p:nvPr/>
        </p:nvSpPr>
        <p:spPr>
          <a:xfrm>
            <a:off x="347475" y="1389897"/>
            <a:ext cx="3968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ENTRANCE — Evaluation Begins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c087f136a6_0_130"/>
          <p:cNvSpPr/>
          <p:nvPr/>
        </p:nvSpPr>
        <p:spPr>
          <a:xfrm>
            <a:off x="347472" y="1642872"/>
            <a:ext cx="3968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Preparation immediately preceding the spin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c087f136a6_0_130"/>
          <p:cNvSpPr/>
          <p:nvPr/>
        </p:nvSpPr>
        <p:spPr>
          <a:xfrm>
            <a:off x="347475" y="1767850"/>
            <a:ext cx="3443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Includes the beginning phase (first rotations)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This is where we assess what the skater attempts to determine the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n-US" sz="9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character of the spin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Entrance definition includes preparation + spin beginning 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g3c087f136a6_0_130"/>
          <p:cNvCxnSpPr/>
          <p:nvPr/>
        </p:nvCxnSpPr>
        <p:spPr>
          <a:xfrm>
            <a:off x="3806500" y="2036950"/>
            <a:ext cx="1003200" cy="11400"/>
          </a:xfrm>
          <a:prstGeom prst="straightConnector1">
            <a:avLst/>
          </a:prstGeom>
          <a:noFill/>
          <a:ln cap="flat" cmpd="sng" w="25400">
            <a:solidFill>
              <a:srgbClr val="1A2A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g3c087f136a6_0_130"/>
          <p:cNvSpPr/>
          <p:nvPr/>
        </p:nvSpPr>
        <p:spPr>
          <a:xfrm>
            <a:off x="4050945" y="1815102"/>
            <a:ext cx="4206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b="1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c087f136a6_0_130"/>
          <p:cNvSpPr/>
          <p:nvPr/>
        </p:nvSpPr>
        <p:spPr>
          <a:xfrm>
            <a:off x="4809750" y="1389898"/>
            <a:ext cx="4059900" cy="10953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c087f136a6_0_130"/>
          <p:cNvSpPr/>
          <p:nvPr/>
        </p:nvSpPr>
        <p:spPr>
          <a:xfrm>
            <a:off x="4809750" y="1389896"/>
            <a:ext cx="4059900" cy="2013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c087f136a6_0_130"/>
          <p:cNvSpPr/>
          <p:nvPr/>
        </p:nvSpPr>
        <p:spPr>
          <a:xfrm>
            <a:off x="4882900" y="1389896"/>
            <a:ext cx="391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EXIT — Evaluation Ends (Normal)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c087f136a6_0_130"/>
          <p:cNvSpPr/>
          <p:nvPr/>
        </p:nvSpPr>
        <p:spPr>
          <a:xfrm>
            <a:off x="4882896" y="1691640"/>
            <a:ext cx="3913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Exit includes both the final rotations AND the phase right after spinning stops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Exit can be assessed for difficult exit level feature (Phase 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Normal exit = spin winds down naturally and skater moves 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c087f136a6_0_130"/>
          <p:cNvSpPr/>
          <p:nvPr/>
        </p:nvSpPr>
        <p:spPr>
          <a:xfrm>
            <a:off x="4882896" y="1642872"/>
            <a:ext cx="391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Last phase of the spin + phase immediately following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c087f136a6_0_130"/>
          <p:cNvSpPr/>
          <p:nvPr/>
        </p:nvSpPr>
        <p:spPr>
          <a:xfrm>
            <a:off x="274325" y="2587751"/>
            <a:ext cx="8595300" cy="2013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087f136a6_0_130"/>
          <p:cNvSpPr/>
          <p:nvPr/>
        </p:nvSpPr>
        <p:spPr>
          <a:xfrm>
            <a:off x="347475" y="2587751"/>
            <a:ext cx="844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 Termination Events — Assessment stops at the FIRST of these to occur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c087f136a6_0_130"/>
          <p:cNvSpPr/>
          <p:nvPr/>
        </p:nvSpPr>
        <p:spPr>
          <a:xfrm>
            <a:off x="274325" y="3051050"/>
            <a:ext cx="2779800" cy="17058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c087f136a6_0_130"/>
          <p:cNvSpPr/>
          <p:nvPr/>
        </p:nvSpPr>
        <p:spPr>
          <a:xfrm>
            <a:off x="274325" y="2822450"/>
            <a:ext cx="2779800" cy="192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087f136a6_0_130"/>
          <p:cNvSpPr/>
          <p:nvPr/>
        </p:nvSpPr>
        <p:spPr>
          <a:xfrm>
            <a:off x="347475" y="2822450"/>
            <a:ext cx="2633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Fall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c087f136a6_0_130"/>
          <p:cNvSpPr/>
          <p:nvPr/>
        </p:nvSpPr>
        <p:spPr>
          <a:xfrm>
            <a:off x="347472" y="3151632"/>
            <a:ext cx="14997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087f136a6_0_130"/>
          <p:cNvSpPr/>
          <p:nvPr/>
        </p:nvSpPr>
        <p:spPr>
          <a:xfrm>
            <a:off x="347472" y="3151632"/>
            <a:ext cx="1499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20"/>
              <a:buFont typeface="Courier New"/>
              <a:buNone/>
            </a:pPr>
            <a:r>
              <a:rPr b="1" i="0" lang="en-US" sz="72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§SPIN.GEN.FALL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c087f136a6_0_130"/>
          <p:cNvSpPr/>
          <p:nvPr/>
        </p:nvSpPr>
        <p:spPr>
          <a:xfrm>
            <a:off x="347475" y="3465575"/>
            <a:ext cx="2633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the skater falls when entering a spin, or during any failed spin, assessment ends at the moment of the fall. Any spinning after the fall is time-filling only — NOT evaluated.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Fall definition: Loss of control with majority of body weight on ice supported by anything other than blades (hand, knee, back, buttock, arm).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c087f136a6_0_130"/>
          <p:cNvSpPr/>
          <p:nvPr/>
        </p:nvSpPr>
        <p:spPr>
          <a:xfrm>
            <a:off x="3182100" y="3051050"/>
            <a:ext cx="2779800" cy="17058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087f136a6_0_130"/>
          <p:cNvSpPr/>
          <p:nvPr/>
        </p:nvSpPr>
        <p:spPr>
          <a:xfrm>
            <a:off x="3182100" y="2822450"/>
            <a:ext cx="2779800" cy="1773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c087f136a6_0_130"/>
          <p:cNvSpPr/>
          <p:nvPr/>
        </p:nvSpPr>
        <p:spPr>
          <a:xfrm>
            <a:off x="3255275" y="2822450"/>
            <a:ext cx="2633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Clear Weight Transfer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c087f136a6_0_130"/>
          <p:cNvSpPr/>
          <p:nvPr/>
        </p:nvSpPr>
        <p:spPr>
          <a:xfrm>
            <a:off x="3255264" y="3151632"/>
            <a:ext cx="22038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c087f136a6_0_130"/>
          <p:cNvSpPr/>
          <p:nvPr/>
        </p:nvSpPr>
        <p:spPr>
          <a:xfrm>
            <a:off x="3255264" y="3151632"/>
            <a:ext cx="2203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20"/>
              <a:buFont typeface="Courier New"/>
              <a:buNone/>
            </a:pPr>
            <a:r>
              <a:rPr b="1" i="0" lang="en-US" sz="72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§SPIN.GEN.WEIGHTTRANSFER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c087f136a6_0_130"/>
          <p:cNvSpPr/>
          <p:nvPr/>
        </p:nvSpPr>
        <p:spPr>
          <a:xfrm>
            <a:off x="3255275" y="3465575"/>
            <a:ext cx="26334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there is a clear weight transfer during a spin, this ends the spin and only the part before the weight transfer is called.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Critical distinction: A proper change of foot ≠ weight transfer. Putting the free foot down with weight to regain balance or position = weight transfer. Weight transfer is usually NOT in momentum with the spinning movement.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c087f136a6_0_130"/>
          <p:cNvSpPr/>
          <p:nvPr/>
        </p:nvSpPr>
        <p:spPr>
          <a:xfrm>
            <a:off x="6089900" y="3051050"/>
            <a:ext cx="2779800" cy="17058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087f136a6_0_130"/>
          <p:cNvSpPr/>
          <p:nvPr/>
        </p:nvSpPr>
        <p:spPr>
          <a:xfrm>
            <a:off x="6089900" y="2822450"/>
            <a:ext cx="2779800" cy="1920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087f136a6_0_130"/>
          <p:cNvSpPr/>
          <p:nvPr/>
        </p:nvSpPr>
        <p:spPr>
          <a:xfrm>
            <a:off x="6163050" y="2822450"/>
            <a:ext cx="2633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Two-Spins Criteria Met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c087f136a6_0_130"/>
          <p:cNvSpPr/>
          <p:nvPr/>
        </p:nvSpPr>
        <p:spPr>
          <a:xfrm>
            <a:off x="6163056" y="3151632"/>
            <a:ext cx="17109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087f136a6_0_130"/>
          <p:cNvSpPr/>
          <p:nvPr/>
        </p:nvSpPr>
        <p:spPr>
          <a:xfrm>
            <a:off x="6163056" y="3151632"/>
            <a:ext cx="1710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20"/>
              <a:buFont typeface="Courier New"/>
              <a:buNone/>
            </a:pPr>
            <a:r>
              <a:rPr b="1" i="0" lang="en-US" sz="72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§SPIN.GEN.CENTERS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c087f136a6_0_130"/>
          <p:cNvSpPr/>
          <p:nvPr/>
        </p:nvSpPr>
        <p:spPr>
          <a:xfrm>
            <a:off x="6163050" y="3465575"/>
            <a:ext cx="263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Only relevant to spins WITH a change of foot. If spinning centers before and after the change of foot are too far apart AND there is a curve of exit after the first part AND a curve of entry into the second part → Only the FIRST part before the change of foot is called and counted for level features.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c087f136a6_0_130"/>
          <p:cNvSpPr/>
          <p:nvPr/>
        </p:nvSpPr>
        <p:spPr>
          <a:xfrm>
            <a:off x="274325" y="4858148"/>
            <a:ext cx="8595300" cy="1773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c087f136a6_0_130"/>
          <p:cNvSpPr/>
          <p:nvPr/>
        </p:nvSpPr>
        <p:spPr>
          <a:xfrm>
            <a:off x="347475" y="4858148"/>
            <a:ext cx="8449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b="0" i="0" lang="en-US" sz="9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Phases 1–4 are assessed simultaneously. The phases are a thinking framework — prioritize confirming basic spin requirements before evaluating level features.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087f136a6_0_17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087f136a6_0_174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c087f136a6_0_174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2: Building the Code — 4-Step Assessment Sequence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c087f136a6_0_174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c087f136a6_0_174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— 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c087f136a6_0_174"/>
          <p:cNvSpPr/>
          <p:nvPr/>
        </p:nvSpPr>
        <p:spPr>
          <a:xfrm>
            <a:off x="274325" y="1371600"/>
            <a:ext cx="58287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c087f136a6_0_174"/>
          <p:cNvSpPr/>
          <p:nvPr/>
        </p:nvSpPr>
        <p:spPr>
          <a:xfrm>
            <a:off x="347475" y="1371600"/>
            <a:ext cx="57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Foundation: Code reflects ATTEMPT, not achievement — call what the skater </a:t>
            </a:r>
            <a:r>
              <a:rPr b="1" lang="en-US" sz="95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does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c087f136a6_0_174"/>
          <p:cNvSpPr/>
          <p:nvPr/>
        </p:nvSpPr>
        <p:spPr>
          <a:xfrm>
            <a:off x="274325" y="1588000"/>
            <a:ext cx="5828700" cy="7542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c087f136a6_0_174"/>
          <p:cNvSpPr/>
          <p:nvPr/>
        </p:nvSpPr>
        <p:spPr>
          <a:xfrm>
            <a:off x="274325" y="1588001"/>
            <a:ext cx="63900" cy="7542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087f136a6_0_174"/>
          <p:cNvSpPr/>
          <p:nvPr/>
        </p:nvSpPr>
        <p:spPr>
          <a:xfrm>
            <a:off x="646950" y="1658125"/>
            <a:ext cx="32004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Flying Entry — F prefix?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c087f136a6_0_174"/>
          <p:cNvSpPr/>
          <p:nvPr/>
        </p:nvSpPr>
        <p:spPr>
          <a:xfrm>
            <a:off x="402336" y="1804416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Blade leaves ice in a jump at the beginning phase of the spin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c087f136a6_0_174"/>
          <p:cNvSpPr/>
          <p:nvPr/>
        </p:nvSpPr>
        <p:spPr>
          <a:xfrm>
            <a:off x="402336" y="1932432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Spinning starts upon landing — no prior rotation on ice before takeoff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c087f136a6_0_174"/>
          <p:cNvSpPr/>
          <p:nvPr/>
        </p:nvSpPr>
        <p:spPr>
          <a:xfrm>
            <a:off x="402324" y="2060450"/>
            <a:ext cx="5700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Landing foot = first spinning foot (if skater changes feet after landing, jump is choreographic only)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c087f136a6_0_174"/>
          <p:cNvSpPr/>
          <p:nvPr/>
        </p:nvSpPr>
        <p:spPr>
          <a:xfrm>
            <a:off x="402324" y="2188475"/>
            <a:ext cx="5700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yes → add F to code (e.g. FCSp, FSSp, FCoSp)   |   Note: V may be added for step-over or no clear jump — treated in Phase 3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c087f136a6_0_174"/>
          <p:cNvSpPr/>
          <p:nvPr/>
        </p:nvSpPr>
        <p:spPr>
          <a:xfrm>
            <a:off x="274325" y="2414300"/>
            <a:ext cx="5828700" cy="7833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c087f136a6_0_174"/>
          <p:cNvSpPr/>
          <p:nvPr/>
        </p:nvSpPr>
        <p:spPr>
          <a:xfrm>
            <a:off x="274325" y="2414275"/>
            <a:ext cx="63900" cy="783300"/>
          </a:xfrm>
          <a:prstGeom prst="rect">
            <a:avLst/>
          </a:prstGeom>
          <a:solidFill>
            <a:srgbClr val="7B6B00"/>
          </a:solidFill>
          <a:ln cap="flat" cmpd="sng" w="12700">
            <a:solidFill>
              <a:srgbClr val="7B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c087f136a6_0_174"/>
          <p:cNvSpPr/>
          <p:nvPr/>
        </p:nvSpPr>
        <p:spPr>
          <a:xfrm>
            <a:off x="402328" y="2451465"/>
            <a:ext cx="190800" cy="190800"/>
          </a:xfrm>
          <a:prstGeom prst="ellipse">
            <a:avLst/>
          </a:prstGeom>
          <a:solidFill>
            <a:srgbClr val="7B6B00"/>
          </a:solidFill>
          <a:ln cap="flat" cmpd="sng" w="9475">
            <a:solidFill>
              <a:srgbClr val="7B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175" lIns="68175" spcFirstLastPara="1" rIns="68175" wrap="square" tIns="6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087f136a6_0_174"/>
          <p:cNvSpPr/>
          <p:nvPr/>
        </p:nvSpPr>
        <p:spPr>
          <a:xfrm>
            <a:off x="397208" y="2451464"/>
            <a:ext cx="190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6"/>
              <a:buFont typeface="Calibri"/>
              <a:buNone/>
            </a:pPr>
            <a:r>
              <a:rPr b="1" i="0" lang="en-US" sz="7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c087f136a6_0_174"/>
          <p:cNvSpPr/>
          <p:nvPr/>
        </p:nvSpPr>
        <p:spPr>
          <a:xfrm>
            <a:off x="646938" y="2473678"/>
            <a:ext cx="3200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Which Position(s)? — U / L / C / 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c087f136a6_0_174"/>
          <p:cNvSpPr/>
          <p:nvPr/>
        </p:nvSpPr>
        <p:spPr>
          <a:xfrm>
            <a:off x="402336" y="2627596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B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6B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Camel (C): free leg back, knee above hip  |  Sit (S): upper part of the skating leg </a:t>
            </a:r>
            <a:r>
              <a:rPr lang="en-US" sz="82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at least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parallel to ice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c087f136a6_0_174"/>
          <p:cNvSpPr/>
          <p:nvPr/>
        </p:nvSpPr>
        <p:spPr>
          <a:xfrm>
            <a:off x="402336" y="2755612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B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6B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Layback (L): upright — head/shoulders lean back, back arched  |  Upright (U): leg extended/slightly bent, not camel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c087f136a6_0_174"/>
          <p:cNvSpPr/>
          <p:nvPr/>
        </p:nvSpPr>
        <p:spPr>
          <a:xfrm>
            <a:off x="402336" y="2883628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B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6B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Layback &amp; Biellmann are upright spins — use L when layback is the primary attempted position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c087f136a6_0_174"/>
          <p:cNvSpPr/>
          <p:nvPr/>
        </p:nvSpPr>
        <p:spPr>
          <a:xfrm>
            <a:off x="402336" y="3011644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B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6B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Code based on ATTEMPTED position — even if skater never achieves 2 revs, code reflects intent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c087f136a6_0_174"/>
          <p:cNvSpPr/>
          <p:nvPr/>
        </p:nvSpPr>
        <p:spPr>
          <a:xfrm>
            <a:off x="274325" y="3273025"/>
            <a:ext cx="5828700" cy="8229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c087f136a6_0_174"/>
          <p:cNvSpPr/>
          <p:nvPr/>
        </p:nvSpPr>
        <p:spPr>
          <a:xfrm>
            <a:off x="265175" y="3274300"/>
            <a:ext cx="63900" cy="822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c087f136a6_0_174"/>
          <p:cNvSpPr/>
          <p:nvPr/>
        </p:nvSpPr>
        <p:spPr>
          <a:xfrm>
            <a:off x="393700" y="3309287"/>
            <a:ext cx="190800" cy="192000"/>
          </a:xfrm>
          <a:prstGeom prst="ellipse">
            <a:avLst/>
          </a:prstGeom>
          <a:solidFill>
            <a:srgbClr val="0D7377"/>
          </a:solidFill>
          <a:ln cap="flat" cmpd="sng" w="1035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00" lIns="74600" spcFirstLastPara="1" rIns="74600" wrap="square" tIns="74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c087f136a6_0_174"/>
          <p:cNvSpPr/>
          <p:nvPr/>
        </p:nvSpPr>
        <p:spPr>
          <a:xfrm>
            <a:off x="393325" y="3306325"/>
            <a:ext cx="190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6"/>
              <a:buFont typeface="Calibri"/>
              <a:buNone/>
            </a:pPr>
            <a:r>
              <a:rPr b="1" i="0" lang="en-US" sz="8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087f136a6_0_174"/>
          <p:cNvSpPr/>
          <p:nvPr/>
        </p:nvSpPr>
        <p:spPr>
          <a:xfrm>
            <a:off x="640725" y="3343034"/>
            <a:ext cx="32004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One Position or Combination? — Sp vs CoSp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c087f136a6_0_174"/>
          <p:cNvSpPr/>
          <p:nvPr/>
        </p:nvSpPr>
        <p:spPr>
          <a:xfrm>
            <a:off x="402286" y="3524451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One position (Sp): only one basic position attempted (regardless of flying entry or CoF)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c087f136a6_0_174"/>
          <p:cNvSpPr/>
          <p:nvPr/>
        </p:nvSpPr>
        <p:spPr>
          <a:xfrm>
            <a:off x="402286" y="3652467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Combination (CoSp): two or more basic positions attempted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c087f136a6_0_174"/>
          <p:cNvSpPr/>
          <p:nvPr/>
        </p:nvSpPr>
        <p:spPr>
          <a:xfrm>
            <a:off x="402286" y="3780483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Final wind-up exception: concluding upright at end is NOT another position — unless a feature is executed in it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c087f136a6_0_174"/>
          <p:cNvSpPr/>
          <p:nvPr/>
        </p:nvSpPr>
        <p:spPr>
          <a:xfrm>
            <a:off x="402286" y="3908499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Intent matters: intended CCSp but achieves 2+ revs upright before/during CoF → becomes CCoSp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c087f136a6_0_174"/>
          <p:cNvSpPr/>
          <p:nvPr/>
        </p:nvSpPr>
        <p:spPr>
          <a:xfrm>
            <a:off x="265175" y="4162575"/>
            <a:ext cx="5828700" cy="8520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c087f136a6_0_174"/>
          <p:cNvSpPr/>
          <p:nvPr/>
        </p:nvSpPr>
        <p:spPr>
          <a:xfrm>
            <a:off x="265175" y="4165000"/>
            <a:ext cx="63900" cy="8520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c087f136a6_0_174"/>
          <p:cNvSpPr/>
          <p:nvPr/>
        </p:nvSpPr>
        <p:spPr>
          <a:xfrm>
            <a:off x="402325" y="4197550"/>
            <a:ext cx="184800" cy="184800"/>
          </a:xfrm>
          <a:prstGeom prst="ellipse">
            <a:avLst/>
          </a:prstGeom>
          <a:solidFill>
            <a:srgbClr val="6A1B9A"/>
          </a:solidFill>
          <a:ln cap="flat" cmpd="sng" w="92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c087f136a6_0_174"/>
          <p:cNvSpPr/>
          <p:nvPr/>
        </p:nvSpPr>
        <p:spPr>
          <a:xfrm>
            <a:off x="402350" y="4191475"/>
            <a:ext cx="184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2"/>
              <a:buFont typeface="Calibri"/>
              <a:buNone/>
            </a:pPr>
            <a:r>
              <a:rPr b="1" i="0" lang="en-US" sz="9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c087f136a6_0_174"/>
          <p:cNvSpPr/>
          <p:nvPr/>
        </p:nvSpPr>
        <p:spPr>
          <a:xfrm>
            <a:off x="640725" y="4227010"/>
            <a:ext cx="3200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Change of Foot — C prefix?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c087f136a6_0_174"/>
          <p:cNvSpPr/>
          <p:nvPr/>
        </p:nvSpPr>
        <p:spPr>
          <a:xfrm>
            <a:off x="402336" y="4410456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Must spin on BOTH feet within the evaluation window (before any termination event)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c087f136a6_0_174"/>
          <p:cNvSpPr/>
          <p:nvPr/>
        </p:nvSpPr>
        <p:spPr>
          <a:xfrm>
            <a:off x="402336" y="4538472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 revolutions required before AND after the change of foot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c087f136a6_0_174"/>
          <p:cNvSpPr/>
          <p:nvPr/>
        </p:nvSpPr>
        <p:spPr>
          <a:xfrm>
            <a:off x="402336" y="4666488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Simple vs jump CoF distinction is Phase 4 only — any CoF gets C prefix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c087f136a6_0_174"/>
          <p:cNvSpPr/>
          <p:nvPr/>
        </p:nvSpPr>
        <p:spPr>
          <a:xfrm>
            <a:off x="402336" y="4794504"/>
            <a:ext cx="519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3-rev rule not met → No Value (SP) or V sign (FS) — full treatment Phase 3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c087f136a6_0_174"/>
          <p:cNvSpPr/>
          <p:nvPr/>
        </p:nvSpPr>
        <p:spPr>
          <a:xfrm>
            <a:off x="6231800" y="1371600"/>
            <a:ext cx="2790300" cy="36462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c087f136a6_0_174"/>
          <p:cNvSpPr/>
          <p:nvPr/>
        </p:nvSpPr>
        <p:spPr>
          <a:xfrm>
            <a:off x="6310450" y="1371600"/>
            <a:ext cx="2620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Structure 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c087f136a6_0_174"/>
          <p:cNvSpPr/>
          <p:nvPr/>
        </p:nvSpPr>
        <p:spPr>
          <a:xfrm>
            <a:off x="6310375" y="1613950"/>
            <a:ext cx="2620200" cy="3474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087f136a6_0_174"/>
          <p:cNvSpPr/>
          <p:nvPr/>
        </p:nvSpPr>
        <p:spPr>
          <a:xfrm>
            <a:off x="6310375" y="1613950"/>
            <a:ext cx="262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[ F ]  [ C ]  [ Sp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c087f136a6_0_174"/>
          <p:cNvSpPr/>
          <p:nvPr/>
        </p:nvSpPr>
        <p:spPr>
          <a:xfrm>
            <a:off x="6310375" y="1969000"/>
            <a:ext cx="262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Position Codes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c087f136a6_0_174"/>
          <p:cNvSpPr/>
          <p:nvPr/>
        </p:nvSpPr>
        <p:spPr>
          <a:xfrm>
            <a:off x="6310450" y="2206750"/>
            <a:ext cx="2620200" cy="3201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087f136a6_0_174"/>
          <p:cNvSpPr/>
          <p:nvPr/>
        </p:nvSpPr>
        <p:spPr>
          <a:xfrm>
            <a:off x="6391656" y="2206752"/>
            <a:ext cx="23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c087f136a6_0_174"/>
          <p:cNvSpPr/>
          <p:nvPr/>
        </p:nvSpPr>
        <p:spPr>
          <a:xfrm>
            <a:off x="6662873" y="2206750"/>
            <a:ext cx="44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c087f136a6_0_174"/>
          <p:cNvSpPr/>
          <p:nvPr/>
        </p:nvSpPr>
        <p:spPr>
          <a:xfrm>
            <a:off x="7301450" y="2206750"/>
            <a:ext cx="162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Free leg back, knee above hip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c087f136a6_0_174"/>
          <p:cNvSpPr/>
          <p:nvPr/>
        </p:nvSpPr>
        <p:spPr>
          <a:xfrm>
            <a:off x="6310449" y="2554225"/>
            <a:ext cx="2620200" cy="3201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c087f136a6_0_174"/>
          <p:cNvSpPr/>
          <p:nvPr/>
        </p:nvSpPr>
        <p:spPr>
          <a:xfrm>
            <a:off x="6391656" y="2554224"/>
            <a:ext cx="23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c087f136a6_0_174"/>
          <p:cNvSpPr/>
          <p:nvPr/>
        </p:nvSpPr>
        <p:spPr>
          <a:xfrm>
            <a:off x="6662779" y="2554225"/>
            <a:ext cx="44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c087f136a6_0_174"/>
          <p:cNvSpPr/>
          <p:nvPr/>
        </p:nvSpPr>
        <p:spPr>
          <a:xfrm>
            <a:off x="7301349" y="2554225"/>
            <a:ext cx="162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Upper leg </a:t>
            </a:r>
            <a:r>
              <a:rPr lang="en-US" sz="80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at </a:t>
            </a:r>
            <a:r>
              <a:rPr lang="en-US" sz="80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least</a:t>
            </a:r>
            <a:r>
              <a:rPr lang="en-US" sz="80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 parallel to 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c087f136a6_0_174"/>
          <p:cNvSpPr/>
          <p:nvPr/>
        </p:nvSpPr>
        <p:spPr>
          <a:xfrm>
            <a:off x="6310374" y="2901700"/>
            <a:ext cx="2620200" cy="3201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c087f136a6_0_174"/>
          <p:cNvSpPr/>
          <p:nvPr/>
        </p:nvSpPr>
        <p:spPr>
          <a:xfrm>
            <a:off x="6391656" y="2901696"/>
            <a:ext cx="23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c087f136a6_0_174"/>
          <p:cNvSpPr/>
          <p:nvPr/>
        </p:nvSpPr>
        <p:spPr>
          <a:xfrm>
            <a:off x="6662925" y="2901700"/>
            <a:ext cx="44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c087f136a6_0_174"/>
          <p:cNvSpPr/>
          <p:nvPr/>
        </p:nvSpPr>
        <p:spPr>
          <a:xfrm>
            <a:off x="7301225" y="2901700"/>
            <a:ext cx="162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8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pright —</a:t>
            </a:r>
            <a:r>
              <a:rPr b="0" i="0" lang="en-US" sz="8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 head/shoulders lean 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c087f136a6_0_174"/>
          <p:cNvSpPr/>
          <p:nvPr/>
        </p:nvSpPr>
        <p:spPr>
          <a:xfrm>
            <a:off x="6310374" y="3249175"/>
            <a:ext cx="2620200" cy="3201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c087f136a6_0_174"/>
          <p:cNvSpPr/>
          <p:nvPr/>
        </p:nvSpPr>
        <p:spPr>
          <a:xfrm>
            <a:off x="6391656" y="3249168"/>
            <a:ext cx="23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c087f136a6_0_174"/>
          <p:cNvSpPr/>
          <p:nvPr/>
        </p:nvSpPr>
        <p:spPr>
          <a:xfrm>
            <a:off x="6662778" y="3249175"/>
            <a:ext cx="44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Upright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c087f136a6_0_174"/>
          <p:cNvSpPr/>
          <p:nvPr/>
        </p:nvSpPr>
        <p:spPr>
          <a:xfrm>
            <a:off x="7301400" y="3249175"/>
            <a:ext cx="162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Leg extended/slightly bent, not camel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c087f136a6_0_174"/>
          <p:cNvSpPr/>
          <p:nvPr/>
        </p:nvSpPr>
        <p:spPr>
          <a:xfrm>
            <a:off x="6310450" y="3633225"/>
            <a:ext cx="262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 Codes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c087f136a6_0_174"/>
          <p:cNvSpPr/>
          <p:nvPr/>
        </p:nvSpPr>
        <p:spPr>
          <a:xfrm>
            <a:off x="6310374" y="3870950"/>
            <a:ext cx="2620200" cy="2469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c087f136a6_0_174"/>
          <p:cNvSpPr/>
          <p:nvPr/>
        </p:nvSpPr>
        <p:spPr>
          <a:xfrm>
            <a:off x="6391652" y="3870950"/>
            <a:ext cx="609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FSSp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c087f136a6_0_174"/>
          <p:cNvSpPr/>
          <p:nvPr/>
        </p:nvSpPr>
        <p:spPr>
          <a:xfrm>
            <a:off x="7301349" y="3870950"/>
            <a:ext cx="162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Flying Sit Spin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c087f136a6_0_174"/>
          <p:cNvSpPr/>
          <p:nvPr/>
        </p:nvSpPr>
        <p:spPr>
          <a:xfrm>
            <a:off x="6310374" y="4145275"/>
            <a:ext cx="2620200" cy="2469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c087f136a6_0_174"/>
          <p:cNvSpPr/>
          <p:nvPr/>
        </p:nvSpPr>
        <p:spPr>
          <a:xfrm>
            <a:off x="6391652" y="4145275"/>
            <a:ext cx="609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CCoSp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c087f136a6_0_174"/>
          <p:cNvSpPr/>
          <p:nvPr/>
        </p:nvSpPr>
        <p:spPr>
          <a:xfrm>
            <a:off x="7301349" y="4145275"/>
            <a:ext cx="162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Change-foot Combination Spin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c087f136a6_0_174"/>
          <p:cNvSpPr/>
          <p:nvPr/>
        </p:nvSpPr>
        <p:spPr>
          <a:xfrm>
            <a:off x="6310374" y="4419600"/>
            <a:ext cx="2620200" cy="2469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c087f136a6_0_174"/>
          <p:cNvSpPr/>
          <p:nvPr/>
        </p:nvSpPr>
        <p:spPr>
          <a:xfrm>
            <a:off x="6391652" y="4419600"/>
            <a:ext cx="609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FCCSp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c087f136a6_0_174"/>
          <p:cNvSpPr/>
          <p:nvPr/>
        </p:nvSpPr>
        <p:spPr>
          <a:xfrm>
            <a:off x="7301349" y="4419600"/>
            <a:ext cx="162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Flying Change-foot Camel Spin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c087f136a6_0_174"/>
          <p:cNvSpPr/>
          <p:nvPr/>
        </p:nvSpPr>
        <p:spPr>
          <a:xfrm>
            <a:off x="6310374" y="4693925"/>
            <a:ext cx="2620200" cy="2469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087f136a6_0_174"/>
          <p:cNvSpPr/>
          <p:nvPr/>
        </p:nvSpPr>
        <p:spPr>
          <a:xfrm>
            <a:off x="6391652" y="4693925"/>
            <a:ext cx="609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ourier New"/>
                <a:ea typeface="Courier New"/>
                <a:cs typeface="Courier New"/>
                <a:sym typeface="Courier New"/>
              </a:rPr>
              <a:t>LSp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c087f136a6_0_174"/>
          <p:cNvSpPr/>
          <p:nvPr/>
        </p:nvSpPr>
        <p:spPr>
          <a:xfrm>
            <a:off x="7301349" y="4693925"/>
            <a:ext cx="162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Layback Spin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c087f136a6_0_174"/>
          <p:cNvSpPr/>
          <p:nvPr/>
        </p:nvSpPr>
        <p:spPr>
          <a:xfrm>
            <a:off x="397190" y="1620615"/>
            <a:ext cx="190800" cy="190800"/>
          </a:xfrm>
          <a:prstGeom prst="ellipse">
            <a:avLst/>
          </a:prstGeom>
          <a:solidFill>
            <a:srgbClr val="1A6B8A"/>
          </a:solidFill>
          <a:ln cap="flat" cmpd="sng" w="9475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175" lIns="68175" spcFirstLastPara="1" rIns="68175" wrap="square" tIns="6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c087f136a6_0_174"/>
          <p:cNvSpPr/>
          <p:nvPr/>
        </p:nvSpPr>
        <p:spPr>
          <a:xfrm>
            <a:off x="402333" y="1620614"/>
            <a:ext cx="190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6"/>
              <a:buFont typeface="Calibri"/>
              <a:buNone/>
            </a:pPr>
            <a:r>
              <a:rPr b="1" lang="en-US" sz="74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ba40ec40a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cba40ec40a_0_0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ba40ec40a_0_0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3: Does the Spin Have Value? — Requirements by Spin Type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cba40ec40a_0_0"/>
          <p:cNvSpPr/>
          <p:nvPr/>
        </p:nvSpPr>
        <p:spPr>
          <a:xfrm>
            <a:off x="1874520" y="1005840"/>
            <a:ext cx="6949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Determine whether the spin earns full value, reduced value (V), or no value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cba40ec40a_0_0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ba40ec40a_0_0"/>
          <p:cNvSpPr/>
          <p:nvPr/>
        </p:nvSpPr>
        <p:spPr>
          <a:xfrm>
            <a:off x="320040" y="1024128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—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cba40ec40a_0_0"/>
          <p:cNvSpPr/>
          <p:nvPr/>
        </p:nvSpPr>
        <p:spPr>
          <a:xfrm>
            <a:off x="274325" y="1447800"/>
            <a:ext cx="3791700" cy="13494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cba40ec40a_0_0"/>
          <p:cNvSpPr/>
          <p:nvPr/>
        </p:nvSpPr>
        <p:spPr>
          <a:xfrm>
            <a:off x="274325" y="1447800"/>
            <a:ext cx="3791700" cy="2742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cba40ec40a_0_0"/>
          <p:cNvSpPr/>
          <p:nvPr/>
        </p:nvSpPr>
        <p:spPr>
          <a:xfrm>
            <a:off x="347475" y="1447800"/>
            <a:ext cx="364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Spin in One Position  (no change of foot)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cba40ec40a_0_0"/>
          <p:cNvSpPr/>
          <p:nvPr/>
        </p:nvSpPr>
        <p:spPr>
          <a:xfrm>
            <a:off x="347472" y="1749552"/>
            <a:ext cx="405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Applies to: USp, LSp, CSp, SSp, and flying versions (FUSp, FLSp, FCSp, FSSp)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cba40ec40a_0_0"/>
          <p:cNvSpPr/>
          <p:nvPr/>
        </p:nvSpPr>
        <p:spPr>
          <a:xfrm>
            <a:off x="347475" y="1950725"/>
            <a:ext cx="3647700" cy="3108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cba40ec40a_0_0"/>
          <p:cNvSpPr/>
          <p:nvPr/>
        </p:nvSpPr>
        <p:spPr>
          <a:xfrm>
            <a:off x="384048" y="1950720"/>
            <a:ext cx="100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Full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g3cba40ec40a_0_0"/>
          <p:cNvCxnSpPr/>
          <p:nvPr/>
        </p:nvCxnSpPr>
        <p:spPr>
          <a:xfrm>
            <a:off x="1389888" y="1987296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g3cba40ec40a_0_0"/>
          <p:cNvSpPr/>
          <p:nvPr/>
        </p:nvSpPr>
        <p:spPr>
          <a:xfrm>
            <a:off x="1444752" y="1950720"/>
            <a:ext cx="288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2+ continuous revolutions achieved in the basic position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cba40ec40a_0_0"/>
          <p:cNvSpPr/>
          <p:nvPr/>
        </p:nvSpPr>
        <p:spPr>
          <a:xfrm>
            <a:off x="347475" y="2298200"/>
            <a:ext cx="3647700" cy="3108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cba40ec40a_0_0"/>
          <p:cNvSpPr/>
          <p:nvPr/>
        </p:nvSpPr>
        <p:spPr>
          <a:xfrm>
            <a:off x="384048" y="2298192"/>
            <a:ext cx="100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g3cba40ec40a_0_0"/>
          <p:cNvCxnSpPr/>
          <p:nvPr/>
        </p:nvCxnSpPr>
        <p:spPr>
          <a:xfrm>
            <a:off x="1389888" y="2334768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g3cba40ec40a_0_0"/>
          <p:cNvSpPr/>
          <p:nvPr/>
        </p:nvSpPr>
        <p:spPr>
          <a:xfrm>
            <a:off x="1444750" y="2298200"/>
            <a:ext cx="251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Less than 2 continuous revolutions in basic position — both SP and FS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cba40ec40a_0_0"/>
          <p:cNvSpPr/>
          <p:nvPr/>
        </p:nvSpPr>
        <p:spPr>
          <a:xfrm>
            <a:off x="4892050" y="1447800"/>
            <a:ext cx="3830400" cy="13494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cba40ec40a_0_0"/>
          <p:cNvSpPr/>
          <p:nvPr/>
        </p:nvSpPr>
        <p:spPr>
          <a:xfrm>
            <a:off x="4892049" y="1447800"/>
            <a:ext cx="3830400" cy="2742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cba40ec40a_0_0"/>
          <p:cNvSpPr/>
          <p:nvPr/>
        </p:nvSpPr>
        <p:spPr>
          <a:xfrm>
            <a:off x="4965199" y="1447800"/>
            <a:ext cx="364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Combination Spin  (no change of foot)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cba40ec40a_0_0"/>
          <p:cNvSpPr/>
          <p:nvPr/>
        </p:nvSpPr>
        <p:spPr>
          <a:xfrm>
            <a:off x="4965192" y="1749552"/>
            <a:ext cx="405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Applies to: CoSp, FCoSp — all 3 basic positions attempted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cba40ec40a_0_0"/>
          <p:cNvSpPr/>
          <p:nvPr/>
        </p:nvSpPr>
        <p:spPr>
          <a:xfrm>
            <a:off x="4965199" y="1950725"/>
            <a:ext cx="3647700" cy="2196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ba40ec40a_0_0"/>
          <p:cNvSpPr/>
          <p:nvPr/>
        </p:nvSpPr>
        <p:spPr>
          <a:xfrm>
            <a:off x="5001768" y="1950720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Full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g3cba40ec40a_0_0"/>
          <p:cNvCxnSpPr/>
          <p:nvPr/>
        </p:nvCxnSpPr>
        <p:spPr>
          <a:xfrm>
            <a:off x="6007608" y="1978152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g3cba40ec40a_0_0"/>
          <p:cNvSpPr/>
          <p:nvPr/>
        </p:nvSpPr>
        <p:spPr>
          <a:xfrm>
            <a:off x="6062474" y="1950725"/>
            <a:ext cx="225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 basic positions each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cba40ec40a_0_0"/>
          <p:cNvSpPr/>
          <p:nvPr/>
        </p:nvSpPr>
        <p:spPr>
          <a:xfrm>
            <a:off x="4965199" y="2197600"/>
            <a:ext cx="3647700" cy="2196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cba40ec40a_0_0"/>
          <p:cNvSpPr/>
          <p:nvPr/>
        </p:nvSpPr>
        <p:spPr>
          <a:xfrm>
            <a:off x="5001768" y="2197608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⚠ V (reduced)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g3cba40ec40a_0_0"/>
          <p:cNvCxnSpPr/>
          <p:nvPr/>
        </p:nvCxnSpPr>
        <p:spPr>
          <a:xfrm>
            <a:off x="6007608" y="2225040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g3cba40ec40a_0_0"/>
          <p:cNvSpPr/>
          <p:nvPr/>
        </p:nvSpPr>
        <p:spPr>
          <a:xfrm>
            <a:off x="6062474" y="2197600"/>
            <a:ext cx="202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 basic positions achieved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cba40ec40a_0_0"/>
          <p:cNvSpPr/>
          <p:nvPr/>
        </p:nvSpPr>
        <p:spPr>
          <a:xfrm>
            <a:off x="4965199" y="2444500"/>
            <a:ext cx="3647700" cy="2196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cba40ec40a_0_0"/>
          <p:cNvSpPr/>
          <p:nvPr/>
        </p:nvSpPr>
        <p:spPr>
          <a:xfrm>
            <a:off x="5001768" y="2444496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g3cba40ec40a_0_0"/>
          <p:cNvCxnSpPr/>
          <p:nvPr/>
        </p:nvCxnSpPr>
        <p:spPr>
          <a:xfrm>
            <a:off x="6007608" y="2471928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g3cba40ec40a_0_0"/>
          <p:cNvSpPr/>
          <p:nvPr/>
        </p:nvSpPr>
        <p:spPr>
          <a:xfrm>
            <a:off x="6062474" y="2444500"/>
            <a:ext cx="225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 or 1 basic positions achieved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cba40ec40a_0_0"/>
          <p:cNvSpPr/>
          <p:nvPr/>
        </p:nvSpPr>
        <p:spPr>
          <a:xfrm>
            <a:off x="274275" y="2925225"/>
            <a:ext cx="3791700" cy="17352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cba40ec40a_0_0"/>
          <p:cNvSpPr/>
          <p:nvPr/>
        </p:nvSpPr>
        <p:spPr>
          <a:xfrm>
            <a:off x="274275" y="2925225"/>
            <a:ext cx="3791700" cy="2742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cba40ec40a_0_0"/>
          <p:cNvSpPr/>
          <p:nvPr/>
        </p:nvSpPr>
        <p:spPr>
          <a:xfrm>
            <a:off x="347424" y="2925225"/>
            <a:ext cx="352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Spin in One Position with CoF — Position Requirement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cba40ec40a_0_0"/>
          <p:cNvSpPr/>
          <p:nvPr/>
        </p:nvSpPr>
        <p:spPr>
          <a:xfrm>
            <a:off x="347425" y="3211975"/>
            <a:ext cx="352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Applies to: CUSp, CLSp, CCSp, CSSp (and flying versions)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cba40ec40a_0_0"/>
          <p:cNvSpPr/>
          <p:nvPr/>
        </p:nvSpPr>
        <p:spPr>
          <a:xfrm>
            <a:off x="347425" y="3420700"/>
            <a:ext cx="36477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cba40ec40a_0_0"/>
          <p:cNvSpPr/>
          <p:nvPr/>
        </p:nvSpPr>
        <p:spPr>
          <a:xfrm>
            <a:off x="384000" y="3411700"/>
            <a:ext cx="3485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Basic position (2+ continuous revs) must be achieved on EACH foot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cba40ec40a_0_0"/>
          <p:cNvSpPr/>
          <p:nvPr/>
        </p:nvSpPr>
        <p:spPr>
          <a:xfrm>
            <a:off x="347424" y="3681125"/>
            <a:ext cx="3647700" cy="1920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cba40ec40a_0_0"/>
          <p:cNvSpPr/>
          <p:nvPr/>
        </p:nvSpPr>
        <p:spPr>
          <a:xfrm>
            <a:off x="383993" y="3681122"/>
            <a:ext cx="100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Both feet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g3cba40ec40a_0_0"/>
          <p:cNvCxnSpPr/>
          <p:nvPr/>
        </p:nvCxnSpPr>
        <p:spPr>
          <a:xfrm>
            <a:off x="1389833" y="3708554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g3cba40ec40a_0_0"/>
          <p:cNvSpPr/>
          <p:nvPr/>
        </p:nvSpPr>
        <p:spPr>
          <a:xfrm>
            <a:off x="1444700" y="3681125"/>
            <a:ext cx="2424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Basic position achieved on both feet</a:t>
            </a:r>
            <a:r>
              <a:rPr lang="en-US" sz="8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cba40ec40a_0_0"/>
          <p:cNvSpPr/>
          <p:nvPr/>
        </p:nvSpPr>
        <p:spPr>
          <a:xfrm>
            <a:off x="347424" y="3905150"/>
            <a:ext cx="3647700" cy="1920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cba40ec40a_0_0"/>
          <p:cNvSpPr/>
          <p:nvPr/>
        </p:nvSpPr>
        <p:spPr>
          <a:xfrm>
            <a:off x="383993" y="3905150"/>
            <a:ext cx="100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SP: No Value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g3cba40ec40a_0_0"/>
          <p:cNvCxnSpPr/>
          <p:nvPr/>
        </p:nvCxnSpPr>
        <p:spPr>
          <a:xfrm>
            <a:off x="1389833" y="3932582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g3cba40ec40a_0_0"/>
          <p:cNvSpPr/>
          <p:nvPr/>
        </p:nvSpPr>
        <p:spPr>
          <a:xfrm>
            <a:off x="1444700" y="3905150"/>
            <a:ext cx="2424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Short Program: </a:t>
            </a:r>
            <a:r>
              <a:rPr b="1" lang="en-US" sz="8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Value</a:t>
            </a:r>
            <a:endParaRPr b="1" i="0" sz="85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cba40ec40a_0_0"/>
          <p:cNvSpPr/>
          <p:nvPr/>
        </p:nvSpPr>
        <p:spPr>
          <a:xfrm>
            <a:off x="347424" y="4129175"/>
            <a:ext cx="3647700" cy="192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g3cba40ec40a_0_0"/>
          <p:cNvCxnSpPr/>
          <p:nvPr/>
        </p:nvCxnSpPr>
        <p:spPr>
          <a:xfrm>
            <a:off x="1389833" y="4156610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g3cba40ec40a_0_0"/>
          <p:cNvSpPr/>
          <p:nvPr/>
        </p:nvSpPr>
        <p:spPr>
          <a:xfrm>
            <a:off x="1444699" y="4129175"/>
            <a:ext cx="2424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Free Skating: </a:t>
            </a: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added to 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cba40ec40a_0_0"/>
          <p:cNvSpPr/>
          <p:nvPr/>
        </p:nvSpPr>
        <p:spPr>
          <a:xfrm>
            <a:off x="347424" y="4353200"/>
            <a:ext cx="3647700" cy="1920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cba40ec40a_0_0"/>
          <p:cNvSpPr/>
          <p:nvPr/>
        </p:nvSpPr>
        <p:spPr>
          <a:xfrm>
            <a:off x="383993" y="4353206"/>
            <a:ext cx="100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Neither foot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cba40ec40a_0_0"/>
          <p:cNvSpPr/>
          <p:nvPr/>
        </p:nvSpPr>
        <p:spPr>
          <a:xfrm>
            <a:off x="347325" y="3905100"/>
            <a:ext cx="1042500" cy="4161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2" name="Google Shape;382;g3cba40ec40a_0_0"/>
          <p:cNvCxnSpPr/>
          <p:nvPr/>
        </p:nvCxnSpPr>
        <p:spPr>
          <a:xfrm>
            <a:off x="1389833" y="4380638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g3cba40ec40a_0_0"/>
          <p:cNvSpPr/>
          <p:nvPr/>
        </p:nvSpPr>
        <p:spPr>
          <a:xfrm>
            <a:off x="1444699" y="4353200"/>
            <a:ext cx="2361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Value in BOTH SP and FS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cba40ec40a_0_0"/>
          <p:cNvSpPr/>
          <p:nvPr/>
        </p:nvSpPr>
        <p:spPr>
          <a:xfrm>
            <a:off x="383993" y="4003428"/>
            <a:ext cx="1005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0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1" lang="en-US" sz="850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One foot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cba40ec40a_0_0"/>
          <p:cNvSpPr/>
          <p:nvPr/>
        </p:nvSpPr>
        <p:spPr>
          <a:xfrm>
            <a:off x="4892000" y="2925225"/>
            <a:ext cx="3830400" cy="17352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cba40ec40a_0_0"/>
          <p:cNvSpPr/>
          <p:nvPr/>
        </p:nvSpPr>
        <p:spPr>
          <a:xfrm>
            <a:off x="4892000" y="2925225"/>
            <a:ext cx="3830400" cy="2742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cba40ec40a_0_0"/>
          <p:cNvSpPr/>
          <p:nvPr/>
        </p:nvSpPr>
        <p:spPr>
          <a:xfrm>
            <a:off x="4965150" y="2925225"/>
            <a:ext cx="348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Any Spin with Change of Foot — Revolution Requirement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ba40ec40a_0_0"/>
          <p:cNvSpPr/>
          <p:nvPr/>
        </p:nvSpPr>
        <p:spPr>
          <a:xfrm>
            <a:off x="4965147" y="3226970"/>
            <a:ext cx="405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Applies to: ALL spins with C prefix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cba40ec40a_0_0"/>
          <p:cNvSpPr/>
          <p:nvPr/>
        </p:nvSpPr>
        <p:spPr>
          <a:xfrm>
            <a:off x="4965150" y="3428150"/>
            <a:ext cx="3647700" cy="192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cba40ec40a_0_0"/>
          <p:cNvSpPr/>
          <p:nvPr/>
        </p:nvSpPr>
        <p:spPr>
          <a:xfrm>
            <a:off x="5001725" y="3428150"/>
            <a:ext cx="3561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3+ revolutions required on EACH foot  </a:t>
            </a:r>
            <a:r>
              <a:rPr b="1" lang="en-US" sz="88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(i.e., </a:t>
            </a:r>
            <a:r>
              <a:rPr b="1" i="0" lang="en-US" sz="88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minimum spin </a:t>
            </a:r>
            <a:r>
              <a:rPr b="1" lang="en-US" sz="88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requirement)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cba40ec40a_0_0"/>
          <p:cNvSpPr/>
          <p:nvPr/>
        </p:nvSpPr>
        <p:spPr>
          <a:xfrm>
            <a:off x="4965150" y="3675150"/>
            <a:ext cx="3647700" cy="2742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ba40ec40a_0_0"/>
          <p:cNvSpPr/>
          <p:nvPr/>
        </p:nvSpPr>
        <p:spPr>
          <a:xfrm>
            <a:off x="5001725" y="3674975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Met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g3cba40ec40a_0_0"/>
          <p:cNvCxnSpPr/>
          <p:nvPr/>
        </p:nvCxnSpPr>
        <p:spPr>
          <a:xfrm>
            <a:off x="6007563" y="3709246"/>
            <a:ext cx="0" cy="205800"/>
          </a:xfrm>
          <a:prstGeom prst="straightConnector1">
            <a:avLst/>
          </a:prstGeom>
          <a:noFill/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g3cba40ec40a_0_0"/>
          <p:cNvSpPr/>
          <p:nvPr/>
        </p:nvSpPr>
        <p:spPr>
          <a:xfrm>
            <a:off x="6062425" y="3674975"/>
            <a:ext cx="236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3+ revs on first foot AND 3+ revs on second foot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cba40ec40a_0_0"/>
          <p:cNvSpPr/>
          <p:nvPr/>
        </p:nvSpPr>
        <p:spPr>
          <a:xfrm>
            <a:off x="4965125" y="3981300"/>
            <a:ext cx="3647700" cy="2742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cba40ec40a_0_0"/>
          <p:cNvSpPr/>
          <p:nvPr/>
        </p:nvSpPr>
        <p:spPr>
          <a:xfrm>
            <a:off x="5001700" y="3981303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SP: No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g3cba40ec40a_0_0"/>
          <p:cNvCxnSpPr/>
          <p:nvPr/>
        </p:nvCxnSpPr>
        <p:spPr>
          <a:xfrm>
            <a:off x="6007539" y="4015555"/>
            <a:ext cx="0" cy="205800"/>
          </a:xfrm>
          <a:prstGeom prst="straightConnector1">
            <a:avLst/>
          </a:prstGeom>
          <a:noFill/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g3cba40ec40a_0_0"/>
          <p:cNvSpPr/>
          <p:nvPr/>
        </p:nvSpPr>
        <p:spPr>
          <a:xfrm>
            <a:off x="6062400" y="3981300"/>
            <a:ext cx="233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&lt; 3 </a:t>
            </a: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revs on either foot → Short Program: No Value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cba40ec40a_0_0"/>
          <p:cNvSpPr/>
          <p:nvPr/>
        </p:nvSpPr>
        <p:spPr>
          <a:xfrm>
            <a:off x="4965150" y="4296950"/>
            <a:ext cx="3647700" cy="2742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cba40ec40a_0_0"/>
          <p:cNvSpPr/>
          <p:nvPr/>
        </p:nvSpPr>
        <p:spPr>
          <a:xfrm>
            <a:off x="5001725" y="4315475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⚠ FS: 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g3cba40ec40a_0_0"/>
          <p:cNvCxnSpPr/>
          <p:nvPr/>
        </p:nvCxnSpPr>
        <p:spPr>
          <a:xfrm>
            <a:off x="6007563" y="4361043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g3cba40ec40a_0_0"/>
          <p:cNvSpPr/>
          <p:nvPr/>
        </p:nvSpPr>
        <p:spPr>
          <a:xfrm>
            <a:off x="6062425" y="4315600"/>
            <a:ext cx="242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&lt; </a:t>
            </a: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 revs on either foot → Free Skating: V added to code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cba40ec40a_0_0"/>
          <p:cNvSpPr/>
          <p:nvPr/>
        </p:nvSpPr>
        <p:spPr>
          <a:xfrm>
            <a:off x="274325" y="4779175"/>
            <a:ext cx="8448300" cy="2013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cba40ec40a_0_0"/>
          <p:cNvSpPr/>
          <p:nvPr/>
        </p:nvSpPr>
        <p:spPr>
          <a:xfrm>
            <a:off x="274275" y="4808450"/>
            <a:ext cx="8448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Outcome reminder: </a:t>
            </a:r>
            <a:r>
              <a:rPr b="0" i="0" lang="en-US" sz="8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Full value → Base value from code, increased by level features (Phase 4).  V → Reduced base value.  No Value → 0 points, element still appears in protocol.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ba40ec40a_0_8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cba40ec40a_0_81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cba40ec40a_0_81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3: Value Assessment — Outcomes by Spin Type &amp; Edge Cases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cba40ec40a_0_81"/>
          <p:cNvSpPr/>
          <p:nvPr/>
        </p:nvSpPr>
        <p:spPr>
          <a:xfrm>
            <a:off x="274320" y="1143000"/>
            <a:ext cx="5394900" cy="2559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cba40ec40a_0_81"/>
          <p:cNvSpPr/>
          <p:nvPr/>
        </p:nvSpPr>
        <p:spPr>
          <a:xfrm>
            <a:off x="347472" y="1143000"/>
            <a:ext cx="524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Assessment — Outcomes at a Glance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cba40ec40a_0_81"/>
          <p:cNvSpPr/>
          <p:nvPr/>
        </p:nvSpPr>
        <p:spPr>
          <a:xfrm>
            <a:off x="274320" y="1399032"/>
            <a:ext cx="1920300" cy="2196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cba40ec40a_0_81"/>
          <p:cNvSpPr/>
          <p:nvPr/>
        </p:nvSpPr>
        <p:spPr>
          <a:xfrm>
            <a:off x="310896" y="1399032"/>
            <a:ext cx="1847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Spin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cba40ec40a_0_81"/>
          <p:cNvSpPr/>
          <p:nvPr/>
        </p:nvSpPr>
        <p:spPr>
          <a:xfrm>
            <a:off x="2194560" y="1399032"/>
            <a:ext cx="1326000" cy="2196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cba40ec40a_0_81"/>
          <p:cNvSpPr/>
          <p:nvPr/>
        </p:nvSpPr>
        <p:spPr>
          <a:xfrm>
            <a:off x="2231136" y="1399032"/>
            <a:ext cx="125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cba40ec40a_0_81"/>
          <p:cNvSpPr/>
          <p:nvPr/>
        </p:nvSpPr>
        <p:spPr>
          <a:xfrm>
            <a:off x="3520440" y="1399032"/>
            <a:ext cx="1069800" cy="2196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cba40ec40a_0_81"/>
          <p:cNvSpPr/>
          <p:nvPr/>
        </p:nvSpPr>
        <p:spPr>
          <a:xfrm>
            <a:off x="3557016" y="1399032"/>
            <a:ext cx="996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cba40ec40a_0_81"/>
          <p:cNvSpPr/>
          <p:nvPr/>
        </p:nvSpPr>
        <p:spPr>
          <a:xfrm>
            <a:off x="4590288" y="1399032"/>
            <a:ext cx="1079100" cy="2196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cba40ec40a_0_81"/>
          <p:cNvSpPr/>
          <p:nvPr/>
        </p:nvSpPr>
        <p:spPr>
          <a:xfrm>
            <a:off x="4626864" y="1399032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cba40ec40a_0_81"/>
          <p:cNvSpPr/>
          <p:nvPr/>
        </p:nvSpPr>
        <p:spPr>
          <a:xfrm>
            <a:off x="274320" y="1618488"/>
            <a:ext cx="1920300" cy="6291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cba40ec40a_0_81"/>
          <p:cNvSpPr/>
          <p:nvPr/>
        </p:nvSpPr>
        <p:spPr>
          <a:xfrm>
            <a:off x="329184" y="1618488"/>
            <a:ext cx="1810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Sp (one position,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no CoF)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cba40ec40a_0_81"/>
          <p:cNvSpPr/>
          <p:nvPr/>
        </p:nvSpPr>
        <p:spPr>
          <a:xfrm>
            <a:off x="2194560" y="1618488"/>
            <a:ext cx="1326000" cy="3147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cba40ec40a_0_81"/>
          <p:cNvSpPr/>
          <p:nvPr/>
        </p:nvSpPr>
        <p:spPr>
          <a:xfrm>
            <a:off x="2231136" y="1618488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2+ continuous revs in basic position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cba40ec40a_0_81"/>
          <p:cNvSpPr/>
          <p:nvPr/>
        </p:nvSpPr>
        <p:spPr>
          <a:xfrm>
            <a:off x="3520440" y="1618488"/>
            <a:ext cx="1069800" cy="3147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cba40ec40a_0_81"/>
          <p:cNvSpPr/>
          <p:nvPr/>
        </p:nvSpPr>
        <p:spPr>
          <a:xfrm>
            <a:off x="3557016" y="1618488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Full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cba40ec40a_0_81"/>
          <p:cNvSpPr/>
          <p:nvPr/>
        </p:nvSpPr>
        <p:spPr>
          <a:xfrm>
            <a:off x="4590288" y="1618488"/>
            <a:ext cx="1079100" cy="3147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cba40ec40a_0_81"/>
          <p:cNvSpPr/>
          <p:nvPr/>
        </p:nvSpPr>
        <p:spPr>
          <a:xfrm>
            <a:off x="4626864" y="1618488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Full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cba40ec40a_0_81"/>
          <p:cNvSpPr/>
          <p:nvPr/>
        </p:nvSpPr>
        <p:spPr>
          <a:xfrm>
            <a:off x="2194560" y="1933042"/>
            <a:ext cx="1326000" cy="3147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cba40ec40a_0_81"/>
          <p:cNvSpPr/>
          <p:nvPr/>
        </p:nvSpPr>
        <p:spPr>
          <a:xfrm>
            <a:off x="2231136" y="1933042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&lt; 2 continuous revs in basic position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cba40ec40a_0_81"/>
          <p:cNvSpPr/>
          <p:nvPr/>
        </p:nvSpPr>
        <p:spPr>
          <a:xfrm>
            <a:off x="3520440" y="1933042"/>
            <a:ext cx="10698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cba40ec40a_0_81"/>
          <p:cNvSpPr/>
          <p:nvPr/>
        </p:nvSpPr>
        <p:spPr>
          <a:xfrm>
            <a:off x="3557016" y="1933042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cba40ec40a_0_81"/>
          <p:cNvSpPr/>
          <p:nvPr/>
        </p:nvSpPr>
        <p:spPr>
          <a:xfrm>
            <a:off x="4590288" y="1933042"/>
            <a:ext cx="10791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cba40ec40a_0_81"/>
          <p:cNvSpPr/>
          <p:nvPr/>
        </p:nvSpPr>
        <p:spPr>
          <a:xfrm>
            <a:off x="4626864" y="1933042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cba40ec40a_0_81"/>
          <p:cNvSpPr/>
          <p:nvPr/>
        </p:nvSpPr>
        <p:spPr>
          <a:xfrm>
            <a:off x="274320" y="2247595"/>
            <a:ext cx="1920300" cy="9438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cba40ec40a_0_81"/>
          <p:cNvSpPr/>
          <p:nvPr/>
        </p:nvSpPr>
        <p:spPr>
          <a:xfrm>
            <a:off x="329184" y="2247595"/>
            <a:ext cx="18105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CoSp (no CoF)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cba40ec40a_0_81"/>
          <p:cNvSpPr/>
          <p:nvPr/>
        </p:nvSpPr>
        <p:spPr>
          <a:xfrm>
            <a:off x="2194560" y="2247595"/>
            <a:ext cx="1326000" cy="314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cba40ec40a_0_81"/>
          <p:cNvSpPr/>
          <p:nvPr/>
        </p:nvSpPr>
        <p:spPr>
          <a:xfrm>
            <a:off x="2231136" y="2247595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 basic positions achieved (2+ revs each)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cba40ec40a_0_81"/>
          <p:cNvSpPr/>
          <p:nvPr/>
        </p:nvSpPr>
        <p:spPr>
          <a:xfrm>
            <a:off x="3520440" y="2247595"/>
            <a:ext cx="1069800" cy="3147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cba40ec40a_0_81"/>
          <p:cNvSpPr/>
          <p:nvPr/>
        </p:nvSpPr>
        <p:spPr>
          <a:xfrm>
            <a:off x="3557016" y="2247595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Full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cba40ec40a_0_81"/>
          <p:cNvSpPr/>
          <p:nvPr/>
        </p:nvSpPr>
        <p:spPr>
          <a:xfrm>
            <a:off x="4590288" y="2247595"/>
            <a:ext cx="1079100" cy="3147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cba40ec40a_0_81"/>
          <p:cNvSpPr/>
          <p:nvPr/>
        </p:nvSpPr>
        <p:spPr>
          <a:xfrm>
            <a:off x="4626864" y="2247595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Full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cba40ec40a_0_81"/>
          <p:cNvSpPr/>
          <p:nvPr/>
        </p:nvSpPr>
        <p:spPr>
          <a:xfrm>
            <a:off x="2194560" y="2562149"/>
            <a:ext cx="1326000" cy="314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cba40ec40a_0_81"/>
          <p:cNvSpPr/>
          <p:nvPr/>
        </p:nvSpPr>
        <p:spPr>
          <a:xfrm>
            <a:off x="2231136" y="2562149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 basic positions achieved (2+ revs each)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cba40ec40a_0_81"/>
          <p:cNvSpPr/>
          <p:nvPr/>
        </p:nvSpPr>
        <p:spPr>
          <a:xfrm>
            <a:off x="3520440" y="2562149"/>
            <a:ext cx="1069800" cy="3147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cba40ec40a_0_81"/>
          <p:cNvSpPr/>
          <p:nvPr/>
        </p:nvSpPr>
        <p:spPr>
          <a:xfrm>
            <a:off x="3557016" y="2562149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⚠ 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cba40ec40a_0_81"/>
          <p:cNvSpPr/>
          <p:nvPr/>
        </p:nvSpPr>
        <p:spPr>
          <a:xfrm>
            <a:off x="4590288" y="2562149"/>
            <a:ext cx="1079100" cy="3147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cba40ec40a_0_81"/>
          <p:cNvSpPr/>
          <p:nvPr/>
        </p:nvSpPr>
        <p:spPr>
          <a:xfrm>
            <a:off x="4626864" y="2562149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⚠ 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cba40ec40a_0_81"/>
          <p:cNvSpPr/>
          <p:nvPr/>
        </p:nvSpPr>
        <p:spPr>
          <a:xfrm>
            <a:off x="2194560" y="2876702"/>
            <a:ext cx="1326000" cy="314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cba40ec40a_0_81"/>
          <p:cNvSpPr/>
          <p:nvPr/>
        </p:nvSpPr>
        <p:spPr>
          <a:xfrm>
            <a:off x="2231136" y="2876702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 or 1 basic positions achieved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cba40ec40a_0_81"/>
          <p:cNvSpPr/>
          <p:nvPr/>
        </p:nvSpPr>
        <p:spPr>
          <a:xfrm>
            <a:off x="3520440" y="2876702"/>
            <a:ext cx="10698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cba40ec40a_0_81"/>
          <p:cNvSpPr/>
          <p:nvPr/>
        </p:nvSpPr>
        <p:spPr>
          <a:xfrm>
            <a:off x="3557016" y="2876702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cba40ec40a_0_81"/>
          <p:cNvSpPr/>
          <p:nvPr/>
        </p:nvSpPr>
        <p:spPr>
          <a:xfrm>
            <a:off x="4590288" y="2876702"/>
            <a:ext cx="10791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cba40ec40a_0_81"/>
          <p:cNvSpPr/>
          <p:nvPr/>
        </p:nvSpPr>
        <p:spPr>
          <a:xfrm>
            <a:off x="4626864" y="2876702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cba40ec40a_0_81"/>
          <p:cNvSpPr/>
          <p:nvPr/>
        </p:nvSpPr>
        <p:spPr>
          <a:xfrm>
            <a:off x="274320" y="3191256"/>
            <a:ext cx="1920300" cy="6291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cba40ec40a_0_81"/>
          <p:cNvSpPr/>
          <p:nvPr/>
        </p:nvSpPr>
        <p:spPr>
          <a:xfrm>
            <a:off x="329184" y="3191256"/>
            <a:ext cx="18105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Any spin with 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(rev req)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cba40ec40a_0_81"/>
          <p:cNvSpPr/>
          <p:nvPr/>
        </p:nvSpPr>
        <p:spPr>
          <a:xfrm>
            <a:off x="2194560" y="3191256"/>
            <a:ext cx="1326000" cy="3147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cba40ec40a_0_81"/>
          <p:cNvSpPr/>
          <p:nvPr/>
        </p:nvSpPr>
        <p:spPr>
          <a:xfrm>
            <a:off x="2231136" y="3191256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3+ revs on each foot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cba40ec40a_0_81"/>
          <p:cNvSpPr/>
          <p:nvPr/>
        </p:nvSpPr>
        <p:spPr>
          <a:xfrm>
            <a:off x="3520440" y="3191256"/>
            <a:ext cx="1069800" cy="3147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A8C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cba40ec40a_0_81"/>
          <p:cNvSpPr/>
          <p:nvPr/>
        </p:nvSpPr>
        <p:spPr>
          <a:xfrm>
            <a:off x="3557016" y="3191256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cba40ec40a_0_81"/>
          <p:cNvSpPr/>
          <p:nvPr/>
        </p:nvSpPr>
        <p:spPr>
          <a:xfrm>
            <a:off x="4590288" y="3191256"/>
            <a:ext cx="1079100" cy="3147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A8C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cba40ec40a_0_81"/>
          <p:cNvSpPr/>
          <p:nvPr/>
        </p:nvSpPr>
        <p:spPr>
          <a:xfrm>
            <a:off x="4626864" y="3191256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cba40ec40a_0_81"/>
          <p:cNvSpPr/>
          <p:nvPr/>
        </p:nvSpPr>
        <p:spPr>
          <a:xfrm>
            <a:off x="2194560" y="3505810"/>
            <a:ext cx="1326000" cy="3147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cba40ec40a_0_81"/>
          <p:cNvSpPr/>
          <p:nvPr/>
        </p:nvSpPr>
        <p:spPr>
          <a:xfrm>
            <a:off x="2231136" y="3505810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&lt; 3 revs on either foot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cba40ec40a_0_81"/>
          <p:cNvSpPr/>
          <p:nvPr/>
        </p:nvSpPr>
        <p:spPr>
          <a:xfrm>
            <a:off x="3520440" y="3505810"/>
            <a:ext cx="10698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cba40ec40a_0_81"/>
          <p:cNvSpPr/>
          <p:nvPr/>
        </p:nvSpPr>
        <p:spPr>
          <a:xfrm>
            <a:off x="3557016" y="3505810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cba40ec40a_0_81"/>
          <p:cNvSpPr/>
          <p:nvPr/>
        </p:nvSpPr>
        <p:spPr>
          <a:xfrm>
            <a:off x="4590288" y="3505810"/>
            <a:ext cx="1079100" cy="3147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cba40ec40a_0_81"/>
          <p:cNvSpPr/>
          <p:nvPr/>
        </p:nvSpPr>
        <p:spPr>
          <a:xfrm>
            <a:off x="4626864" y="3505810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⚠ 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cba40ec40a_0_81"/>
          <p:cNvSpPr/>
          <p:nvPr/>
        </p:nvSpPr>
        <p:spPr>
          <a:xfrm>
            <a:off x="274320" y="3820363"/>
            <a:ext cx="1920300" cy="9438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cba40ec40a_0_81"/>
          <p:cNvSpPr/>
          <p:nvPr/>
        </p:nvSpPr>
        <p:spPr>
          <a:xfrm>
            <a:off x="329184" y="3820363"/>
            <a:ext cx="18105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CXSp (one pos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+ CoF pos req)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cba40ec40a_0_81"/>
          <p:cNvSpPr/>
          <p:nvPr/>
        </p:nvSpPr>
        <p:spPr>
          <a:xfrm>
            <a:off x="2194560" y="3820363"/>
            <a:ext cx="1326000" cy="314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cba40ec40a_0_81"/>
          <p:cNvSpPr/>
          <p:nvPr/>
        </p:nvSpPr>
        <p:spPr>
          <a:xfrm>
            <a:off x="2231136" y="3820363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Basic position (2+ revs) on both feet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cba40ec40a_0_81"/>
          <p:cNvSpPr/>
          <p:nvPr/>
        </p:nvSpPr>
        <p:spPr>
          <a:xfrm>
            <a:off x="3520440" y="3820363"/>
            <a:ext cx="1069800" cy="3147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A8C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cba40ec40a_0_81"/>
          <p:cNvSpPr/>
          <p:nvPr/>
        </p:nvSpPr>
        <p:spPr>
          <a:xfrm>
            <a:off x="3557016" y="3820363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cba40ec40a_0_81"/>
          <p:cNvSpPr/>
          <p:nvPr/>
        </p:nvSpPr>
        <p:spPr>
          <a:xfrm>
            <a:off x="4590288" y="3820363"/>
            <a:ext cx="1079100" cy="3147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A8C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cba40ec40a_0_81"/>
          <p:cNvSpPr/>
          <p:nvPr/>
        </p:nvSpPr>
        <p:spPr>
          <a:xfrm>
            <a:off x="4626864" y="3820363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cba40ec40a_0_81"/>
          <p:cNvSpPr/>
          <p:nvPr/>
        </p:nvSpPr>
        <p:spPr>
          <a:xfrm>
            <a:off x="2194560" y="4134917"/>
            <a:ext cx="1326000" cy="314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cba40ec40a_0_81"/>
          <p:cNvSpPr/>
          <p:nvPr/>
        </p:nvSpPr>
        <p:spPr>
          <a:xfrm>
            <a:off x="2231136" y="4134917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Basic position on one foot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cba40ec40a_0_81"/>
          <p:cNvSpPr/>
          <p:nvPr/>
        </p:nvSpPr>
        <p:spPr>
          <a:xfrm>
            <a:off x="3520440" y="4134917"/>
            <a:ext cx="10698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cba40ec40a_0_81"/>
          <p:cNvSpPr/>
          <p:nvPr/>
        </p:nvSpPr>
        <p:spPr>
          <a:xfrm>
            <a:off x="3557016" y="4134917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cba40ec40a_0_81"/>
          <p:cNvSpPr/>
          <p:nvPr/>
        </p:nvSpPr>
        <p:spPr>
          <a:xfrm>
            <a:off x="4590288" y="4134917"/>
            <a:ext cx="1079100" cy="3147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cba40ec40a_0_81"/>
          <p:cNvSpPr/>
          <p:nvPr/>
        </p:nvSpPr>
        <p:spPr>
          <a:xfrm>
            <a:off x="4626864" y="4134917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⚠ 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cba40ec40a_0_81"/>
          <p:cNvSpPr/>
          <p:nvPr/>
        </p:nvSpPr>
        <p:spPr>
          <a:xfrm>
            <a:off x="2194560" y="4449470"/>
            <a:ext cx="1326000" cy="314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cba40ec40a_0_81"/>
          <p:cNvSpPr/>
          <p:nvPr/>
        </p:nvSpPr>
        <p:spPr>
          <a:xfrm>
            <a:off x="2231136" y="4449470"/>
            <a:ext cx="1252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Basic position on neither foot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cba40ec40a_0_81"/>
          <p:cNvSpPr/>
          <p:nvPr/>
        </p:nvSpPr>
        <p:spPr>
          <a:xfrm>
            <a:off x="3520440" y="4449470"/>
            <a:ext cx="10698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cba40ec40a_0_81"/>
          <p:cNvSpPr/>
          <p:nvPr/>
        </p:nvSpPr>
        <p:spPr>
          <a:xfrm>
            <a:off x="3557016" y="4449470"/>
            <a:ext cx="99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cba40ec40a_0_81"/>
          <p:cNvSpPr/>
          <p:nvPr/>
        </p:nvSpPr>
        <p:spPr>
          <a:xfrm>
            <a:off x="4590288" y="4449470"/>
            <a:ext cx="1079100" cy="3147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cba40ec40a_0_81"/>
          <p:cNvSpPr/>
          <p:nvPr/>
        </p:nvSpPr>
        <p:spPr>
          <a:xfrm>
            <a:off x="4626864" y="4449470"/>
            <a:ext cx="1005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cba40ec40a_0_81"/>
          <p:cNvSpPr/>
          <p:nvPr/>
        </p:nvSpPr>
        <p:spPr>
          <a:xfrm>
            <a:off x="274300" y="4823525"/>
            <a:ext cx="5394900" cy="1647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cba40ec40a_0_81"/>
          <p:cNvSpPr/>
          <p:nvPr/>
        </p:nvSpPr>
        <p:spPr>
          <a:xfrm>
            <a:off x="274325" y="4823596"/>
            <a:ext cx="5248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Multiple violations: </a:t>
            </a:r>
            <a:r>
              <a:rPr b="0" i="0" lang="en-US" sz="85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In SP, any violation = No Value. In FS, one or more violations = one V applied.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cba40ec40a_0_81"/>
          <p:cNvSpPr/>
          <p:nvPr/>
        </p:nvSpPr>
        <p:spPr>
          <a:xfrm>
            <a:off x="5806450" y="1143000"/>
            <a:ext cx="3063300" cy="38451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cba40ec40a_0_81"/>
          <p:cNvSpPr/>
          <p:nvPr/>
        </p:nvSpPr>
        <p:spPr>
          <a:xfrm>
            <a:off x="5897880" y="11430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CCSp E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cba40ec40a_0_81"/>
          <p:cNvSpPr/>
          <p:nvPr/>
        </p:nvSpPr>
        <p:spPr>
          <a:xfrm>
            <a:off x="5879592" y="1435608"/>
            <a:ext cx="2916900" cy="2013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cba40ec40a_0_81"/>
          <p:cNvSpPr/>
          <p:nvPr/>
        </p:nvSpPr>
        <p:spPr>
          <a:xfrm>
            <a:off x="5916168" y="1435608"/>
            <a:ext cx="284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Value — SP &amp; FS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cba40ec40a_0_81"/>
          <p:cNvSpPr/>
          <p:nvPr/>
        </p:nvSpPr>
        <p:spPr>
          <a:xfrm>
            <a:off x="5879592" y="1636776"/>
            <a:ext cx="2916900" cy="5487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cba40ec40a_0_81"/>
          <p:cNvSpPr/>
          <p:nvPr/>
        </p:nvSpPr>
        <p:spPr>
          <a:xfrm>
            <a:off x="5916168" y="1655064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10 revs (8 camel) → CoF → 2 revs (1 camel)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cba40ec40a_0_81"/>
          <p:cNvSpPr/>
          <p:nvPr/>
        </p:nvSpPr>
        <p:spPr>
          <a:xfrm>
            <a:off x="5916168" y="1824228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✗ Only 2 revs on 2nd foot  ✗ Only 1 camel rev on 2nd foot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cba40ec40a_0_81"/>
          <p:cNvSpPr/>
          <p:nvPr/>
        </p:nvSpPr>
        <p:spPr>
          <a:xfrm>
            <a:off x="5916168" y="1993392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Two violations → one V in FS / No Value in SP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cba40ec40a_0_81"/>
          <p:cNvSpPr/>
          <p:nvPr/>
        </p:nvSpPr>
        <p:spPr>
          <a:xfrm>
            <a:off x="5879592" y="2221992"/>
            <a:ext cx="2916900" cy="2013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cba40ec40a_0_81"/>
          <p:cNvSpPr/>
          <p:nvPr/>
        </p:nvSpPr>
        <p:spPr>
          <a:xfrm>
            <a:off x="5916168" y="2221992"/>
            <a:ext cx="284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SP: No Value  /  FS: 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cba40ec40a_0_81"/>
          <p:cNvSpPr/>
          <p:nvPr/>
        </p:nvSpPr>
        <p:spPr>
          <a:xfrm>
            <a:off x="5879600" y="2423152"/>
            <a:ext cx="2916900" cy="3951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cba40ec40a_0_81"/>
          <p:cNvSpPr/>
          <p:nvPr/>
        </p:nvSpPr>
        <p:spPr>
          <a:xfrm>
            <a:off x="5916168" y="2441448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4 revs (2 camel) → CoF → 4 revs (1 camel)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cba40ec40a_0_81"/>
          <p:cNvSpPr/>
          <p:nvPr/>
        </p:nvSpPr>
        <p:spPr>
          <a:xfrm>
            <a:off x="5916168" y="2610612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✓ 4 revs on each foot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cba40ec40a_0_81"/>
          <p:cNvSpPr/>
          <p:nvPr/>
        </p:nvSpPr>
        <p:spPr>
          <a:xfrm>
            <a:off x="6832847" y="2601463"/>
            <a:ext cx="174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✗ Only 1 camel rev on 2nd foot → V in FS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cba40ec40a_0_81"/>
          <p:cNvSpPr/>
          <p:nvPr/>
        </p:nvSpPr>
        <p:spPr>
          <a:xfrm>
            <a:off x="5879580" y="2889501"/>
            <a:ext cx="2916900" cy="2013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cba40ec40a_0_81"/>
          <p:cNvSpPr/>
          <p:nvPr/>
        </p:nvSpPr>
        <p:spPr>
          <a:xfrm>
            <a:off x="5916155" y="2889501"/>
            <a:ext cx="284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SP: No Value  /  FS: 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cba40ec40a_0_81"/>
          <p:cNvSpPr/>
          <p:nvPr/>
        </p:nvSpPr>
        <p:spPr>
          <a:xfrm>
            <a:off x="5879580" y="3090669"/>
            <a:ext cx="2916900" cy="5487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cba40ec40a_0_81"/>
          <p:cNvSpPr/>
          <p:nvPr/>
        </p:nvSpPr>
        <p:spPr>
          <a:xfrm>
            <a:off x="5916155" y="3108957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4 revs (3 camel) → CoF → 2 revs (2 camel)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cba40ec40a_0_81"/>
          <p:cNvSpPr/>
          <p:nvPr/>
        </p:nvSpPr>
        <p:spPr>
          <a:xfrm>
            <a:off x="5916155" y="3278121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✗ Only 2 revs on 2nd foot  ✓ Camel on both feet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cba40ec40a_0_81"/>
          <p:cNvSpPr/>
          <p:nvPr/>
        </p:nvSpPr>
        <p:spPr>
          <a:xfrm>
            <a:off x="5916155" y="3447285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3-rev rule not met → V in FS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cba40ec40a_0_81"/>
          <p:cNvSpPr/>
          <p:nvPr/>
        </p:nvSpPr>
        <p:spPr>
          <a:xfrm>
            <a:off x="5879580" y="3675885"/>
            <a:ext cx="2916900" cy="201300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cba40ec40a_0_81"/>
          <p:cNvSpPr/>
          <p:nvPr/>
        </p:nvSpPr>
        <p:spPr>
          <a:xfrm>
            <a:off x="5916155" y="3675885"/>
            <a:ext cx="284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Value — SP &amp; FS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cba40ec40a_0_81"/>
          <p:cNvSpPr/>
          <p:nvPr/>
        </p:nvSpPr>
        <p:spPr>
          <a:xfrm>
            <a:off x="5879580" y="3877053"/>
            <a:ext cx="2916900" cy="5487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cba40ec40a_0_81"/>
          <p:cNvSpPr/>
          <p:nvPr/>
        </p:nvSpPr>
        <p:spPr>
          <a:xfrm>
            <a:off x="5916155" y="3895341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4 revs (1 camel) → CoF → 4 revs (1 camel)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cba40ec40a_0_81"/>
          <p:cNvSpPr/>
          <p:nvPr/>
        </p:nvSpPr>
        <p:spPr>
          <a:xfrm>
            <a:off x="5916155" y="4064505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✓ 4 revs on each foot  </a:t>
            </a:r>
            <a:r>
              <a:rPr lang="en-US" sz="780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✗ No Camel on either foot</a:t>
            </a:r>
            <a:endParaRPr sz="780">
              <a:solidFill>
                <a:srgbClr val="A8D8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cba40ec40a_0_81"/>
          <p:cNvSpPr/>
          <p:nvPr/>
        </p:nvSpPr>
        <p:spPr>
          <a:xfrm>
            <a:off x="5879580" y="4309869"/>
            <a:ext cx="2916900" cy="2013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cba40ec40a_0_81"/>
          <p:cNvSpPr/>
          <p:nvPr/>
        </p:nvSpPr>
        <p:spPr>
          <a:xfrm>
            <a:off x="5916155" y="4309869"/>
            <a:ext cx="284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Full Value ✓  →  Phase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cba40ec40a_0_81"/>
          <p:cNvSpPr/>
          <p:nvPr/>
        </p:nvSpPr>
        <p:spPr>
          <a:xfrm>
            <a:off x="5879563" y="4512575"/>
            <a:ext cx="2916900" cy="347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cba40ec40a_0_81"/>
          <p:cNvSpPr/>
          <p:nvPr/>
        </p:nvSpPr>
        <p:spPr>
          <a:xfrm>
            <a:off x="5916155" y="4529325"/>
            <a:ext cx="284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5 revs (3 camel) → CoF → 4 revs (2 camel)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cba40ec40a_0_81"/>
          <p:cNvSpPr/>
          <p:nvPr/>
        </p:nvSpPr>
        <p:spPr>
          <a:xfrm>
            <a:off x="5916163" y="4529322"/>
            <a:ext cx="2843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t/>
            </a:r>
            <a:endParaRPr sz="780">
              <a:solidFill>
                <a:srgbClr val="A8D8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✓ Camel achieved on both feet  →  proceed to Level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c0148990a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cc0148990a_0_0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cc0148990a_0_0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4: Determining the Level — Foundational Rules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cc0148990a_0_0"/>
          <p:cNvSpPr/>
          <p:nvPr/>
        </p:nvSpPr>
        <p:spPr>
          <a:xfrm>
            <a:off x="1920240" y="1005840"/>
            <a:ext cx="685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Before assessing any feature, these rules govern how features are counted across the entire spin and the entire program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cc0148990a_0_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cc0148990a_0_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FOUNDATION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cc0148990a_0_0"/>
          <p:cNvSpPr/>
          <p:nvPr/>
        </p:nvSpPr>
        <p:spPr>
          <a:xfrm>
            <a:off x="274320" y="1371600"/>
            <a:ext cx="8595300" cy="2559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cc0148990a_0_0"/>
          <p:cNvSpPr/>
          <p:nvPr/>
        </p:nvSpPr>
        <p:spPr>
          <a:xfrm>
            <a:off x="347472" y="1371600"/>
            <a:ext cx="844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Level = Number of qualifying features counted. Each level requires 1 additional feature. Level 4 requires at least one MANDATORY feature.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cc0148990a_0_0"/>
          <p:cNvSpPr/>
          <p:nvPr/>
        </p:nvSpPr>
        <p:spPr>
          <a:xfrm>
            <a:off x="274320" y="1719072"/>
            <a:ext cx="4206300" cy="14448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cc0148990a_0_0"/>
          <p:cNvSpPr/>
          <p:nvPr/>
        </p:nvSpPr>
        <p:spPr>
          <a:xfrm>
            <a:off x="274320" y="1719072"/>
            <a:ext cx="4206300" cy="2559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cc0148990a_0_0"/>
          <p:cNvSpPr/>
          <p:nvPr/>
        </p:nvSpPr>
        <p:spPr>
          <a:xfrm>
            <a:off x="347472" y="1719072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1 — Max Features Per Foot (CoF Spins)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cc0148990a_0_0"/>
          <p:cNvSpPr/>
          <p:nvPr/>
        </p:nvSpPr>
        <p:spPr>
          <a:xfrm>
            <a:off x="347472" y="2011680"/>
            <a:ext cx="17109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cc0148990a_0_0"/>
          <p:cNvSpPr/>
          <p:nvPr/>
        </p:nvSpPr>
        <p:spPr>
          <a:xfrm>
            <a:off x="347472" y="2011680"/>
            <a:ext cx="1710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§SPIN.LEV.COF.MAX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cc0148990a_0_0"/>
          <p:cNvSpPr/>
          <p:nvPr/>
        </p:nvSpPr>
        <p:spPr>
          <a:xfrm>
            <a:off x="347472" y="2231136"/>
            <a:ext cx="40599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 any spin with a change of foot, a maximum of 2 features can be counted on one foot. Features on each foot are tracked separately.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Example: CCoSp — if foot 1 has 3 qualifying features, only the best 2 count from foot 1.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cc0148990a_0_0"/>
          <p:cNvSpPr/>
          <p:nvPr/>
        </p:nvSpPr>
        <p:spPr>
          <a:xfrm>
            <a:off x="4663440" y="1719072"/>
            <a:ext cx="4206300" cy="14448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cc0148990a_0_0"/>
          <p:cNvSpPr/>
          <p:nvPr/>
        </p:nvSpPr>
        <p:spPr>
          <a:xfrm>
            <a:off x="4663440" y="1719072"/>
            <a:ext cx="4206300" cy="2559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cc0148990a_0_0"/>
          <p:cNvSpPr/>
          <p:nvPr/>
        </p:nvSpPr>
        <p:spPr>
          <a:xfrm>
            <a:off x="4736592" y="1719072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2 — Mandatory Feature Required for Level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cc0148990a_0_0"/>
          <p:cNvSpPr/>
          <p:nvPr/>
        </p:nvSpPr>
        <p:spPr>
          <a:xfrm>
            <a:off x="4736592" y="2011680"/>
            <a:ext cx="18516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cc0148990a_0_0"/>
          <p:cNvSpPr/>
          <p:nvPr/>
        </p:nvSpPr>
        <p:spPr>
          <a:xfrm>
            <a:off x="4736592" y="2011680"/>
            <a:ext cx="185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§SPIN.LEV.MANDATORY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cc0148990a_0_0"/>
          <p:cNvSpPr/>
          <p:nvPr/>
        </p:nvSpPr>
        <p:spPr>
          <a:xfrm>
            <a:off x="4736592" y="2231136"/>
            <a:ext cx="40599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 reach Level 4, at least one of these 6 mandatory features must be counted: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#4 Difficult change of position  •  #6 Difficult exit  •  #7 Change of edge  •  #8 Both directions  •  #9 Increase of speed  •  #11 Difficult flying entry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4 features counted with no mandatory = Maximum Level 3.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cc0148990a_0_0"/>
          <p:cNvSpPr/>
          <p:nvPr/>
        </p:nvSpPr>
        <p:spPr>
          <a:xfrm>
            <a:off x="274320" y="3291840"/>
            <a:ext cx="4206300" cy="14448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cc0148990a_0_0"/>
          <p:cNvSpPr/>
          <p:nvPr/>
        </p:nvSpPr>
        <p:spPr>
          <a:xfrm>
            <a:off x="274320" y="3291840"/>
            <a:ext cx="4206300" cy="255900"/>
          </a:xfrm>
          <a:prstGeom prst="rect">
            <a:avLst/>
          </a:prstGeom>
          <a:solidFill>
            <a:srgbClr val="C25B00"/>
          </a:solidFill>
          <a:ln cap="flat" cmpd="sng" w="12700">
            <a:solidFill>
              <a:srgbClr val="C2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cc0148990a_0_0"/>
          <p:cNvSpPr/>
          <p:nvPr/>
        </p:nvSpPr>
        <p:spPr>
          <a:xfrm>
            <a:off x="347472" y="3291840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3 — 'Used' Tracking: Program-Wide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cc0148990a_0_0"/>
          <p:cNvSpPr/>
          <p:nvPr/>
        </p:nvSpPr>
        <p:spPr>
          <a:xfrm>
            <a:off x="347472" y="3584448"/>
            <a:ext cx="14997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cc0148990a_0_0"/>
          <p:cNvSpPr/>
          <p:nvPr/>
        </p:nvSpPr>
        <p:spPr>
          <a:xfrm>
            <a:off x="347472" y="3584448"/>
            <a:ext cx="1499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§SPIN.LEV.USED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cc0148990a_0_0"/>
          <p:cNvSpPr/>
          <p:nvPr/>
        </p:nvSpPr>
        <p:spPr>
          <a:xfrm>
            <a:off x="347472" y="3803904"/>
            <a:ext cx="40599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Once a feature is ATTEMPTED (for most features) or ACHIEVED (Feature #10 only), it is marked 'used' for the entire program.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Features BLOCKED when performed in a used DV position: #4 DCP  •  #7 ΔE  •  #8 BD •  </a:t>
            </a:r>
            <a:br>
              <a:rPr lang="en-US" sz="8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#9 IS  •  #10 8 Revs  •  #12 BF  •  #13 S/B</a:t>
            </a:r>
            <a:endParaRPr sz="85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cc0148990a_0_0"/>
          <p:cNvSpPr/>
          <p:nvPr/>
        </p:nvSpPr>
        <p:spPr>
          <a:xfrm>
            <a:off x="4663440" y="3291840"/>
            <a:ext cx="4206300" cy="14448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cc0148990a_0_0"/>
          <p:cNvSpPr/>
          <p:nvPr/>
        </p:nvSpPr>
        <p:spPr>
          <a:xfrm>
            <a:off x="4663440" y="3291840"/>
            <a:ext cx="4206300" cy="25590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cc0148990a_0_0"/>
          <p:cNvSpPr/>
          <p:nvPr/>
        </p:nvSpPr>
        <p:spPr>
          <a:xfrm>
            <a:off x="4736592" y="3291840"/>
            <a:ext cx="405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4 — Fifth Feature Rule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cc0148990a_0_0"/>
          <p:cNvSpPr/>
          <p:nvPr/>
        </p:nvSpPr>
        <p:spPr>
          <a:xfrm>
            <a:off x="4736592" y="3584448"/>
            <a:ext cx="1569900" cy="183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cc0148990a_0_0"/>
          <p:cNvSpPr/>
          <p:nvPr/>
        </p:nvSpPr>
        <p:spPr>
          <a:xfrm>
            <a:off x="4736592" y="3584448"/>
            <a:ext cx="156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§SPIN.LEV.FIFTH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cc0148990a_0_0"/>
          <p:cNvSpPr/>
          <p:nvPr/>
        </p:nvSpPr>
        <p:spPr>
          <a:xfrm>
            <a:off x="4736592" y="3803904"/>
            <a:ext cx="40599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a skater executes a mandatory feature as their 5th feature (beyond what's needed for the level), it still counts for Level 4 — and all 5 features are marked 'used'.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This allows a spin to 'save' a mandatory feature even when it appears late in the spin.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c0148990a_0_29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cc0148990a_0_299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cc0148990a_0_299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4: Level Determination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cc0148990a_0_299"/>
          <p:cNvSpPr/>
          <p:nvPr/>
        </p:nvSpPr>
        <p:spPr>
          <a:xfrm>
            <a:off x="1777427" y="1005850"/>
            <a:ext cx="704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14 features, 6 mandatory, 1 required for Level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cc0148990a_0_299"/>
          <p:cNvSpPr/>
          <p:nvPr/>
        </p:nvSpPr>
        <p:spPr>
          <a:xfrm>
            <a:off x="320040" y="1024128"/>
            <a:ext cx="1371600" cy="237600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cc0148990a_0_299"/>
          <p:cNvSpPr/>
          <p:nvPr/>
        </p:nvSpPr>
        <p:spPr>
          <a:xfrm>
            <a:off x="320040" y="1024128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cc0148990a_0_299"/>
          <p:cNvSpPr/>
          <p:nvPr/>
        </p:nvSpPr>
        <p:spPr>
          <a:xfrm>
            <a:off x="320060" y="2085750"/>
            <a:ext cx="3474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Level Staircase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cc0148990a_0_299"/>
          <p:cNvSpPr/>
          <p:nvPr/>
        </p:nvSpPr>
        <p:spPr>
          <a:xfrm>
            <a:off x="320050" y="2446605"/>
            <a:ext cx="1508700" cy="453900"/>
          </a:xfrm>
          <a:prstGeom prst="rect">
            <a:avLst/>
          </a:prstGeom>
          <a:solidFill>
            <a:srgbClr val="9E9E9E"/>
          </a:solidFill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cc0148990a_0_299"/>
          <p:cNvSpPr/>
          <p:nvPr/>
        </p:nvSpPr>
        <p:spPr>
          <a:xfrm>
            <a:off x="320050" y="2446605"/>
            <a:ext cx="1508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cc0148990a_0_299"/>
          <p:cNvSpPr/>
          <p:nvPr/>
        </p:nvSpPr>
        <p:spPr>
          <a:xfrm>
            <a:off x="1874544" y="2446605"/>
            <a:ext cx="1920300" cy="453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5" name="Google Shape;575;g3cc0148990a_0_299"/>
          <p:cNvSpPr/>
          <p:nvPr/>
        </p:nvSpPr>
        <p:spPr>
          <a:xfrm>
            <a:off x="1892832" y="2446605"/>
            <a:ext cx="1874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 features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cc0148990a_0_299"/>
          <p:cNvSpPr/>
          <p:nvPr/>
        </p:nvSpPr>
        <p:spPr>
          <a:xfrm>
            <a:off x="320050" y="2960225"/>
            <a:ext cx="1508700" cy="4539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cc0148990a_0_299"/>
          <p:cNvSpPr/>
          <p:nvPr/>
        </p:nvSpPr>
        <p:spPr>
          <a:xfrm>
            <a:off x="320050" y="2960225"/>
            <a:ext cx="1508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cc0148990a_0_299"/>
          <p:cNvSpPr/>
          <p:nvPr/>
        </p:nvSpPr>
        <p:spPr>
          <a:xfrm>
            <a:off x="1874544" y="2960225"/>
            <a:ext cx="1920300" cy="453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9" name="Google Shape;579;g3cc0148990a_0_299"/>
          <p:cNvSpPr/>
          <p:nvPr/>
        </p:nvSpPr>
        <p:spPr>
          <a:xfrm>
            <a:off x="1892832" y="2960225"/>
            <a:ext cx="1874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 feature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cc0148990a_0_299"/>
          <p:cNvSpPr/>
          <p:nvPr/>
        </p:nvSpPr>
        <p:spPr>
          <a:xfrm>
            <a:off x="320050" y="3473845"/>
            <a:ext cx="1508700" cy="453900"/>
          </a:xfrm>
          <a:prstGeom prst="rect">
            <a:avLst/>
          </a:prstGeom>
          <a:solidFill>
            <a:srgbClr val="1976D2"/>
          </a:solidFill>
          <a:ln cap="flat" cmpd="sng" w="12700">
            <a:solidFill>
              <a:srgbClr val="1976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cc0148990a_0_299"/>
          <p:cNvSpPr/>
          <p:nvPr/>
        </p:nvSpPr>
        <p:spPr>
          <a:xfrm>
            <a:off x="320050" y="3473845"/>
            <a:ext cx="1508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cc0148990a_0_299"/>
          <p:cNvSpPr/>
          <p:nvPr/>
        </p:nvSpPr>
        <p:spPr>
          <a:xfrm>
            <a:off x="1874544" y="3473845"/>
            <a:ext cx="1920300" cy="453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3" name="Google Shape;583;g3cc0148990a_0_299"/>
          <p:cNvSpPr/>
          <p:nvPr/>
        </p:nvSpPr>
        <p:spPr>
          <a:xfrm>
            <a:off x="1892832" y="3473845"/>
            <a:ext cx="1874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 features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cc0148990a_0_299"/>
          <p:cNvSpPr/>
          <p:nvPr/>
        </p:nvSpPr>
        <p:spPr>
          <a:xfrm>
            <a:off x="320050" y="3987466"/>
            <a:ext cx="1508700" cy="45390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cc0148990a_0_299"/>
          <p:cNvSpPr/>
          <p:nvPr/>
        </p:nvSpPr>
        <p:spPr>
          <a:xfrm>
            <a:off x="320050" y="3987466"/>
            <a:ext cx="1508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cc0148990a_0_299"/>
          <p:cNvSpPr/>
          <p:nvPr/>
        </p:nvSpPr>
        <p:spPr>
          <a:xfrm>
            <a:off x="1874544" y="3987466"/>
            <a:ext cx="1920300" cy="453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7" name="Google Shape;587;g3cc0148990a_0_299"/>
          <p:cNvSpPr/>
          <p:nvPr/>
        </p:nvSpPr>
        <p:spPr>
          <a:xfrm>
            <a:off x="1892832" y="3987466"/>
            <a:ext cx="1874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 features + no mandatory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cc0148990a_0_299"/>
          <p:cNvSpPr/>
          <p:nvPr/>
        </p:nvSpPr>
        <p:spPr>
          <a:xfrm>
            <a:off x="320050" y="4501086"/>
            <a:ext cx="1508700" cy="453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cc0148990a_0_299"/>
          <p:cNvSpPr/>
          <p:nvPr/>
        </p:nvSpPr>
        <p:spPr>
          <a:xfrm>
            <a:off x="320050" y="4501086"/>
            <a:ext cx="1508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cc0148990a_0_299"/>
          <p:cNvSpPr/>
          <p:nvPr/>
        </p:nvSpPr>
        <p:spPr>
          <a:xfrm>
            <a:off x="1874544" y="4501086"/>
            <a:ext cx="1920300" cy="453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91" name="Google Shape;591;g3cc0148990a_0_299"/>
          <p:cNvSpPr/>
          <p:nvPr/>
        </p:nvSpPr>
        <p:spPr>
          <a:xfrm>
            <a:off x="1892832" y="4501086"/>
            <a:ext cx="1874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features  +  1 mandatory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cc0148990a_0_299"/>
          <p:cNvSpPr/>
          <p:nvPr/>
        </p:nvSpPr>
        <p:spPr>
          <a:xfrm>
            <a:off x="4200077" y="2085749"/>
            <a:ext cx="42519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cc0148990a_0_299"/>
          <p:cNvSpPr/>
          <p:nvPr/>
        </p:nvSpPr>
        <p:spPr>
          <a:xfrm>
            <a:off x="4245799" y="2085749"/>
            <a:ext cx="39189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14 Features  (★ = mandatory — need 1 counted for Level 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cc0148990a_0_299"/>
          <p:cNvSpPr/>
          <p:nvPr/>
        </p:nvSpPr>
        <p:spPr>
          <a:xfrm>
            <a:off x="4200075" y="2475488"/>
            <a:ext cx="4251900" cy="169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95" name="Google Shape;595;g3cc0148990a_0_299"/>
          <p:cNvSpPr/>
          <p:nvPr/>
        </p:nvSpPr>
        <p:spPr>
          <a:xfrm>
            <a:off x="4236651" y="2475488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cc0148990a_0_299"/>
          <p:cNvSpPr/>
          <p:nvPr/>
        </p:nvSpPr>
        <p:spPr>
          <a:xfrm>
            <a:off x="4602409" y="2475488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Difficult Variation (DV)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cc0148990a_0_299"/>
          <p:cNvSpPr/>
          <p:nvPr/>
        </p:nvSpPr>
        <p:spPr>
          <a:xfrm>
            <a:off x="4200075" y="2653161"/>
            <a:ext cx="4251900" cy="169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98" name="Google Shape;598;g3cc0148990a_0_299"/>
          <p:cNvSpPr/>
          <p:nvPr/>
        </p:nvSpPr>
        <p:spPr>
          <a:xfrm>
            <a:off x="4236651" y="2653161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#2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cc0148990a_0_299"/>
          <p:cNvSpPr/>
          <p:nvPr/>
        </p:nvSpPr>
        <p:spPr>
          <a:xfrm>
            <a:off x="4602409" y="2653161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Change of foot by jump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cc0148990a_0_299"/>
          <p:cNvSpPr/>
          <p:nvPr/>
        </p:nvSpPr>
        <p:spPr>
          <a:xfrm>
            <a:off x="4200075" y="2830835"/>
            <a:ext cx="4251900" cy="169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01" name="Google Shape;601;g3cc0148990a_0_299"/>
          <p:cNvSpPr/>
          <p:nvPr/>
        </p:nvSpPr>
        <p:spPr>
          <a:xfrm>
            <a:off x="4236651" y="2830835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#3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cc0148990a_0_299"/>
          <p:cNvSpPr/>
          <p:nvPr/>
        </p:nvSpPr>
        <p:spPr>
          <a:xfrm>
            <a:off x="4602409" y="2830835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Jump within spin (same foot)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cc0148990a_0_299"/>
          <p:cNvSpPr/>
          <p:nvPr/>
        </p:nvSpPr>
        <p:spPr>
          <a:xfrm>
            <a:off x="4200075" y="3008508"/>
            <a:ext cx="4251900" cy="169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04" name="Google Shape;604;g3cc0148990a_0_299"/>
          <p:cNvSpPr/>
          <p:nvPr/>
        </p:nvSpPr>
        <p:spPr>
          <a:xfrm>
            <a:off x="4236651" y="3008508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#4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cc0148990a_0_299"/>
          <p:cNvSpPr/>
          <p:nvPr/>
        </p:nvSpPr>
        <p:spPr>
          <a:xfrm>
            <a:off x="4602409" y="3008508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Difficult change of position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cc0148990a_0_299"/>
          <p:cNvSpPr/>
          <p:nvPr/>
        </p:nvSpPr>
        <p:spPr>
          <a:xfrm>
            <a:off x="4200075" y="3186181"/>
            <a:ext cx="4251900" cy="169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07" name="Google Shape;607;g3cc0148990a_0_299"/>
          <p:cNvSpPr/>
          <p:nvPr/>
        </p:nvSpPr>
        <p:spPr>
          <a:xfrm>
            <a:off x="4236651" y="3186181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#5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cc0148990a_0_299"/>
          <p:cNvSpPr/>
          <p:nvPr/>
        </p:nvSpPr>
        <p:spPr>
          <a:xfrm>
            <a:off x="4602409" y="3186181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Difficult entrance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cc0148990a_0_299"/>
          <p:cNvSpPr/>
          <p:nvPr/>
        </p:nvSpPr>
        <p:spPr>
          <a:xfrm>
            <a:off x="4200075" y="3363855"/>
            <a:ext cx="4251900" cy="169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0" name="Google Shape;610;g3cc0148990a_0_299"/>
          <p:cNvSpPr/>
          <p:nvPr/>
        </p:nvSpPr>
        <p:spPr>
          <a:xfrm>
            <a:off x="4236651" y="3363855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#6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cc0148990a_0_299"/>
          <p:cNvSpPr/>
          <p:nvPr/>
        </p:nvSpPr>
        <p:spPr>
          <a:xfrm>
            <a:off x="4602409" y="3363855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Difficult exit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cc0148990a_0_299"/>
          <p:cNvSpPr/>
          <p:nvPr/>
        </p:nvSpPr>
        <p:spPr>
          <a:xfrm>
            <a:off x="4200075" y="3541528"/>
            <a:ext cx="4251900" cy="169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3" name="Google Shape;613;g3cc0148990a_0_299"/>
          <p:cNvSpPr/>
          <p:nvPr/>
        </p:nvSpPr>
        <p:spPr>
          <a:xfrm>
            <a:off x="4236651" y="3541528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#7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cc0148990a_0_299"/>
          <p:cNvSpPr/>
          <p:nvPr/>
        </p:nvSpPr>
        <p:spPr>
          <a:xfrm>
            <a:off x="4602409" y="3541528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 change of edge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cc0148990a_0_299"/>
          <p:cNvSpPr/>
          <p:nvPr/>
        </p:nvSpPr>
        <p:spPr>
          <a:xfrm>
            <a:off x="4200083" y="3719234"/>
            <a:ext cx="4251900" cy="169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6" name="Google Shape;616;g3cc0148990a_0_299"/>
          <p:cNvSpPr/>
          <p:nvPr/>
        </p:nvSpPr>
        <p:spPr>
          <a:xfrm>
            <a:off x="4236659" y="3719234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#8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cc0148990a_0_299"/>
          <p:cNvSpPr/>
          <p:nvPr/>
        </p:nvSpPr>
        <p:spPr>
          <a:xfrm>
            <a:off x="4602417" y="3719234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Both directions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cc0148990a_0_299"/>
          <p:cNvSpPr/>
          <p:nvPr/>
        </p:nvSpPr>
        <p:spPr>
          <a:xfrm>
            <a:off x="4200083" y="3896908"/>
            <a:ext cx="4251900" cy="169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9" name="Google Shape;619;g3cc0148990a_0_299"/>
          <p:cNvSpPr/>
          <p:nvPr/>
        </p:nvSpPr>
        <p:spPr>
          <a:xfrm>
            <a:off x="4236659" y="3896908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#9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cc0148990a_0_299"/>
          <p:cNvSpPr/>
          <p:nvPr/>
        </p:nvSpPr>
        <p:spPr>
          <a:xfrm>
            <a:off x="4602417" y="3896908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 increase of speed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cc0148990a_0_299"/>
          <p:cNvSpPr/>
          <p:nvPr/>
        </p:nvSpPr>
        <p:spPr>
          <a:xfrm>
            <a:off x="4200083" y="4074581"/>
            <a:ext cx="4251900" cy="169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2" name="Google Shape;622;g3cc0148990a_0_299"/>
          <p:cNvSpPr/>
          <p:nvPr/>
        </p:nvSpPr>
        <p:spPr>
          <a:xfrm>
            <a:off x="4236659" y="4074581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#10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cc0148990a_0_299"/>
          <p:cNvSpPr/>
          <p:nvPr/>
        </p:nvSpPr>
        <p:spPr>
          <a:xfrm>
            <a:off x="4602417" y="4074581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8 revolutions without change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3cc0148990a_0_299"/>
          <p:cNvSpPr/>
          <p:nvPr/>
        </p:nvSpPr>
        <p:spPr>
          <a:xfrm>
            <a:off x="4200083" y="4252255"/>
            <a:ext cx="4251900" cy="169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5" name="Google Shape;625;g3cc0148990a_0_299"/>
          <p:cNvSpPr/>
          <p:nvPr/>
        </p:nvSpPr>
        <p:spPr>
          <a:xfrm>
            <a:off x="4236659" y="4252255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#11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cc0148990a_0_299"/>
          <p:cNvSpPr/>
          <p:nvPr/>
        </p:nvSpPr>
        <p:spPr>
          <a:xfrm>
            <a:off x="4602417" y="4252255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Difficult flying entry variation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cc0148990a_0_299"/>
          <p:cNvSpPr/>
          <p:nvPr/>
        </p:nvSpPr>
        <p:spPr>
          <a:xfrm>
            <a:off x="4200083" y="4429928"/>
            <a:ext cx="4251900" cy="169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8" name="Google Shape;628;g3cc0148990a_0_299"/>
          <p:cNvSpPr/>
          <p:nvPr/>
        </p:nvSpPr>
        <p:spPr>
          <a:xfrm>
            <a:off x="4236659" y="4429928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#12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cc0148990a_0_299"/>
          <p:cNvSpPr/>
          <p:nvPr/>
        </p:nvSpPr>
        <p:spPr>
          <a:xfrm>
            <a:off x="4602417" y="4429928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Difficult blade feature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cc0148990a_0_299"/>
          <p:cNvSpPr/>
          <p:nvPr/>
        </p:nvSpPr>
        <p:spPr>
          <a:xfrm>
            <a:off x="4200083" y="4607601"/>
            <a:ext cx="4251900" cy="169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31" name="Google Shape;631;g3cc0148990a_0_299"/>
          <p:cNvSpPr/>
          <p:nvPr/>
        </p:nvSpPr>
        <p:spPr>
          <a:xfrm>
            <a:off x="4236659" y="4607601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#13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cc0148990a_0_299"/>
          <p:cNvSpPr/>
          <p:nvPr/>
        </p:nvSpPr>
        <p:spPr>
          <a:xfrm>
            <a:off x="4602417" y="4607601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Position change: side to 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cc0148990a_0_299"/>
          <p:cNvSpPr/>
          <p:nvPr/>
        </p:nvSpPr>
        <p:spPr>
          <a:xfrm>
            <a:off x="4200083" y="4785275"/>
            <a:ext cx="4251900" cy="16950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34" name="Google Shape;634;g3cc0148990a_0_299"/>
          <p:cNvSpPr/>
          <p:nvPr/>
        </p:nvSpPr>
        <p:spPr>
          <a:xfrm>
            <a:off x="4236659" y="4785275"/>
            <a:ext cx="347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#14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cc0148990a_0_299"/>
          <p:cNvSpPr/>
          <p:nvPr/>
        </p:nvSpPr>
        <p:spPr>
          <a:xfrm>
            <a:off x="4602417" y="4785275"/>
            <a:ext cx="3794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Biellmann after layback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cc0148990a_0_299"/>
          <p:cNvSpPr/>
          <p:nvPr/>
        </p:nvSpPr>
        <p:spPr>
          <a:xfrm>
            <a:off x="320050" y="1457750"/>
            <a:ext cx="8331000" cy="453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C2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7" name="Google Shape;637;g3cc0148990a_0_299"/>
          <p:cNvSpPr/>
          <p:nvPr/>
        </p:nvSpPr>
        <p:spPr>
          <a:xfrm>
            <a:off x="364375" y="1509188"/>
            <a:ext cx="822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Panel is looking to reward skaters for increasing the overall difficulty of the spin by </a:t>
            </a:r>
            <a:r>
              <a:rPr b="1" i="1" lang="en-US" sz="12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challenging their main core</a:t>
            </a:r>
            <a:r>
              <a:rPr lang="en-US" sz="12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 and balance while demonstrating </a:t>
            </a:r>
            <a:r>
              <a:rPr b="1" i="1" lang="en-US" sz="12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significant strength and flexibility</a:t>
            </a:r>
            <a:r>
              <a:rPr lang="en-US" sz="12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200" u="none" cap="none" strike="noStrike">
              <a:solidFill>
                <a:srgbClr val="7B3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8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8"/>
          <p:cNvSpPr/>
          <p:nvPr/>
        </p:nvSpPr>
        <p:spPr>
          <a:xfrm>
            <a:off x="320040" y="4572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#1: Difficult Variations (DV)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8"/>
          <p:cNvSpPr/>
          <p:nvPr/>
        </p:nvSpPr>
        <p:spPr>
          <a:xfrm>
            <a:off x="1777427" y="1005850"/>
            <a:ext cx="704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Not a mandatory feature | 11 categories | 2-revolution minimum | Max 2 per spin for level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8"/>
          <p:cNvSpPr/>
          <p:nvPr/>
        </p:nvSpPr>
        <p:spPr>
          <a:xfrm>
            <a:off x="320040" y="1024128"/>
            <a:ext cx="1371600" cy="237744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8"/>
          <p:cNvSpPr/>
          <p:nvPr/>
        </p:nvSpPr>
        <p:spPr>
          <a:xfrm>
            <a:off x="320040" y="102412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8"/>
          <p:cNvSpPr/>
          <p:nvPr/>
        </p:nvSpPr>
        <p:spPr>
          <a:xfrm>
            <a:off x="274320" y="1463040"/>
            <a:ext cx="4572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11 DV Categories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8"/>
          <p:cNvSpPr/>
          <p:nvPr/>
        </p:nvSpPr>
        <p:spPr>
          <a:xfrm>
            <a:off x="274325" y="1764803"/>
            <a:ext cx="960000" cy="9612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8"/>
          <p:cNvSpPr/>
          <p:nvPr/>
        </p:nvSpPr>
        <p:spPr>
          <a:xfrm>
            <a:off x="274325" y="1764803"/>
            <a:ext cx="9600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66" y="1764803"/>
            <a:ext cx="3612000" cy="279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"/>
          <p:cNvSpPr/>
          <p:nvPr/>
        </p:nvSpPr>
        <p:spPr>
          <a:xfrm>
            <a:off x="1325886" y="1764803"/>
            <a:ext cx="3547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CF – parallel/forward (default camel)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66" y="2069017"/>
            <a:ext cx="3612000" cy="27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8"/>
          <p:cNvSpPr/>
          <p:nvPr/>
        </p:nvSpPr>
        <p:spPr>
          <a:xfrm>
            <a:off x="1325886" y="2069017"/>
            <a:ext cx="3547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CS – vertical (sideways camel)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8"/>
          <p:cNvSpPr/>
          <p:nvPr/>
        </p:nvSpPr>
        <p:spPr>
          <a:xfrm>
            <a:off x="1280166" y="2373231"/>
            <a:ext cx="3612000" cy="279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8"/>
          <p:cNvSpPr/>
          <p:nvPr/>
        </p:nvSpPr>
        <p:spPr>
          <a:xfrm>
            <a:off x="1325886" y="2373231"/>
            <a:ext cx="3547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 – more than vertical (upward)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8"/>
          <p:cNvSpPr/>
          <p:nvPr/>
        </p:nvSpPr>
        <p:spPr>
          <a:xfrm>
            <a:off x="274325" y="2701782"/>
            <a:ext cx="960000" cy="9612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8"/>
          <p:cNvSpPr/>
          <p:nvPr/>
        </p:nvSpPr>
        <p:spPr>
          <a:xfrm>
            <a:off x="274325" y="2701782"/>
            <a:ext cx="9600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8"/>
          <p:cNvSpPr/>
          <p:nvPr/>
        </p:nvSpPr>
        <p:spPr>
          <a:xfrm>
            <a:off x="1280166" y="2701782"/>
            <a:ext cx="3612000" cy="279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8"/>
          <p:cNvSpPr/>
          <p:nvPr/>
        </p:nvSpPr>
        <p:spPr>
          <a:xfrm>
            <a:off x="1325876" y="2701775"/>
            <a:ext cx="3282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SF – forward sit (</a:t>
            </a: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free leg</a:t>
            </a: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forward)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8"/>
          <p:cNvSpPr/>
          <p:nvPr/>
        </p:nvSpPr>
        <p:spPr>
          <a:xfrm>
            <a:off x="1280166" y="3005996"/>
            <a:ext cx="3612000" cy="279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"/>
          <p:cNvSpPr/>
          <p:nvPr/>
        </p:nvSpPr>
        <p:spPr>
          <a:xfrm>
            <a:off x="1325876" y="3005988"/>
            <a:ext cx="3282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SS – sideways + additional element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8"/>
          <p:cNvSpPr/>
          <p:nvPr/>
        </p:nvSpPr>
        <p:spPr>
          <a:xfrm>
            <a:off x="1280166" y="3310209"/>
            <a:ext cx="3612000" cy="279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8"/>
          <p:cNvSpPr/>
          <p:nvPr/>
        </p:nvSpPr>
        <p:spPr>
          <a:xfrm>
            <a:off x="1325876" y="3310201"/>
            <a:ext cx="3282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SB – behind (free leg behind body)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8"/>
          <p:cNvSpPr/>
          <p:nvPr/>
        </p:nvSpPr>
        <p:spPr>
          <a:xfrm>
            <a:off x="274325" y="3638761"/>
            <a:ext cx="960000" cy="12654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8"/>
          <p:cNvSpPr/>
          <p:nvPr/>
        </p:nvSpPr>
        <p:spPr>
          <a:xfrm>
            <a:off x="274325" y="3638761"/>
            <a:ext cx="9600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UPRIGHT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8"/>
          <p:cNvSpPr/>
          <p:nvPr/>
        </p:nvSpPr>
        <p:spPr>
          <a:xfrm>
            <a:off x="1280166" y="3638761"/>
            <a:ext cx="3612000" cy="279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8"/>
          <p:cNvSpPr/>
          <p:nvPr/>
        </p:nvSpPr>
        <p:spPr>
          <a:xfrm>
            <a:off x="1325886" y="3638761"/>
            <a:ext cx="3547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UF – forward upright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8"/>
          <p:cNvSpPr/>
          <p:nvPr/>
        </p:nvSpPr>
        <p:spPr>
          <a:xfrm>
            <a:off x="1280166" y="3942974"/>
            <a:ext cx="3612000" cy="27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"/>
          <p:cNvSpPr/>
          <p:nvPr/>
        </p:nvSpPr>
        <p:spPr>
          <a:xfrm>
            <a:off x="1325886" y="3942974"/>
            <a:ext cx="3547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 – straight/sideways or crossfoot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8"/>
          <p:cNvSpPr/>
          <p:nvPr/>
        </p:nvSpPr>
        <p:spPr>
          <a:xfrm>
            <a:off x="1280166" y="4247188"/>
            <a:ext cx="3612000" cy="2799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8"/>
          <p:cNvSpPr/>
          <p:nvPr/>
        </p:nvSpPr>
        <p:spPr>
          <a:xfrm>
            <a:off x="1325886" y="4247188"/>
            <a:ext cx="3547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UB – Biellmann (leg above hip)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8"/>
          <p:cNvSpPr/>
          <p:nvPr/>
        </p:nvSpPr>
        <p:spPr>
          <a:xfrm>
            <a:off x="274325" y="4575739"/>
            <a:ext cx="960000" cy="352800"/>
          </a:xfrm>
          <a:prstGeom prst="rect">
            <a:avLst/>
          </a:prstGeom>
          <a:solidFill>
            <a:srgbClr val="7B61FF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8"/>
          <p:cNvSpPr/>
          <p:nvPr/>
        </p:nvSpPr>
        <p:spPr>
          <a:xfrm>
            <a:off x="274325" y="4575739"/>
            <a:ext cx="9600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8"/>
          <p:cNvSpPr/>
          <p:nvPr/>
        </p:nvSpPr>
        <p:spPr>
          <a:xfrm>
            <a:off x="1280175" y="4579052"/>
            <a:ext cx="3612000" cy="352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8"/>
          <p:cNvSpPr/>
          <p:nvPr/>
        </p:nvSpPr>
        <p:spPr>
          <a:xfrm>
            <a:off x="1325900" y="4579050"/>
            <a:ext cx="3282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Non-basic position (combinations only)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8"/>
          <p:cNvSpPr/>
          <p:nvPr/>
        </p:nvSpPr>
        <p:spPr>
          <a:xfrm>
            <a:off x="5074920" y="146304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Key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8"/>
          <p:cNvSpPr/>
          <p:nvPr/>
        </p:nvSpPr>
        <p:spPr>
          <a:xfrm>
            <a:off x="5074920" y="1764792"/>
            <a:ext cx="3749040" cy="749808"/>
          </a:xfrm>
          <a:prstGeom prst="rect">
            <a:avLst/>
          </a:prstGeom>
          <a:solidFill>
            <a:srgbClr val="FDF5EC"/>
          </a:solidFill>
          <a:ln cap="flat" cmpd="sng" w="12700">
            <a:solidFill>
              <a:srgbClr val="E8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"/>
          <p:cNvSpPr/>
          <p:nvPr/>
        </p:nvSpPr>
        <p:spPr>
          <a:xfrm>
            <a:off x="5074920" y="1764792"/>
            <a:ext cx="54864" cy="749808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8"/>
          <p:cNvSpPr/>
          <p:nvPr/>
        </p:nvSpPr>
        <p:spPr>
          <a:xfrm>
            <a:off x="5184648" y="18196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Gateway Concept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8"/>
          <p:cNvSpPr/>
          <p:nvPr/>
        </p:nvSpPr>
        <p:spPr>
          <a:xfrm>
            <a:off x="5184648" y="203911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DV must be INSIDE the basic position definition. Exception: NBP must be OUTSIDE all 4 basic positions. The 'gateway' determines whether the position 'opened' enough to qualify.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8"/>
          <p:cNvSpPr/>
          <p:nvPr/>
        </p:nvSpPr>
        <p:spPr>
          <a:xfrm>
            <a:off x="5074920" y="2569464"/>
            <a:ext cx="3749040" cy="749808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8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8"/>
          <p:cNvSpPr/>
          <p:nvPr/>
        </p:nvSpPr>
        <p:spPr>
          <a:xfrm>
            <a:off x="5074920" y="2569464"/>
            <a:ext cx="54864" cy="749808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8"/>
          <p:cNvSpPr/>
          <p:nvPr/>
        </p:nvSpPr>
        <p:spPr>
          <a:xfrm>
            <a:off x="5184648" y="262432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2-Revolution Minimum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8"/>
          <p:cNvSpPr/>
          <p:nvPr/>
        </p:nvSpPr>
        <p:spPr>
          <a:xfrm>
            <a:off x="5184648" y="2843784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Must hold the DV position for at least 2 continuous revolutions to be awarded. No partial credit. If they hold 1.5 revs in the DV then transition out — not awarded.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8"/>
          <p:cNvSpPr/>
          <p:nvPr/>
        </p:nvSpPr>
        <p:spPr>
          <a:xfrm>
            <a:off x="5074920" y="3374136"/>
            <a:ext cx="3749040" cy="749808"/>
          </a:xfrm>
          <a:prstGeom prst="rect">
            <a:avLst/>
          </a:prstGeom>
          <a:solidFill>
            <a:srgbClr val="FDF5EC"/>
          </a:solidFill>
          <a:ln cap="flat" cmpd="sng" w="12700">
            <a:solidFill>
              <a:srgbClr val="E8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8"/>
          <p:cNvSpPr/>
          <p:nvPr/>
        </p:nvSpPr>
        <p:spPr>
          <a:xfrm>
            <a:off x="5074920" y="3374136"/>
            <a:ext cx="54864" cy="749808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8"/>
          <p:cNvSpPr/>
          <p:nvPr/>
        </p:nvSpPr>
        <p:spPr>
          <a:xfrm>
            <a:off x="5184648" y="342900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Maximum 2 per Spin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8"/>
          <p:cNvSpPr/>
          <p:nvPr/>
        </p:nvSpPr>
        <p:spPr>
          <a:xfrm>
            <a:off x="5184648" y="3648456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Only 2 DV features count per spin regardless of how many are performed. If 3 DVs are performed, only 2 count. Select the most beneficial 2.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8"/>
          <p:cNvSpPr/>
          <p:nvPr/>
        </p:nvSpPr>
        <p:spPr>
          <a:xfrm>
            <a:off x="5074920" y="4178808"/>
            <a:ext cx="3749040" cy="749808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8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"/>
          <p:cNvSpPr/>
          <p:nvPr/>
        </p:nvSpPr>
        <p:spPr>
          <a:xfrm>
            <a:off x="5074920" y="4178808"/>
            <a:ext cx="54864" cy="749808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"/>
          <p:cNvSpPr/>
          <p:nvPr/>
        </p:nvSpPr>
        <p:spPr>
          <a:xfrm>
            <a:off x="5184648" y="423367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Biellmann &amp; Windmill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8"/>
          <p:cNvSpPr/>
          <p:nvPr/>
        </p:nvSpPr>
        <p:spPr>
          <a:xfrm>
            <a:off x="5184648" y="4453128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Biellmann (UB) allowed once per program as a DV. Windmill: once during a transition = DCP (Feature #4). Three or more times in a row = NBP DV.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cc0148990a_0_36"/>
          <p:cNvSpPr/>
          <p:nvPr/>
        </p:nvSpPr>
        <p:spPr>
          <a:xfrm>
            <a:off x="4034463" y="2275400"/>
            <a:ext cx="632400" cy="4776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cc0148990a_0_3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cc0148990a_0_36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cc0148990a_0_36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#1: Difficult Variations — General Rules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cc0148990a_0_36"/>
          <p:cNvSpPr/>
          <p:nvPr/>
        </p:nvSpPr>
        <p:spPr>
          <a:xfrm>
            <a:off x="1920240" y="1005840"/>
            <a:ext cx="685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The gateway concept, core requirements, and 'used' tracking that apply to ALL 11 DV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cc0148990a_0_36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0A5C60"/>
          </a:solidFill>
          <a:ln cap="flat" cmpd="sng" w="12700">
            <a:solidFill>
              <a:srgbClr val="0A5C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cc0148990a_0_36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 — DV GENERAL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cc0148990a_0_36"/>
          <p:cNvSpPr/>
          <p:nvPr/>
        </p:nvSpPr>
        <p:spPr>
          <a:xfrm>
            <a:off x="274320" y="1371600"/>
            <a:ext cx="5120700" cy="237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cc0148990a_0_36"/>
          <p:cNvSpPr/>
          <p:nvPr/>
        </p:nvSpPr>
        <p:spPr>
          <a:xfrm>
            <a:off x="347474" y="1371600"/>
            <a:ext cx="3914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GATEWAY CONCEPT: The variation must be INSIDE the basic position definition.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cc0148990a_0_36"/>
          <p:cNvSpPr/>
          <p:nvPr/>
        </p:nvSpPr>
        <p:spPr>
          <a:xfrm>
            <a:off x="304924" y="1677625"/>
            <a:ext cx="3633900" cy="477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cc0148990a_0_36"/>
          <p:cNvSpPr/>
          <p:nvPr/>
        </p:nvSpPr>
        <p:spPr>
          <a:xfrm>
            <a:off x="347475" y="1703825"/>
            <a:ext cx="3412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1: Is the skater currently inside a valid basic position?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(Camel / Sit / Upright / Layback)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cc0148990a_0_36"/>
          <p:cNvSpPr/>
          <p:nvPr/>
        </p:nvSpPr>
        <p:spPr>
          <a:xfrm>
            <a:off x="4438450" y="1664200"/>
            <a:ext cx="936600" cy="225900"/>
          </a:xfrm>
          <a:prstGeom prst="rect">
            <a:avLst/>
          </a:prstGeom>
          <a:solidFill>
            <a:srgbClr val="FFFDE7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cc0148990a_0_36"/>
          <p:cNvSpPr/>
          <p:nvPr/>
        </p:nvSpPr>
        <p:spPr>
          <a:xfrm>
            <a:off x="4438450" y="1664200"/>
            <a:ext cx="9174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780"/>
              <a:buFont typeface="Calibri"/>
              <a:buNone/>
            </a:pPr>
            <a:r>
              <a:rPr b="0" i="1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NO → NBP</a:t>
            </a:r>
            <a:r>
              <a:rPr i="1"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g3cc0148990a_0_36"/>
          <p:cNvSpPr/>
          <p:nvPr/>
        </p:nvSpPr>
        <p:spPr>
          <a:xfrm>
            <a:off x="304924" y="2297782"/>
            <a:ext cx="3633900" cy="477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3cc0148990a_0_36"/>
          <p:cNvSpPr/>
          <p:nvPr/>
        </p:nvSpPr>
        <p:spPr>
          <a:xfrm>
            <a:off x="368250" y="2297775"/>
            <a:ext cx="3412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Does the position meet the definition of the DV?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g3cc0148990a_0_36"/>
          <p:cNvSpPr/>
          <p:nvPr/>
        </p:nvSpPr>
        <p:spPr>
          <a:xfrm>
            <a:off x="4762500" y="2275375"/>
            <a:ext cx="632400" cy="4776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cc0148990a_0_36"/>
          <p:cNvSpPr/>
          <p:nvPr/>
        </p:nvSpPr>
        <p:spPr>
          <a:xfrm>
            <a:off x="4821425" y="2275425"/>
            <a:ext cx="55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 → ✗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g3cc0148990a_0_36"/>
          <p:cNvSpPr/>
          <p:nvPr/>
        </p:nvSpPr>
        <p:spPr>
          <a:xfrm>
            <a:off x="4054925" y="2448550"/>
            <a:ext cx="63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cc0148990a_0_36"/>
          <p:cNvSpPr/>
          <p:nvPr/>
        </p:nvSpPr>
        <p:spPr>
          <a:xfrm>
            <a:off x="304924" y="2917938"/>
            <a:ext cx="3633900" cy="477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cc0148990a_0_36"/>
          <p:cNvSpPr/>
          <p:nvPr/>
        </p:nvSpPr>
        <p:spPr>
          <a:xfrm>
            <a:off x="365663" y="2912550"/>
            <a:ext cx="3512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Does the variation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require significant strength and/or flexibility and has an effect on the main body core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cc0148990a_0_36"/>
          <p:cNvSpPr/>
          <p:nvPr/>
        </p:nvSpPr>
        <p:spPr>
          <a:xfrm>
            <a:off x="304924" y="3538095"/>
            <a:ext cx="3633900" cy="477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cc0148990a_0_36"/>
          <p:cNvSpPr/>
          <p:nvPr/>
        </p:nvSpPr>
        <p:spPr>
          <a:xfrm>
            <a:off x="347475" y="3538100"/>
            <a:ext cx="3512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Is it held for 2+ continuous revolutions without interruption?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cc0148990a_0_36"/>
          <p:cNvSpPr/>
          <p:nvPr/>
        </p:nvSpPr>
        <p:spPr>
          <a:xfrm>
            <a:off x="304924" y="4158251"/>
            <a:ext cx="3633900" cy="477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cc0148990a_0_36"/>
          <p:cNvSpPr/>
          <p:nvPr/>
        </p:nvSpPr>
        <p:spPr>
          <a:xfrm>
            <a:off x="368250" y="4158250"/>
            <a:ext cx="3512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Is this the first time this DV category has been attempted in the program?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cc0148990a_0_36"/>
          <p:cNvSpPr/>
          <p:nvPr/>
        </p:nvSpPr>
        <p:spPr>
          <a:xfrm>
            <a:off x="274325" y="4754876"/>
            <a:ext cx="5120700" cy="2193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cc0148990a_0_36"/>
          <p:cNvSpPr/>
          <p:nvPr/>
        </p:nvSpPr>
        <p:spPr>
          <a:xfrm>
            <a:off x="329189" y="4754876"/>
            <a:ext cx="5010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DV COUNTS as level feature — marked USED for the program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cc0148990a_0_36"/>
          <p:cNvSpPr/>
          <p:nvPr/>
        </p:nvSpPr>
        <p:spPr>
          <a:xfrm>
            <a:off x="5577850" y="1371600"/>
            <a:ext cx="3291900" cy="14172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cc0148990a_0_36"/>
          <p:cNvSpPr/>
          <p:nvPr/>
        </p:nvSpPr>
        <p:spPr>
          <a:xfrm>
            <a:off x="5577840" y="1371600"/>
            <a:ext cx="3291900" cy="2559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cc0148990a_0_36"/>
          <p:cNvSpPr/>
          <p:nvPr/>
        </p:nvSpPr>
        <p:spPr>
          <a:xfrm>
            <a:off x="5650992" y="1371600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📋  Used Tracking &amp; Similarity Rules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cc0148990a_0_36"/>
          <p:cNvSpPr/>
          <p:nvPr/>
        </p:nvSpPr>
        <p:spPr>
          <a:xfrm>
            <a:off x="5650992" y="1703832"/>
            <a:ext cx="3145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Each of the 11 DV categories is a separate 'slot' 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cc0148990a_0_36"/>
          <p:cNvSpPr/>
          <p:nvPr/>
        </p:nvSpPr>
        <p:spPr>
          <a:xfrm>
            <a:off x="5651000" y="1895848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Feature is 'used' the first time ATTEMPTED — even if it fails to meet </a:t>
            </a:r>
            <a:b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   requirements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g3cc0148990a_0_36"/>
          <p:cNvSpPr/>
          <p:nvPr/>
        </p:nvSpPr>
        <p:spPr>
          <a:xfrm>
            <a:off x="5651000" y="2176248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Exception: If variation not considered difficult at all, it is NOT an attempt and the slot remains open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g3cc0148990a_0_36"/>
          <p:cNvSpPr/>
          <p:nvPr/>
        </p:nvSpPr>
        <p:spPr>
          <a:xfrm>
            <a:off x="5651000" y="2462899"/>
            <a:ext cx="3145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DVs must be clearly different from each other if multiple attempted in </a:t>
            </a:r>
            <a:b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   same spin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cc0148990a_0_36"/>
          <p:cNvSpPr/>
          <p:nvPr/>
        </p:nvSpPr>
        <p:spPr>
          <a:xfrm>
            <a:off x="5577850" y="2855975"/>
            <a:ext cx="3291900" cy="11268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cc0148990a_0_36"/>
          <p:cNvSpPr/>
          <p:nvPr/>
        </p:nvSpPr>
        <p:spPr>
          <a:xfrm>
            <a:off x="5577840" y="2855976"/>
            <a:ext cx="3291900" cy="255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3cc0148990a_0_36"/>
          <p:cNvSpPr/>
          <p:nvPr/>
        </p:nvSpPr>
        <p:spPr>
          <a:xfrm>
            <a:off x="5650992" y="2855976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cc0148990a_0_36"/>
          <p:cNvSpPr/>
          <p:nvPr/>
        </p:nvSpPr>
        <p:spPr>
          <a:xfrm>
            <a:off x="5650992" y="3148584"/>
            <a:ext cx="314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Variation not inside the basic position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3cc0148990a_0_36"/>
          <p:cNvSpPr/>
          <p:nvPr/>
        </p:nvSpPr>
        <p:spPr>
          <a:xfrm>
            <a:off x="5650992" y="3349752"/>
            <a:ext cx="314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Less than 2 continuous revolutions held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g3cc0148990a_0_36"/>
          <p:cNvSpPr/>
          <p:nvPr/>
        </p:nvSpPr>
        <p:spPr>
          <a:xfrm>
            <a:off x="5650992" y="3523488"/>
            <a:ext cx="314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Same DV category already used earlier in the program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cc0148990a_0_36"/>
          <p:cNvSpPr/>
          <p:nvPr/>
        </p:nvSpPr>
        <p:spPr>
          <a:xfrm>
            <a:off x="5650992" y="3724656"/>
            <a:ext cx="314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More than 2 DVs attempted — all marked used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cc0148990a_0_36"/>
          <p:cNvSpPr/>
          <p:nvPr/>
        </p:nvSpPr>
        <p:spPr>
          <a:xfrm>
            <a:off x="5577850" y="4038600"/>
            <a:ext cx="3291900" cy="9450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cc0148990a_0_36"/>
          <p:cNvSpPr/>
          <p:nvPr/>
        </p:nvSpPr>
        <p:spPr>
          <a:xfrm>
            <a:off x="5577840" y="4038600"/>
            <a:ext cx="3291900" cy="2559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cc0148990a_0_36"/>
          <p:cNvSpPr/>
          <p:nvPr/>
        </p:nvSpPr>
        <p:spPr>
          <a:xfrm>
            <a:off x="5650992" y="4038600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⭐  Special Variations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cc0148990a_0_36"/>
          <p:cNvSpPr/>
          <p:nvPr/>
        </p:nvSpPr>
        <p:spPr>
          <a:xfrm>
            <a:off x="5650992" y="4370832"/>
            <a:ext cx="3145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Windmill: Must reach 135°+, affect core balance. Only Counts once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cc0148990a_0_36"/>
          <p:cNvSpPr/>
          <p:nvPr/>
        </p:nvSpPr>
        <p:spPr>
          <a:xfrm>
            <a:off x="5650992" y="4754880"/>
            <a:ext cx="3145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Biellmann (UB): </a:t>
            </a:r>
            <a:r>
              <a:rPr lang="en-US" sz="82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Can only be achieved after 8 revs in LSp in SP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cc0148990a_0_36"/>
          <p:cNvSpPr/>
          <p:nvPr/>
        </p:nvSpPr>
        <p:spPr>
          <a:xfrm>
            <a:off x="5650992" y="4562856"/>
            <a:ext cx="3145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20"/>
              <a:buFont typeface="Calibri"/>
              <a:buNone/>
            </a:pPr>
            <a:r>
              <a:rPr b="1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Crossfoot (US): Both feet equal weight — feature to foot </a:t>
            </a:r>
            <a:r>
              <a:rPr lang="en-US" sz="82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before cross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cc0148990a_0_36"/>
          <p:cNvSpPr/>
          <p:nvPr/>
        </p:nvSpPr>
        <p:spPr>
          <a:xfrm>
            <a:off x="4438575" y="1915925"/>
            <a:ext cx="936600" cy="225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3cc0148990a_0_36"/>
          <p:cNvSpPr/>
          <p:nvPr/>
        </p:nvSpPr>
        <p:spPr>
          <a:xfrm>
            <a:off x="4438450" y="1915925"/>
            <a:ext cx="9174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780"/>
              <a:buFont typeface="Calibri"/>
              <a:buNone/>
            </a:pPr>
            <a:r>
              <a:rPr b="0" i="1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If not NBP →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cc0148990a_0_36"/>
          <p:cNvSpPr/>
          <p:nvPr/>
        </p:nvSpPr>
        <p:spPr>
          <a:xfrm>
            <a:off x="4762500" y="2886625"/>
            <a:ext cx="632400" cy="4776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cc0148990a_0_36"/>
          <p:cNvSpPr/>
          <p:nvPr/>
        </p:nvSpPr>
        <p:spPr>
          <a:xfrm>
            <a:off x="4821425" y="2886675"/>
            <a:ext cx="55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 → ✗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cc0148990a_0_36"/>
          <p:cNvSpPr/>
          <p:nvPr/>
        </p:nvSpPr>
        <p:spPr>
          <a:xfrm>
            <a:off x="4762500" y="3538075"/>
            <a:ext cx="632400" cy="4776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cc0148990a_0_36"/>
          <p:cNvSpPr/>
          <p:nvPr/>
        </p:nvSpPr>
        <p:spPr>
          <a:xfrm>
            <a:off x="4821425" y="3538125"/>
            <a:ext cx="55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 → ✗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cc0148990a_0_36"/>
          <p:cNvSpPr/>
          <p:nvPr/>
        </p:nvSpPr>
        <p:spPr>
          <a:xfrm>
            <a:off x="4762500" y="4146450"/>
            <a:ext cx="632400" cy="4776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cc0148990a_0_36"/>
          <p:cNvSpPr/>
          <p:nvPr/>
        </p:nvSpPr>
        <p:spPr>
          <a:xfrm>
            <a:off x="4821425" y="4146500"/>
            <a:ext cx="55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 → ✗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g3cc0148990a_0_36"/>
          <p:cNvSpPr/>
          <p:nvPr/>
        </p:nvSpPr>
        <p:spPr>
          <a:xfrm>
            <a:off x="4024225" y="2918075"/>
            <a:ext cx="632400" cy="4776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3cc0148990a_0_36"/>
          <p:cNvSpPr/>
          <p:nvPr/>
        </p:nvSpPr>
        <p:spPr>
          <a:xfrm>
            <a:off x="4044688" y="3059725"/>
            <a:ext cx="63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g3cc0148990a_0_36"/>
          <p:cNvSpPr/>
          <p:nvPr/>
        </p:nvSpPr>
        <p:spPr>
          <a:xfrm>
            <a:off x="4024225" y="3515150"/>
            <a:ext cx="632400" cy="4776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cc0148990a_0_36"/>
          <p:cNvSpPr/>
          <p:nvPr/>
        </p:nvSpPr>
        <p:spPr>
          <a:xfrm>
            <a:off x="4044688" y="3688288"/>
            <a:ext cx="63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cc0148990a_0_36"/>
          <p:cNvSpPr/>
          <p:nvPr/>
        </p:nvSpPr>
        <p:spPr>
          <a:xfrm>
            <a:off x="4024225" y="4145625"/>
            <a:ext cx="632400" cy="4776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3cc0148990a_0_36"/>
          <p:cNvSpPr/>
          <p:nvPr/>
        </p:nvSpPr>
        <p:spPr>
          <a:xfrm>
            <a:off x="4044688" y="4318775"/>
            <a:ext cx="63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cc0148990a_0_36"/>
          <p:cNvSpPr/>
          <p:nvPr/>
        </p:nvSpPr>
        <p:spPr>
          <a:xfrm>
            <a:off x="4014000" y="1677450"/>
            <a:ext cx="346200" cy="4776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cc0148990a_0_36"/>
          <p:cNvSpPr/>
          <p:nvPr/>
        </p:nvSpPr>
        <p:spPr>
          <a:xfrm>
            <a:off x="4025209" y="1850600"/>
            <a:ext cx="346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9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cc0148990a_0_10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cc0148990a_0_102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cc0148990a_0_102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#1: Camel Difficult Variations (CF / CS / CU)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cc0148990a_0_102"/>
          <p:cNvSpPr/>
          <p:nvPr/>
        </p:nvSpPr>
        <p:spPr>
          <a:xfrm>
            <a:off x="1920240" y="1005840"/>
            <a:ext cx="685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Three categories defined by shoulder line direction relative to the ice — all require the gateway: skater must be in camel 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cc0148990a_0_102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g3cc0148990a_0_102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 — CAMEL DVs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cc0148990a_0_102"/>
          <p:cNvSpPr/>
          <p:nvPr/>
        </p:nvSpPr>
        <p:spPr>
          <a:xfrm>
            <a:off x="274325" y="1355100"/>
            <a:ext cx="8595300" cy="219600"/>
          </a:xfrm>
          <a:prstGeom prst="rect">
            <a:avLst/>
          </a:prstGeom>
          <a:solidFill>
            <a:srgbClr val="F0D080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B6914"/>
              </a:solidFill>
            </a:endParaRPr>
          </a:p>
        </p:txBody>
      </p:sp>
      <p:sp>
        <p:nvSpPr>
          <p:cNvPr id="774" name="Google Shape;774;g3cc0148990a_0_102"/>
          <p:cNvSpPr/>
          <p:nvPr/>
        </p:nvSpPr>
        <p:spPr>
          <a:xfrm>
            <a:off x="347477" y="1355100"/>
            <a:ext cx="844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GATEWAY REQUIREMENT — Camel Position: Free leg backwards with the knee above hip level. If knee drops below hip, the gateway is CLOSED</a:t>
            </a:r>
            <a:endParaRPr b="0" i="0" sz="1000" u="none" cap="none" strike="noStrike">
              <a:solidFill>
                <a:srgbClr val="7B3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cc0148990a_0_102"/>
          <p:cNvSpPr/>
          <p:nvPr/>
        </p:nvSpPr>
        <p:spPr>
          <a:xfrm>
            <a:off x="274325" y="1679450"/>
            <a:ext cx="2779800" cy="403200"/>
          </a:xfrm>
          <a:prstGeom prst="rect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cc0148990a_0_102"/>
          <p:cNvSpPr/>
          <p:nvPr/>
        </p:nvSpPr>
        <p:spPr>
          <a:xfrm>
            <a:off x="347472" y="1642872"/>
            <a:ext cx="475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g3cc0148990a_0_102"/>
          <p:cNvSpPr/>
          <p:nvPr/>
        </p:nvSpPr>
        <p:spPr>
          <a:xfrm>
            <a:off x="859525" y="1679451"/>
            <a:ext cx="212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Camel Forward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g3cc0148990a_0_102"/>
          <p:cNvSpPr/>
          <p:nvPr/>
        </p:nvSpPr>
        <p:spPr>
          <a:xfrm>
            <a:off x="859525" y="1898901"/>
            <a:ext cx="212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8A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E8A0"/>
                </a:solidFill>
                <a:latin typeface="Calibri"/>
                <a:ea typeface="Calibri"/>
                <a:cs typeface="Calibri"/>
                <a:sym typeface="Calibri"/>
              </a:rPr>
              <a:t>Shoulder line PARALLEL to the 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cc0148990a_0_102"/>
          <p:cNvSpPr/>
          <p:nvPr/>
        </p:nvSpPr>
        <p:spPr>
          <a:xfrm>
            <a:off x="274325" y="2234174"/>
            <a:ext cx="2779800" cy="2097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0" name="Google Shape;780;g3cc0148990a_0_102"/>
          <p:cNvSpPr/>
          <p:nvPr/>
        </p:nvSpPr>
        <p:spPr>
          <a:xfrm>
            <a:off x="329189" y="2234174"/>
            <a:ext cx="267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Steps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cc0148990a_0_102"/>
          <p:cNvSpPr/>
          <p:nvPr/>
        </p:nvSpPr>
        <p:spPr>
          <a:xfrm>
            <a:off x="274325" y="2464683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2" name="Google Shape;782;g3cc0148990a_0_102"/>
          <p:cNvSpPr/>
          <p:nvPr/>
        </p:nvSpPr>
        <p:spPr>
          <a:xfrm>
            <a:off x="329189" y="250659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3" name="Google Shape;783;g3cc0148990a_0_102"/>
          <p:cNvSpPr/>
          <p:nvPr/>
        </p:nvSpPr>
        <p:spPr>
          <a:xfrm>
            <a:off x="329189" y="250659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3cc0148990a_0_102"/>
          <p:cNvSpPr/>
          <p:nvPr/>
        </p:nvSpPr>
        <p:spPr>
          <a:xfrm>
            <a:off x="530357" y="2464683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camel position? (knee 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hip)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3cc0148990a_0_102"/>
          <p:cNvSpPr/>
          <p:nvPr/>
        </p:nvSpPr>
        <p:spPr>
          <a:xfrm>
            <a:off x="274325" y="275805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6" name="Google Shape;786;g3cc0148990a_0_102"/>
          <p:cNvSpPr/>
          <p:nvPr/>
        </p:nvSpPr>
        <p:spPr>
          <a:xfrm>
            <a:off x="329189" y="279996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7" name="Google Shape;787;g3cc0148990a_0_102"/>
          <p:cNvSpPr/>
          <p:nvPr/>
        </p:nvSpPr>
        <p:spPr>
          <a:xfrm>
            <a:off x="329189" y="279996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g3cc0148990a_0_102"/>
          <p:cNvSpPr/>
          <p:nvPr/>
        </p:nvSpPr>
        <p:spPr>
          <a:xfrm>
            <a:off x="530357" y="275805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shoulder line parallel to ice?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3cc0148990a_0_102"/>
          <p:cNvSpPr/>
          <p:nvPr/>
        </p:nvSpPr>
        <p:spPr>
          <a:xfrm>
            <a:off x="274325" y="305143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0" name="Google Shape;790;g3cc0148990a_0_102"/>
          <p:cNvSpPr/>
          <p:nvPr/>
        </p:nvSpPr>
        <p:spPr>
          <a:xfrm>
            <a:off x="329189" y="309334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1" name="Google Shape;791;g3cc0148990a_0_102"/>
          <p:cNvSpPr/>
          <p:nvPr/>
        </p:nvSpPr>
        <p:spPr>
          <a:xfrm>
            <a:off x="329189" y="309334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g3cc0148990a_0_102"/>
          <p:cNvSpPr/>
          <p:nvPr/>
        </p:nvSpPr>
        <p:spPr>
          <a:xfrm>
            <a:off x="530357" y="305143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Requires significant strength/flexibility?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g3cc0148990a_0_102"/>
          <p:cNvSpPr/>
          <p:nvPr/>
        </p:nvSpPr>
        <p:spPr>
          <a:xfrm>
            <a:off x="274325" y="334480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4" name="Google Shape;794;g3cc0148990a_0_102"/>
          <p:cNvSpPr/>
          <p:nvPr/>
        </p:nvSpPr>
        <p:spPr>
          <a:xfrm>
            <a:off x="329189" y="338671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5" name="Google Shape;795;g3cc0148990a_0_102"/>
          <p:cNvSpPr/>
          <p:nvPr/>
        </p:nvSpPr>
        <p:spPr>
          <a:xfrm>
            <a:off x="329189" y="338671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g3cc0148990a_0_102"/>
          <p:cNvSpPr/>
          <p:nvPr/>
        </p:nvSpPr>
        <p:spPr>
          <a:xfrm>
            <a:off x="530357" y="334480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Held 2+ continuous revolutions?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g3cc0148990a_0_102"/>
          <p:cNvSpPr/>
          <p:nvPr/>
        </p:nvSpPr>
        <p:spPr>
          <a:xfrm>
            <a:off x="274325" y="363818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8" name="Google Shape;798;g3cc0148990a_0_102"/>
          <p:cNvSpPr/>
          <p:nvPr/>
        </p:nvSpPr>
        <p:spPr>
          <a:xfrm>
            <a:off x="329189" y="3680092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9" name="Google Shape;799;g3cc0148990a_0_102"/>
          <p:cNvSpPr/>
          <p:nvPr/>
        </p:nvSpPr>
        <p:spPr>
          <a:xfrm>
            <a:off x="329189" y="3680092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g3cc0148990a_0_102"/>
          <p:cNvSpPr/>
          <p:nvPr/>
        </p:nvSpPr>
        <p:spPr>
          <a:xfrm>
            <a:off x="530357" y="363818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CF attempted in program?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cc0148990a_0_102"/>
          <p:cNvSpPr/>
          <p:nvPr/>
        </p:nvSpPr>
        <p:spPr>
          <a:xfrm>
            <a:off x="274320" y="3998976"/>
            <a:ext cx="2779800" cy="183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cc0148990a_0_102"/>
          <p:cNvSpPr/>
          <p:nvPr/>
        </p:nvSpPr>
        <p:spPr>
          <a:xfrm>
            <a:off x="329184" y="3998976"/>
            <a:ext cx="267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g3cc0148990a_0_102"/>
          <p:cNvSpPr/>
          <p:nvPr/>
        </p:nvSpPr>
        <p:spPr>
          <a:xfrm>
            <a:off x="274335" y="4200150"/>
            <a:ext cx="8595300" cy="255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cc0148990a_0_102"/>
          <p:cNvSpPr/>
          <p:nvPr/>
        </p:nvSpPr>
        <p:spPr>
          <a:xfrm>
            <a:off x="347482" y="4200150"/>
            <a:ext cx="844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Shoulders </a:t>
            </a:r>
            <a:r>
              <a:rPr lang="en-US" sz="10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do not truly meet the position definition - are somewhere in between the Camel DVs 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3cc0148990a_0_102"/>
          <p:cNvSpPr/>
          <p:nvPr/>
        </p:nvSpPr>
        <p:spPr>
          <a:xfrm>
            <a:off x="274335" y="4474475"/>
            <a:ext cx="8595300" cy="255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g3cc0148990a_0_102"/>
          <p:cNvSpPr/>
          <p:nvPr/>
        </p:nvSpPr>
        <p:spPr>
          <a:xfrm>
            <a:off x="347482" y="4474475"/>
            <a:ext cx="844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Free leg dropping below hip during the variation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cc0148990a_0_102"/>
          <p:cNvSpPr/>
          <p:nvPr/>
        </p:nvSpPr>
        <p:spPr>
          <a:xfrm>
            <a:off x="274335" y="4748775"/>
            <a:ext cx="8595300" cy="255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cc0148990a_0_102"/>
          <p:cNvSpPr/>
          <p:nvPr/>
        </p:nvSpPr>
        <p:spPr>
          <a:xfrm>
            <a:off x="347472" y="4748784"/>
            <a:ext cx="263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Less than 2 continuous revolutions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g3cc0148990a_0_102"/>
          <p:cNvSpPr/>
          <p:nvPr/>
        </p:nvSpPr>
        <p:spPr>
          <a:xfrm>
            <a:off x="3182113" y="1679450"/>
            <a:ext cx="2779800" cy="403200"/>
          </a:xfrm>
          <a:prstGeom prst="rect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cc0148990a_0_102"/>
          <p:cNvSpPr/>
          <p:nvPr/>
        </p:nvSpPr>
        <p:spPr>
          <a:xfrm>
            <a:off x="3255264" y="1642872"/>
            <a:ext cx="475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cc0148990a_0_102"/>
          <p:cNvSpPr/>
          <p:nvPr/>
        </p:nvSpPr>
        <p:spPr>
          <a:xfrm>
            <a:off x="3767320" y="1679451"/>
            <a:ext cx="212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Camel 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g3cc0148990a_0_102"/>
          <p:cNvSpPr/>
          <p:nvPr/>
        </p:nvSpPr>
        <p:spPr>
          <a:xfrm>
            <a:off x="3767320" y="1898901"/>
            <a:ext cx="212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8A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E8A0"/>
                </a:solidFill>
                <a:latin typeface="Calibri"/>
                <a:ea typeface="Calibri"/>
                <a:cs typeface="Calibri"/>
                <a:sym typeface="Calibri"/>
              </a:rPr>
              <a:t>Shoulder line TWISTED to vertical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g3cc0148990a_0_102"/>
          <p:cNvSpPr/>
          <p:nvPr/>
        </p:nvSpPr>
        <p:spPr>
          <a:xfrm>
            <a:off x="3182114" y="2234174"/>
            <a:ext cx="2779800" cy="2097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14" name="Google Shape;814;g3cc0148990a_0_102"/>
          <p:cNvSpPr/>
          <p:nvPr/>
        </p:nvSpPr>
        <p:spPr>
          <a:xfrm>
            <a:off x="3236978" y="2234174"/>
            <a:ext cx="267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Steps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cc0148990a_0_102"/>
          <p:cNvSpPr/>
          <p:nvPr/>
        </p:nvSpPr>
        <p:spPr>
          <a:xfrm>
            <a:off x="3182114" y="2464683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16" name="Google Shape;816;g3cc0148990a_0_102"/>
          <p:cNvSpPr/>
          <p:nvPr/>
        </p:nvSpPr>
        <p:spPr>
          <a:xfrm>
            <a:off x="3236978" y="250659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17" name="Google Shape;817;g3cc0148990a_0_102"/>
          <p:cNvSpPr/>
          <p:nvPr/>
        </p:nvSpPr>
        <p:spPr>
          <a:xfrm>
            <a:off x="3236978" y="250659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cc0148990a_0_102"/>
          <p:cNvSpPr/>
          <p:nvPr/>
        </p:nvSpPr>
        <p:spPr>
          <a:xfrm>
            <a:off x="3438146" y="2464683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camel position? (knee 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hip)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g3cc0148990a_0_102"/>
          <p:cNvSpPr/>
          <p:nvPr/>
        </p:nvSpPr>
        <p:spPr>
          <a:xfrm>
            <a:off x="3182114" y="275805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0" name="Google Shape;820;g3cc0148990a_0_102"/>
          <p:cNvSpPr/>
          <p:nvPr/>
        </p:nvSpPr>
        <p:spPr>
          <a:xfrm>
            <a:off x="3236978" y="279996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1" name="Google Shape;821;g3cc0148990a_0_102"/>
          <p:cNvSpPr/>
          <p:nvPr/>
        </p:nvSpPr>
        <p:spPr>
          <a:xfrm>
            <a:off x="3236978" y="279996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cc0148990a_0_102"/>
          <p:cNvSpPr/>
          <p:nvPr/>
        </p:nvSpPr>
        <p:spPr>
          <a:xfrm>
            <a:off x="3438146" y="275805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shoulder line twisted to vertical?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g3cc0148990a_0_102"/>
          <p:cNvSpPr/>
          <p:nvPr/>
        </p:nvSpPr>
        <p:spPr>
          <a:xfrm>
            <a:off x="3182114" y="305143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4" name="Google Shape;824;g3cc0148990a_0_102"/>
          <p:cNvSpPr/>
          <p:nvPr/>
        </p:nvSpPr>
        <p:spPr>
          <a:xfrm>
            <a:off x="3236978" y="309334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5" name="Google Shape;825;g3cc0148990a_0_102"/>
          <p:cNvSpPr/>
          <p:nvPr/>
        </p:nvSpPr>
        <p:spPr>
          <a:xfrm>
            <a:off x="3236978" y="309334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g3cc0148990a_0_102"/>
          <p:cNvSpPr/>
          <p:nvPr/>
        </p:nvSpPr>
        <p:spPr>
          <a:xfrm>
            <a:off x="3438146" y="305143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Requires significant strength/flexibility?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g3cc0148990a_0_102"/>
          <p:cNvSpPr/>
          <p:nvPr/>
        </p:nvSpPr>
        <p:spPr>
          <a:xfrm>
            <a:off x="3182114" y="334480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8" name="Google Shape;828;g3cc0148990a_0_102"/>
          <p:cNvSpPr/>
          <p:nvPr/>
        </p:nvSpPr>
        <p:spPr>
          <a:xfrm>
            <a:off x="3236978" y="338671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9" name="Google Shape;829;g3cc0148990a_0_102"/>
          <p:cNvSpPr/>
          <p:nvPr/>
        </p:nvSpPr>
        <p:spPr>
          <a:xfrm>
            <a:off x="3236978" y="338671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3cc0148990a_0_102"/>
          <p:cNvSpPr/>
          <p:nvPr/>
        </p:nvSpPr>
        <p:spPr>
          <a:xfrm>
            <a:off x="3438146" y="334480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Held 2+ continuous revolutions?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g3cc0148990a_0_102"/>
          <p:cNvSpPr/>
          <p:nvPr/>
        </p:nvSpPr>
        <p:spPr>
          <a:xfrm>
            <a:off x="3182114" y="363818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32" name="Google Shape;832;g3cc0148990a_0_102"/>
          <p:cNvSpPr/>
          <p:nvPr/>
        </p:nvSpPr>
        <p:spPr>
          <a:xfrm>
            <a:off x="3236978" y="3680092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33" name="Google Shape;833;g3cc0148990a_0_102"/>
          <p:cNvSpPr/>
          <p:nvPr/>
        </p:nvSpPr>
        <p:spPr>
          <a:xfrm>
            <a:off x="3236978" y="3680092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3cc0148990a_0_102"/>
          <p:cNvSpPr/>
          <p:nvPr/>
        </p:nvSpPr>
        <p:spPr>
          <a:xfrm>
            <a:off x="3438146" y="363818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CS attempted in program?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g3cc0148990a_0_102"/>
          <p:cNvSpPr/>
          <p:nvPr/>
        </p:nvSpPr>
        <p:spPr>
          <a:xfrm>
            <a:off x="6089900" y="1679450"/>
            <a:ext cx="2779800" cy="403200"/>
          </a:xfrm>
          <a:prstGeom prst="rect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cc0148990a_0_102"/>
          <p:cNvSpPr/>
          <p:nvPr/>
        </p:nvSpPr>
        <p:spPr>
          <a:xfrm>
            <a:off x="6163056" y="1642872"/>
            <a:ext cx="475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g3cc0148990a_0_102"/>
          <p:cNvSpPr/>
          <p:nvPr/>
        </p:nvSpPr>
        <p:spPr>
          <a:xfrm>
            <a:off x="6675115" y="1679451"/>
            <a:ext cx="212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Camel Up / Upward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g3cc0148990a_0_102"/>
          <p:cNvSpPr/>
          <p:nvPr/>
        </p:nvSpPr>
        <p:spPr>
          <a:xfrm>
            <a:off x="6675115" y="1898901"/>
            <a:ext cx="212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8A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E8A0"/>
                </a:solidFill>
                <a:latin typeface="Calibri"/>
                <a:ea typeface="Calibri"/>
                <a:cs typeface="Calibri"/>
                <a:sym typeface="Calibri"/>
              </a:rPr>
              <a:t>Shoulder line twisted MORE THAN vertical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g3cc0148990a_0_102"/>
          <p:cNvSpPr/>
          <p:nvPr/>
        </p:nvSpPr>
        <p:spPr>
          <a:xfrm>
            <a:off x="6089903" y="2234174"/>
            <a:ext cx="2779800" cy="2097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0" name="Google Shape;840;g3cc0148990a_0_102"/>
          <p:cNvSpPr/>
          <p:nvPr/>
        </p:nvSpPr>
        <p:spPr>
          <a:xfrm>
            <a:off x="6144767" y="2234174"/>
            <a:ext cx="267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Steps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g3cc0148990a_0_102"/>
          <p:cNvSpPr/>
          <p:nvPr/>
        </p:nvSpPr>
        <p:spPr>
          <a:xfrm>
            <a:off x="6089903" y="2464683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2" name="Google Shape;842;g3cc0148990a_0_102"/>
          <p:cNvSpPr/>
          <p:nvPr/>
        </p:nvSpPr>
        <p:spPr>
          <a:xfrm>
            <a:off x="6144767" y="250659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3" name="Google Shape;843;g3cc0148990a_0_102"/>
          <p:cNvSpPr/>
          <p:nvPr/>
        </p:nvSpPr>
        <p:spPr>
          <a:xfrm>
            <a:off x="6144767" y="250659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cc0148990a_0_102"/>
          <p:cNvSpPr/>
          <p:nvPr/>
        </p:nvSpPr>
        <p:spPr>
          <a:xfrm>
            <a:off x="6345935" y="2464683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camel position? (knee 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hip)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g3cc0148990a_0_102"/>
          <p:cNvSpPr/>
          <p:nvPr/>
        </p:nvSpPr>
        <p:spPr>
          <a:xfrm>
            <a:off x="6089903" y="275805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6" name="Google Shape;846;g3cc0148990a_0_102"/>
          <p:cNvSpPr/>
          <p:nvPr/>
        </p:nvSpPr>
        <p:spPr>
          <a:xfrm>
            <a:off x="6144767" y="279996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7" name="Google Shape;847;g3cc0148990a_0_102"/>
          <p:cNvSpPr/>
          <p:nvPr/>
        </p:nvSpPr>
        <p:spPr>
          <a:xfrm>
            <a:off x="6144767" y="279996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3cc0148990a_0_102"/>
          <p:cNvSpPr/>
          <p:nvPr/>
        </p:nvSpPr>
        <p:spPr>
          <a:xfrm>
            <a:off x="6345935" y="275805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shoulder line more than vertical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g3cc0148990a_0_102"/>
          <p:cNvSpPr/>
          <p:nvPr/>
        </p:nvSpPr>
        <p:spPr>
          <a:xfrm>
            <a:off x="6089903" y="305143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0" name="Google Shape;850;g3cc0148990a_0_102"/>
          <p:cNvSpPr/>
          <p:nvPr/>
        </p:nvSpPr>
        <p:spPr>
          <a:xfrm>
            <a:off x="6144767" y="309334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1" name="Google Shape;851;g3cc0148990a_0_102"/>
          <p:cNvSpPr/>
          <p:nvPr/>
        </p:nvSpPr>
        <p:spPr>
          <a:xfrm>
            <a:off x="6144767" y="309334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3cc0148990a_0_102"/>
          <p:cNvSpPr/>
          <p:nvPr/>
        </p:nvSpPr>
        <p:spPr>
          <a:xfrm>
            <a:off x="6345935" y="305143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Requires significant strength/flexibility?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3cc0148990a_0_102"/>
          <p:cNvSpPr/>
          <p:nvPr/>
        </p:nvSpPr>
        <p:spPr>
          <a:xfrm>
            <a:off x="6089903" y="334480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4" name="Google Shape;854;g3cc0148990a_0_102"/>
          <p:cNvSpPr/>
          <p:nvPr/>
        </p:nvSpPr>
        <p:spPr>
          <a:xfrm>
            <a:off x="6144767" y="338671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5" name="Google Shape;855;g3cc0148990a_0_102"/>
          <p:cNvSpPr/>
          <p:nvPr/>
        </p:nvSpPr>
        <p:spPr>
          <a:xfrm>
            <a:off x="6144767" y="338671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3cc0148990a_0_102"/>
          <p:cNvSpPr/>
          <p:nvPr/>
        </p:nvSpPr>
        <p:spPr>
          <a:xfrm>
            <a:off x="6345935" y="334480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Held 2+ continuous revolutions?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g3cc0148990a_0_102"/>
          <p:cNvSpPr/>
          <p:nvPr/>
        </p:nvSpPr>
        <p:spPr>
          <a:xfrm>
            <a:off x="6089903" y="363818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8" name="Google Shape;858;g3cc0148990a_0_102"/>
          <p:cNvSpPr/>
          <p:nvPr/>
        </p:nvSpPr>
        <p:spPr>
          <a:xfrm>
            <a:off x="6144767" y="3680092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9" name="Google Shape;859;g3cc0148990a_0_102"/>
          <p:cNvSpPr/>
          <p:nvPr/>
        </p:nvSpPr>
        <p:spPr>
          <a:xfrm>
            <a:off x="6144767" y="3680092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3cc0148990a_0_102"/>
          <p:cNvSpPr/>
          <p:nvPr/>
        </p:nvSpPr>
        <p:spPr>
          <a:xfrm>
            <a:off x="6345935" y="363818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CU attempted in program?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cc0148990a_0_4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g3cc0148990a_0_400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cc0148990a_0_400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#1: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Difficult Variations (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 /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/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SB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g3cc0148990a_0_400"/>
          <p:cNvSpPr/>
          <p:nvPr/>
        </p:nvSpPr>
        <p:spPr>
          <a:xfrm>
            <a:off x="274325" y="2234174"/>
            <a:ext cx="2779800" cy="2097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70" name="Google Shape;870;g3cc0148990a_0_400"/>
          <p:cNvSpPr/>
          <p:nvPr/>
        </p:nvSpPr>
        <p:spPr>
          <a:xfrm>
            <a:off x="329189" y="2234174"/>
            <a:ext cx="267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Steps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g3cc0148990a_0_400"/>
          <p:cNvSpPr/>
          <p:nvPr/>
        </p:nvSpPr>
        <p:spPr>
          <a:xfrm>
            <a:off x="274325" y="2464683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72" name="Google Shape;872;g3cc0148990a_0_400"/>
          <p:cNvSpPr/>
          <p:nvPr/>
        </p:nvSpPr>
        <p:spPr>
          <a:xfrm>
            <a:off x="329189" y="250659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73" name="Google Shape;873;g3cc0148990a_0_400"/>
          <p:cNvSpPr/>
          <p:nvPr/>
        </p:nvSpPr>
        <p:spPr>
          <a:xfrm>
            <a:off x="329189" y="250659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cc0148990a_0_400"/>
          <p:cNvSpPr/>
          <p:nvPr/>
        </p:nvSpPr>
        <p:spPr>
          <a:xfrm>
            <a:off x="530357" y="2464683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sit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position? (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thigh = parellel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g3cc0148990a_0_400"/>
          <p:cNvSpPr/>
          <p:nvPr/>
        </p:nvSpPr>
        <p:spPr>
          <a:xfrm>
            <a:off x="274325" y="275805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76" name="Google Shape;876;g3cc0148990a_0_400"/>
          <p:cNvSpPr/>
          <p:nvPr/>
        </p:nvSpPr>
        <p:spPr>
          <a:xfrm>
            <a:off x="329189" y="279996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77" name="Google Shape;877;g3cc0148990a_0_400"/>
          <p:cNvSpPr/>
          <p:nvPr/>
        </p:nvSpPr>
        <p:spPr>
          <a:xfrm>
            <a:off x="329189" y="279996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3cc0148990a_0_400"/>
          <p:cNvSpPr/>
          <p:nvPr/>
        </p:nvSpPr>
        <p:spPr>
          <a:xfrm>
            <a:off x="530357" y="275805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the free leg in front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cc0148990a_0_400"/>
          <p:cNvSpPr/>
          <p:nvPr/>
        </p:nvSpPr>
        <p:spPr>
          <a:xfrm>
            <a:off x="274325" y="305143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0" name="Google Shape;880;g3cc0148990a_0_400"/>
          <p:cNvSpPr/>
          <p:nvPr/>
        </p:nvSpPr>
        <p:spPr>
          <a:xfrm>
            <a:off x="329189" y="309334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1" name="Google Shape;881;g3cc0148990a_0_400"/>
          <p:cNvSpPr/>
          <p:nvPr/>
        </p:nvSpPr>
        <p:spPr>
          <a:xfrm>
            <a:off x="329189" y="309334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g3cc0148990a_0_400"/>
          <p:cNvSpPr/>
          <p:nvPr/>
        </p:nvSpPr>
        <p:spPr>
          <a:xfrm>
            <a:off x="530357" y="305143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Requires significant strength/flexibility?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cc0148990a_0_400"/>
          <p:cNvSpPr/>
          <p:nvPr/>
        </p:nvSpPr>
        <p:spPr>
          <a:xfrm>
            <a:off x="274325" y="334480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4" name="Google Shape;884;g3cc0148990a_0_400"/>
          <p:cNvSpPr/>
          <p:nvPr/>
        </p:nvSpPr>
        <p:spPr>
          <a:xfrm>
            <a:off x="329189" y="338671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5" name="Google Shape;885;g3cc0148990a_0_400"/>
          <p:cNvSpPr/>
          <p:nvPr/>
        </p:nvSpPr>
        <p:spPr>
          <a:xfrm>
            <a:off x="329189" y="338671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g3cc0148990a_0_400"/>
          <p:cNvSpPr/>
          <p:nvPr/>
        </p:nvSpPr>
        <p:spPr>
          <a:xfrm>
            <a:off x="530357" y="334480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Held 2+ continuous revolutions?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cc0148990a_0_400"/>
          <p:cNvSpPr/>
          <p:nvPr/>
        </p:nvSpPr>
        <p:spPr>
          <a:xfrm>
            <a:off x="274325" y="363818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8" name="Google Shape;888;g3cc0148990a_0_400"/>
          <p:cNvSpPr/>
          <p:nvPr/>
        </p:nvSpPr>
        <p:spPr>
          <a:xfrm>
            <a:off x="329189" y="3680092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9" name="Google Shape;889;g3cc0148990a_0_400"/>
          <p:cNvSpPr/>
          <p:nvPr/>
        </p:nvSpPr>
        <p:spPr>
          <a:xfrm>
            <a:off x="329189" y="3680092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3cc0148990a_0_400"/>
          <p:cNvSpPr/>
          <p:nvPr/>
        </p:nvSpPr>
        <p:spPr>
          <a:xfrm>
            <a:off x="530357" y="363818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 attempted in program?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g3cc0148990a_0_400"/>
          <p:cNvSpPr/>
          <p:nvPr/>
        </p:nvSpPr>
        <p:spPr>
          <a:xfrm>
            <a:off x="274320" y="3998976"/>
            <a:ext cx="2779800" cy="183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g3cc0148990a_0_400"/>
          <p:cNvSpPr/>
          <p:nvPr/>
        </p:nvSpPr>
        <p:spPr>
          <a:xfrm>
            <a:off x="329184" y="3998976"/>
            <a:ext cx="267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cc0148990a_0_400"/>
          <p:cNvSpPr/>
          <p:nvPr/>
        </p:nvSpPr>
        <p:spPr>
          <a:xfrm>
            <a:off x="274335" y="4200150"/>
            <a:ext cx="8595300" cy="255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cc0148990a_0_400"/>
          <p:cNvSpPr/>
          <p:nvPr/>
        </p:nvSpPr>
        <p:spPr>
          <a:xfrm>
            <a:off x="347482" y="4200150"/>
            <a:ext cx="844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Skating leg rises above where skater no longer meets basic sit position - assess for NBP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cc0148990a_0_400"/>
          <p:cNvSpPr/>
          <p:nvPr/>
        </p:nvSpPr>
        <p:spPr>
          <a:xfrm>
            <a:off x="274335" y="4474475"/>
            <a:ext cx="8595300" cy="255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cc0148990a_0_400"/>
          <p:cNvSpPr/>
          <p:nvPr/>
        </p:nvSpPr>
        <p:spPr>
          <a:xfrm>
            <a:off x="347482" y="4474475"/>
            <a:ext cx="844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Variations are only a change in free leg and - has no affect on main body core and does not demonstrate significant </a:t>
            </a:r>
            <a:r>
              <a:rPr lang="en-US" sz="10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strength and/or flexibility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cc0148990a_0_400"/>
          <p:cNvSpPr/>
          <p:nvPr/>
        </p:nvSpPr>
        <p:spPr>
          <a:xfrm>
            <a:off x="274335" y="4748775"/>
            <a:ext cx="8595300" cy="255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cc0148990a_0_400"/>
          <p:cNvSpPr/>
          <p:nvPr/>
        </p:nvSpPr>
        <p:spPr>
          <a:xfrm>
            <a:off x="347472" y="4748784"/>
            <a:ext cx="263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Less than 2 continuous revolutions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3cc0148990a_0_400"/>
          <p:cNvSpPr/>
          <p:nvPr/>
        </p:nvSpPr>
        <p:spPr>
          <a:xfrm>
            <a:off x="3182114" y="2234174"/>
            <a:ext cx="2779800" cy="2097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00" name="Google Shape;900;g3cc0148990a_0_400"/>
          <p:cNvSpPr/>
          <p:nvPr/>
        </p:nvSpPr>
        <p:spPr>
          <a:xfrm>
            <a:off x="3236978" y="2234174"/>
            <a:ext cx="267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Steps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g3cc0148990a_0_400"/>
          <p:cNvSpPr/>
          <p:nvPr/>
        </p:nvSpPr>
        <p:spPr>
          <a:xfrm>
            <a:off x="3182114" y="2464683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02" name="Google Shape;902;g3cc0148990a_0_400"/>
          <p:cNvSpPr/>
          <p:nvPr/>
        </p:nvSpPr>
        <p:spPr>
          <a:xfrm>
            <a:off x="3236978" y="250659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03" name="Google Shape;903;g3cc0148990a_0_400"/>
          <p:cNvSpPr/>
          <p:nvPr/>
        </p:nvSpPr>
        <p:spPr>
          <a:xfrm>
            <a:off x="3236978" y="250659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cc0148990a_0_400"/>
          <p:cNvSpPr/>
          <p:nvPr/>
        </p:nvSpPr>
        <p:spPr>
          <a:xfrm>
            <a:off x="3438146" y="2464683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sit position? (thigh = parellel)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cc0148990a_0_400"/>
          <p:cNvSpPr/>
          <p:nvPr/>
        </p:nvSpPr>
        <p:spPr>
          <a:xfrm>
            <a:off x="3182114" y="275805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06" name="Google Shape;906;g3cc0148990a_0_400"/>
          <p:cNvSpPr/>
          <p:nvPr/>
        </p:nvSpPr>
        <p:spPr>
          <a:xfrm>
            <a:off x="3236978" y="279996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07" name="Google Shape;907;g3cc0148990a_0_400"/>
          <p:cNvSpPr/>
          <p:nvPr/>
        </p:nvSpPr>
        <p:spPr>
          <a:xfrm>
            <a:off x="3236978" y="279996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cc0148990a_0_400"/>
          <p:cNvSpPr/>
          <p:nvPr/>
        </p:nvSpPr>
        <p:spPr>
          <a:xfrm>
            <a:off x="3438146" y="275805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the free leg to the side?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cc0148990a_0_400"/>
          <p:cNvSpPr/>
          <p:nvPr/>
        </p:nvSpPr>
        <p:spPr>
          <a:xfrm>
            <a:off x="3182114" y="305143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10" name="Google Shape;910;g3cc0148990a_0_400"/>
          <p:cNvSpPr/>
          <p:nvPr/>
        </p:nvSpPr>
        <p:spPr>
          <a:xfrm>
            <a:off x="3236978" y="309334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11" name="Google Shape;911;g3cc0148990a_0_400"/>
          <p:cNvSpPr/>
          <p:nvPr/>
        </p:nvSpPr>
        <p:spPr>
          <a:xfrm>
            <a:off x="3236978" y="309334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cc0148990a_0_400"/>
          <p:cNvSpPr/>
          <p:nvPr/>
        </p:nvSpPr>
        <p:spPr>
          <a:xfrm>
            <a:off x="3438146" y="305143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Requires significant strength/flexibility?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cc0148990a_0_400"/>
          <p:cNvSpPr/>
          <p:nvPr/>
        </p:nvSpPr>
        <p:spPr>
          <a:xfrm>
            <a:off x="3182114" y="334480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14" name="Google Shape;914;g3cc0148990a_0_400"/>
          <p:cNvSpPr/>
          <p:nvPr/>
        </p:nvSpPr>
        <p:spPr>
          <a:xfrm>
            <a:off x="3236978" y="338671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15" name="Google Shape;915;g3cc0148990a_0_400"/>
          <p:cNvSpPr/>
          <p:nvPr/>
        </p:nvSpPr>
        <p:spPr>
          <a:xfrm>
            <a:off x="3236978" y="338671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cc0148990a_0_400"/>
          <p:cNvSpPr/>
          <p:nvPr/>
        </p:nvSpPr>
        <p:spPr>
          <a:xfrm>
            <a:off x="3438146" y="334480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Held 2+ continuous revolutions?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g3cc0148990a_0_400"/>
          <p:cNvSpPr/>
          <p:nvPr/>
        </p:nvSpPr>
        <p:spPr>
          <a:xfrm>
            <a:off x="3182114" y="363818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18" name="Google Shape;918;g3cc0148990a_0_400"/>
          <p:cNvSpPr/>
          <p:nvPr/>
        </p:nvSpPr>
        <p:spPr>
          <a:xfrm>
            <a:off x="3236978" y="3680092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19" name="Google Shape;919;g3cc0148990a_0_400"/>
          <p:cNvSpPr/>
          <p:nvPr/>
        </p:nvSpPr>
        <p:spPr>
          <a:xfrm>
            <a:off x="3236978" y="3680092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g3cc0148990a_0_400"/>
          <p:cNvSpPr/>
          <p:nvPr/>
        </p:nvSpPr>
        <p:spPr>
          <a:xfrm>
            <a:off x="3438146" y="363818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 attempted in program?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cc0148990a_0_400"/>
          <p:cNvSpPr/>
          <p:nvPr/>
        </p:nvSpPr>
        <p:spPr>
          <a:xfrm>
            <a:off x="6089903" y="2234174"/>
            <a:ext cx="2779800" cy="2097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2" name="Google Shape;922;g3cc0148990a_0_400"/>
          <p:cNvSpPr/>
          <p:nvPr/>
        </p:nvSpPr>
        <p:spPr>
          <a:xfrm>
            <a:off x="6144767" y="2234174"/>
            <a:ext cx="267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Steps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cc0148990a_0_400"/>
          <p:cNvSpPr/>
          <p:nvPr/>
        </p:nvSpPr>
        <p:spPr>
          <a:xfrm>
            <a:off x="6089903" y="2464683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4" name="Google Shape;924;g3cc0148990a_0_400"/>
          <p:cNvSpPr/>
          <p:nvPr/>
        </p:nvSpPr>
        <p:spPr>
          <a:xfrm>
            <a:off x="6144767" y="250659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5" name="Google Shape;925;g3cc0148990a_0_400"/>
          <p:cNvSpPr/>
          <p:nvPr/>
        </p:nvSpPr>
        <p:spPr>
          <a:xfrm>
            <a:off x="6144767" y="250659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cc0148990a_0_400"/>
          <p:cNvSpPr/>
          <p:nvPr/>
        </p:nvSpPr>
        <p:spPr>
          <a:xfrm>
            <a:off x="6345935" y="2464683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sit position? (thigh = parellel)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cc0148990a_0_400"/>
          <p:cNvSpPr/>
          <p:nvPr/>
        </p:nvSpPr>
        <p:spPr>
          <a:xfrm>
            <a:off x="6089903" y="275805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8" name="Google Shape;928;g3cc0148990a_0_400"/>
          <p:cNvSpPr/>
          <p:nvPr/>
        </p:nvSpPr>
        <p:spPr>
          <a:xfrm>
            <a:off x="6144767" y="279996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9" name="Google Shape;929;g3cc0148990a_0_400"/>
          <p:cNvSpPr/>
          <p:nvPr/>
        </p:nvSpPr>
        <p:spPr>
          <a:xfrm>
            <a:off x="6144767" y="279996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cc0148990a_0_400"/>
          <p:cNvSpPr/>
          <p:nvPr/>
        </p:nvSpPr>
        <p:spPr>
          <a:xfrm>
            <a:off x="6345935" y="275805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the free leg behind?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g3cc0148990a_0_400"/>
          <p:cNvSpPr/>
          <p:nvPr/>
        </p:nvSpPr>
        <p:spPr>
          <a:xfrm>
            <a:off x="6089903" y="305143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32" name="Google Shape;932;g3cc0148990a_0_400"/>
          <p:cNvSpPr/>
          <p:nvPr/>
        </p:nvSpPr>
        <p:spPr>
          <a:xfrm>
            <a:off x="6144767" y="3093343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33" name="Google Shape;933;g3cc0148990a_0_400"/>
          <p:cNvSpPr/>
          <p:nvPr/>
        </p:nvSpPr>
        <p:spPr>
          <a:xfrm>
            <a:off x="6144767" y="3093343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cc0148990a_0_400"/>
          <p:cNvSpPr/>
          <p:nvPr/>
        </p:nvSpPr>
        <p:spPr>
          <a:xfrm>
            <a:off x="6345935" y="305143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Requires significant strength/flexibility?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cc0148990a_0_400"/>
          <p:cNvSpPr/>
          <p:nvPr/>
        </p:nvSpPr>
        <p:spPr>
          <a:xfrm>
            <a:off x="6089903" y="3344807"/>
            <a:ext cx="2779800" cy="272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36" name="Google Shape;936;g3cc0148990a_0_400"/>
          <p:cNvSpPr/>
          <p:nvPr/>
        </p:nvSpPr>
        <p:spPr>
          <a:xfrm>
            <a:off x="6144767" y="3386718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37" name="Google Shape;937;g3cc0148990a_0_400"/>
          <p:cNvSpPr/>
          <p:nvPr/>
        </p:nvSpPr>
        <p:spPr>
          <a:xfrm>
            <a:off x="6144767" y="3386718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3cc0148990a_0_400"/>
          <p:cNvSpPr/>
          <p:nvPr/>
        </p:nvSpPr>
        <p:spPr>
          <a:xfrm>
            <a:off x="6345935" y="3344807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Held 2+ continuous revolutions?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3cc0148990a_0_400"/>
          <p:cNvSpPr/>
          <p:nvPr/>
        </p:nvSpPr>
        <p:spPr>
          <a:xfrm>
            <a:off x="6089903" y="3638182"/>
            <a:ext cx="2779800" cy="272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0" name="Google Shape;940;g3cc0148990a_0_400"/>
          <p:cNvSpPr/>
          <p:nvPr/>
        </p:nvSpPr>
        <p:spPr>
          <a:xfrm>
            <a:off x="6144767" y="3680092"/>
            <a:ext cx="164700" cy="188700"/>
          </a:xfrm>
          <a:prstGeom prst="ellipse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1" name="Google Shape;941;g3cc0148990a_0_400"/>
          <p:cNvSpPr/>
          <p:nvPr/>
        </p:nvSpPr>
        <p:spPr>
          <a:xfrm>
            <a:off x="6144767" y="3680092"/>
            <a:ext cx="164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cc0148990a_0_400"/>
          <p:cNvSpPr/>
          <p:nvPr/>
        </p:nvSpPr>
        <p:spPr>
          <a:xfrm>
            <a:off x="6345935" y="3638182"/>
            <a:ext cx="2469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SB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attempted in program?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cc0148990a_0_40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g3cc0148990a_0_40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 — SIT DVs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g3cc0148990a_0_400"/>
          <p:cNvSpPr/>
          <p:nvPr/>
        </p:nvSpPr>
        <p:spPr>
          <a:xfrm>
            <a:off x="1938425" y="1015075"/>
            <a:ext cx="707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Three categories defined by free leg position — skater must be in sit position (</a:t>
            </a:r>
            <a:r>
              <a:rPr i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upper part of skating leg</a:t>
            </a: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 at least parallel to ice)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g3cc0148990a_0_400"/>
          <p:cNvSpPr/>
          <p:nvPr/>
        </p:nvSpPr>
        <p:spPr>
          <a:xfrm>
            <a:off x="274320" y="1371600"/>
            <a:ext cx="8595300" cy="255900"/>
          </a:xfrm>
          <a:prstGeom prst="rect">
            <a:avLst/>
          </a:prstGeom>
          <a:solidFill>
            <a:srgbClr val="A8D8E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g3cc0148990a_0_400"/>
          <p:cNvSpPr/>
          <p:nvPr/>
        </p:nvSpPr>
        <p:spPr>
          <a:xfrm>
            <a:off x="347472" y="1371600"/>
            <a:ext cx="844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GATEWAY REQUIREMENT — Sit Position: Upper part of skating leg at least parallel to the ice. If thigh rises above parallel, the gateway is CLOSED. Potential to assess NBP</a:t>
            </a:r>
            <a:endParaRPr b="0" i="0" sz="900" u="none" cap="none" strike="noStrike">
              <a:solidFill>
                <a:srgbClr val="1A6B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g3cc0148990a_0_400"/>
          <p:cNvSpPr/>
          <p:nvPr/>
        </p:nvSpPr>
        <p:spPr>
          <a:xfrm>
            <a:off x="274325" y="1719075"/>
            <a:ext cx="2779800" cy="3993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cc0148990a_0_400"/>
          <p:cNvSpPr/>
          <p:nvPr/>
        </p:nvSpPr>
        <p:spPr>
          <a:xfrm>
            <a:off x="347475" y="1719074"/>
            <a:ext cx="475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SF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cc0148990a_0_400"/>
          <p:cNvSpPr/>
          <p:nvPr/>
        </p:nvSpPr>
        <p:spPr>
          <a:xfrm>
            <a:off x="859536" y="1719072"/>
            <a:ext cx="212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 Forward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3cc0148990a_0_400"/>
          <p:cNvSpPr/>
          <p:nvPr/>
        </p:nvSpPr>
        <p:spPr>
          <a:xfrm>
            <a:off x="859536" y="1898904"/>
            <a:ext cx="212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8A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FE8A0"/>
                </a:solidFill>
                <a:latin typeface="Calibri"/>
                <a:ea typeface="Calibri"/>
                <a:cs typeface="Calibri"/>
                <a:sym typeface="Calibri"/>
              </a:rPr>
              <a:t>Free leg FORWARD 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g3cc0148990a_0_400"/>
          <p:cNvSpPr/>
          <p:nvPr/>
        </p:nvSpPr>
        <p:spPr>
          <a:xfrm>
            <a:off x="3182100" y="1719075"/>
            <a:ext cx="2779800" cy="3993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cc0148990a_0_400"/>
          <p:cNvSpPr/>
          <p:nvPr/>
        </p:nvSpPr>
        <p:spPr>
          <a:xfrm>
            <a:off x="3255275" y="1719074"/>
            <a:ext cx="475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3cc0148990a_0_400"/>
          <p:cNvSpPr/>
          <p:nvPr/>
        </p:nvSpPr>
        <p:spPr>
          <a:xfrm>
            <a:off x="3767328" y="1719072"/>
            <a:ext cx="212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 Sideways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cc0148990a_0_400"/>
          <p:cNvSpPr/>
          <p:nvPr/>
        </p:nvSpPr>
        <p:spPr>
          <a:xfrm>
            <a:off x="3767328" y="1898904"/>
            <a:ext cx="212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8A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FE8A0"/>
                </a:solidFill>
                <a:latin typeface="Calibri"/>
                <a:ea typeface="Calibri"/>
                <a:cs typeface="Calibri"/>
                <a:sym typeface="Calibri"/>
              </a:rPr>
              <a:t>Free leg SIDEWAYS 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cc0148990a_0_400"/>
          <p:cNvSpPr/>
          <p:nvPr/>
        </p:nvSpPr>
        <p:spPr>
          <a:xfrm>
            <a:off x="6089900" y="1719075"/>
            <a:ext cx="2779800" cy="3993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g3cc0148990a_0_400"/>
          <p:cNvSpPr/>
          <p:nvPr/>
        </p:nvSpPr>
        <p:spPr>
          <a:xfrm>
            <a:off x="6163050" y="1719075"/>
            <a:ext cx="475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SB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g3cc0148990a_0_400"/>
          <p:cNvSpPr/>
          <p:nvPr/>
        </p:nvSpPr>
        <p:spPr>
          <a:xfrm>
            <a:off x="6675120" y="1719072"/>
            <a:ext cx="212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 Behind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g3cc0148990a_0_400"/>
          <p:cNvSpPr/>
          <p:nvPr/>
        </p:nvSpPr>
        <p:spPr>
          <a:xfrm>
            <a:off x="6675120" y="1898904"/>
            <a:ext cx="212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8A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FE8A0"/>
                </a:solidFill>
                <a:latin typeface="Calibri"/>
                <a:ea typeface="Calibri"/>
                <a:cs typeface="Calibri"/>
                <a:sym typeface="Calibri"/>
              </a:rPr>
              <a:t>Free leg BEHIND 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86cf4f2a54_0_9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86cf4f2a54_0_98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g386cf4f2a54_0_98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#1: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Upright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Difficult Variations (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 /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/ UL /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g386cf4f2a54_0_98"/>
          <p:cNvSpPr/>
          <p:nvPr/>
        </p:nvSpPr>
        <p:spPr>
          <a:xfrm>
            <a:off x="4715444" y="3264062"/>
            <a:ext cx="2061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Less than 2 continuous revolutions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g386cf4f2a54_0_98"/>
          <p:cNvSpPr/>
          <p:nvPr/>
        </p:nvSpPr>
        <p:spPr>
          <a:xfrm>
            <a:off x="1920240" y="1005840"/>
            <a:ext cx="685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Four upright categories </a:t>
            </a:r>
            <a:r>
              <a:rPr i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within upright basic position with skating leg straight or slightly bent (and which is not a camel)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86cf4f2a54_0_98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5B2D8E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386cf4f2a54_0_98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 — UPRIGHT 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g386cf4f2a54_0_98"/>
          <p:cNvSpPr/>
          <p:nvPr/>
        </p:nvSpPr>
        <p:spPr>
          <a:xfrm>
            <a:off x="274325" y="1371600"/>
            <a:ext cx="8594400" cy="219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1B9A"/>
              </a:solidFill>
            </a:endParaRPr>
          </a:p>
        </p:txBody>
      </p:sp>
      <p:sp>
        <p:nvSpPr>
          <p:cNvPr id="973" name="Google Shape;973;g386cf4f2a54_0_98"/>
          <p:cNvSpPr/>
          <p:nvPr/>
        </p:nvSpPr>
        <p:spPr>
          <a:xfrm>
            <a:off x="347472" y="1371600"/>
            <a:ext cx="552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GATEWAY — Upright: Not in camel or sit. Layback and </a:t>
            </a:r>
            <a:r>
              <a:rPr b="1" lang="en-US" sz="85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Sideways Leaning spins types of basic upright positions</a:t>
            </a:r>
            <a:r>
              <a:rPr b="1" i="0" lang="en-US" sz="85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850" u="none" cap="none" strike="noStrike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386cf4f2a54_0_98"/>
          <p:cNvSpPr/>
          <p:nvPr/>
        </p:nvSpPr>
        <p:spPr>
          <a:xfrm>
            <a:off x="274325" y="1682500"/>
            <a:ext cx="2118900" cy="324870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C8B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g386cf4f2a54_0_98"/>
          <p:cNvSpPr/>
          <p:nvPr/>
        </p:nvSpPr>
        <p:spPr>
          <a:xfrm>
            <a:off x="274325" y="1682500"/>
            <a:ext cx="2118900" cy="316200"/>
          </a:xfrm>
          <a:prstGeom prst="rect">
            <a:avLst/>
          </a:prstGeom>
          <a:solidFill>
            <a:srgbClr val="5B2D8E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86cf4f2a54_0_98"/>
          <p:cNvSpPr/>
          <p:nvPr/>
        </p:nvSpPr>
        <p:spPr>
          <a:xfrm>
            <a:off x="318175" y="1682500"/>
            <a:ext cx="292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UF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86cf4f2a54_0_98"/>
          <p:cNvSpPr/>
          <p:nvPr/>
        </p:nvSpPr>
        <p:spPr>
          <a:xfrm>
            <a:off x="639646" y="1682500"/>
            <a:ext cx="169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Upright Forward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86cf4f2a54_0_98"/>
          <p:cNvSpPr/>
          <p:nvPr/>
        </p:nvSpPr>
        <p:spPr>
          <a:xfrm>
            <a:off x="639646" y="1836283"/>
            <a:ext cx="1695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DDD0F8"/>
                </a:solidFill>
                <a:latin typeface="Calibri"/>
                <a:ea typeface="Calibri"/>
                <a:cs typeface="Calibri"/>
                <a:sym typeface="Calibri"/>
              </a:rPr>
              <a:t>Torso leaning clearly forward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g386cf4f2a54_0_98"/>
          <p:cNvSpPr/>
          <p:nvPr/>
        </p:nvSpPr>
        <p:spPr>
          <a:xfrm>
            <a:off x="274325" y="2042125"/>
            <a:ext cx="2118900" cy="402300"/>
          </a:xfrm>
          <a:prstGeom prst="rect">
            <a:avLst/>
          </a:prstGeom>
          <a:solidFill>
            <a:srgbClr val="FFF8E7"/>
          </a:solidFill>
          <a:ln cap="flat" cmpd="sng" w="12700">
            <a:solidFill>
              <a:srgbClr val="F0D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386cf4f2a54_0_98"/>
          <p:cNvSpPr/>
          <p:nvPr/>
        </p:nvSpPr>
        <p:spPr>
          <a:xfrm>
            <a:off x="318175" y="2042125"/>
            <a:ext cx="2031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Upper body leans clearly forward from vertical, affecting core balance.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g386cf4f2a54_0_98"/>
          <p:cNvSpPr/>
          <p:nvPr/>
        </p:nvSpPr>
        <p:spPr>
          <a:xfrm>
            <a:off x="274325" y="2497485"/>
            <a:ext cx="2118900" cy="316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g386cf4f2a54_0_98"/>
          <p:cNvSpPr/>
          <p:nvPr/>
        </p:nvSpPr>
        <p:spPr>
          <a:xfrm>
            <a:off x="488375" y="2497475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upright position?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g386cf4f2a54_0_98"/>
          <p:cNvSpPr/>
          <p:nvPr/>
        </p:nvSpPr>
        <p:spPr>
          <a:xfrm>
            <a:off x="274325" y="2842460"/>
            <a:ext cx="2118900" cy="3162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g386cf4f2a54_0_98"/>
          <p:cNvSpPr/>
          <p:nvPr/>
        </p:nvSpPr>
        <p:spPr>
          <a:xfrm>
            <a:off x="488375" y="2842450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torso clearly leaning forward from vertical?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386cf4f2a54_0_98"/>
          <p:cNvSpPr/>
          <p:nvPr/>
        </p:nvSpPr>
        <p:spPr>
          <a:xfrm>
            <a:off x="274325" y="3187435"/>
            <a:ext cx="2118900" cy="316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86cf4f2a54_0_98"/>
          <p:cNvSpPr/>
          <p:nvPr/>
        </p:nvSpPr>
        <p:spPr>
          <a:xfrm>
            <a:off x="488375" y="3187425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Clearly difficult (affects core)?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g386cf4f2a54_0_98"/>
          <p:cNvSpPr/>
          <p:nvPr/>
        </p:nvSpPr>
        <p:spPr>
          <a:xfrm>
            <a:off x="274325" y="3532410"/>
            <a:ext cx="2118900" cy="3162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g386cf4f2a54_0_98"/>
          <p:cNvSpPr/>
          <p:nvPr/>
        </p:nvSpPr>
        <p:spPr>
          <a:xfrm>
            <a:off x="488400" y="3532400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2+ continuous revolutions?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g386cf4f2a54_0_98"/>
          <p:cNvSpPr/>
          <p:nvPr/>
        </p:nvSpPr>
        <p:spPr>
          <a:xfrm>
            <a:off x="274325" y="3877385"/>
            <a:ext cx="2118900" cy="316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g386cf4f2a54_0_98"/>
          <p:cNvSpPr/>
          <p:nvPr/>
        </p:nvSpPr>
        <p:spPr>
          <a:xfrm>
            <a:off x="488425" y="3877375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UF attempted?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g386cf4f2a54_0_98"/>
          <p:cNvSpPr/>
          <p:nvPr/>
        </p:nvSpPr>
        <p:spPr>
          <a:xfrm>
            <a:off x="274325" y="4279856"/>
            <a:ext cx="2118900" cy="258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g386cf4f2a54_0_98"/>
          <p:cNvSpPr/>
          <p:nvPr/>
        </p:nvSpPr>
        <p:spPr>
          <a:xfrm>
            <a:off x="318163" y="4279856"/>
            <a:ext cx="203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Common Failures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g386cf4f2a54_0_98"/>
          <p:cNvSpPr/>
          <p:nvPr/>
        </p:nvSpPr>
        <p:spPr>
          <a:xfrm>
            <a:off x="318163" y="4567335"/>
            <a:ext cx="2031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20"/>
              <a:buFont typeface="Calibri"/>
              <a:buNone/>
            </a:pPr>
            <a:r>
              <a:rPr b="1" i="0" lang="en-US" sz="8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82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Free leg ‘loaded’ → NBP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g386cf4f2a54_0_98"/>
          <p:cNvSpPr/>
          <p:nvPr/>
        </p:nvSpPr>
        <p:spPr>
          <a:xfrm>
            <a:off x="4701127" y="1783116"/>
            <a:ext cx="1989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20"/>
              <a:buFont typeface="Calibri"/>
              <a:buNone/>
            </a:pPr>
            <a:r>
              <a:rPr b="1" i="0" lang="en-US" sz="7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7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Slipping into sit as lean deepens</a:t>
            </a:r>
            <a:endParaRPr b="0" i="0" sz="7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g386cf4f2a54_0_98"/>
          <p:cNvSpPr/>
          <p:nvPr/>
        </p:nvSpPr>
        <p:spPr>
          <a:xfrm>
            <a:off x="2466250" y="1682500"/>
            <a:ext cx="2118900" cy="324870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C8B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g386cf4f2a54_0_98"/>
          <p:cNvSpPr/>
          <p:nvPr/>
        </p:nvSpPr>
        <p:spPr>
          <a:xfrm>
            <a:off x="2466250" y="1682500"/>
            <a:ext cx="2118900" cy="316200"/>
          </a:xfrm>
          <a:prstGeom prst="rect">
            <a:avLst/>
          </a:prstGeom>
          <a:solidFill>
            <a:srgbClr val="5B2D8E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g386cf4f2a54_0_98"/>
          <p:cNvSpPr/>
          <p:nvPr/>
        </p:nvSpPr>
        <p:spPr>
          <a:xfrm>
            <a:off x="2510075" y="1682500"/>
            <a:ext cx="292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g386cf4f2a54_0_98"/>
          <p:cNvSpPr/>
          <p:nvPr/>
        </p:nvSpPr>
        <p:spPr>
          <a:xfrm>
            <a:off x="2831569" y="1682500"/>
            <a:ext cx="1695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Upright Straight/Sideways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g386cf4f2a54_0_98"/>
          <p:cNvSpPr/>
          <p:nvPr/>
        </p:nvSpPr>
        <p:spPr>
          <a:xfrm>
            <a:off x="2831569" y="1836283"/>
            <a:ext cx="1695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DDD0F8"/>
                </a:solidFill>
                <a:latin typeface="Calibri"/>
                <a:ea typeface="Calibri"/>
                <a:cs typeface="Calibri"/>
                <a:sym typeface="Calibri"/>
              </a:rPr>
              <a:t>Torso straight, sideways, or crossfoot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g386cf4f2a54_0_98"/>
          <p:cNvSpPr/>
          <p:nvPr/>
        </p:nvSpPr>
        <p:spPr>
          <a:xfrm>
            <a:off x="2466250" y="2042125"/>
            <a:ext cx="2118900" cy="402300"/>
          </a:xfrm>
          <a:prstGeom prst="rect">
            <a:avLst/>
          </a:prstGeom>
          <a:solidFill>
            <a:srgbClr val="FFF8E7"/>
          </a:solidFill>
          <a:ln cap="flat" cmpd="sng" w="12700">
            <a:solidFill>
              <a:srgbClr val="F0D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g386cf4f2a54_0_98"/>
          <p:cNvSpPr/>
          <p:nvPr/>
        </p:nvSpPr>
        <p:spPr>
          <a:xfrm>
            <a:off x="2510100" y="2042126"/>
            <a:ext cx="2031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Includes straight upright body positions and the crossfoot spin. Crossfoot: feature awarded to foot BEFORE the cross. (3 revs not needed pre-cross)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g386cf4f2a54_0_98"/>
          <p:cNvSpPr/>
          <p:nvPr/>
        </p:nvSpPr>
        <p:spPr>
          <a:xfrm>
            <a:off x="2466248" y="2497485"/>
            <a:ext cx="2118900" cy="316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g386cf4f2a54_0_98"/>
          <p:cNvSpPr/>
          <p:nvPr/>
        </p:nvSpPr>
        <p:spPr>
          <a:xfrm>
            <a:off x="2680300" y="2497475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upright position?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86cf4f2a54_0_98"/>
          <p:cNvSpPr/>
          <p:nvPr/>
        </p:nvSpPr>
        <p:spPr>
          <a:xfrm>
            <a:off x="2466248" y="2842460"/>
            <a:ext cx="2118900" cy="3162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86cf4f2a54_0_98"/>
          <p:cNvSpPr/>
          <p:nvPr/>
        </p:nvSpPr>
        <p:spPr>
          <a:xfrm>
            <a:off x="2680300" y="2842450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Torso straight/sideways or is this a crossfoot?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86cf4f2a54_0_98"/>
          <p:cNvSpPr/>
          <p:nvPr/>
        </p:nvSpPr>
        <p:spPr>
          <a:xfrm>
            <a:off x="2466248" y="3187435"/>
            <a:ext cx="2118900" cy="316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86cf4f2a54_0_98"/>
          <p:cNvSpPr/>
          <p:nvPr/>
        </p:nvSpPr>
        <p:spPr>
          <a:xfrm>
            <a:off x="2680300" y="3187425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Clearly difficult (</a:t>
            </a:r>
            <a:r>
              <a:rPr lang="en-US" sz="82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strength/flexibility)</a:t>
            </a: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86cf4f2a54_0_98"/>
          <p:cNvSpPr/>
          <p:nvPr/>
        </p:nvSpPr>
        <p:spPr>
          <a:xfrm>
            <a:off x="2466248" y="3532410"/>
            <a:ext cx="2118900" cy="3162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g386cf4f2a54_0_98"/>
          <p:cNvSpPr/>
          <p:nvPr/>
        </p:nvSpPr>
        <p:spPr>
          <a:xfrm>
            <a:off x="2680300" y="3532400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2+ continuous revolutions?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386cf4f2a54_0_98"/>
          <p:cNvSpPr/>
          <p:nvPr/>
        </p:nvSpPr>
        <p:spPr>
          <a:xfrm>
            <a:off x="2466248" y="3877385"/>
            <a:ext cx="2118900" cy="316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386cf4f2a54_0_98"/>
          <p:cNvSpPr/>
          <p:nvPr/>
        </p:nvSpPr>
        <p:spPr>
          <a:xfrm>
            <a:off x="2680300" y="3877375"/>
            <a:ext cx="18612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US attempted?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386cf4f2a54_0_98"/>
          <p:cNvSpPr/>
          <p:nvPr/>
        </p:nvSpPr>
        <p:spPr>
          <a:xfrm>
            <a:off x="2466248" y="4279856"/>
            <a:ext cx="2118900" cy="258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g386cf4f2a54_0_98"/>
          <p:cNvSpPr/>
          <p:nvPr/>
        </p:nvSpPr>
        <p:spPr>
          <a:xfrm>
            <a:off x="2510087" y="4279856"/>
            <a:ext cx="203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Common Failures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g386cf4f2a54_0_98"/>
          <p:cNvSpPr/>
          <p:nvPr/>
        </p:nvSpPr>
        <p:spPr>
          <a:xfrm>
            <a:off x="2510087" y="4567335"/>
            <a:ext cx="2031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20"/>
              <a:buFont typeface="Calibri"/>
              <a:buNone/>
            </a:pPr>
            <a:r>
              <a:rPr b="1" lang="en-US" sz="82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82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Free leg ‘loaded’ → NBP</a:t>
            </a:r>
            <a:endParaRPr sz="820">
              <a:solidFill>
                <a:srgbClr val="7B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20"/>
              <a:buFont typeface="Calibri"/>
              <a:buNone/>
            </a:pPr>
            <a:r>
              <a:rPr b="1" lang="en-US" sz="82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Crossfoot: feet not equally weighted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g386cf4f2a54_0_98"/>
          <p:cNvSpPr/>
          <p:nvPr/>
        </p:nvSpPr>
        <p:spPr>
          <a:xfrm>
            <a:off x="6849855" y="1779238"/>
            <a:ext cx="19761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20"/>
              <a:buFont typeface="Calibri"/>
              <a:buNone/>
            </a:pPr>
            <a:r>
              <a:rPr b="1" i="0" lang="en-US" sz="7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7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Crossfoot: awarding to wrong foot</a:t>
            </a:r>
            <a:endParaRPr b="0" i="0" sz="7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g386cf4f2a54_0_98"/>
          <p:cNvSpPr/>
          <p:nvPr/>
        </p:nvSpPr>
        <p:spPr>
          <a:xfrm>
            <a:off x="4658175" y="1682500"/>
            <a:ext cx="2076000" cy="324870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C8B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g386cf4f2a54_0_98"/>
          <p:cNvSpPr/>
          <p:nvPr/>
        </p:nvSpPr>
        <p:spPr>
          <a:xfrm>
            <a:off x="4658175" y="1682500"/>
            <a:ext cx="2076000" cy="316500"/>
          </a:xfrm>
          <a:prstGeom prst="rect">
            <a:avLst/>
          </a:prstGeom>
          <a:solidFill>
            <a:srgbClr val="5B2D8E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86cf4f2a54_0_98"/>
          <p:cNvSpPr/>
          <p:nvPr/>
        </p:nvSpPr>
        <p:spPr>
          <a:xfrm>
            <a:off x="4701125" y="1682500"/>
            <a:ext cx="286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g386cf4f2a54_0_98"/>
          <p:cNvSpPr/>
          <p:nvPr/>
        </p:nvSpPr>
        <p:spPr>
          <a:xfrm>
            <a:off x="5016100" y="1682500"/>
            <a:ext cx="166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Upright </a:t>
            </a: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Biellmann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g386cf4f2a54_0_98"/>
          <p:cNvSpPr/>
          <p:nvPr/>
        </p:nvSpPr>
        <p:spPr>
          <a:xfrm>
            <a:off x="4658175" y="2042250"/>
            <a:ext cx="2076000" cy="402300"/>
          </a:xfrm>
          <a:prstGeom prst="rect">
            <a:avLst/>
          </a:prstGeom>
          <a:solidFill>
            <a:srgbClr val="FFF8E7"/>
          </a:solidFill>
          <a:ln cap="flat" cmpd="sng" w="12700">
            <a:solidFill>
              <a:srgbClr val="F0D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386cf4f2a54_0_98"/>
          <p:cNvSpPr/>
          <p:nvPr/>
        </p:nvSpPr>
        <p:spPr>
          <a:xfrm>
            <a:off x="5016106" y="1836279"/>
            <a:ext cx="1660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DDD0F8"/>
                </a:solidFill>
                <a:latin typeface="Calibri"/>
                <a:ea typeface="Calibri"/>
                <a:cs typeface="Calibri"/>
                <a:sym typeface="Calibri"/>
              </a:rPr>
              <a:t>Free leg </a:t>
            </a:r>
            <a:r>
              <a:rPr i="1" lang="en-US" sz="750">
                <a:solidFill>
                  <a:srgbClr val="DDD0F8"/>
                </a:solidFill>
                <a:latin typeface="Calibri"/>
                <a:ea typeface="Calibri"/>
                <a:cs typeface="Calibri"/>
                <a:sym typeface="Calibri"/>
              </a:rPr>
              <a:t>pulled </a:t>
            </a:r>
            <a:r>
              <a:rPr b="0" i="1" lang="en-US" sz="750" u="none" cap="none" strike="noStrike">
                <a:solidFill>
                  <a:srgbClr val="DDD0F8"/>
                </a:solidFill>
                <a:latin typeface="Calibri"/>
                <a:ea typeface="Calibri"/>
                <a:cs typeface="Calibri"/>
                <a:sym typeface="Calibri"/>
              </a:rPr>
              <a:t>above/toward head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g386cf4f2a54_0_98"/>
          <p:cNvSpPr/>
          <p:nvPr/>
        </p:nvSpPr>
        <p:spPr>
          <a:xfrm>
            <a:off x="4701125" y="2042250"/>
            <a:ext cx="1989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Free leg pulled from behind to above or toward the top of the head, close to spinning axis. Counts once per program.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386cf4f2a54_0_98"/>
          <p:cNvSpPr/>
          <p:nvPr/>
        </p:nvSpPr>
        <p:spPr>
          <a:xfrm>
            <a:off x="4658175" y="2497467"/>
            <a:ext cx="2076000" cy="3165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g386cf4f2a54_0_98"/>
          <p:cNvSpPr/>
          <p:nvPr/>
        </p:nvSpPr>
        <p:spPr>
          <a:xfrm>
            <a:off x="4876538" y="2497475"/>
            <a:ext cx="1814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upright position?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g386cf4f2a54_0_98"/>
          <p:cNvSpPr/>
          <p:nvPr/>
        </p:nvSpPr>
        <p:spPr>
          <a:xfrm>
            <a:off x="4658175" y="2842435"/>
            <a:ext cx="2076000" cy="3165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g386cf4f2a54_0_98"/>
          <p:cNvSpPr/>
          <p:nvPr/>
        </p:nvSpPr>
        <p:spPr>
          <a:xfrm>
            <a:off x="4876538" y="2842444"/>
            <a:ext cx="1814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Free leg pulled from behind to above/toward head, close to axis?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g386cf4f2a54_0_98"/>
          <p:cNvSpPr/>
          <p:nvPr/>
        </p:nvSpPr>
        <p:spPr>
          <a:xfrm>
            <a:off x="4658175" y="3187403"/>
            <a:ext cx="2076000" cy="3165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g386cf4f2a54_0_98"/>
          <p:cNvSpPr/>
          <p:nvPr/>
        </p:nvSpPr>
        <p:spPr>
          <a:xfrm>
            <a:off x="4876538" y="3187412"/>
            <a:ext cx="1814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Clearly difficult?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g386cf4f2a54_0_98"/>
          <p:cNvSpPr/>
          <p:nvPr/>
        </p:nvSpPr>
        <p:spPr>
          <a:xfrm>
            <a:off x="4658175" y="3532370"/>
            <a:ext cx="2076000" cy="3165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g386cf4f2a54_0_98"/>
          <p:cNvSpPr/>
          <p:nvPr/>
        </p:nvSpPr>
        <p:spPr>
          <a:xfrm>
            <a:off x="4876538" y="3532381"/>
            <a:ext cx="1814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2+ continuous revolutions?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g386cf4f2a54_0_98"/>
          <p:cNvSpPr/>
          <p:nvPr/>
        </p:nvSpPr>
        <p:spPr>
          <a:xfrm>
            <a:off x="4658175" y="3877338"/>
            <a:ext cx="2076000" cy="3165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86cf4f2a54_0_98"/>
          <p:cNvSpPr/>
          <p:nvPr/>
        </p:nvSpPr>
        <p:spPr>
          <a:xfrm>
            <a:off x="4876538" y="3877349"/>
            <a:ext cx="1814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UB attempted?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g386cf4f2a54_0_98"/>
          <p:cNvSpPr/>
          <p:nvPr/>
        </p:nvSpPr>
        <p:spPr>
          <a:xfrm>
            <a:off x="4658175" y="4279801"/>
            <a:ext cx="2076000" cy="258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g386cf4f2a54_0_98"/>
          <p:cNvSpPr/>
          <p:nvPr/>
        </p:nvSpPr>
        <p:spPr>
          <a:xfrm>
            <a:off x="4701127" y="4279801"/>
            <a:ext cx="1989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Common Failures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g386cf4f2a54_0_98"/>
          <p:cNvSpPr/>
          <p:nvPr/>
        </p:nvSpPr>
        <p:spPr>
          <a:xfrm>
            <a:off x="4701127" y="4567274"/>
            <a:ext cx="1989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20"/>
              <a:buFont typeface="Calibri"/>
              <a:buNone/>
            </a:pPr>
            <a:r>
              <a:rPr b="1" i="0" lang="en-US" sz="8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82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Free leg not pulled close enough to spinning axis/near top of head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g386cf4f2a54_0_98"/>
          <p:cNvSpPr/>
          <p:nvPr/>
        </p:nvSpPr>
        <p:spPr>
          <a:xfrm>
            <a:off x="6807200" y="1682500"/>
            <a:ext cx="2061600" cy="324870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C8B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g386cf4f2a54_0_98"/>
          <p:cNvSpPr/>
          <p:nvPr/>
        </p:nvSpPr>
        <p:spPr>
          <a:xfrm>
            <a:off x="6807200" y="1682500"/>
            <a:ext cx="2061600" cy="316200"/>
          </a:xfrm>
          <a:prstGeom prst="rect">
            <a:avLst/>
          </a:prstGeom>
          <a:solidFill>
            <a:srgbClr val="5B2D8E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g386cf4f2a54_0_98"/>
          <p:cNvSpPr/>
          <p:nvPr/>
        </p:nvSpPr>
        <p:spPr>
          <a:xfrm>
            <a:off x="6862059" y="1682501"/>
            <a:ext cx="36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g386cf4f2a54_0_98"/>
          <p:cNvSpPr/>
          <p:nvPr/>
        </p:nvSpPr>
        <p:spPr>
          <a:xfrm>
            <a:off x="7162656" y="1682500"/>
            <a:ext cx="1649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Upright </a:t>
            </a: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Layback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g386cf4f2a54_0_98"/>
          <p:cNvSpPr/>
          <p:nvPr/>
        </p:nvSpPr>
        <p:spPr>
          <a:xfrm>
            <a:off x="7166425" y="1852625"/>
            <a:ext cx="1695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8"/>
              </a:buClr>
              <a:buSzPts val="750"/>
              <a:buFont typeface="Calibri"/>
              <a:buNone/>
            </a:pPr>
            <a:r>
              <a:rPr b="0" i="1" lang="en-US" sz="650" u="none" cap="none" strike="noStrike">
                <a:solidFill>
                  <a:srgbClr val="DDD0F8"/>
                </a:solidFill>
                <a:latin typeface="Calibri"/>
                <a:ea typeface="Calibri"/>
                <a:cs typeface="Calibri"/>
                <a:sym typeface="Calibri"/>
              </a:rPr>
              <a:t>Head/shoulders leaning backward, back arched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g386cf4f2a54_0_98"/>
          <p:cNvSpPr/>
          <p:nvPr/>
        </p:nvSpPr>
        <p:spPr>
          <a:xfrm>
            <a:off x="6807200" y="2485263"/>
            <a:ext cx="2061600" cy="3165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g386cf4f2a54_0_98"/>
          <p:cNvSpPr/>
          <p:nvPr/>
        </p:nvSpPr>
        <p:spPr>
          <a:xfrm>
            <a:off x="7093950" y="2497475"/>
            <a:ext cx="1732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Is skater in upright position?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g386cf4f2a54_0_98"/>
          <p:cNvSpPr/>
          <p:nvPr/>
        </p:nvSpPr>
        <p:spPr>
          <a:xfrm>
            <a:off x="6807200" y="2842465"/>
            <a:ext cx="2061600" cy="3165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86cf4f2a54_0_98"/>
          <p:cNvSpPr/>
          <p:nvPr/>
        </p:nvSpPr>
        <p:spPr>
          <a:xfrm>
            <a:off x="7093950" y="2842463"/>
            <a:ext cx="1732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Head and shoulders clearly leaning backward with back arched?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g386cf4f2a54_0_98"/>
          <p:cNvSpPr/>
          <p:nvPr/>
        </p:nvSpPr>
        <p:spPr>
          <a:xfrm>
            <a:off x="6807200" y="3187454"/>
            <a:ext cx="2061600" cy="3165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g386cf4f2a54_0_98"/>
          <p:cNvSpPr/>
          <p:nvPr/>
        </p:nvSpPr>
        <p:spPr>
          <a:xfrm>
            <a:off x="7093950" y="3187451"/>
            <a:ext cx="1732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Clearly difficult?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86cf4f2a54_0_98"/>
          <p:cNvSpPr/>
          <p:nvPr/>
        </p:nvSpPr>
        <p:spPr>
          <a:xfrm>
            <a:off x="6807200" y="3532443"/>
            <a:ext cx="2061600" cy="3165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86cf4f2a54_0_98"/>
          <p:cNvSpPr/>
          <p:nvPr/>
        </p:nvSpPr>
        <p:spPr>
          <a:xfrm>
            <a:off x="7093950" y="3532439"/>
            <a:ext cx="1732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2+ continuous revolutions?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g386cf4f2a54_0_98"/>
          <p:cNvSpPr/>
          <p:nvPr/>
        </p:nvSpPr>
        <p:spPr>
          <a:xfrm>
            <a:off x="6807200" y="3877433"/>
            <a:ext cx="2061600" cy="3165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86cf4f2a54_0_98"/>
          <p:cNvSpPr/>
          <p:nvPr/>
        </p:nvSpPr>
        <p:spPr>
          <a:xfrm>
            <a:off x="6812225" y="2035100"/>
            <a:ext cx="2061600" cy="402300"/>
          </a:xfrm>
          <a:prstGeom prst="rect">
            <a:avLst/>
          </a:prstGeom>
          <a:solidFill>
            <a:srgbClr val="FFF8E7"/>
          </a:solidFill>
          <a:ln cap="flat" cmpd="sng" w="12700">
            <a:solidFill>
              <a:srgbClr val="F0D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86cf4f2a54_0_98"/>
          <p:cNvSpPr/>
          <p:nvPr/>
        </p:nvSpPr>
        <p:spPr>
          <a:xfrm>
            <a:off x="7093950" y="3877426"/>
            <a:ext cx="1732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20"/>
              <a:buFont typeface="Calibri"/>
              <a:buNone/>
            </a:pPr>
            <a:r>
              <a:rPr b="0" i="0" lang="en-US" sz="82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time UL attempted?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g386cf4f2a54_0_98"/>
          <p:cNvSpPr/>
          <p:nvPr/>
        </p:nvSpPr>
        <p:spPr>
          <a:xfrm>
            <a:off x="6807200" y="4279801"/>
            <a:ext cx="2061600" cy="258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386cf4f2a54_0_98"/>
          <p:cNvSpPr/>
          <p:nvPr/>
        </p:nvSpPr>
        <p:spPr>
          <a:xfrm>
            <a:off x="6849855" y="4279801"/>
            <a:ext cx="1976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Common Failures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386cf4f2a54_0_98"/>
          <p:cNvSpPr/>
          <p:nvPr/>
        </p:nvSpPr>
        <p:spPr>
          <a:xfrm>
            <a:off x="6849855" y="4567274"/>
            <a:ext cx="19761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20"/>
              <a:buFont typeface="Calibri"/>
              <a:buNone/>
            </a:pPr>
            <a:r>
              <a:rPr b="1" i="0" lang="en-US" sz="82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82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Back is not arched → US</a:t>
            </a:r>
            <a:endParaRPr b="0" i="0" sz="8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g386cf4f2a54_0_98"/>
          <p:cNvSpPr/>
          <p:nvPr/>
        </p:nvSpPr>
        <p:spPr>
          <a:xfrm>
            <a:off x="318171" y="2927361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6" name="Google Shape;1056;g386cf4f2a54_0_98"/>
          <p:cNvGrpSpPr/>
          <p:nvPr/>
        </p:nvGrpSpPr>
        <p:grpSpPr>
          <a:xfrm>
            <a:off x="318171" y="2582236"/>
            <a:ext cx="146404" cy="1522290"/>
            <a:chOff x="318171" y="2658436"/>
            <a:chExt cx="146404" cy="1522290"/>
          </a:xfrm>
        </p:grpSpPr>
        <p:grpSp>
          <p:nvGrpSpPr>
            <p:cNvPr id="1057" name="Google Shape;1057;g386cf4f2a54_0_98"/>
            <p:cNvGrpSpPr/>
            <p:nvPr/>
          </p:nvGrpSpPr>
          <p:grpSpPr>
            <a:xfrm>
              <a:off x="318171" y="2658436"/>
              <a:ext cx="146404" cy="146402"/>
              <a:chOff x="318171" y="2658436"/>
              <a:chExt cx="146404" cy="146402"/>
            </a:xfrm>
          </p:grpSpPr>
          <p:sp>
            <p:nvSpPr>
              <p:cNvPr id="1058" name="Google Shape;1058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0" name="Google Shape;1060;g386cf4f2a54_0_98"/>
            <p:cNvGrpSpPr/>
            <p:nvPr/>
          </p:nvGrpSpPr>
          <p:grpSpPr>
            <a:xfrm>
              <a:off x="318171" y="3003548"/>
              <a:ext cx="146404" cy="146402"/>
              <a:chOff x="318171" y="2658436"/>
              <a:chExt cx="146404" cy="146402"/>
            </a:xfrm>
          </p:grpSpPr>
          <p:sp>
            <p:nvSpPr>
              <p:cNvPr id="1061" name="Google Shape;1061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3" name="Google Shape;1063;g386cf4f2a54_0_98"/>
            <p:cNvGrpSpPr/>
            <p:nvPr/>
          </p:nvGrpSpPr>
          <p:grpSpPr>
            <a:xfrm>
              <a:off x="318171" y="3348523"/>
              <a:ext cx="146404" cy="146402"/>
              <a:chOff x="318171" y="2658436"/>
              <a:chExt cx="146404" cy="146402"/>
            </a:xfrm>
          </p:grpSpPr>
          <p:sp>
            <p:nvSpPr>
              <p:cNvPr id="1064" name="Google Shape;1064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g386cf4f2a54_0_98"/>
            <p:cNvGrpSpPr/>
            <p:nvPr/>
          </p:nvGrpSpPr>
          <p:grpSpPr>
            <a:xfrm>
              <a:off x="318171" y="3693498"/>
              <a:ext cx="146404" cy="146402"/>
              <a:chOff x="318171" y="2658436"/>
              <a:chExt cx="146404" cy="146402"/>
            </a:xfrm>
          </p:grpSpPr>
          <p:sp>
            <p:nvSpPr>
              <p:cNvPr id="1067" name="Google Shape;1067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9" name="Google Shape;1069;g386cf4f2a54_0_98"/>
            <p:cNvGrpSpPr/>
            <p:nvPr/>
          </p:nvGrpSpPr>
          <p:grpSpPr>
            <a:xfrm>
              <a:off x="318171" y="4034323"/>
              <a:ext cx="146404" cy="146402"/>
              <a:chOff x="318171" y="2658436"/>
              <a:chExt cx="146404" cy="146402"/>
            </a:xfrm>
          </p:grpSpPr>
          <p:sp>
            <p:nvSpPr>
              <p:cNvPr id="1070" name="Google Shape;1070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2" name="Google Shape;1072;g386cf4f2a54_0_98"/>
          <p:cNvGrpSpPr/>
          <p:nvPr/>
        </p:nvGrpSpPr>
        <p:grpSpPr>
          <a:xfrm>
            <a:off x="2527971" y="2582236"/>
            <a:ext cx="146404" cy="1522290"/>
            <a:chOff x="318171" y="2658436"/>
            <a:chExt cx="146404" cy="1522290"/>
          </a:xfrm>
        </p:grpSpPr>
        <p:grpSp>
          <p:nvGrpSpPr>
            <p:cNvPr id="1073" name="Google Shape;1073;g386cf4f2a54_0_98"/>
            <p:cNvGrpSpPr/>
            <p:nvPr/>
          </p:nvGrpSpPr>
          <p:grpSpPr>
            <a:xfrm>
              <a:off x="318171" y="2658436"/>
              <a:ext cx="146404" cy="146402"/>
              <a:chOff x="318171" y="2658436"/>
              <a:chExt cx="146404" cy="146402"/>
            </a:xfrm>
          </p:grpSpPr>
          <p:sp>
            <p:nvSpPr>
              <p:cNvPr id="1074" name="Google Shape;1074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6" name="Google Shape;1076;g386cf4f2a54_0_98"/>
            <p:cNvGrpSpPr/>
            <p:nvPr/>
          </p:nvGrpSpPr>
          <p:grpSpPr>
            <a:xfrm>
              <a:off x="318171" y="3003548"/>
              <a:ext cx="146404" cy="146402"/>
              <a:chOff x="318171" y="2658436"/>
              <a:chExt cx="146404" cy="146402"/>
            </a:xfrm>
          </p:grpSpPr>
          <p:sp>
            <p:nvSpPr>
              <p:cNvPr id="1077" name="Google Shape;1077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9" name="Google Shape;1079;g386cf4f2a54_0_98"/>
            <p:cNvGrpSpPr/>
            <p:nvPr/>
          </p:nvGrpSpPr>
          <p:grpSpPr>
            <a:xfrm>
              <a:off x="318171" y="3348523"/>
              <a:ext cx="146404" cy="146402"/>
              <a:chOff x="318171" y="2658436"/>
              <a:chExt cx="146404" cy="146402"/>
            </a:xfrm>
          </p:grpSpPr>
          <p:sp>
            <p:nvSpPr>
              <p:cNvPr id="1080" name="Google Shape;1080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2" name="Google Shape;1082;g386cf4f2a54_0_98"/>
            <p:cNvGrpSpPr/>
            <p:nvPr/>
          </p:nvGrpSpPr>
          <p:grpSpPr>
            <a:xfrm>
              <a:off x="318171" y="3693498"/>
              <a:ext cx="146404" cy="146402"/>
              <a:chOff x="318171" y="2658436"/>
              <a:chExt cx="146404" cy="146402"/>
            </a:xfrm>
          </p:grpSpPr>
          <p:sp>
            <p:nvSpPr>
              <p:cNvPr id="1083" name="Google Shape;1083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5" name="Google Shape;1085;g386cf4f2a54_0_98"/>
            <p:cNvGrpSpPr/>
            <p:nvPr/>
          </p:nvGrpSpPr>
          <p:grpSpPr>
            <a:xfrm>
              <a:off x="318171" y="4034323"/>
              <a:ext cx="146404" cy="146402"/>
              <a:chOff x="318171" y="2658436"/>
              <a:chExt cx="146404" cy="146402"/>
            </a:xfrm>
          </p:grpSpPr>
          <p:sp>
            <p:nvSpPr>
              <p:cNvPr id="1086" name="Google Shape;1086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88" name="Google Shape;1088;g386cf4f2a54_0_98"/>
          <p:cNvGrpSpPr/>
          <p:nvPr/>
        </p:nvGrpSpPr>
        <p:grpSpPr>
          <a:xfrm>
            <a:off x="4695009" y="2613036"/>
            <a:ext cx="146404" cy="1522290"/>
            <a:chOff x="318171" y="2658436"/>
            <a:chExt cx="146404" cy="1522290"/>
          </a:xfrm>
        </p:grpSpPr>
        <p:grpSp>
          <p:nvGrpSpPr>
            <p:cNvPr id="1089" name="Google Shape;1089;g386cf4f2a54_0_98"/>
            <p:cNvGrpSpPr/>
            <p:nvPr/>
          </p:nvGrpSpPr>
          <p:grpSpPr>
            <a:xfrm>
              <a:off x="318171" y="2658436"/>
              <a:ext cx="146404" cy="146402"/>
              <a:chOff x="318171" y="2658436"/>
              <a:chExt cx="146404" cy="146402"/>
            </a:xfrm>
          </p:grpSpPr>
          <p:sp>
            <p:nvSpPr>
              <p:cNvPr id="1090" name="Google Shape;1090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2" name="Google Shape;1092;g386cf4f2a54_0_98"/>
            <p:cNvGrpSpPr/>
            <p:nvPr/>
          </p:nvGrpSpPr>
          <p:grpSpPr>
            <a:xfrm>
              <a:off x="318171" y="3003548"/>
              <a:ext cx="146404" cy="146402"/>
              <a:chOff x="318171" y="2658436"/>
              <a:chExt cx="146404" cy="146402"/>
            </a:xfrm>
          </p:grpSpPr>
          <p:sp>
            <p:nvSpPr>
              <p:cNvPr id="1093" name="Google Shape;1093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5" name="Google Shape;1095;g386cf4f2a54_0_98"/>
            <p:cNvGrpSpPr/>
            <p:nvPr/>
          </p:nvGrpSpPr>
          <p:grpSpPr>
            <a:xfrm>
              <a:off x="318171" y="3348523"/>
              <a:ext cx="146404" cy="146402"/>
              <a:chOff x="318171" y="2658436"/>
              <a:chExt cx="146404" cy="146402"/>
            </a:xfrm>
          </p:grpSpPr>
          <p:sp>
            <p:nvSpPr>
              <p:cNvPr id="1096" name="Google Shape;1096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8" name="Google Shape;1098;g386cf4f2a54_0_98"/>
            <p:cNvGrpSpPr/>
            <p:nvPr/>
          </p:nvGrpSpPr>
          <p:grpSpPr>
            <a:xfrm>
              <a:off x="318171" y="3693498"/>
              <a:ext cx="146404" cy="146402"/>
              <a:chOff x="318171" y="2658436"/>
              <a:chExt cx="146404" cy="146402"/>
            </a:xfrm>
          </p:grpSpPr>
          <p:sp>
            <p:nvSpPr>
              <p:cNvPr id="1099" name="Google Shape;1099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1" name="Google Shape;1101;g386cf4f2a54_0_98"/>
            <p:cNvGrpSpPr/>
            <p:nvPr/>
          </p:nvGrpSpPr>
          <p:grpSpPr>
            <a:xfrm>
              <a:off x="318171" y="4034323"/>
              <a:ext cx="146404" cy="146402"/>
              <a:chOff x="318171" y="2658436"/>
              <a:chExt cx="146404" cy="146402"/>
            </a:xfrm>
          </p:grpSpPr>
          <p:sp>
            <p:nvSpPr>
              <p:cNvPr id="1102" name="Google Shape;1102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4" name="Google Shape;1104;g386cf4f2a54_0_98"/>
          <p:cNvSpPr/>
          <p:nvPr/>
        </p:nvSpPr>
        <p:spPr>
          <a:xfrm>
            <a:off x="6849850" y="2042250"/>
            <a:ext cx="197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Upright spin with head and shoulders leaning backward and back arched. Free leg position is optional. 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5" name="Google Shape;1105;g386cf4f2a54_0_98"/>
          <p:cNvGrpSpPr/>
          <p:nvPr/>
        </p:nvGrpSpPr>
        <p:grpSpPr>
          <a:xfrm>
            <a:off x="6907359" y="2588523"/>
            <a:ext cx="146404" cy="1522290"/>
            <a:chOff x="318171" y="2658436"/>
            <a:chExt cx="146404" cy="1522290"/>
          </a:xfrm>
        </p:grpSpPr>
        <p:grpSp>
          <p:nvGrpSpPr>
            <p:cNvPr id="1106" name="Google Shape;1106;g386cf4f2a54_0_98"/>
            <p:cNvGrpSpPr/>
            <p:nvPr/>
          </p:nvGrpSpPr>
          <p:grpSpPr>
            <a:xfrm>
              <a:off x="318171" y="2658436"/>
              <a:ext cx="146404" cy="146402"/>
              <a:chOff x="318171" y="2658436"/>
              <a:chExt cx="146404" cy="146402"/>
            </a:xfrm>
          </p:grpSpPr>
          <p:sp>
            <p:nvSpPr>
              <p:cNvPr id="1107" name="Google Shape;1107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9" name="Google Shape;1109;g386cf4f2a54_0_98"/>
            <p:cNvGrpSpPr/>
            <p:nvPr/>
          </p:nvGrpSpPr>
          <p:grpSpPr>
            <a:xfrm>
              <a:off x="318171" y="3003548"/>
              <a:ext cx="146404" cy="146402"/>
              <a:chOff x="318171" y="2658436"/>
              <a:chExt cx="146404" cy="146402"/>
            </a:xfrm>
          </p:grpSpPr>
          <p:sp>
            <p:nvSpPr>
              <p:cNvPr id="1110" name="Google Shape;1110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2" name="Google Shape;1112;g386cf4f2a54_0_98"/>
            <p:cNvGrpSpPr/>
            <p:nvPr/>
          </p:nvGrpSpPr>
          <p:grpSpPr>
            <a:xfrm>
              <a:off x="318171" y="3348523"/>
              <a:ext cx="146404" cy="146402"/>
              <a:chOff x="318171" y="2658436"/>
              <a:chExt cx="146404" cy="146402"/>
            </a:xfrm>
          </p:grpSpPr>
          <p:sp>
            <p:nvSpPr>
              <p:cNvPr id="1113" name="Google Shape;1113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5" name="Google Shape;1115;g386cf4f2a54_0_98"/>
            <p:cNvGrpSpPr/>
            <p:nvPr/>
          </p:nvGrpSpPr>
          <p:grpSpPr>
            <a:xfrm>
              <a:off x="318171" y="3693498"/>
              <a:ext cx="146404" cy="146402"/>
              <a:chOff x="318171" y="2658436"/>
              <a:chExt cx="146404" cy="146402"/>
            </a:xfrm>
          </p:grpSpPr>
          <p:sp>
            <p:nvSpPr>
              <p:cNvPr id="1116" name="Google Shape;1116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8" name="Google Shape;1118;g386cf4f2a54_0_98"/>
            <p:cNvGrpSpPr/>
            <p:nvPr/>
          </p:nvGrpSpPr>
          <p:grpSpPr>
            <a:xfrm>
              <a:off x="318171" y="4034323"/>
              <a:ext cx="146404" cy="146402"/>
              <a:chOff x="318171" y="2658436"/>
              <a:chExt cx="146404" cy="146402"/>
            </a:xfrm>
          </p:grpSpPr>
          <p:sp>
            <p:nvSpPr>
              <p:cNvPr id="1119" name="Google Shape;1119;g386cf4f2a54_0_98"/>
              <p:cNvSpPr/>
              <p:nvPr/>
            </p:nvSpPr>
            <p:spPr>
              <a:xfrm>
                <a:off x="318175" y="2658438"/>
                <a:ext cx="146400" cy="146400"/>
              </a:xfrm>
              <a:prstGeom prst="ellipse">
                <a:avLst/>
              </a:prstGeom>
              <a:solidFill>
                <a:srgbClr val="5B2D8E"/>
              </a:solidFill>
              <a:ln cap="flat" cmpd="sng" w="12700">
                <a:solidFill>
                  <a:srgbClr val="5B2D8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g386cf4f2a54_0_98"/>
              <p:cNvSpPr/>
              <p:nvPr/>
            </p:nvSpPr>
            <p:spPr>
              <a:xfrm>
                <a:off x="318171" y="2658436"/>
                <a:ext cx="1464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50"/>
                  <a:buFont typeface="Calibri"/>
                  <a:buNone/>
                </a:pPr>
                <a:r>
                  <a:rPr b="1" lang="en-US" sz="7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7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9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"/>
          <p:cNvSpPr/>
          <p:nvPr/>
        </p:nvSpPr>
        <p:spPr>
          <a:xfrm>
            <a:off x="320040" y="4572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#1: Crossfoot, Biellmann, Windmill &amp; NBP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9"/>
          <p:cNvSpPr/>
          <p:nvPr/>
        </p:nvSpPr>
        <p:spPr>
          <a:xfrm>
            <a:off x="1738102" y="1005850"/>
            <a:ext cx="70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Phase 4, Feature 1 — Special cases and common panel traps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9"/>
          <p:cNvSpPr/>
          <p:nvPr/>
        </p:nvSpPr>
        <p:spPr>
          <a:xfrm>
            <a:off x="320040" y="1024128"/>
            <a:ext cx="1371600" cy="237744"/>
          </a:xfrm>
          <a:prstGeom prst="rect">
            <a:avLst/>
          </a:prstGeom>
          <a:solidFill>
            <a:srgbClr val="7B3F00"/>
          </a:solidFill>
          <a:ln cap="flat" cmpd="sng" w="12700">
            <a:solidFill>
              <a:srgbClr val="7B3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9"/>
          <p:cNvSpPr/>
          <p:nvPr/>
        </p:nvSpPr>
        <p:spPr>
          <a:xfrm>
            <a:off x="320040" y="102412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9"/>
          <p:cNvSpPr/>
          <p:nvPr/>
        </p:nvSpPr>
        <p:spPr>
          <a:xfrm>
            <a:off x="274320" y="1463040"/>
            <a:ext cx="4206240" cy="173736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33" name="Google Shape;1133;p9"/>
          <p:cNvSpPr/>
          <p:nvPr/>
        </p:nvSpPr>
        <p:spPr>
          <a:xfrm>
            <a:off x="274320" y="1463040"/>
            <a:ext cx="4206240" cy="310896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9"/>
          <p:cNvSpPr/>
          <p:nvPr/>
        </p:nvSpPr>
        <p:spPr>
          <a:xfrm>
            <a:off x="365760" y="146304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Crossfoot  (US Variation)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9"/>
          <p:cNvSpPr/>
          <p:nvPr/>
        </p:nvSpPr>
        <p:spPr>
          <a:xfrm>
            <a:off x="347472" y="182880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Free foot crosses in front of or over the skating foot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9"/>
          <p:cNvSpPr/>
          <p:nvPr/>
        </p:nvSpPr>
        <p:spPr>
          <a:xfrm>
            <a:off x="347472" y="215798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Awarded to the foot BEFORE the cross — call during the crossfoot, not 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9"/>
          <p:cNvSpPr/>
          <p:nvPr/>
        </p:nvSpPr>
        <p:spPr>
          <a:xfrm>
            <a:off x="4709160" y="1463040"/>
            <a:ext cx="4206240" cy="173736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9"/>
          <p:cNvSpPr/>
          <p:nvPr/>
        </p:nvSpPr>
        <p:spPr>
          <a:xfrm>
            <a:off x="4709160" y="1463040"/>
            <a:ext cx="4206240" cy="31089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"/>
          <p:cNvSpPr/>
          <p:nvPr/>
        </p:nvSpPr>
        <p:spPr>
          <a:xfrm>
            <a:off x="4800600" y="146304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Biellmann  (UB Variation)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9"/>
          <p:cNvSpPr/>
          <p:nvPr/>
        </p:nvSpPr>
        <p:spPr>
          <a:xfrm>
            <a:off x="4782312" y="182880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Free leg pulled from behind to above or toward the top of the head, close   </a:t>
            </a:r>
            <a:b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  to spinning axis.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9"/>
          <p:cNvSpPr/>
          <p:nvPr/>
        </p:nvSpPr>
        <p:spPr>
          <a:xfrm>
            <a:off x="4782312" y="215798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Once per program as a DV (UB).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9"/>
          <p:cNvSpPr/>
          <p:nvPr/>
        </p:nvSpPr>
        <p:spPr>
          <a:xfrm>
            <a:off x="4782312" y="248716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 SP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 Refer to Feature 14 for gateway. </a:t>
            </a:r>
            <a:b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TC calls 'YES' in SP after 8 layback revs and Biellmann follows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9"/>
          <p:cNvSpPr/>
          <p:nvPr/>
        </p:nvSpPr>
        <p:spPr>
          <a:xfrm>
            <a:off x="4782312" y="281635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Must hold for 2+ revolutions as a DV to count toward feature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9"/>
          <p:cNvSpPr/>
          <p:nvPr/>
        </p:nvSpPr>
        <p:spPr>
          <a:xfrm>
            <a:off x="274320" y="3264408"/>
            <a:ext cx="4206240" cy="173736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9"/>
          <p:cNvSpPr/>
          <p:nvPr/>
        </p:nvSpPr>
        <p:spPr>
          <a:xfrm>
            <a:off x="274320" y="3264408"/>
            <a:ext cx="4206240" cy="310896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9"/>
          <p:cNvSpPr/>
          <p:nvPr/>
        </p:nvSpPr>
        <p:spPr>
          <a:xfrm>
            <a:off x="365760" y="326440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Windmill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9"/>
          <p:cNvSpPr/>
          <p:nvPr/>
        </p:nvSpPr>
        <p:spPr>
          <a:xfrm>
            <a:off x="347472" y="363016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Free leg swings 135°+ in arc during spin — looks like windmill blade rotation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9"/>
          <p:cNvSpPr/>
          <p:nvPr/>
        </p:nvSpPr>
        <p:spPr>
          <a:xfrm>
            <a:off x="347472" y="395935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Once as a transition: counts as Feature #4 (Difficult change of position, DCP)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9"/>
          <p:cNvSpPr/>
          <p:nvPr/>
        </p:nvSpPr>
        <p:spPr>
          <a:xfrm>
            <a:off x="347472" y="428853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Three or more times in a row: counts as NBP DV (not a DCP)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9"/>
          <p:cNvSpPr/>
          <p:nvPr/>
        </p:nvSpPr>
        <p:spPr>
          <a:xfrm>
            <a:off x="347472" y="461772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Attempted as entry but not fully achieved: still marked 'used' in protocol even if not awarded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9"/>
          <p:cNvSpPr/>
          <p:nvPr/>
        </p:nvSpPr>
        <p:spPr>
          <a:xfrm>
            <a:off x="4709160" y="3264408"/>
            <a:ext cx="4206240" cy="173736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52" name="Google Shape;1152;p9"/>
          <p:cNvSpPr/>
          <p:nvPr/>
        </p:nvSpPr>
        <p:spPr>
          <a:xfrm>
            <a:off x="4709160" y="3264408"/>
            <a:ext cx="4206240" cy="310896"/>
          </a:xfrm>
          <a:prstGeom prst="rect">
            <a:avLst/>
          </a:prstGeom>
          <a:solidFill>
            <a:srgbClr val="7B61FF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9"/>
          <p:cNvSpPr/>
          <p:nvPr/>
        </p:nvSpPr>
        <p:spPr>
          <a:xfrm>
            <a:off x="4800600" y="326440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NBP  (Non-Basic Position)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9"/>
          <p:cNvSpPr/>
          <p:nvPr/>
        </p:nvSpPr>
        <p:spPr>
          <a:xfrm>
            <a:off x="4782312" y="363016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7B61FF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Position outside ALL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three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basic position definitions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9"/>
          <p:cNvSpPr/>
          <p:nvPr/>
        </p:nvSpPr>
        <p:spPr>
          <a:xfrm>
            <a:off x="4782312" y="395935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7B61FF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Combination spins only — cannot appear in one-position spins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9"/>
          <p:cNvSpPr/>
          <p:nvPr/>
        </p:nvSpPr>
        <p:spPr>
          <a:xfrm>
            <a:off x="4782312" y="428853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7B61FF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Cannot be awarded after a Change of Foot by jump (Feature #2)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9"/>
          <p:cNvSpPr/>
          <p:nvPr/>
        </p:nvSpPr>
        <p:spPr>
          <a:xfrm>
            <a:off x="342835" y="2487159"/>
            <a:ext cx="4069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 revolutions do not need to be held before the cross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9"/>
          <p:cNvSpPr/>
          <p:nvPr/>
        </p:nvSpPr>
        <p:spPr>
          <a:xfrm>
            <a:off x="320060" y="2816234"/>
            <a:ext cx="4069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00"/>
              <a:buFont typeface="Calibri"/>
              <a:buNone/>
            </a:pPr>
            <a:r>
              <a:rPr b="1" lang="en-US" sz="1000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Weight must be distributed equally on both feet</a:t>
            </a:r>
            <a:endParaRPr i="0" sz="10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c4f9b62440_0_7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g3c4f9b62440_0_76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g3c4f9b62440_0_76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#1: Non-Basic Position (NBP)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g3c4f9b62440_0_76"/>
          <p:cNvSpPr/>
          <p:nvPr/>
        </p:nvSpPr>
        <p:spPr>
          <a:xfrm>
            <a:off x="1920240" y="1005840"/>
            <a:ext cx="685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Difficult variation </a:t>
            </a: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OUTSIDE all basic positions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g3c4f9b62440_0_76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5B2D8E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c4f9b62440_0_76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#1 — NBP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g3c4f9b62440_0_76"/>
          <p:cNvSpPr/>
          <p:nvPr/>
        </p:nvSpPr>
        <p:spPr>
          <a:xfrm>
            <a:off x="365760" y="1377696"/>
            <a:ext cx="3017400" cy="255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g3c4f9b62440_0_76"/>
          <p:cNvSpPr/>
          <p:nvPr/>
        </p:nvSpPr>
        <p:spPr>
          <a:xfrm>
            <a:off x="438912" y="1377696"/>
            <a:ext cx="28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NBP — Non-Basic 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g3c4f9b62440_0_76"/>
          <p:cNvSpPr/>
          <p:nvPr/>
        </p:nvSpPr>
        <p:spPr>
          <a:xfrm>
            <a:off x="365760" y="1706880"/>
            <a:ext cx="3017400" cy="274200"/>
          </a:xfrm>
          <a:prstGeom prst="rect">
            <a:avLst/>
          </a:prstGeom>
          <a:solidFill>
            <a:srgbClr val="FFE8E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g3c4f9b62440_0_76"/>
          <p:cNvSpPr/>
          <p:nvPr/>
        </p:nvSpPr>
        <p:spPr>
          <a:xfrm>
            <a:off x="420624" y="1706880"/>
            <a:ext cx="290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REVERSE GATEWAY: Must be OUTSIDE all basic positions. Combination spins ONLY (CoSp).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g3c4f9b62440_0_76"/>
          <p:cNvSpPr/>
          <p:nvPr/>
        </p:nvSpPr>
        <p:spPr>
          <a:xfrm>
            <a:off x="365750" y="2054351"/>
            <a:ext cx="3017400" cy="3033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g3c4f9b62440_0_76"/>
          <p:cNvSpPr/>
          <p:nvPr/>
        </p:nvSpPr>
        <p:spPr>
          <a:xfrm>
            <a:off x="420614" y="2054351"/>
            <a:ext cx="2907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Is skater OUTSIDE all basic positions? 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g3c4f9b62440_0_76"/>
          <p:cNvSpPr/>
          <p:nvPr/>
        </p:nvSpPr>
        <p:spPr>
          <a:xfrm>
            <a:off x="3527575" y="2054349"/>
            <a:ext cx="3017400" cy="3033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77" name="Google Shape;1177;g3c4f9b62440_0_76"/>
          <p:cNvSpPr/>
          <p:nvPr/>
        </p:nvSpPr>
        <p:spPr>
          <a:xfrm>
            <a:off x="3582425" y="2054350"/>
            <a:ext cx="2907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5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Cannot be NBP — assess as DV of current position instead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g3c4f9b62440_0_76"/>
          <p:cNvSpPr/>
          <p:nvPr/>
        </p:nvSpPr>
        <p:spPr>
          <a:xfrm>
            <a:off x="387100" y="2341075"/>
            <a:ext cx="50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g3c4f9b62440_0_76"/>
          <p:cNvSpPr/>
          <p:nvPr/>
        </p:nvSpPr>
        <p:spPr>
          <a:xfrm>
            <a:off x="365760" y="2550199"/>
            <a:ext cx="3017400" cy="2733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g3c4f9b62440_0_76"/>
          <p:cNvSpPr/>
          <p:nvPr/>
        </p:nvSpPr>
        <p:spPr>
          <a:xfrm>
            <a:off x="420624" y="2550199"/>
            <a:ext cx="2907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Is this a combination spin (CoSp)?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g3c4f9b62440_0_76"/>
          <p:cNvSpPr/>
          <p:nvPr/>
        </p:nvSpPr>
        <p:spPr>
          <a:xfrm>
            <a:off x="3527450" y="2533650"/>
            <a:ext cx="3017400" cy="3033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82" name="Google Shape;1182;g3c4f9b62440_0_76"/>
          <p:cNvSpPr/>
          <p:nvPr/>
        </p:nvSpPr>
        <p:spPr>
          <a:xfrm>
            <a:off x="3582316" y="2533650"/>
            <a:ext cx="2907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5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NBP never counts in one-position spins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g3c4f9b62440_0_76"/>
          <p:cNvSpPr/>
          <p:nvPr/>
        </p:nvSpPr>
        <p:spPr>
          <a:xfrm>
            <a:off x="387096" y="2836913"/>
            <a:ext cx="502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g3c4f9b62440_0_76"/>
          <p:cNvSpPr/>
          <p:nvPr/>
        </p:nvSpPr>
        <p:spPr>
          <a:xfrm>
            <a:off x="365760" y="3046046"/>
            <a:ext cx="3017400" cy="2733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g3c4f9b62440_0_76"/>
          <p:cNvSpPr/>
          <p:nvPr/>
        </p:nvSpPr>
        <p:spPr>
          <a:xfrm>
            <a:off x="420624" y="3046046"/>
            <a:ext cx="2907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Is the variation clearly difficult?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g3c4f9b62440_0_76"/>
          <p:cNvSpPr/>
          <p:nvPr/>
        </p:nvSpPr>
        <p:spPr>
          <a:xfrm>
            <a:off x="3527450" y="3046050"/>
            <a:ext cx="3017400" cy="2742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87" name="Google Shape;1187;g3c4f9b62440_0_76"/>
          <p:cNvSpPr/>
          <p:nvPr/>
        </p:nvSpPr>
        <p:spPr>
          <a:xfrm>
            <a:off x="3582316" y="3046050"/>
            <a:ext cx="290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5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NOT an attempt — slot stays open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g3c4f9b62440_0_76"/>
          <p:cNvSpPr/>
          <p:nvPr/>
        </p:nvSpPr>
        <p:spPr>
          <a:xfrm>
            <a:off x="387096" y="3332760"/>
            <a:ext cx="502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g3c4f9b62440_0_76"/>
          <p:cNvSpPr/>
          <p:nvPr/>
        </p:nvSpPr>
        <p:spPr>
          <a:xfrm>
            <a:off x="365760" y="3541893"/>
            <a:ext cx="3017400" cy="2733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g3c4f9b62440_0_76"/>
          <p:cNvSpPr/>
          <p:nvPr/>
        </p:nvSpPr>
        <p:spPr>
          <a:xfrm>
            <a:off x="420624" y="3541893"/>
            <a:ext cx="2907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Held 2+ continuous revolutions?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g3c4f9b62440_0_76"/>
          <p:cNvSpPr/>
          <p:nvPr/>
        </p:nvSpPr>
        <p:spPr>
          <a:xfrm>
            <a:off x="3527450" y="3541900"/>
            <a:ext cx="3017400" cy="2742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92" name="Google Shape;1192;g3c4f9b62440_0_76"/>
          <p:cNvSpPr/>
          <p:nvPr/>
        </p:nvSpPr>
        <p:spPr>
          <a:xfrm>
            <a:off x="3582314" y="3541900"/>
            <a:ext cx="290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5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Does NOT count ✗ — IS marked used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g3c4f9b62440_0_76"/>
          <p:cNvSpPr/>
          <p:nvPr/>
        </p:nvSpPr>
        <p:spPr>
          <a:xfrm>
            <a:off x="387096" y="3828607"/>
            <a:ext cx="502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g3c4f9b62440_0_76"/>
          <p:cNvSpPr/>
          <p:nvPr/>
        </p:nvSpPr>
        <p:spPr>
          <a:xfrm>
            <a:off x="365760" y="4037740"/>
            <a:ext cx="3017400" cy="2733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g3c4f9b62440_0_76"/>
          <p:cNvSpPr/>
          <p:nvPr/>
        </p:nvSpPr>
        <p:spPr>
          <a:xfrm>
            <a:off x="420624" y="4037740"/>
            <a:ext cx="2907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First time NBP attempted in a combination spin?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g3c4f9b62440_0_76"/>
          <p:cNvSpPr/>
          <p:nvPr/>
        </p:nvSpPr>
        <p:spPr>
          <a:xfrm>
            <a:off x="3527450" y="4037750"/>
            <a:ext cx="3017400" cy="255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97" name="Google Shape;1197;g3c4f9b62440_0_76"/>
          <p:cNvSpPr/>
          <p:nvPr/>
        </p:nvSpPr>
        <p:spPr>
          <a:xfrm>
            <a:off x="3582316" y="4037750"/>
            <a:ext cx="290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50"/>
              <a:buFont typeface="Calibri"/>
              <a:buNone/>
            </a:pPr>
            <a:r>
              <a:rPr b="1" i="0" lang="en-US" sz="95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5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NBP USED from earlier spin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g3c4f9b62440_0_76"/>
          <p:cNvSpPr/>
          <p:nvPr/>
        </p:nvSpPr>
        <p:spPr>
          <a:xfrm>
            <a:off x="387096" y="4364931"/>
            <a:ext cx="502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g3c4f9b62440_0_76"/>
          <p:cNvSpPr/>
          <p:nvPr/>
        </p:nvSpPr>
        <p:spPr>
          <a:xfrm>
            <a:off x="365750" y="4594299"/>
            <a:ext cx="3017400" cy="3525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g3c4f9b62440_0_76"/>
          <p:cNvSpPr/>
          <p:nvPr/>
        </p:nvSpPr>
        <p:spPr>
          <a:xfrm>
            <a:off x="420614" y="4594299"/>
            <a:ext cx="2907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NBP COUNTS — marked USED for program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3c4f9b62440_0_25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g3c4f9b62440_0_259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g3c4f9b62440_0_259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#2: Change of Foot Executed by Jump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g3c4f9b62440_0_259"/>
          <p:cNvSpPr/>
          <p:nvPr/>
        </p:nvSpPr>
        <p:spPr>
          <a:xfrm>
            <a:off x="3319098" y="1005850"/>
            <a:ext cx="5459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 clear jump that changes feet — must show significant strength and skill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g3c4f9b62440_0_259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g3c4f9b62440_0_259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#2 — CoF BY JUMP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g3c4f9b62440_0_259"/>
          <p:cNvSpPr/>
          <p:nvPr/>
        </p:nvSpPr>
        <p:spPr>
          <a:xfrm>
            <a:off x="1956825" y="1024124"/>
            <a:ext cx="1280100" cy="219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g3c4f9b62440_0_259"/>
          <p:cNvSpPr/>
          <p:nvPr/>
        </p:nvSpPr>
        <p:spPr>
          <a:xfrm>
            <a:off x="1956825" y="1024124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§SPIN.LF.2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g3c4f9b62440_0_259"/>
          <p:cNvSpPr/>
          <p:nvPr/>
        </p:nvSpPr>
        <p:spPr>
          <a:xfrm>
            <a:off x="274225" y="1342600"/>
            <a:ext cx="8595300" cy="360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g3c4f9b62440_0_259"/>
          <p:cNvSpPr/>
          <p:nvPr/>
        </p:nvSpPr>
        <p:spPr>
          <a:xfrm>
            <a:off x="347375" y="1342600"/>
            <a:ext cx="852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The skater jumps from one spinning foot to the other with significant strength and skill. </a:t>
            </a:r>
            <a:r>
              <a:rPr b="1" lang="en-US" sz="110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Hits basic position within 2 revolutions (does not have to hold basic position for 2 revs)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g3c4f9b62440_0_259"/>
          <p:cNvSpPr/>
          <p:nvPr/>
        </p:nvSpPr>
        <p:spPr>
          <a:xfrm>
            <a:off x="274275" y="1801353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g3c4f9b62440_0_259"/>
          <p:cNvSpPr/>
          <p:nvPr/>
        </p:nvSpPr>
        <p:spPr>
          <a:xfrm>
            <a:off x="308414" y="1801353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1: Is there a jump changing feet?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g3c4f9b62440_0_259"/>
          <p:cNvSpPr/>
          <p:nvPr/>
        </p:nvSpPr>
        <p:spPr>
          <a:xfrm>
            <a:off x="3515526" y="1801485"/>
            <a:ext cx="1879500" cy="3600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g3c4f9b62440_0_259"/>
          <p:cNvSpPr/>
          <p:nvPr/>
        </p:nvSpPr>
        <p:spPr>
          <a:xfrm>
            <a:off x="3542375" y="1801485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Not Feature #2; </a:t>
            </a:r>
            <a:b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9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eature NOT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g3c4f9b62440_0_259"/>
          <p:cNvSpPr/>
          <p:nvPr/>
        </p:nvSpPr>
        <p:spPr>
          <a:xfrm>
            <a:off x="274327" y="2160897"/>
            <a:ext cx="502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g3c4f9b62440_0_259"/>
          <p:cNvSpPr/>
          <p:nvPr/>
        </p:nvSpPr>
        <p:spPr>
          <a:xfrm>
            <a:off x="274325" y="2468128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g3c4f9b62440_0_259"/>
          <p:cNvSpPr/>
          <p:nvPr/>
        </p:nvSpPr>
        <p:spPr>
          <a:xfrm>
            <a:off x="308464" y="2468128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Does the jump show significant strength and </a:t>
            </a:r>
            <a:b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              skill?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g3c4f9b62440_0_259"/>
          <p:cNvSpPr/>
          <p:nvPr/>
        </p:nvSpPr>
        <p:spPr>
          <a:xfrm>
            <a:off x="3515526" y="2467997"/>
            <a:ext cx="1879500" cy="360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g3c4f9b62440_0_259"/>
          <p:cNvSpPr/>
          <p:nvPr/>
        </p:nvSpPr>
        <p:spPr>
          <a:xfrm>
            <a:off x="3542375" y="2467997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Attempt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— marked USED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g3c4f9b62440_0_259"/>
          <p:cNvSpPr/>
          <p:nvPr/>
        </p:nvSpPr>
        <p:spPr>
          <a:xfrm>
            <a:off x="274327" y="2839414"/>
            <a:ext cx="502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g3c4f9b62440_0_259"/>
          <p:cNvSpPr/>
          <p:nvPr/>
        </p:nvSpPr>
        <p:spPr>
          <a:xfrm>
            <a:off x="274277" y="3128665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g3c4f9b62440_0_259"/>
          <p:cNvSpPr/>
          <p:nvPr/>
        </p:nvSpPr>
        <p:spPr>
          <a:xfrm>
            <a:off x="308415" y="3128665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Is a basic position (NOT NBP) reached within </a:t>
            </a:r>
            <a:b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              2 revolutions after landing?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g3c4f9b62440_0_259"/>
          <p:cNvSpPr/>
          <p:nvPr/>
        </p:nvSpPr>
        <p:spPr>
          <a:xfrm>
            <a:off x="3515476" y="3128517"/>
            <a:ext cx="1879500" cy="360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g3c4f9b62440_0_259"/>
          <p:cNvSpPr/>
          <p:nvPr/>
        </p:nvSpPr>
        <p:spPr>
          <a:xfrm>
            <a:off x="3542325" y="3128517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Feature USED — </a:t>
            </a:r>
            <a:b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           NBP blocks feature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g3c4f9b62440_0_259"/>
          <p:cNvSpPr/>
          <p:nvPr/>
        </p:nvSpPr>
        <p:spPr>
          <a:xfrm>
            <a:off x="274327" y="3512005"/>
            <a:ext cx="502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g3c4f9b62440_0_259"/>
          <p:cNvSpPr/>
          <p:nvPr/>
        </p:nvSpPr>
        <p:spPr>
          <a:xfrm>
            <a:off x="274275" y="3801382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g3c4f9b62440_0_259"/>
          <p:cNvSpPr/>
          <p:nvPr/>
        </p:nvSpPr>
        <p:spPr>
          <a:xfrm>
            <a:off x="308412" y="3801382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First time attempted in program?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g3c4f9b62440_0_259"/>
          <p:cNvSpPr/>
          <p:nvPr/>
        </p:nvSpPr>
        <p:spPr>
          <a:xfrm>
            <a:off x="3515501" y="3801546"/>
            <a:ext cx="1879500" cy="360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g3c4f9b62440_0_259"/>
          <p:cNvSpPr/>
          <p:nvPr/>
        </p:nvSpPr>
        <p:spPr>
          <a:xfrm>
            <a:off x="3542351" y="3801546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USED from prior spin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g3c4f9b62440_0_259"/>
          <p:cNvSpPr/>
          <p:nvPr/>
        </p:nvSpPr>
        <p:spPr>
          <a:xfrm>
            <a:off x="274327" y="4167355"/>
            <a:ext cx="502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g3c4f9b62440_0_259"/>
          <p:cNvSpPr/>
          <p:nvPr/>
        </p:nvSpPr>
        <p:spPr>
          <a:xfrm>
            <a:off x="274327" y="4486627"/>
            <a:ext cx="5120700" cy="4023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g3c4f9b62440_0_259"/>
          <p:cNvSpPr/>
          <p:nvPr/>
        </p:nvSpPr>
        <p:spPr>
          <a:xfrm>
            <a:off x="329191" y="4486627"/>
            <a:ext cx="5010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Feature #2 </a:t>
            </a:r>
            <a:r>
              <a:rPr b="1" lang="en-US" sz="105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ACHIEVED </a:t>
            </a: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— marked USED for the program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g3c4f9b62440_0_259"/>
          <p:cNvSpPr/>
          <p:nvPr/>
        </p:nvSpPr>
        <p:spPr>
          <a:xfrm>
            <a:off x="5577850" y="1801350"/>
            <a:ext cx="3291900" cy="16056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39" name="Google Shape;1239;g3c4f9b62440_0_259"/>
          <p:cNvSpPr/>
          <p:nvPr/>
        </p:nvSpPr>
        <p:spPr>
          <a:xfrm>
            <a:off x="5577850" y="1801350"/>
            <a:ext cx="3291900" cy="3507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40" name="Google Shape;1240;g3c4f9b62440_0_259"/>
          <p:cNvSpPr/>
          <p:nvPr/>
        </p:nvSpPr>
        <p:spPr>
          <a:xfrm>
            <a:off x="5651002" y="1801350"/>
            <a:ext cx="3145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🏋  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Strength Assessment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g3c4f9b62440_0_259"/>
          <p:cNvSpPr/>
          <p:nvPr/>
        </p:nvSpPr>
        <p:spPr>
          <a:xfrm>
            <a:off x="5651002" y="2152071"/>
            <a:ext cx="3145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Holistic strength assessment </a:t>
            </a: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g3c4f9b62440_0_259"/>
          <p:cNvSpPr/>
          <p:nvPr/>
        </p:nvSpPr>
        <p:spPr>
          <a:xfrm>
            <a:off x="5651000" y="2373925"/>
            <a:ext cx="3291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1. Starting position difficulty </a:t>
            </a:r>
            <a:b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0" i="1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(from sit/camel = harder; rising to upright first = easier)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g3c4f9b62440_0_259"/>
          <p:cNvSpPr/>
          <p:nvPr/>
        </p:nvSpPr>
        <p:spPr>
          <a:xfrm>
            <a:off x="5651000" y="2758278"/>
            <a:ext cx="3145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2. Jump height </a:t>
            </a:r>
            <a:b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0" i="1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(clear visible height, sustained air time)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g3c4f9b62440_0_259"/>
          <p:cNvSpPr/>
          <p:nvPr/>
        </p:nvSpPr>
        <p:spPr>
          <a:xfrm>
            <a:off x="5651002" y="3112032"/>
            <a:ext cx="3145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3. Air position complexity </a:t>
            </a:r>
            <a:r>
              <a:rPr b="0" i="1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(tucking, difficult free leg in air)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g3c4f9b62440_0_259"/>
          <p:cNvSpPr/>
          <p:nvPr/>
        </p:nvSpPr>
        <p:spPr>
          <a:xfrm>
            <a:off x="5577850" y="3568200"/>
            <a:ext cx="3291900" cy="1320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46" name="Google Shape;1246;g3c4f9b62440_0_259"/>
          <p:cNvSpPr/>
          <p:nvPr/>
        </p:nvSpPr>
        <p:spPr>
          <a:xfrm>
            <a:off x="5577850" y="3568200"/>
            <a:ext cx="3291900" cy="329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47" name="Google Shape;1247;g3c4f9b62440_0_259"/>
          <p:cNvSpPr/>
          <p:nvPr/>
        </p:nvSpPr>
        <p:spPr>
          <a:xfrm>
            <a:off x="5651002" y="3568200"/>
            <a:ext cx="3145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g3c4f9b62440_0_259"/>
          <p:cNvSpPr/>
          <p:nvPr/>
        </p:nvSpPr>
        <p:spPr>
          <a:xfrm>
            <a:off x="5651000" y="3952109"/>
            <a:ext cx="31455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Landing in NBP instead of basic position — feature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g3c4f9b62440_0_259"/>
          <p:cNvSpPr/>
          <p:nvPr/>
        </p:nvSpPr>
        <p:spPr>
          <a:xfrm>
            <a:off x="5651002" y="4250091"/>
            <a:ext cx="3145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Jump not showing sufficient strength/skill — marked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g3c4f9b62440_0_259"/>
          <p:cNvSpPr/>
          <p:nvPr/>
        </p:nvSpPr>
        <p:spPr>
          <a:xfrm>
            <a:off x="5651002" y="4551723"/>
            <a:ext cx="3145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Basic position not reached within first 2 revolutions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c4f9b62440_0_3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g3c4f9b62440_0_385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g3c4f9b62440_0_385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</a:t>
            </a: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#3: Jump Within Spin Without Changing Feet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g3c4f9b62440_0_385"/>
          <p:cNvSpPr/>
          <p:nvPr/>
        </p:nvSpPr>
        <p:spPr>
          <a:xfrm>
            <a:off x="3319098" y="1005850"/>
            <a:ext cx="5459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 jump executed during spinning on the same foot — same strength standard as Feature #2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g3c4f9b62440_0_385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g3c4f9b62440_0_385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1"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#3 — JUMP WITHIN SPIN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g3c4f9b62440_0_385"/>
          <p:cNvSpPr/>
          <p:nvPr/>
        </p:nvSpPr>
        <p:spPr>
          <a:xfrm>
            <a:off x="1956825" y="1024124"/>
            <a:ext cx="1280100" cy="219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g3c4f9b62440_0_385"/>
          <p:cNvSpPr/>
          <p:nvPr/>
        </p:nvSpPr>
        <p:spPr>
          <a:xfrm>
            <a:off x="1956825" y="1024124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lang="en-US" sz="7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§SPIN.LF.3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g3c4f9b62440_0_385"/>
          <p:cNvSpPr/>
          <p:nvPr/>
        </p:nvSpPr>
        <p:spPr>
          <a:xfrm>
            <a:off x="274225" y="1342600"/>
            <a:ext cx="8595300" cy="3600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3c4f9b62440_0_385"/>
          <p:cNvSpPr/>
          <p:nvPr/>
        </p:nvSpPr>
        <p:spPr>
          <a:xfrm>
            <a:off x="320075" y="1342600"/>
            <a:ext cx="8503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The skater jumps during spinning on the same foot — takes off AND lands on the same spinning foot. Spinning MUST occur before the jump.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g3c4f9b62440_0_385"/>
          <p:cNvSpPr/>
          <p:nvPr/>
        </p:nvSpPr>
        <p:spPr>
          <a:xfrm>
            <a:off x="274275" y="1801353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g3c4f9b62440_0_385"/>
          <p:cNvSpPr/>
          <p:nvPr/>
        </p:nvSpPr>
        <p:spPr>
          <a:xfrm>
            <a:off x="308414" y="1801353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1: Was there any spinning motion before this </a:t>
            </a:r>
            <a:b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              jump?</a:t>
            </a:r>
            <a:endParaRPr b="1" sz="1280">
              <a:solidFill>
                <a:srgbClr val="1A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g3c4f9b62440_0_385"/>
          <p:cNvSpPr/>
          <p:nvPr/>
        </p:nvSpPr>
        <p:spPr>
          <a:xfrm>
            <a:off x="3515526" y="1801485"/>
            <a:ext cx="1879500" cy="3600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g3c4f9b62440_0_385"/>
          <p:cNvSpPr/>
          <p:nvPr/>
        </p:nvSpPr>
        <p:spPr>
          <a:xfrm>
            <a:off x="3542375" y="1801485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If no prior spinning, flying entry (Feature #11), not Feature #3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g3c4f9b62440_0_385"/>
          <p:cNvSpPr/>
          <p:nvPr/>
        </p:nvSpPr>
        <p:spPr>
          <a:xfrm>
            <a:off x="274327" y="2160897"/>
            <a:ext cx="502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g3c4f9b62440_0_385"/>
          <p:cNvSpPr/>
          <p:nvPr/>
        </p:nvSpPr>
        <p:spPr>
          <a:xfrm>
            <a:off x="274325" y="2468128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g3c4f9b62440_0_385"/>
          <p:cNvSpPr/>
          <p:nvPr/>
        </p:nvSpPr>
        <p:spPr>
          <a:xfrm>
            <a:off x="308464" y="2468128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2: Does the jump show significant strength and </a:t>
            </a:r>
            <a:b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              skill?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g3c4f9b62440_0_385"/>
          <p:cNvSpPr/>
          <p:nvPr/>
        </p:nvSpPr>
        <p:spPr>
          <a:xfrm>
            <a:off x="3515526" y="2467997"/>
            <a:ext cx="1879500" cy="360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g3c4f9b62440_0_385"/>
          <p:cNvSpPr/>
          <p:nvPr/>
        </p:nvSpPr>
        <p:spPr>
          <a:xfrm>
            <a:off x="3542375" y="2467997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Attempt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— marked USED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g3c4f9b62440_0_385"/>
          <p:cNvSpPr/>
          <p:nvPr/>
        </p:nvSpPr>
        <p:spPr>
          <a:xfrm>
            <a:off x="274327" y="2839414"/>
            <a:ext cx="502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g3c4f9b62440_0_385"/>
          <p:cNvSpPr/>
          <p:nvPr/>
        </p:nvSpPr>
        <p:spPr>
          <a:xfrm>
            <a:off x="274277" y="3128665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g3c4f9b62440_0_385"/>
          <p:cNvSpPr/>
          <p:nvPr/>
        </p:nvSpPr>
        <p:spPr>
          <a:xfrm>
            <a:off x="308415" y="3128665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Is a basic position reached within 2 </a:t>
            </a:r>
            <a:b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              revolutions after landing?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g3c4f9b62440_0_385"/>
          <p:cNvSpPr/>
          <p:nvPr/>
        </p:nvSpPr>
        <p:spPr>
          <a:xfrm>
            <a:off x="3515476" y="3128517"/>
            <a:ext cx="1879500" cy="360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g3c4f9b62440_0_385"/>
          <p:cNvSpPr/>
          <p:nvPr/>
        </p:nvSpPr>
        <p:spPr>
          <a:xfrm>
            <a:off x="3542325" y="3128517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Feature USED — </a:t>
            </a:r>
            <a:b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           NBP blocks feature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g3c4f9b62440_0_385"/>
          <p:cNvSpPr/>
          <p:nvPr/>
        </p:nvSpPr>
        <p:spPr>
          <a:xfrm>
            <a:off x="274327" y="3512005"/>
            <a:ext cx="502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g3c4f9b62440_0_385"/>
          <p:cNvSpPr/>
          <p:nvPr/>
        </p:nvSpPr>
        <p:spPr>
          <a:xfrm>
            <a:off x="274275" y="3801382"/>
            <a:ext cx="3186300" cy="3600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g3c4f9b62440_0_385"/>
          <p:cNvSpPr/>
          <p:nvPr/>
        </p:nvSpPr>
        <p:spPr>
          <a:xfrm>
            <a:off x="308412" y="3801382"/>
            <a:ext cx="3117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First time attempted in program?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g3c4f9b62440_0_385"/>
          <p:cNvSpPr/>
          <p:nvPr/>
        </p:nvSpPr>
        <p:spPr>
          <a:xfrm>
            <a:off x="3515501" y="3801546"/>
            <a:ext cx="1879500" cy="360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g3c4f9b62440_0_385"/>
          <p:cNvSpPr/>
          <p:nvPr/>
        </p:nvSpPr>
        <p:spPr>
          <a:xfrm>
            <a:off x="3542351" y="3801546"/>
            <a:ext cx="182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USED from prior spin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g3c4f9b62440_0_385"/>
          <p:cNvSpPr/>
          <p:nvPr/>
        </p:nvSpPr>
        <p:spPr>
          <a:xfrm>
            <a:off x="274327" y="4167355"/>
            <a:ext cx="502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g3c4f9b62440_0_385"/>
          <p:cNvSpPr/>
          <p:nvPr/>
        </p:nvSpPr>
        <p:spPr>
          <a:xfrm>
            <a:off x="274327" y="4486627"/>
            <a:ext cx="5120700" cy="4023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g3c4f9b62440_0_385"/>
          <p:cNvSpPr/>
          <p:nvPr/>
        </p:nvSpPr>
        <p:spPr>
          <a:xfrm>
            <a:off x="329191" y="4486627"/>
            <a:ext cx="5010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Feature #</a:t>
            </a:r>
            <a:r>
              <a:rPr b="1" lang="en-US" sz="105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5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ACHIEVED </a:t>
            </a: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— marked USED for the program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g3c4f9b62440_0_385"/>
          <p:cNvSpPr/>
          <p:nvPr/>
        </p:nvSpPr>
        <p:spPr>
          <a:xfrm>
            <a:off x="5577850" y="1801350"/>
            <a:ext cx="3291900" cy="16056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89" name="Google Shape;1289;g3c4f9b62440_0_385"/>
          <p:cNvSpPr/>
          <p:nvPr/>
        </p:nvSpPr>
        <p:spPr>
          <a:xfrm>
            <a:off x="5577850" y="1801350"/>
            <a:ext cx="3291900" cy="3507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0" name="Google Shape;1290;g3c4f9b62440_0_385"/>
          <p:cNvSpPr/>
          <p:nvPr/>
        </p:nvSpPr>
        <p:spPr>
          <a:xfrm>
            <a:off x="5651002" y="1801350"/>
            <a:ext cx="3145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lang="en-US" sz="105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🔄  </a:t>
            </a:r>
            <a:r>
              <a:rPr b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#3 vs Flying Entry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g3c4f9b62440_0_385"/>
          <p:cNvSpPr/>
          <p:nvPr/>
        </p:nvSpPr>
        <p:spPr>
          <a:xfrm>
            <a:off x="5651000" y="2192499"/>
            <a:ext cx="3291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Key distinction from flying entry: if ANY spinning happened before the jump, it is a jump within spin (Feature #3) not a flying entry (Feature #11)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g3c4f9b62440_0_385"/>
          <p:cNvSpPr/>
          <p:nvPr/>
        </p:nvSpPr>
        <p:spPr>
          <a:xfrm>
            <a:off x="5651000" y="2654775"/>
            <a:ext cx="3145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Same strength standard as Feature #2 — the 3 holistic factors apply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g3c4f9b62440_0_385"/>
          <p:cNvSpPr/>
          <p:nvPr/>
        </p:nvSpPr>
        <p:spPr>
          <a:xfrm>
            <a:off x="5651000" y="3035225"/>
            <a:ext cx="3145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Feature #3 can only happen in a spin that is already spinning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g3c4f9b62440_0_385"/>
          <p:cNvSpPr/>
          <p:nvPr/>
        </p:nvSpPr>
        <p:spPr>
          <a:xfrm>
            <a:off x="5577850" y="3568200"/>
            <a:ext cx="3291900" cy="13209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5" name="Google Shape;1295;g3c4f9b62440_0_385"/>
          <p:cNvSpPr/>
          <p:nvPr/>
        </p:nvSpPr>
        <p:spPr>
          <a:xfrm>
            <a:off x="5577850" y="3568200"/>
            <a:ext cx="3291900" cy="329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6" name="Google Shape;1296;g3c4f9b62440_0_385"/>
          <p:cNvSpPr/>
          <p:nvPr/>
        </p:nvSpPr>
        <p:spPr>
          <a:xfrm>
            <a:off x="5651002" y="3568200"/>
            <a:ext cx="3145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g3c4f9b62440_0_385"/>
          <p:cNvSpPr/>
          <p:nvPr/>
        </p:nvSpPr>
        <p:spPr>
          <a:xfrm>
            <a:off x="5651000" y="3952109"/>
            <a:ext cx="31455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Landing in NBP instead of basic position — feature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g3c4f9b62440_0_385"/>
          <p:cNvSpPr/>
          <p:nvPr/>
        </p:nvSpPr>
        <p:spPr>
          <a:xfrm>
            <a:off x="5651002" y="4250091"/>
            <a:ext cx="3145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Jump not showing sufficient strength/skill — marked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g3c4f9b62440_0_385"/>
          <p:cNvSpPr/>
          <p:nvPr/>
        </p:nvSpPr>
        <p:spPr>
          <a:xfrm>
            <a:off x="5651002" y="4551723"/>
            <a:ext cx="3145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Basic position not reached within first 2 revolutions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cd8d7dd279_0_0"/>
          <p:cNvSpPr/>
          <p:nvPr/>
        </p:nvSpPr>
        <p:spPr>
          <a:xfrm>
            <a:off x="4647750" y="2358250"/>
            <a:ext cx="2053200" cy="354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06" name="Google Shape;1306;g3cd8d7dd279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g3cd8d7dd279_0_0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g3cd8d7dd279_0_0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#4: Difficult Change of Position on Same Foot  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g3cd8d7dd279_0_0"/>
          <p:cNvSpPr/>
          <p:nvPr/>
        </p:nvSpPr>
        <p:spPr>
          <a:xfrm>
            <a:off x="3319106" y="1005850"/>
            <a:ext cx="54591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 continuous position change showing significant strength, skill, and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g3cd8d7dd279_0_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g3cd8d7dd279_0_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#4 — DCP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g3cd8d7dd279_0_0"/>
          <p:cNvSpPr/>
          <p:nvPr/>
        </p:nvSpPr>
        <p:spPr>
          <a:xfrm>
            <a:off x="1956825" y="1025649"/>
            <a:ext cx="1280100" cy="1983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g3cd8d7dd279_0_0"/>
          <p:cNvSpPr/>
          <p:nvPr/>
        </p:nvSpPr>
        <p:spPr>
          <a:xfrm>
            <a:off x="1956825" y="1025649"/>
            <a:ext cx="1280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§SPIN.LF.4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g3cd8d7dd279_0_0"/>
          <p:cNvSpPr/>
          <p:nvPr/>
        </p:nvSpPr>
        <p:spPr>
          <a:xfrm>
            <a:off x="274325" y="1371600"/>
            <a:ext cx="6418500" cy="3708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15" name="Google Shape;1315;g3cd8d7dd279_0_0"/>
          <p:cNvSpPr/>
          <p:nvPr/>
        </p:nvSpPr>
        <p:spPr>
          <a:xfrm>
            <a:off x="347475" y="1371600"/>
            <a:ext cx="6306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Must achieve a basic position for 2 revs BEFORE the change, and a DIFFERENT basic position for 2 revs AFTER. </a:t>
            </a:r>
            <a:b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The change must be continuous — no non-basic position, no jump, </a:t>
            </a:r>
            <a:r>
              <a:rPr b="1" lang="en-US" sz="100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no major pauses while “resetting” balance</a:t>
            </a: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6" name="Google Shape;1316;g3cd8d7dd279_0_0"/>
          <p:cNvGrpSpPr/>
          <p:nvPr/>
        </p:nvGrpSpPr>
        <p:grpSpPr>
          <a:xfrm>
            <a:off x="266200" y="1834900"/>
            <a:ext cx="4232100" cy="342900"/>
            <a:chOff x="274325" y="1682500"/>
            <a:chExt cx="4232100" cy="342900"/>
          </a:xfrm>
        </p:grpSpPr>
        <p:sp>
          <p:nvSpPr>
            <p:cNvPr id="1317" name="Google Shape;1317;g3cd8d7dd279_0_0"/>
            <p:cNvSpPr/>
            <p:nvPr/>
          </p:nvSpPr>
          <p:spPr>
            <a:xfrm>
              <a:off x="274325" y="1682500"/>
              <a:ext cx="4232100" cy="342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g3cd8d7dd279_0_0"/>
            <p:cNvSpPr/>
            <p:nvPr/>
          </p:nvSpPr>
          <p:spPr>
            <a:xfrm>
              <a:off x="319669" y="1682500"/>
              <a:ext cx="414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1: Did the skater achieve a basic position with 2+ continuous revolutions BEFORE the change?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9" name="Google Shape;1319;g3cd8d7dd279_0_0"/>
          <p:cNvSpPr/>
          <p:nvPr/>
        </p:nvSpPr>
        <p:spPr>
          <a:xfrm>
            <a:off x="4640025" y="1834900"/>
            <a:ext cx="2053200" cy="327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0" name="Google Shape;1320;g3cd8d7dd279_0_0"/>
          <p:cNvSpPr/>
          <p:nvPr/>
        </p:nvSpPr>
        <p:spPr>
          <a:xfrm>
            <a:off x="4669350" y="1834900"/>
            <a:ext cx="1937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Feature #4 NOT achieved — </a:t>
            </a:r>
            <a:b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           IS marked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1" name="Google Shape;1321;g3cd8d7dd279_0_0"/>
          <p:cNvGrpSpPr/>
          <p:nvPr/>
        </p:nvGrpSpPr>
        <p:grpSpPr>
          <a:xfrm>
            <a:off x="266200" y="2381710"/>
            <a:ext cx="4232100" cy="342900"/>
            <a:chOff x="274325" y="2130550"/>
            <a:chExt cx="4232100" cy="342900"/>
          </a:xfrm>
        </p:grpSpPr>
        <p:sp>
          <p:nvSpPr>
            <p:cNvPr id="1322" name="Google Shape;1322;g3cd8d7dd279_0_0"/>
            <p:cNvSpPr/>
            <p:nvPr/>
          </p:nvSpPr>
          <p:spPr>
            <a:xfrm>
              <a:off x="274325" y="2130550"/>
              <a:ext cx="4232100" cy="342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g3cd8d7dd279_0_0"/>
            <p:cNvSpPr/>
            <p:nvPr/>
          </p:nvSpPr>
          <p:spPr>
            <a:xfrm>
              <a:off x="319668" y="2130550"/>
              <a:ext cx="414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2: Was the change continuous?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(No non-basic position, no jump, no </a:t>
              </a:r>
              <a:r>
                <a:rPr b="1" lang="en-US" sz="108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major pauses</a:t>
              </a: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4" name="Google Shape;1324;g3cd8d7dd279_0_0"/>
          <p:cNvSpPr/>
          <p:nvPr/>
        </p:nvSpPr>
        <p:spPr>
          <a:xfrm>
            <a:off x="4669350" y="2341450"/>
            <a:ext cx="1937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lang="en-US" sz="980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Feature #4 NOT achieved — </a:t>
            </a:r>
            <a:b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           IS marked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5" name="Google Shape;1325;g3cd8d7dd279_0_0"/>
          <p:cNvGrpSpPr/>
          <p:nvPr/>
        </p:nvGrpSpPr>
        <p:grpSpPr>
          <a:xfrm>
            <a:off x="266200" y="2928520"/>
            <a:ext cx="4232100" cy="342900"/>
            <a:chOff x="274325" y="2578600"/>
            <a:chExt cx="4232100" cy="342900"/>
          </a:xfrm>
        </p:grpSpPr>
        <p:sp>
          <p:nvSpPr>
            <p:cNvPr id="1326" name="Google Shape;1326;g3cd8d7dd279_0_0"/>
            <p:cNvSpPr/>
            <p:nvPr/>
          </p:nvSpPr>
          <p:spPr>
            <a:xfrm>
              <a:off x="274325" y="2578600"/>
              <a:ext cx="4232100" cy="342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327" name="Google Shape;1327;g3cd8d7dd279_0_0"/>
            <p:cNvSpPr/>
            <p:nvPr/>
          </p:nvSpPr>
          <p:spPr>
            <a:xfrm>
              <a:off x="319668" y="2578600"/>
              <a:ext cx="414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3: Does the change show significant strength, skill, and control?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8" name="Google Shape;1328;g3cd8d7dd279_0_0"/>
          <p:cNvSpPr/>
          <p:nvPr/>
        </p:nvSpPr>
        <p:spPr>
          <a:xfrm>
            <a:off x="4639925" y="2928400"/>
            <a:ext cx="2053200" cy="1647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329" name="Google Shape;1329;g3cd8d7dd279_0_0"/>
          <p:cNvGrpSpPr/>
          <p:nvPr/>
        </p:nvGrpSpPr>
        <p:grpSpPr>
          <a:xfrm>
            <a:off x="266200" y="3475325"/>
            <a:ext cx="4232100" cy="342900"/>
            <a:chOff x="258075" y="3232400"/>
            <a:chExt cx="4232100" cy="342900"/>
          </a:xfrm>
        </p:grpSpPr>
        <p:sp>
          <p:nvSpPr>
            <p:cNvPr id="1330" name="Google Shape;1330;g3cd8d7dd279_0_0"/>
            <p:cNvSpPr/>
            <p:nvPr/>
          </p:nvSpPr>
          <p:spPr>
            <a:xfrm>
              <a:off x="258075" y="3232400"/>
              <a:ext cx="4232100" cy="342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g3cd8d7dd279_0_0"/>
            <p:cNvSpPr/>
            <p:nvPr/>
          </p:nvSpPr>
          <p:spPr>
            <a:xfrm>
              <a:off x="303418" y="3232400"/>
              <a:ext cx="414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4: Did the skater achieve a DIFFERENT basic position with 2+ continuous revolutions AFTER the change?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2" name="Google Shape;1332;g3cd8d7dd279_0_0"/>
          <p:cNvSpPr/>
          <p:nvPr/>
        </p:nvSpPr>
        <p:spPr>
          <a:xfrm>
            <a:off x="4647900" y="3475250"/>
            <a:ext cx="20532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33" name="Google Shape;1333;g3cd8d7dd279_0_0"/>
          <p:cNvSpPr/>
          <p:nvPr/>
        </p:nvSpPr>
        <p:spPr>
          <a:xfrm>
            <a:off x="4677229" y="3475250"/>
            <a:ext cx="199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Feature NOT achieved — </a:t>
            </a:r>
            <a:b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IS marked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4" name="Google Shape;1334;g3cd8d7dd279_0_0"/>
          <p:cNvGrpSpPr/>
          <p:nvPr/>
        </p:nvGrpSpPr>
        <p:grpSpPr>
          <a:xfrm>
            <a:off x="266200" y="4022140"/>
            <a:ext cx="4232100" cy="342900"/>
            <a:chOff x="274325" y="3826775"/>
            <a:chExt cx="4232100" cy="342900"/>
          </a:xfrm>
        </p:grpSpPr>
        <p:sp>
          <p:nvSpPr>
            <p:cNvPr id="1335" name="Google Shape;1335;g3cd8d7dd279_0_0"/>
            <p:cNvSpPr/>
            <p:nvPr/>
          </p:nvSpPr>
          <p:spPr>
            <a:xfrm>
              <a:off x="274325" y="3826775"/>
              <a:ext cx="4232100" cy="342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336" name="Google Shape;1336;g3cd8d7dd279_0_0"/>
            <p:cNvSpPr/>
            <p:nvPr/>
          </p:nvSpPr>
          <p:spPr>
            <a:xfrm>
              <a:off x="319668" y="3826775"/>
              <a:ext cx="414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</a:t>
              </a:r>
              <a:r>
                <a:rPr b="1" lang="en-US" sz="108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: First time attempted in program?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7" name="Google Shape;1337;g3cd8d7dd279_0_0"/>
          <p:cNvSpPr/>
          <p:nvPr/>
        </p:nvSpPr>
        <p:spPr>
          <a:xfrm>
            <a:off x="4647725" y="4034675"/>
            <a:ext cx="2053200" cy="3540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38" name="Google Shape;1338;g3cd8d7dd279_0_0"/>
          <p:cNvSpPr/>
          <p:nvPr/>
        </p:nvSpPr>
        <p:spPr>
          <a:xfrm>
            <a:off x="4677050" y="4034675"/>
            <a:ext cx="189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USED from prior spin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g3cd8d7dd279_0_0"/>
          <p:cNvSpPr/>
          <p:nvPr/>
        </p:nvSpPr>
        <p:spPr>
          <a:xfrm>
            <a:off x="274325" y="4348050"/>
            <a:ext cx="50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0" name="Google Shape;1340;g3cd8d7dd279_0_0"/>
          <p:cNvGrpSpPr/>
          <p:nvPr/>
        </p:nvGrpSpPr>
        <p:grpSpPr>
          <a:xfrm>
            <a:off x="266200" y="4568950"/>
            <a:ext cx="4232100" cy="342900"/>
            <a:chOff x="274325" y="4416550"/>
            <a:chExt cx="4232100" cy="342900"/>
          </a:xfrm>
        </p:grpSpPr>
        <p:sp>
          <p:nvSpPr>
            <p:cNvPr id="1341" name="Google Shape;1341;g3cd8d7dd279_0_0"/>
            <p:cNvSpPr/>
            <p:nvPr/>
          </p:nvSpPr>
          <p:spPr>
            <a:xfrm>
              <a:off x="274325" y="4416550"/>
              <a:ext cx="4232100" cy="342900"/>
            </a:xfrm>
            <a:prstGeom prst="rect">
              <a:avLst/>
            </a:prstGeom>
            <a:solidFill>
              <a:srgbClr val="D4EDDA"/>
            </a:solidFill>
            <a:ln cap="flat" cmpd="sng" w="12700">
              <a:solidFill>
                <a:srgbClr val="1A7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g3cd8d7dd279_0_0"/>
            <p:cNvSpPr/>
            <p:nvPr/>
          </p:nvSpPr>
          <p:spPr>
            <a:xfrm>
              <a:off x="319668" y="4416550"/>
              <a:ext cx="414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A4A"/>
                </a:buClr>
                <a:buSzPts val="8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✓  Feature #4 </a:t>
              </a:r>
              <a:r>
                <a:rPr b="1" lang="en-US" sz="1050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ACHIEVED </a:t>
              </a:r>
              <a:r>
                <a:rPr b="1" i="0" lang="en-US" sz="1050" u="none" cap="none" strike="noStrike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[MANDATORY] — </a:t>
              </a:r>
              <a:r>
                <a:rPr b="1" lang="en-US" sz="1050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Level 4 Open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3" name="Google Shape;1343;g3cd8d7dd279_0_0"/>
          <p:cNvSpPr/>
          <p:nvPr/>
        </p:nvSpPr>
        <p:spPr>
          <a:xfrm>
            <a:off x="6842283" y="1371600"/>
            <a:ext cx="2027400" cy="20838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g3cd8d7dd279_0_0"/>
          <p:cNvSpPr/>
          <p:nvPr/>
        </p:nvSpPr>
        <p:spPr>
          <a:xfrm>
            <a:off x="6842277" y="1371600"/>
            <a:ext cx="2027400" cy="3708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g3cd8d7dd279_0_0"/>
          <p:cNvSpPr/>
          <p:nvPr/>
        </p:nvSpPr>
        <p:spPr>
          <a:xfrm>
            <a:off x="6887331" y="1371600"/>
            <a:ext cx="1937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⚡ 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Considerations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g3cd8d7dd279_0_0"/>
          <p:cNvSpPr/>
          <p:nvPr/>
        </p:nvSpPr>
        <p:spPr>
          <a:xfrm>
            <a:off x="6887336" y="2223211"/>
            <a:ext cx="1937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'Not difficult' ≠ 'attempted' — not difficult means NOT used, can try again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g3cd8d7dd279_0_0"/>
          <p:cNvSpPr/>
          <p:nvPr/>
        </p:nvSpPr>
        <p:spPr>
          <a:xfrm>
            <a:off x="6887336" y="2725028"/>
            <a:ext cx="1937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Clear attempt at a DCP and not achieving means DCP is used and cant be used again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g3cd8d7dd279_0_0"/>
          <p:cNvSpPr/>
          <p:nvPr/>
        </p:nvSpPr>
        <p:spPr>
          <a:xfrm>
            <a:off x="6887336" y="1742698"/>
            <a:ext cx="1937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Windmill 1× during transition = DCP (Feature #4), not NBP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g3cd8d7dd279_0_0"/>
          <p:cNvSpPr/>
          <p:nvPr/>
        </p:nvSpPr>
        <p:spPr>
          <a:xfrm>
            <a:off x="6842275" y="3607600"/>
            <a:ext cx="2027400" cy="13044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g3cd8d7dd279_0_0"/>
          <p:cNvSpPr/>
          <p:nvPr/>
        </p:nvSpPr>
        <p:spPr>
          <a:xfrm>
            <a:off x="6842277" y="3607617"/>
            <a:ext cx="2027400" cy="342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g3cd8d7dd279_0_0"/>
          <p:cNvSpPr/>
          <p:nvPr/>
        </p:nvSpPr>
        <p:spPr>
          <a:xfrm>
            <a:off x="6887331" y="3607617"/>
            <a:ext cx="193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g3cd8d7dd279_0_0"/>
          <p:cNvSpPr/>
          <p:nvPr/>
        </p:nvSpPr>
        <p:spPr>
          <a:xfrm>
            <a:off x="6887325" y="4007274"/>
            <a:ext cx="1937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Less than 2 revolutions before or after the change (most common)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g3cd8d7dd279_0_0"/>
          <p:cNvSpPr/>
          <p:nvPr/>
        </p:nvSpPr>
        <p:spPr>
          <a:xfrm>
            <a:off x="274325" y="3806973"/>
            <a:ext cx="50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g3cd8d7dd279_0_0"/>
          <p:cNvSpPr/>
          <p:nvPr/>
        </p:nvSpPr>
        <p:spPr>
          <a:xfrm>
            <a:off x="274316" y="3291020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g3cd8d7dd279_0_0"/>
          <p:cNvSpPr/>
          <p:nvPr/>
        </p:nvSpPr>
        <p:spPr>
          <a:xfrm>
            <a:off x="274316" y="2744220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g3cd8d7dd279_0_0"/>
          <p:cNvSpPr/>
          <p:nvPr/>
        </p:nvSpPr>
        <p:spPr>
          <a:xfrm>
            <a:off x="274316" y="2197395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g3cd8d7dd279_0_0"/>
          <p:cNvSpPr/>
          <p:nvPr/>
        </p:nvSpPr>
        <p:spPr>
          <a:xfrm>
            <a:off x="6887325" y="4388674"/>
            <a:ext cx="1937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One or both basic positions do not meet the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of the 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g3cd8d7dd279_0_0"/>
          <p:cNvSpPr/>
          <p:nvPr/>
        </p:nvSpPr>
        <p:spPr>
          <a:xfrm>
            <a:off x="4643700" y="3107175"/>
            <a:ext cx="2053200" cy="1647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9" name="Google Shape;1359;g3cd8d7dd279_0_0"/>
          <p:cNvSpPr/>
          <p:nvPr/>
        </p:nvSpPr>
        <p:spPr>
          <a:xfrm>
            <a:off x="4669250" y="2907700"/>
            <a:ext cx="1842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No attempt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— NOT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g3cd8d7dd279_0_0"/>
          <p:cNvSpPr/>
          <p:nvPr/>
        </p:nvSpPr>
        <p:spPr>
          <a:xfrm>
            <a:off x="4669250" y="3083300"/>
            <a:ext cx="1842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lang="en-US" sz="980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Clear attempt -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cd8d7dd279_0_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g3cd8d7dd279_0_85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g3cd8d7dd279_0_85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#5: Difficult Entrance 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g3cd8d7dd279_0_85"/>
          <p:cNvSpPr/>
          <p:nvPr/>
        </p:nvSpPr>
        <p:spPr>
          <a:xfrm>
            <a:off x="3319100" y="1005850"/>
            <a:ext cx="545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 difficult entry to the spin on the first spinning foot — must reach basic position within 2 revolutions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g3cd8d7dd279_0_85"/>
          <p:cNvSpPr/>
          <p:nvPr/>
        </p:nvSpPr>
        <p:spPr>
          <a:xfrm>
            <a:off x="320050" y="1024125"/>
            <a:ext cx="1554600" cy="2376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g3cd8d7dd279_0_85"/>
          <p:cNvSpPr/>
          <p:nvPr/>
        </p:nvSpPr>
        <p:spPr>
          <a:xfrm>
            <a:off x="320050" y="1024125"/>
            <a:ext cx="155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#5 — DIFF. ENTRANCE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g3cd8d7dd279_0_85"/>
          <p:cNvSpPr/>
          <p:nvPr/>
        </p:nvSpPr>
        <p:spPr>
          <a:xfrm>
            <a:off x="1956825" y="1024124"/>
            <a:ext cx="1280100" cy="237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g3cd8d7dd279_0_85"/>
          <p:cNvSpPr/>
          <p:nvPr/>
        </p:nvSpPr>
        <p:spPr>
          <a:xfrm>
            <a:off x="1956825" y="1024124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§SPIN.LF.5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g3cd8d7dd279_0_85"/>
          <p:cNvSpPr/>
          <p:nvPr/>
        </p:nvSpPr>
        <p:spPr>
          <a:xfrm>
            <a:off x="274325" y="1371600"/>
            <a:ext cx="5746200" cy="4032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g3cd8d7dd279_0_85"/>
          <p:cNvSpPr/>
          <p:nvPr/>
        </p:nvSpPr>
        <p:spPr>
          <a:xfrm>
            <a:off x="320050" y="1371600"/>
            <a:ext cx="56826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i="0" lang="en-US" sz="10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Performed on the FIRST spinning foot. Has significant impact on balance, control, and execution. Intended basic position reached within 2 revolutions. Must be different in nature from </a:t>
            </a:r>
            <a:r>
              <a:rPr b="1" lang="en-US" sz="105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any diff exit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6" name="Google Shape;1376;g3cd8d7dd279_0_85"/>
          <p:cNvGrpSpPr/>
          <p:nvPr/>
        </p:nvGrpSpPr>
        <p:grpSpPr>
          <a:xfrm>
            <a:off x="274325" y="1834857"/>
            <a:ext cx="3799500" cy="365402"/>
            <a:chOff x="274325" y="1682500"/>
            <a:chExt cx="3799500" cy="315900"/>
          </a:xfrm>
        </p:grpSpPr>
        <p:sp>
          <p:nvSpPr>
            <p:cNvPr id="1377" name="Google Shape;1377;g3cd8d7dd279_0_85"/>
            <p:cNvSpPr/>
            <p:nvPr/>
          </p:nvSpPr>
          <p:spPr>
            <a:xfrm>
              <a:off x="274325" y="1682500"/>
              <a:ext cx="3799500" cy="315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g3cd8d7dd279_0_85"/>
            <p:cNvSpPr/>
            <p:nvPr/>
          </p:nvSpPr>
          <p:spPr>
            <a:xfrm>
              <a:off x="315034" y="1682500"/>
              <a:ext cx="3718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1: Is this entrance </a:t>
              </a:r>
              <a:r>
                <a:rPr b="1" lang="en-US" sz="108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NOT a flying entrance</a:t>
              </a: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9" name="Google Shape;1379;g3cd8d7dd279_0_85"/>
          <p:cNvSpPr/>
          <p:nvPr/>
        </p:nvSpPr>
        <p:spPr>
          <a:xfrm>
            <a:off x="4148161" y="1834850"/>
            <a:ext cx="1872300" cy="3654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g3cd8d7dd279_0_85"/>
          <p:cNvSpPr/>
          <p:nvPr/>
        </p:nvSpPr>
        <p:spPr>
          <a:xfrm>
            <a:off x="4174909" y="1834850"/>
            <a:ext cx="18189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If both difficult and flying → </a:t>
            </a:r>
            <a:b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           F #11 only; F #5 not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g3cd8d7dd279_0_85"/>
          <p:cNvSpPr/>
          <p:nvPr/>
        </p:nvSpPr>
        <p:spPr>
          <a:xfrm>
            <a:off x="274375" y="2177100"/>
            <a:ext cx="3732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2" name="Google Shape;1382;g3cd8d7dd279_0_85"/>
          <p:cNvGrpSpPr/>
          <p:nvPr/>
        </p:nvGrpSpPr>
        <p:grpSpPr>
          <a:xfrm>
            <a:off x="274375" y="2345758"/>
            <a:ext cx="3799500" cy="403057"/>
            <a:chOff x="274375" y="2194808"/>
            <a:chExt cx="3799500" cy="315900"/>
          </a:xfrm>
        </p:grpSpPr>
        <p:sp>
          <p:nvSpPr>
            <p:cNvPr id="1383" name="Google Shape;1383;g3cd8d7dd279_0_85"/>
            <p:cNvSpPr/>
            <p:nvPr/>
          </p:nvSpPr>
          <p:spPr>
            <a:xfrm>
              <a:off x="274375" y="2194808"/>
              <a:ext cx="3799500" cy="315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g3cd8d7dd279_0_85"/>
            <p:cNvSpPr/>
            <p:nvPr/>
          </p:nvSpPr>
          <p:spPr>
            <a:xfrm>
              <a:off x="315084" y="2194808"/>
              <a:ext cx="3718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2: Does the entrance have significant impact on balance, control, and execution?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5" name="Google Shape;1385;g3cd8d7dd279_0_85"/>
          <p:cNvGrpSpPr/>
          <p:nvPr/>
        </p:nvGrpSpPr>
        <p:grpSpPr>
          <a:xfrm>
            <a:off x="274325" y="2894315"/>
            <a:ext cx="3799500" cy="403088"/>
            <a:chOff x="274325" y="2743766"/>
            <a:chExt cx="3799500" cy="315900"/>
          </a:xfrm>
        </p:grpSpPr>
        <p:sp>
          <p:nvSpPr>
            <p:cNvPr id="1386" name="Google Shape;1386;g3cd8d7dd279_0_85"/>
            <p:cNvSpPr/>
            <p:nvPr/>
          </p:nvSpPr>
          <p:spPr>
            <a:xfrm>
              <a:off x="274325" y="2743766"/>
              <a:ext cx="3799500" cy="315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g3cd8d7dd279_0_85"/>
            <p:cNvSpPr/>
            <p:nvPr/>
          </p:nvSpPr>
          <p:spPr>
            <a:xfrm>
              <a:off x="315034" y="2743766"/>
              <a:ext cx="3718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3: Is the intended basic position reached within 2 revolutions?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8" name="Google Shape;1388;g3cd8d7dd279_0_85"/>
          <p:cNvSpPr/>
          <p:nvPr/>
        </p:nvSpPr>
        <p:spPr>
          <a:xfrm>
            <a:off x="4148161" y="3442875"/>
            <a:ext cx="1872300" cy="4032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g3cd8d7dd279_0_85"/>
          <p:cNvSpPr/>
          <p:nvPr/>
        </p:nvSpPr>
        <p:spPr>
          <a:xfrm>
            <a:off x="4174910" y="3442875"/>
            <a:ext cx="1818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Feature NOT achieved — </a:t>
            </a:r>
            <a:b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           IS marked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0" name="Google Shape;1390;g3cd8d7dd279_0_85"/>
          <p:cNvGrpSpPr/>
          <p:nvPr/>
        </p:nvGrpSpPr>
        <p:grpSpPr>
          <a:xfrm>
            <a:off x="274325" y="3442903"/>
            <a:ext cx="3799500" cy="403088"/>
            <a:chOff x="274325" y="3312499"/>
            <a:chExt cx="3799500" cy="315900"/>
          </a:xfrm>
        </p:grpSpPr>
        <p:sp>
          <p:nvSpPr>
            <p:cNvPr id="1391" name="Google Shape;1391;g3cd8d7dd279_0_85"/>
            <p:cNvSpPr/>
            <p:nvPr/>
          </p:nvSpPr>
          <p:spPr>
            <a:xfrm>
              <a:off x="274325" y="3312499"/>
              <a:ext cx="3799500" cy="315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g3cd8d7dd279_0_85"/>
            <p:cNvSpPr/>
            <p:nvPr/>
          </p:nvSpPr>
          <p:spPr>
            <a:xfrm>
              <a:off x="315034" y="3312499"/>
              <a:ext cx="3718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4: Is this entry different in nature from any difficult exit </a:t>
              </a:r>
              <a:r>
                <a:rPr b="1" lang="en-US" sz="108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attempted in the program?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3" name="Google Shape;1393;g3cd8d7dd279_0_85"/>
          <p:cNvSpPr/>
          <p:nvPr/>
        </p:nvSpPr>
        <p:spPr>
          <a:xfrm>
            <a:off x="4148150" y="3991500"/>
            <a:ext cx="1872300" cy="4032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g3cd8d7dd279_0_85"/>
          <p:cNvSpPr/>
          <p:nvPr/>
        </p:nvSpPr>
        <p:spPr>
          <a:xfrm>
            <a:off x="4174899" y="3991500"/>
            <a:ext cx="1818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Conflict with exit — see special case rules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5" name="Google Shape;1395;g3cd8d7dd279_0_85"/>
          <p:cNvGrpSpPr/>
          <p:nvPr/>
        </p:nvGrpSpPr>
        <p:grpSpPr>
          <a:xfrm>
            <a:off x="274325" y="3991491"/>
            <a:ext cx="3799500" cy="403088"/>
            <a:chOff x="274325" y="3957432"/>
            <a:chExt cx="3799500" cy="315900"/>
          </a:xfrm>
        </p:grpSpPr>
        <p:sp>
          <p:nvSpPr>
            <p:cNvPr id="1396" name="Google Shape;1396;g3cd8d7dd279_0_85"/>
            <p:cNvSpPr/>
            <p:nvPr/>
          </p:nvSpPr>
          <p:spPr>
            <a:xfrm>
              <a:off x="274325" y="3957432"/>
              <a:ext cx="3799500" cy="315900"/>
            </a:xfrm>
            <a:prstGeom prst="rect">
              <a:avLst/>
            </a:prstGeom>
            <a:solidFill>
              <a:srgbClr val="EDE9FE"/>
            </a:solidFill>
            <a:ln cap="flat" cmpd="sng" w="12700">
              <a:solidFill>
                <a:srgbClr val="7B6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g3cd8d7dd279_0_85"/>
            <p:cNvSpPr/>
            <p:nvPr/>
          </p:nvSpPr>
          <p:spPr>
            <a:xfrm>
              <a:off x="315034" y="3957432"/>
              <a:ext cx="3718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880"/>
                <a:buFont typeface="Calibri"/>
                <a:buNone/>
              </a:pPr>
              <a:r>
                <a:rPr b="1" i="0" lang="en-US" sz="1080" u="none" cap="none" strike="noStrike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STEP 5: First time attempted in program?</a:t>
              </a:r>
              <a:endParaRPr b="0" i="0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8" name="Google Shape;1398;g3cd8d7dd279_0_85"/>
          <p:cNvSpPr/>
          <p:nvPr/>
        </p:nvSpPr>
        <p:spPr>
          <a:xfrm>
            <a:off x="4148161" y="4547575"/>
            <a:ext cx="1872300" cy="4032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g3cd8d7dd279_0_85"/>
          <p:cNvSpPr/>
          <p:nvPr/>
        </p:nvSpPr>
        <p:spPr>
          <a:xfrm>
            <a:off x="4174910" y="4547575"/>
            <a:ext cx="1818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USED from prior spin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0" name="Google Shape;1400;g3cd8d7dd279_0_85"/>
          <p:cNvGrpSpPr/>
          <p:nvPr/>
        </p:nvGrpSpPr>
        <p:grpSpPr>
          <a:xfrm>
            <a:off x="274325" y="4540079"/>
            <a:ext cx="3799500" cy="403081"/>
            <a:chOff x="274325" y="4844766"/>
            <a:chExt cx="3799500" cy="298800"/>
          </a:xfrm>
        </p:grpSpPr>
        <p:sp>
          <p:nvSpPr>
            <p:cNvPr id="1401" name="Google Shape;1401;g3cd8d7dd279_0_85"/>
            <p:cNvSpPr/>
            <p:nvPr/>
          </p:nvSpPr>
          <p:spPr>
            <a:xfrm>
              <a:off x="274325" y="4844766"/>
              <a:ext cx="3799500" cy="298800"/>
            </a:xfrm>
            <a:prstGeom prst="rect">
              <a:avLst/>
            </a:prstGeom>
            <a:solidFill>
              <a:srgbClr val="D4EDDA"/>
            </a:solidFill>
            <a:ln cap="flat" cmpd="sng" w="12700">
              <a:solidFill>
                <a:srgbClr val="1A7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402" name="Google Shape;1402;g3cd8d7dd279_0_85"/>
            <p:cNvSpPr/>
            <p:nvPr/>
          </p:nvSpPr>
          <p:spPr>
            <a:xfrm>
              <a:off x="315034" y="4844766"/>
              <a:ext cx="3718200" cy="2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A4A"/>
                </a:buClr>
                <a:buSzPts val="8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✓  Feature #5 </a:t>
              </a:r>
              <a:r>
                <a:rPr b="1" lang="en-US" sz="1050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ACHIEVED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3" name="Google Shape;1403;g3cd8d7dd279_0_85"/>
          <p:cNvSpPr/>
          <p:nvPr/>
        </p:nvSpPr>
        <p:spPr>
          <a:xfrm>
            <a:off x="6260275" y="1371600"/>
            <a:ext cx="2609400" cy="21366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04" name="Google Shape;1404;g3cd8d7dd279_0_85"/>
          <p:cNvSpPr/>
          <p:nvPr/>
        </p:nvSpPr>
        <p:spPr>
          <a:xfrm>
            <a:off x="6260275" y="1371600"/>
            <a:ext cx="2609400" cy="2559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05" name="Google Shape;1405;g3cd8d7dd279_0_85"/>
          <p:cNvSpPr/>
          <p:nvPr/>
        </p:nvSpPr>
        <p:spPr>
          <a:xfrm>
            <a:off x="6318250" y="1371600"/>
            <a:ext cx="249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⚡  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Critical Exceptions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g3cd8d7dd279_0_85"/>
          <p:cNvSpPr/>
          <p:nvPr/>
        </p:nvSpPr>
        <p:spPr>
          <a:xfrm>
            <a:off x="6318250" y="1677000"/>
            <a:ext cx="2493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Difficult AND flying → ONLY Feature #11 awarded; Feature #5 NOT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g3cd8d7dd279_0_85"/>
          <p:cNvSpPr/>
          <p:nvPr/>
        </p:nvSpPr>
        <p:spPr>
          <a:xfrm>
            <a:off x="6318250" y="2058000"/>
            <a:ext cx="2493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Regular flying camel → neither feature counts; difficult entrance NOT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g3cd8d7dd279_0_85"/>
          <p:cNvSpPr/>
          <p:nvPr/>
        </p:nvSpPr>
        <p:spPr>
          <a:xfrm>
            <a:off x="6318250" y="2499325"/>
            <a:ext cx="24933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Windmill as entry: only valid if holding blade on spinning foot at 135°+. Any windmill entry attempt = windmill USED but difficult entrance NOT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g3cd8d7dd279_0_85"/>
          <p:cNvSpPr/>
          <p:nvPr/>
        </p:nvSpPr>
        <p:spPr>
          <a:xfrm>
            <a:off x="6318262" y="3106204"/>
            <a:ext cx="2493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Both entrance and exit in same spin: panel can use exit as mandatory feature; all 5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g3cd8d7dd279_0_85"/>
          <p:cNvSpPr/>
          <p:nvPr/>
        </p:nvSpPr>
        <p:spPr>
          <a:xfrm>
            <a:off x="6260275" y="3600250"/>
            <a:ext cx="2609400" cy="13428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11" name="Google Shape;1411;g3cd8d7dd279_0_85"/>
          <p:cNvSpPr/>
          <p:nvPr/>
        </p:nvSpPr>
        <p:spPr>
          <a:xfrm>
            <a:off x="6260275" y="3600250"/>
            <a:ext cx="2609400" cy="237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12" name="Google Shape;1412;g3cd8d7dd279_0_85"/>
          <p:cNvSpPr/>
          <p:nvPr/>
        </p:nvSpPr>
        <p:spPr>
          <a:xfrm>
            <a:off x="6318275" y="3605350"/>
            <a:ext cx="2493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g3cd8d7dd279_0_85"/>
          <p:cNvSpPr/>
          <p:nvPr/>
        </p:nvSpPr>
        <p:spPr>
          <a:xfrm>
            <a:off x="6318263" y="3832831"/>
            <a:ext cx="2493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Difficult + flying → mistakenly awarding both #5 and #11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g3cd8d7dd279_0_85"/>
          <p:cNvSpPr/>
          <p:nvPr/>
        </p:nvSpPr>
        <p:spPr>
          <a:xfrm>
            <a:off x="6318263" y="4198015"/>
            <a:ext cx="2493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Position not reached within 2 revolutions — IS marked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g3cd8d7dd279_0_85"/>
          <p:cNvSpPr/>
          <p:nvPr/>
        </p:nvSpPr>
        <p:spPr>
          <a:xfrm>
            <a:off x="6318263" y="4563200"/>
            <a:ext cx="2493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Entrance and exit of same nature — only one can be awarded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g3cd8d7dd279_0_85"/>
          <p:cNvSpPr/>
          <p:nvPr/>
        </p:nvSpPr>
        <p:spPr>
          <a:xfrm>
            <a:off x="4138600" y="2356125"/>
            <a:ext cx="1872300" cy="1824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17" name="Google Shape;1417;g3cd8d7dd279_0_85"/>
          <p:cNvSpPr/>
          <p:nvPr/>
        </p:nvSpPr>
        <p:spPr>
          <a:xfrm>
            <a:off x="4142100" y="2556550"/>
            <a:ext cx="1872300" cy="1824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18" name="Google Shape;1418;g3cd8d7dd279_0_85"/>
          <p:cNvSpPr/>
          <p:nvPr/>
        </p:nvSpPr>
        <p:spPr>
          <a:xfrm>
            <a:off x="4165820" y="2333200"/>
            <a:ext cx="171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No attempt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— NOT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g3cd8d7dd279_0_85"/>
          <p:cNvSpPr/>
          <p:nvPr/>
        </p:nvSpPr>
        <p:spPr>
          <a:xfrm>
            <a:off x="4165820" y="2530100"/>
            <a:ext cx="171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lang="en-US" sz="980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Clear attem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pt —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g3cd8d7dd279_0_85"/>
          <p:cNvSpPr/>
          <p:nvPr/>
        </p:nvSpPr>
        <p:spPr>
          <a:xfrm>
            <a:off x="4157025" y="2881350"/>
            <a:ext cx="1872300" cy="4032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g3cd8d7dd279_0_85"/>
          <p:cNvSpPr/>
          <p:nvPr/>
        </p:nvSpPr>
        <p:spPr>
          <a:xfrm>
            <a:off x="4183775" y="2881350"/>
            <a:ext cx="1818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Feature NOT achieved — </a:t>
            </a:r>
            <a:b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           IS marked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g3cd8d7dd279_0_85"/>
          <p:cNvSpPr/>
          <p:nvPr/>
        </p:nvSpPr>
        <p:spPr>
          <a:xfrm>
            <a:off x="274375" y="2749700"/>
            <a:ext cx="373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g3cd8d7dd279_0_85"/>
          <p:cNvSpPr/>
          <p:nvPr/>
        </p:nvSpPr>
        <p:spPr>
          <a:xfrm>
            <a:off x="274375" y="3283200"/>
            <a:ext cx="373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g3cd8d7dd279_0_85"/>
          <p:cNvSpPr/>
          <p:nvPr/>
        </p:nvSpPr>
        <p:spPr>
          <a:xfrm>
            <a:off x="274375" y="3846600"/>
            <a:ext cx="373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g3cd8d7dd279_0_85"/>
          <p:cNvSpPr/>
          <p:nvPr/>
        </p:nvSpPr>
        <p:spPr>
          <a:xfrm>
            <a:off x="274375" y="4386900"/>
            <a:ext cx="373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cd8d7dd279_0_14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g3cd8d7dd279_0_149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g3cd8d7dd279_0_149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#6: Difficult Exit </a:t>
            </a: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g3cd8d7dd279_0_149"/>
          <p:cNvSpPr/>
          <p:nvPr/>
        </p:nvSpPr>
        <p:spPr>
          <a:xfrm>
            <a:off x="3319098" y="1005850"/>
            <a:ext cx="5459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 difficult exit from the spin — can be from either foot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g3cd8d7dd279_0_149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g3cd8d7dd279_0_149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#6 — DIFF. EXIT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g3cd8d7dd279_0_149"/>
          <p:cNvSpPr/>
          <p:nvPr/>
        </p:nvSpPr>
        <p:spPr>
          <a:xfrm>
            <a:off x="1956825" y="1024124"/>
            <a:ext cx="1280100" cy="219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g3cd8d7dd279_0_149"/>
          <p:cNvSpPr/>
          <p:nvPr/>
        </p:nvSpPr>
        <p:spPr>
          <a:xfrm>
            <a:off x="1956825" y="1024124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§SPIN.LF.6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g3cd8d7dd279_0_149"/>
          <p:cNvSpPr/>
          <p:nvPr/>
        </p:nvSpPr>
        <p:spPr>
          <a:xfrm>
            <a:off x="274325" y="1371600"/>
            <a:ext cx="5459100" cy="4572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g3cd8d7dd279_0_149"/>
          <p:cNvSpPr/>
          <p:nvPr/>
        </p:nvSpPr>
        <p:spPr>
          <a:xfrm>
            <a:off x="352309" y="1371600"/>
            <a:ext cx="5303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Can be executed from EITHER foot (unlike Feature #5 which must be first foot). </a:t>
            </a:r>
            <a:b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For one-position/flying spins: exit must start FROM a basic position, NOT from the final windup.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g3cd8d7dd279_0_149"/>
          <p:cNvSpPr/>
          <p:nvPr/>
        </p:nvSpPr>
        <p:spPr>
          <a:xfrm>
            <a:off x="274434" y="1883450"/>
            <a:ext cx="3429900" cy="3447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2" name="Google Shape;1442;g3cd8d7dd279_0_149"/>
          <p:cNvSpPr/>
          <p:nvPr/>
        </p:nvSpPr>
        <p:spPr>
          <a:xfrm>
            <a:off x="311182" y="1883450"/>
            <a:ext cx="3356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1: Is there a clearly visible exit movement?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g3cd8d7dd279_0_149"/>
          <p:cNvSpPr/>
          <p:nvPr/>
        </p:nvSpPr>
        <p:spPr>
          <a:xfrm>
            <a:off x="3767335" y="1908150"/>
            <a:ext cx="1966200" cy="3447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4" name="Google Shape;1444;g3cd8d7dd279_0_149"/>
          <p:cNvSpPr/>
          <p:nvPr/>
        </p:nvSpPr>
        <p:spPr>
          <a:xfrm>
            <a:off x="3795421" y="1908150"/>
            <a:ext cx="1909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No difficult exit — feature NOT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g3cd8d7dd279_0_149"/>
          <p:cNvSpPr/>
          <p:nvPr/>
        </p:nvSpPr>
        <p:spPr>
          <a:xfrm>
            <a:off x="274225" y="2224816"/>
            <a:ext cx="5028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g3cd8d7dd279_0_149"/>
          <p:cNvSpPr/>
          <p:nvPr/>
        </p:nvSpPr>
        <p:spPr>
          <a:xfrm>
            <a:off x="274434" y="2419420"/>
            <a:ext cx="3429900" cy="3447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7" name="Google Shape;1447;g3cd8d7dd279_0_149"/>
          <p:cNvSpPr/>
          <p:nvPr/>
        </p:nvSpPr>
        <p:spPr>
          <a:xfrm>
            <a:off x="311182" y="2419420"/>
            <a:ext cx="3356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For one-position/flying spins: does the exit start FROM a basic position? 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g3cd8d7dd279_0_149"/>
          <p:cNvSpPr/>
          <p:nvPr/>
        </p:nvSpPr>
        <p:spPr>
          <a:xfrm>
            <a:off x="3767335" y="2419563"/>
            <a:ext cx="1966200" cy="3447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g3cd8d7dd279_0_149"/>
          <p:cNvSpPr/>
          <p:nvPr/>
        </p:nvSpPr>
        <p:spPr>
          <a:xfrm>
            <a:off x="3795421" y="2419563"/>
            <a:ext cx="1909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Not from BP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 — marked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g3cd8d7dd279_0_149"/>
          <p:cNvSpPr/>
          <p:nvPr/>
        </p:nvSpPr>
        <p:spPr>
          <a:xfrm>
            <a:off x="274234" y="2786074"/>
            <a:ext cx="5028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g3cd8d7dd279_0_149"/>
          <p:cNvSpPr/>
          <p:nvPr/>
        </p:nvSpPr>
        <p:spPr>
          <a:xfrm>
            <a:off x="274434" y="2985150"/>
            <a:ext cx="3429900" cy="3447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g3cd8d7dd279_0_149"/>
          <p:cNvSpPr/>
          <p:nvPr/>
        </p:nvSpPr>
        <p:spPr>
          <a:xfrm>
            <a:off x="311182" y="2985150"/>
            <a:ext cx="3356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Does the exit have significant impact on balance, control, and execution?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g3cd8d7dd279_0_149"/>
          <p:cNvSpPr/>
          <p:nvPr/>
        </p:nvSpPr>
        <p:spPr>
          <a:xfrm>
            <a:off x="274434" y="3563107"/>
            <a:ext cx="3429900" cy="3402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54" name="Google Shape;1454;g3cd8d7dd279_0_149"/>
          <p:cNvSpPr/>
          <p:nvPr/>
        </p:nvSpPr>
        <p:spPr>
          <a:xfrm>
            <a:off x="311184" y="3558632"/>
            <a:ext cx="3356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Is this exit different in nature from any difficult entrance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attempted in the program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g3cd8d7dd279_0_149"/>
          <p:cNvSpPr/>
          <p:nvPr/>
        </p:nvSpPr>
        <p:spPr>
          <a:xfrm>
            <a:off x="3767335" y="3558544"/>
            <a:ext cx="1966200" cy="3447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56" name="Google Shape;1456;g3cd8d7dd279_0_149"/>
          <p:cNvSpPr/>
          <p:nvPr/>
        </p:nvSpPr>
        <p:spPr>
          <a:xfrm>
            <a:off x="3795421" y="3558544"/>
            <a:ext cx="1909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Conflict with entrance</a:t>
            </a:r>
            <a:r>
              <a:rPr lang="en-US" sz="9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9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marked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g3cd8d7dd279_0_149"/>
          <p:cNvSpPr/>
          <p:nvPr/>
        </p:nvSpPr>
        <p:spPr>
          <a:xfrm>
            <a:off x="274432" y="4104893"/>
            <a:ext cx="3429900" cy="312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58" name="Google Shape;1458;g3cd8d7dd279_0_149"/>
          <p:cNvSpPr/>
          <p:nvPr/>
        </p:nvSpPr>
        <p:spPr>
          <a:xfrm>
            <a:off x="311181" y="4104893"/>
            <a:ext cx="3356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80"/>
              <a:buFont typeface="Calibri"/>
              <a:buNone/>
            </a:pP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US" sz="108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8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: First time attempted in program?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g3cd8d7dd279_0_149"/>
          <p:cNvSpPr/>
          <p:nvPr/>
        </p:nvSpPr>
        <p:spPr>
          <a:xfrm>
            <a:off x="3767274" y="4104776"/>
            <a:ext cx="1966200" cy="3126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0" name="Google Shape;1460;g3cd8d7dd279_0_149"/>
          <p:cNvSpPr/>
          <p:nvPr/>
        </p:nvSpPr>
        <p:spPr>
          <a:xfrm>
            <a:off x="3795362" y="4104776"/>
            <a:ext cx="19098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B00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b="0" i="0" lang="en-US" sz="980" u="none" cap="none" strike="noStrike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USED from prior spin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g3cd8d7dd279_0_149"/>
          <p:cNvSpPr/>
          <p:nvPr/>
        </p:nvSpPr>
        <p:spPr>
          <a:xfrm>
            <a:off x="280534" y="4410746"/>
            <a:ext cx="50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g3cd8d7dd279_0_149"/>
          <p:cNvSpPr/>
          <p:nvPr/>
        </p:nvSpPr>
        <p:spPr>
          <a:xfrm>
            <a:off x="274432" y="4636643"/>
            <a:ext cx="3429900" cy="2709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3" name="Google Shape;1463;g3cd8d7dd279_0_149"/>
          <p:cNvSpPr/>
          <p:nvPr/>
        </p:nvSpPr>
        <p:spPr>
          <a:xfrm>
            <a:off x="311181" y="4636643"/>
            <a:ext cx="3356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Feature #6 </a:t>
            </a:r>
            <a:r>
              <a:rPr b="1" lang="en-US" sz="105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ACHIEVED </a:t>
            </a: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[MANDATORY] — </a:t>
            </a:r>
            <a:r>
              <a:rPr b="1" lang="en-US" sz="105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Level 4 Open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g3cd8d7dd279_0_149"/>
          <p:cNvSpPr/>
          <p:nvPr/>
        </p:nvSpPr>
        <p:spPr>
          <a:xfrm>
            <a:off x="5998427" y="1371603"/>
            <a:ext cx="2871300" cy="21393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5" name="Google Shape;1465;g3cd8d7dd279_0_149"/>
          <p:cNvSpPr/>
          <p:nvPr/>
        </p:nvSpPr>
        <p:spPr>
          <a:xfrm>
            <a:off x="5998427" y="1371600"/>
            <a:ext cx="2871300" cy="340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6" name="Google Shape;1466;g3cd8d7dd279_0_149"/>
          <p:cNvSpPr/>
          <p:nvPr/>
        </p:nvSpPr>
        <p:spPr>
          <a:xfrm>
            <a:off x="6062233" y="1371600"/>
            <a:ext cx="27435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g3cd8d7dd279_0_149"/>
          <p:cNvSpPr/>
          <p:nvPr/>
        </p:nvSpPr>
        <p:spPr>
          <a:xfrm>
            <a:off x="6062233" y="1780301"/>
            <a:ext cx="2743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Spins in One Position: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Exit starts from final windup NOT from basic position; IS marked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g3cd8d7dd279_0_149"/>
          <p:cNvSpPr/>
          <p:nvPr/>
        </p:nvSpPr>
        <p:spPr>
          <a:xfrm>
            <a:off x="6062225" y="2204827"/>
            <a:ext cx="27435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A listed jump immediately after the spin ≠ difficult exit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g3cd8d7dd279_0_149"/>
          <p:cNvSpPr/>
          <p:nvPr/>
        </p:nvSpPr>
        <p:spPr>
          <a:xfrm>
            <a:off x="6062225" y="2553174"/>
            <a:ext cx="27435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Same nature as entrance in same spin — only one can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g3cd8d7dd279_0_149"/>
          <p:cNvSpPr/>
          <p:nvPr/>
        </p:nvSpPr>
        <p:spPr>
          <a:xfrm>
            <a:off x="5998400" y="3625625"/>
            <a:ext cx="2871300" cy="12819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g3cd8d7dd279_0_149"/>
          <p:cNvSpPr/>
          <p:nvPr/>
        </p:nvSpPr>
        <p:spPr>
          <a:xfrm>
            <a:off x="5998400" y="3630175"/>
            <a:ext cx="2871300" cy="31260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g3cd8d7dd279_0_149"/>
          <p:cNvSpPr/>
          <p:nvPr/>
        </p:nvSpPr>
        <p:spPr>
          <a:xfrm>
            <a:off x="6062207" y="3630175"/>
            <a:ext cx="2743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📋  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Additional Rules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g3cd8d7dd279_0_149"/>
          <p:cNvSpPr/>
          <p:nvPr/>
        </p:nvSpPr>
        <p:spPr>
          <a:xfrm>
            <a:off x="6062207" y="4031108"/>
            <a:ext cx="2743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Combination spins: exit can start from any position (no restriction)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g3cd8d7dd279_0_149"/>
          <p:cNvSpPr/>
          <p:nvPr/>
        </p:nvSpPr>
        <p:spPr>
          <a:xfrm>
            <a:off x="6062198" y="4431153"/>
            <a:ext cx="27435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Both entrance AND exit in same spin: panel uses exit as mandatory for L4; all 5 features marked 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g3cd8d7dd279_0_149"/>
          <p:cNvSpPr/>
          <p:nvPr/>
        </p:nvSpPr>
        <p:spPr>
          <a:xfrm>
            <a:off x="280534" y="3889456"/>
            <a:ext cx="5028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g3cd8d7dd279_0_149"/>
          <p:cNvSpPr/>
          <p:nvPr/>
        </p:nvSpPr>
        <p:spPr>
          <a:xfrm>
            <a:off x="274234" y="3326434"/>
            <a:ext cx="585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g3cd8d7dd279_0_149"/>
          <p:cNvSpPr/>
          <p:nvPr/>
        </p:nvSpPr>
        <p:spPr>
          <a:xfrm>
            <a:off x="6062225" y="2950976"/>
            <a:ext cx="27435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If using Windmill - Windmill ‘used’ from previous feature and/or not meeting requirements for difficult exit (135 and blade grabbed)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g3cd8d7dd279_0_149"/>
          <p:cNvSpPr/>
          <p:nvPr/>
        </p:nvSpPr>
        <p:spPr>
          <a:xfrm>
            <a:off x="3767275" y="2976100"/>
            <a:ext cx="1962600" cy="1824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F0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79" name="Google Shape;1479;g3cd8d7dd279_0_149"/>
          <p:cNvSpPr/>
          <p:nvPr/>
        </p:nvSpPr>
        <p:spPr>
          <a:xfrm>
            <a:off x="3770944" y="3176525"/>
            <a:ext cx="1962600" cy="1824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80" name="Google Shape;1480;g3cd8d7dd279_0_149"/>
          <p:cNvSpPr/>
          <p:nvPr/>
        </p:nvSpPr>
        <p:spPr>
          <a:xfrm>
            <a:off x="3795807" y="2953175"/>
            <a:ext cx="179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→ </a:t>
            </a:r>
            <a:r>
              <a:rPr lang="en-US" sz="98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No attempt</a:t>
            </a:r>
            <a:r>
              <a:rPr b="0" i="0" lang="en-US" sz="98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— NOT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g3cd8d7dd279_0_149"/>
          <p:cNvSpPr/>
          <p:nvPr/>
        </p:nvSpPr>
        <p:spPr>
          <a:xfrm>
            <a:off x="3795807" y="3150075"/>
            <a:ext cx="179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0"/>
              <a:buFont typeface="Calibri"/>
              <a:buNone/>
            </a:pPr>
            <a:r>
              <a:rPr b="1" lang="en-US" sz="980">
                <a:solidFill>
                  <a:srgbClr val="C25B00"/>
                </a:solidFill>
                <a:latin typeface="Calibri"/>
                <a:ea typeface="Calibri"/>
                <a:cs typeface="Calibri"/>
                <a:sym typeface="Calibri"/>
              </a:rPr>
              <a:t>NO →</a:t>
            </a:r>
            <a:r>
              <a:rPr b="1" lang="en-US" sz="98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80">
                <a:solidFill>
                  <a:srgbClr val="7B4A00"/>
                </a:solidFill>
                <a:latin typeface="Calibri"/>
                <a:ea typeface="Calibri"/>
                <a:cs typeface="Calibri"/>
                <a:sym typeface="Calibri"/>
              </a:rPr>
              <a:t>Clear attempt — USED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cd8d7dd279_0_26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g3cd8d7dd279_0_261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g3cd8d7dd279_0_261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Feature #7: Clear Change of Edge</a:t>
            </a: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g3cd8d7dd279_0_261"/>
          <p:cNvSpPr/>
          <p:nvPr/>
        </p:nvSpPr>
        <p:spPr>
          <a:xfrm>
            <a:off x="3282450" y="1005850"/>
            <a:ext cx="586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Change of edge</a:t>
            </a: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 within an allowed position — 2+ revolutions on each edge; basic position maintained throughout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g3cd8d7dd279_0_261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g3cd8d7dd279_0_261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#7 — CHANGE OF EDGE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g3cd8d7dd279_0_261"/>
          <p:cNvSpPr/>
          <p:nvPr/>
        </p:nvSpPr>
        <p:spPr>
          <a:xfrm>
            <a:off x="1956825" y="1024124"/>
            <a:ext cx="1280100" cy="237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g3cd8d7dd279_0_261"/>
          <p:cNvSpPr/>
          <p:nvPr/>
        </p:nvSpPr>
        <p:spPr>
          <a:xfrm>
            <a:off x="1956825" y="1024124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§SPIN.LF.7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g3cd8d7dd279_0_261"/>
          <p:cNvSpPr/>
          <p:nvPr/>
        </p:nvSpPr>
        <p:spPr>
          <a:xfrm>
            <a:off x="274325" y="1348250"/>
            <a:ext cx="5256600" cy="3348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g3cd8d7dd279_0_261"/>
          <p:cNvSpPr/>
          <p:nvPr/>
        </p:nvSpPr>
        <p:spPr>
          <a:xfrm>
            <a:off x="349413" y="1371600"/>
            <a:ext cx="51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NOT all positions qualify</a:t>
            </a:r>
            <a:r>
              <a:rPr b="1" lang="en-US" sz="100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Sit position has an extra restriction. Basic position must be maintained continuously throughout the edge change.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g3cd8d7dd279_0_261"/>
          <p:cNvSpPr/>
          <p:nvPr/>
        </p:nvSpPr>
        <p:spPr>
          <a:xfrm>
            <a:off x="5688298" y="1348250"/>
            <a:ext cx="3291900" cy="201300"/>
          </a:xfrm>
          <a:prstGeom prst="rect">
            <a:avLst/>
          </a:prstGeom>
          <a:solidFill>
            <a:srgbClr val="243457"/>
          </a:solidFill>
          <a:ln cap="flat" cmpd="sng" w="12700">
            <a:solidFill>
              <a:srgbClr val="243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g3cd8d7dd279_0_261"/>
          <p:cNvSpPr/>
          <p:nvPr/>
        </p:nvSpPr>
        <p:spPr>
          <a:xfrm>
            <a:off x="5735325" y="1348250"/>
            <a:ext cx="319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Allowed Positions for Feature #7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g3cd8d7dd279_0_261"/>
          <p:cNvSpPr/>
          <p:nvPr/>
        </p:nvSpPr>
        <p:spPr>
          <a:xfrm>
            <a:off x="5688298" y="1567708"/>
            <a:ext cx="9405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0" name="Google Shape;1500;g3cd8d7dd279_0_261"/>
          <p:cNvSpPr/>
          <p:nvPr/>
        </p:nvSpPr>
        <p:spPr>
          <a:xfrm>
            <a:off x="6640587" y="1567708"/>
            <a:ext cx="2339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1" name="Google Shape;1501;g3cd8d7dd279_0_261"/>
          <p:cNvSpPr/>
          <p:nvPr/>
        </p:nvSpPr>
        <p:spPr>
          <a:xfrm>
            <a:off x="5723568" y="1567708"/>
            <a:ext cx="88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Camel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g3cd8d7dd279_0_261"/>
          <p:cNvSpPr/>
          <p:nvPr/>
        </p:nvSpPr>
        <p:spPr>
          <a:xfrm>
            <a:off x="6675857" y="1567708"/>
            <a:ext cx="226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Any edge change ✓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g3cd8d7dd279_0_261"/>
          <p:cNvSpPr/>
          <p:nvPr/>
        </p:nvSpPr>
        <p:spPr>
          <a:xfrm>
            <a:off x="5688298" y="1787166"/>
            <a:ext cx="940500" cy="2196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4" name="Google Shape;1504;g3cd8d7dd279_0_261"/>
          <p:cNvSpPr/>
          <p:nvPr/>
        </p:nvSpPr>
        <p:spPr>
          <a:xfrm>
            <a:off x="6640587" y="1787166"/>
            <a:ext cx="2339700" cy="2196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5" name="Google Shape;1505;g3cd8d7dd279_0_261"/>
          <p:cNvSpPr/>
          <p:nvPr/>
        </p:nvSpPr>
        <p:spPr>
          <a:xfrm>
            <a:off x="5723568" y="1787166"/>
            <a:ext cx="88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Layback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g3cd8d7dd279_0_261"/>
          <p:cNvSpPr/>
          <p:nvPr/>
        </p:nvSpPr>
        <p:spPr>
          <a:xfrm>
            <a:off x="6675857" y="1787166"/>
            <a:ext cx="226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Any edge change ✓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g3cd8d7dd279_0_261"/>
          <p:cNvSpPr/>
          <p:nvPr/>
        </p:nvSpPr>
        <p:spPr>
          <a:xfrm>
            <a:off x="5688298" y="2006624"/>
            <a:ext cx="9405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8" name="Google Shape;1508;g3cd8d7dd279_0_261"/>
          <p:cNvSpPr/>
          <p:nvPr/>
        </p:nvSpPr>
        <p:spPr>
          <a:xfrm>
            <a:off x="6640587" y="2006624"/>
            <a:ext cx="2339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9" name="Google Shape;1509;g3cd8d7dd279_0_261"/>
          <p:cNvSpPr/>
          <p:nvPr/>
        </p:nvSpPr>
        <p:spPr>
          <a:xfrm>
            <a:off x="5723568" y="2006624"/>
            <a:ext cx="88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Biellmann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g3cd8d7dd279_0_261"/>
          <p:cNvSpPr/>
          <p:nvPr/>
        </p:nvSpPr>
        <p:spPr>
          <a:xfrm>
            <a:off x="6675857" y="2006624"/>
            <a:ext cx="226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Any edge change ✓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g3cd8d7dd279_0_261"/>
          <p:cNvSpPr/>
          <p:nvPr/>
        </p:nvSpPr>
        <p:spPr>
          <a:xfrm>
            <a:off x="5688298" y="2226082"/>
            <a:ext cx="940500" cy="2196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2" name="Google Shape;1512;g3cd8d7dd279_0_261"/>
          <p:cNvSpPr/>
          <p:nvPr/>
        </p:nvSpPr>
        <p:spPr>
          <a:xfrm>
            <a:off x="6640587" y="2226082"/>
            <a:ext cx="2339700" cy="2196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3" name="Google Shape;1513;g3cd8d7dd279_0_261"/>
          <p:cNvSpPr/>
          <p:nvPr/>
        </p:nvSpPr>
        <p:spPr>
          <a:xfrm>
            <a:off x="5723568" y="2226082"/>
            <a:ext cx="88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lang="en-US" sz="10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Upright</a:t>
            </a:r>
            <a:r>
              <a:rPr b="1" lang="en-US" sz="10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 DV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g3cd8d7dd279_0_261"/>
          <p:cNvSpPr/>
          <p:nvPr/>
        </p:nvSpPr>
        <p:spPr>
          <a:xfrm>
            <a:off x="6675857" y="2226082"/>
            <a:ext cx="226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Any edge change ✓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g3cd8d7dd279_0_261"/>
          <p:cNvSpPr/>
          <p:nvPr/>
        </p:nvSpPr>
        <p:spPr>
          <a:xfrm>
            <a:off x="5688298" y="2445540"/>
            <a:ext cx="9405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6" name="Google Shape;1516;g3cd8d7dd279_0_261"/>
          <p:cNvSpPr/>
          <p:nvPr/>
        </p:nvSpPr>
        <p:spPr>
          <a:xfrm>
            <a:off x="6640587" y="2445540"/>
            <a:ext cx="2339700" cy="219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7" name="Google Shape;1517;g3cd8d7dd279_0_261"/>
          <p:cNvSpPr/>
          <p:nvPr/>
        </p:nvSpPr>
        <p:spPr>
          <a:xfrm>
            <a:off x="5723568" y="2445540"/>
            <a:ext cx="88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g3cd8d7dd279_0_261"/>
          <p:cNvSpPr/>
          <p:nvPr/>
        </p:nvSpPr>
        <p:spPr>
          <a:xfrm>
            <a:off x="6675850" y="2445550"/>
            <a:ext cx="24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ONLY BI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</a:t>
            </a:r>
            <a:r>
              <a:rPr lang="en-US" sz="98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✓  Otherwise NOT an attempt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g3cd8d7dd279_0_261"/>
          <p:cNvSpPr/>
          <p:nvPr/>
        </p:nvSpPr>
        <p:spPr>
          <a:xfrm>
            <a:off x="5688298" y="2664998"/>
            <a:ext cx="940500" cy="2196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20" name="Google Shape;1520;g3cd8d7dd279_0_261"/>
          <p:cNvSpPr/>
          <p:nvPr/>
        </p:nvSpPr>
        <p:spPr>
          <a:xfrm>
            <a:off x="6640587" y="2664998"/>
            <a:ext cx="2339700" cy="2196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D0D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21" name="Google Shape;1521;g3cd8d7dd279_0_261"/>
          <p:cNvSpPr/>
          <p:nvPr/>
        </p:nvSpPr>
        <p:spPr>
          <a:xfrm>
            <a:off x="5723568" y="2664998"/>
            <a:ext cx="88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Basic </a:t>
            </a:r>
            <a:r>
              <a:rPr b="1" lang="en-US" sz="10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i="0" lang="en-US" sz="10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pright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g3cd8d7dd279_0_261"/>
          <p:cNvSpPr/>
          <p:nvPr/>
        </p:nvSpPr>
        <p:spPr>
          <a:xfrm>
            <a:off x="6675857" y="2664998"/>
            <a:ext cx="226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Does NOT qualify — NOT an attempt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3" name="Google Shape;1523;g3cd8d7dd279_0_261"/>
          <p:cNvGrpSpPr/>
          <p:nvPr/>
        </p:nvGrpSpPr>
        <p:grpSpPr>
          <a:xfrm>
            <a:off x="274335" y="1808300"/>
            <a:ext cx="5254554" cy="290702"/>
            <a:chOff x="274325" y="1808286"/>
            <a:chExt cx="5570396" cy="290702"/>
          </a:xfrm>
        </p:grpSpPr>
        <p:grpSp>
          <p:nvGrpSpPr>
            <p:cNvPr id="1524" name="Google Shape;1524;g3cd8d7dd279_0_261"/>
            <p:cNvGrpSpPr/>
            <p:nvPr/>
          </p:nvGrpSpPr>
          <p:grpSpPr>
            <a:xfrm>
              <a:off x="274325" y="1808288"/>
              <a:ext cx="3776100" cy="290700"/>
              <a:chOff x="274325" y="1805850"/>
              <a:chExt cx="3776100" cy="290700"/>
            </a:xfrm>
          </p:grpSpPr>
          <p:sp>
            <p:nvSpPr>
              <p:cNvPr id="1525" name="Google Shape;1525;g3cd8d7dd279_0_261"/>
              <p:cNvSpPr/>
              <p:nvPr/>
            </p:nvSpPr>
            <p:spPr>
              <a:xfrm>
                <a:off x="274325" y="1805850"/>
                <a:ext cx="3776100" cy="2907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g3cd8d7dd279_0_261"/>
              <p:cNvSpPr/>
              <p:nvPr/>
            </p:nvSpPr>
            <p:spPr>
              <a:xfrm>
                <a:off x="314781" y="1805850"/>
                <a:ext cx="3695100" cy="2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1: Is the spin in an allowed position?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7" name="Google Shape;1527;g3cd8d7dd279_0_261"/>
            <p:cNvGrpSpPr/>
            <p:nvPr/>
          </p:nvGrpSpPr>
          <p:grpSpPr>
            <a:xfrm>
              <a:off x="4196820" y="1808286"/>
              <a:ext cx="1647901" cy="290700"/>
              <a:chOff x="4196820" y="1810723"/>
              <a:chExt cx="1647901" cy="290700"/>
            </a:xfrm>
          </p:grpSpPr>
          <p:sp>
            <p:nvSpPr>
              <p:cNvPr id="1528" name="Google Shape;1528;g3cd8d7dd279_0_261"/>
              <p:cNvSpPr/>
              <p:nvPr/>
            </p:nvSpPr>
            <p:spPr>
              <a:xfrm>
                <a:off x="4196820" y="1810723"/>
                <a:ext cx="1647900" cy="290700"/>
              </a:xfrm>
              <a:prstGeom prst="rect">
                <a:avLst/>
              </a:prstGeom>
              <a:solidFill>
                <a:srgbClr val="FEF0F0"/>
              </a:solidFill>
              <a:ln cap="flat" cmpd="sng" w="12700">
                <a:solidFill>
                  <a:srgbClr val="F0AAA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529" name="Google Shape;1529;g3cd8d7dd279_0_261"/>
              <p:cNvSpPr/>
              <p:nvPr/>
            </p:nvSpPr>
            <p:spPr>
              <a:xfrm>
                <a:off x="4196821" y="1810723"/>
                <a:ext cx="1647900" cy="2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0392B"/>
                  </a:buClr>
                  <a:buSzPts val="750"/>
                  <a:buFont typeface="Calibri"/>
                  <a:buNone/>
                </a:pPr>
                <a:r>
                  <a:rPr b="1" i="0" lang="en-US" sz="950" u="none" cap="none" strike="noStrike">
                    <a:solidFill>
                      <a:srgbClr val="C0392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50" u="none" cap="none" strike="noStrike">
                    <a:solidFill>
                      <a:srgbClr val="7B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 an attempt; </a:t>
                </a:r>
                <a:br>
                  <a:rPr b="0" i="0" lang="en-US" sz="950" u="none" cap="none" strike="noStrike">
                    <a:solidFill>
                      <a:srgbClr val="7B1A1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950" u="none" cap="none" strike="noStrike">
                    <a:solidFill>
                      <a:srgbClr val="7B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</a:t>
                </a:r>
                <a:r>
                  <a:rPr lang="en-US" sz="950">
                    <a:solidFill>
                      <a:srgbClr val="7B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 used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30" name="Google Shape;1530;g3cd8d7dd279_0_261"/>
          <p:cNvSpPr/>
          <p:nvPr/>
        </p:nvSpPr>
        <p:spPr>
          <a:xfrm>
            <a:off x="274337" y="2063254"/>
            <a:ext cx="3708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1" name="Google Shape;1531;g3cd8d7dd279_0_261"/>
          <p:cNvGrpSpPr/>
          <p:nvPr/>
        </p:nvGrpSpPr>
        <p:grpSpPr>
          <a:xfrm>
            <a:off x="274335" y="2213025"/>
            <a:ext cx="5254554" cy="290706"/>
            <a:chOff x="274325" y="2218946"/>
            <a:chExt cx="5570395" cy="290706"/>
          </a:xfrm>
        </p:grpSpPr>
        <p:grpSp>
          <p:nvGrpSpPr>
            <p:cNvPr id="1532" name="Google Shape;1532;g3cd8d7dd279_0_261"/>
            <p:cNvGrpSpPr/>
            <p:nvPr/>
          </p:nvGrpSpPr>
          <p:grpSpPr>
            <a:xfrm>
              <a:off x="274325" y="2218952"/>
              <a:ext cx="3776100" cy="290700"/>
              <a:chOff x="274325" y="2215804"/>
              <a:chExt cx="3776100" cy="290700"/>
            </a:xfrm>
          </p:grpSpPr>
          <p:sp>
            <p:nvSpPr>
              <p:cNvPr id="1533" name="Google Shape;1533;g3cd8d7dd279_0_261"/>
              <p:cNvSpPr/>
              <p:nvPr/>
            </p:nvSpPr>
            <p:spPr>
              <a:xfrm>
                <a:off x="274325" y="2215804"/>
                <a:ext cx="3776100" cy="2907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g3cd8d7dd279_0_261"/>
              <p:cNvSpPr/>
              <p:nvPr/>
            </p:nvSpPr>
            <p:spPr>
              <a:xfrm>
                <a:off x="314781" y="2215804"/>
                <a:ext cx="3695100" cy="2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2: For sit position only — is the edge change BI → FO?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5" name="Google Shape;1535;g3cd8d7dd279_0_261"/>
            <p:cNvGrpSpPr/>
            <p:nvPr/>
          </p:nvGrpSpPr>
          <p:grpSpPr>
            <a:xfrm>
              <a:off x="4196820" y="2218946"/>
              <a:ext cx="1647900" cy="290700"/>
              <a:chOff x="4196820" y="2222094"/>
              <a:chExt cx="1647900" cy="290700"/>
            </a:xfrm>
          </p:grpSpPr>
          <p:sp>
            <p:nvSpPr>
              <p:cNvPr id="1536" name="Google Shape;1536;g3cd8d7dd279_0_261"/>
              <p:cNvSpPr/>
              <p:nvPr/>
            </p:nvSpPr>
            <p:spPr>
              <a:xfrm>
                <a:off x="4196820" y="2222094"/>
                <a:ext cx="1647900" cy="290700"/>
              </a:xfrm>
              <a:prstGeom prst="rect">
                <a:avLst/>
              </a:prstGeom>
              <a:solidFill>
                <a:srgbClr val="FEF0F0"/>
              </a:solidFill>
              <a:ln cap="flat" cmpd="sng" w="12700">
                <a:solidFill>
                  <a:srgbClr val="F0AAA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537" name="Google Shape;1537;g3cd8d7dd279_0_261"/>
              <p:cNvSpPr/>
              <p:nvPr/>
            </p:nvSpPr>
            <p:spPr>
              <a:xfrm>
                <a:off x="4196821" y="2222094"/>
                <a:ext cx="1314600" cy="2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0392B"/>
                  </a:buClr>
                  <a:buSzPts val="750"/>
                  <a:buFont typeface="Calibri"/>
                  <a:buNone/>
                </a:pPr>
                <a:r>
                  <a:rPr b="1" i="0" lang="en-US" sz="950" u="none" cap="none" strike="noStrike">
                    <a:solidFill>
                      <a:srgbClr val="C0392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50" u="none" cap="none" strike="noStrike">
                    <a:solidFill>
                      <a:srgbClr val="7B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 an attempt, </a:t>
                </a:r>
                <a:br>
                  <a:rPr b="0" i="0" lang="en-US" sz="950" u="none" cap="none" strike="noStrike">
                    <a:solidFill>
                      <a:srgbClr val="7B1A1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950" u="none" cap="none" strike="noStrike">
                    <a:solidFill>
                      <a:srgbClr val="7B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NOT used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38" name="Google Shape;1538;g3cd8d7dd279_0_261"/>
          <p:cNvSpPr/>
          <p:nvPr/>
        </p:nvSpPr>
        <p:spPr>
          <a:xfrm>
            <a:off x="274337" y="2461788"/>
            <a:ext cx="3708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9" name="Google Shape;1539;g3cd8d7dd279_0_261"/>
          <p:cNvGrpSpPr/>
          <p:nvPr/>
        </p:nvGrpSpPr>
        <p:grpSpPr>
          <a:xfrm>
            <a:off x="274335" y="2617750"/>
            <a:ext cx="5254553" cy="312309"/>
            <a:chOff x="274325" y="2582388"/>
            <a:chExt cx="5570395" cy="312309"/>
          </a:xfrm>
        </p:grpSpPr>
        <p:grpSp>
          <p:nvGrpSpPr>
            <p:cNvPr id="1540" name="Google Shape;1540;g3cd8d7dd279_0_261"/>
            <p:cNvGrpSpPr/>
            <p:nvPr/>
          </p:nvGrpSpPr>
          <p:grpSpPr>
            <a:xfrm>
              <a:off x="274325" y="2582398"/>
              <a:ext cx="3776100" cy="312300"/>
              <a:chOff x="274325" y="2582395"/>
              <a:chExt cx="3776100" cy="312300"/>
            </a:xfrm>
          </p:grpSpPr>
          <p:sp>
            <p:nvSpPr>
              <p:cNvPr id="1541" name="Google Shape;1541;g3cd8d7dd279_0_261"/>
              <p:cNvSpPr/>
              <p:nvPr/>
            </p:nvSpPr>
            <p:spPr>
              <a:xfrm>
                <a:off x="274325" y="2582395"/>
                <a:ext cx="3776100" cy="3123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g3cd8d7dd279_0_261"/>
              <p:cNvSpPr/>
              <p:nvPr/>
            </p:nvSpPr>
            <p:spPr>
              <a:xfrm>
                <a:off x="314781" y="2582395"/>
                <a:ext cx="36951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3: Are there 2+ continuous revolutions on the FIRST edge?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3" name="Google Shape;1543;g3cd8d7dd279_0_261"/>
            <p:cNvGrpSpPr/>
            <p:nvPr/>
          </p:nvGrpSpPr>
          <p:grpSpPr>
            <a:xfrm>
              <a:off x="4196820" y="2582388"/>
              <a:ext cx="1647900" cy="312300"/>
              <a:chOff x="4196820" y="2582391"/>
              <a:chExt cx="1647900" cy="312300"/>
            </a:xfrm>
          </p:grpSpPr>
          <p:sp>
            <p:nvSpPr>
              <p:cNvPr id="1544" name="Google Shape;1544;g3cd8d7dd279_0_261"/>
              <p:cNvSpPr/>
              <p:nvPr/>
            </p:nvSpPr>
            <p:spPr>
              <a:xfrm>
                <a:off x="4196820" y="2582391"/>
                <a:ext cx="1647900" cy="3123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545" name="Google Shape;1545;g3cd8d7dd279_0_261"/>
              <p:cNvSpPr/>
              <p:nvPr/>
            </p:nvSpPr>
            <p:spPr>
              <a:xfrm>
                <a:off x="4196820" y="2582391"/>
                <a:ext cx="13146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50"/>
                  <a:buFont typeface="Calibri"/>
                  <a:buNone/>
                </a:pPr>
                <a:r>
                  <a:rPr b="1" i="0" lang="en-US" sz="95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 achieved</a:t>
                </a:r>
                <a:r>
                  <a:rPr lang="en-US" sz="950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b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USED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6" name="Google Shape;1546;g3cd8d7dd279_0_261"/>
          <p:cNvSpPr/>
          <p:nvPr/>
        </p:nvSpPr>
        <p:spPr>
          <a:xfrm>
            <a:off x="274337" y="2899911"/>
            <a:ext cx="3708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7" name="Google Shape;1547;g3cd8d7dd279_0_261"/>
          <p:cNvGrpSpPr/>
          <p:nvPr/>
        </p:nvGrpSpPr>
        <p:grpSpPr>
          <a:xfrm>
            <a:off x="274335" y="3044088"/>
            <a:ext cx="5254554" cy="312312"/>
            <a:chOff x="274325" y="2970650"/>
            <a:chExt cx="5570395" cy="312312"/>
          </a:xfrm>
        </p:grpSpPr>
        <p:grpSp>
          <p:nvGrpSpPr>
            <p:cNvPr id="1548" name="Google Shape;1548;g3cd8d7dd279_0_261"/>
            <p:cNvGrpSpPr/>
            <p:nvPr/>
          </p:nvGrpSpPr>
          <p:grpSpPr>
            <a:xfrm>
              <a:off x="274325" y="2970650"/>
              <a:ext cx="3776100" cy="312300"/>
              <a:chOff x="274325" y="2970651"/>
              <a:chExt cx="3776100" cy="312300"/>
            </a:xfrm>
          </p:grpSpPr>
          <p:sp>
            <p:nvSpPr>
              <p:cNvPr id="1549" name="Google Shape;1549;g3cd8d7dd279_0_261"/>
              <p:cNvSpPr/>
              <p:nvPr/>
            </p:nvSpPr>
            <p:spPr>
              <a:xfrm>
                <a:off x="274325" y="2970651"/>
                <a:ext cx="3776100" cy="3123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g3cd8d7dd279_0_261"/>
              <p:cNvSpPr/>
              <p:nvPr/>
            </p:nvSpPr>
            <p:spPr>
              <a:xfrm>
                <a:off x="314781" y="2970651"/>
                <a:ext cx="36951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4: Is the </a:t>
                </a:r>
                <a:r>
                  <a:rPr b="1" lang="en-US" sz="100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basic position </a:t>
                </a: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maintained continuously throughout the change?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1" name="Google Shape;1551;g3cd8d7dd279_0_261"/>
            <p:cNvGrpSpPr/>
            <p:nvPr/>
          </p:nvGrpSpPr>
          <p:grpSpPr>
            <a:xfrm>
              <a:off x="4196820" y="2970662"/>
              <a:ext cx="1647900" cy="312300"/>
              <a:chOff x="4196820" y="2970662"/>
              <a:chExt cx="1647900" cy="312300"/>
            </a:xfrm>
          </p:grpSpPr>
          <p:sp>
            <p:nvSpPr>
              <p:cNvPr id="1552" name="Google Shape;1552;g3cd8d7dd279_0_261"/>
              <p:cNvSpPr/>
              <p:nvPr/>
            </p:nvSpPr>
            <p:spPr>
              <a:xfrm>
                <a:off x="4196820" y="2970662"/>
                <a:ext cx="1647900" cy="3123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553" name="Google Shape;1553;g3cd8d7dd279_0_261"/>
              <p:cNvSpPr/>
              <p:nvPr/>
            </p:nvSpPr>
            <p:spPr>
              <a:xfrm>
                <a:off x="4196822" y="2970662"/>
                <a:ext cx="13149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50"/>
                  <a:buFont typeface="Calibri"/>
                  <a:buNone/>
                </a:pPr>
                <a:r>
                  <a:rPr b="1" i="0" lang="en-US" sz="95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lang="en-US" sz="950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 achieved, </a:t>
                </a: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b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USED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54" name="Google Shape;1554;g3cd8d7dd279_0_261"/>
          <p:cNvSpPr/>
          <p:nvPr/>
        </p:nvSpPr>
        <p:spPr>
          <a:xfrm>
            <a:off x="274337" y="3315445"/>
            <a:ext cx="3708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g3cd8d7dd279_0_261"/>
          <p:cNvSpPr/>
          <p:nvPr/>
        </p:nvSpPr>
        <p:spPr>
          <a:xfrm>
            <a:off x="274337" y="3730955"/>
            <a:ext cx="3708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6" name="Google Shape;1556;g3cd8d7dd279_0_261"/>
          <p:cNvGrpSpPr/>
          <p:nvPr/>
        </p:nvGrpSpPr>
        <p:grpSpPr>
          <a:xfrm>
            <a:off x="274335" y="3875146"/>
            <a:ext cx="5254554" cy="290700"/>
            <a:chOff x="274325" y="3747159"/>
            <a:chExt cx="5570395" cy="290700"/>
          </a:xfrm>
        </p:grpSpPr>
        <p:grpSp>
          <p:nvGrpSpPr>
            <p:cNvPr id="1557" name="Google Shape;1557;g3cd8d7dd279_0_261"/>
            <p:cNvGrpSpPr/>
            <p:nvPr/>
          </p:nvGrpSpPr>
          <p:grpSpPr>
            <a:xfrm>
              <a:off x="274325" y="3747159"/>
              <a:ext cx="3776100" cy="290700"/>
              <a:chOff x="274325" y="3747196"/>
              <a:chExt cx="3776100" cy="290700"/>
            </a:xfrm>
          </p:grpSpPr>
          <p:sp>
            <p:nvSpPr>
              <p:cNvPr id="1558" name="Google Shape;1558;g3cd8d7dd279_0_261"/>
              <p:cNvSpPr/>
              <p:nvPr/>
            </p:nvSpPr>
            <p:spPr>
              <a:xfrm>
                <a:off x="274325" y="3747196"/>
                <a:ext cx="3776100" cy="2907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g3cd8d7dd279_0_261"/>
              <p:cNvSpPr/>
              <p:nvPr/>
            </p:nvSpPr>
            <p:spPr>
              <a:xfrm>
                <a:off x="314781" y="3747196"/>
                <a:ext cx="3695100" cy="2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6: Are there 2+ continuous revolutions on the SECOND edge?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0" name="Google Shape;1560;g3cd8d7dd279_0_261"/>
            <p:cNvGrpSpPr/>
            <p:nvPr/>
          </p:nvGrpSpPr>
          <p:grpSpPr>
            <a:xfrm>
              <a:off x="4196820" y="3747163"/>
              <a:ext cx="1647900" cy="290691"/>
              <a:chOff x="4196820" y="3892200"/>
              <a:chExt cx="1647900" cy="311700"/>
            </a:xfrm>
          </p:grpSpPr>
          <p:sp>
            <p:nvSpPr>
              <p:cNvPr id="1561" name="Google Shape;1561;g3cd8d7dd279_0_261"/>
              <p:cNvSpPr/>
              <p:nvPr/>
            </p:nvSpPr>
            <p:spPr>
              <a:xfrm>
                <a:off x="4196820" y="3892200"/>
                <a:ext cx="1647900" cy="3117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g3cd8d7dd279_0_261"/>
              <p:cNvSpPr/>
              <p:nvPr/>
            </p:nvSpPr>
            <p:spPr>
              <a:xfrm>
                <a:off x="4196820" y="3892200"/>
                <a:ext cx="1314900" cy="31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50"/>
                  <a:buFont typeface="Calibri"/>
                  <a:buNone/>
                </a:pPr>
                <a:r>
                  <a:rPr b="1" i="0" lang="en-US" sz="95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 achieved — </a:t>
                </a:r>
                <a:br>
                  <a:rPr lang="en-US" sz="950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950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</a:t>
                </a: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USED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63" name="Google Shape;1563;g3cd8d7dd279_0_261"/>
          <p:cNvSpPr/>
          <p:nvPr/>
        </p:nvSpPr>
        <p:spPr>
          <a:xfrm>
            <a:off x="274325" y="4142975"/>
            <a:ext cx="3708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4" name="Google Shape;1564;g3cd8d7dd279_0_261"/>
          <p:cNvGrpSpPr/>
          <p:nvPr/>
        </p:nvGrpSpPr>
        <p:grpSpPr>
          <a:xfrm>
            <a:off x="274335" y="4279875"/>
            <a:ext cx="5254555" cy="290700"/>
            <a:chOff x="274325" y="4156958"/>
            <a:chExt cx="5570396" cy="290700"/>
          </a:xfrm>
        </p:grpSpPr>
        <p:grpSp>
          <p:nvGrpSpPr>
            <p:cNvPr id="1565" name="Google Shape;1565;g3cd8d7dd279_0_261"/>
            <p:cNvGrpSpPr/>
            <p:nvPr/>
          </p:nvGrpSpPr>
          <p:grpSpPr>
            <a:xfrm>
              <a:off x="274325" y="4156958"/>
              <a:ext cx="3776100" cy="290700"/>
              <a:chOff x="274325" y="4157009"/>
              <a:chExt cx="3776100" cy="290700"/>
            </a:xfrm>
          </p:grpSpPr>
          <p:sp>
            <p:nvSpPr>
              <p:cNvPr id="1566" name="Google Shape;1566;g3cd8d7dd279_0_261"/>
              <p:cNvSpPr/>
              <p:nvPr/>
            </p:nvSpPr>
            <p:spPr>
              <a:xfrm>
                <a:off x="274325" y="4157009"/>
                <a:ext cx="3776100" cy="2907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g3cd8d7dd279_0_261"/>
              <p:cNvSpPr/>
              <p:nvPr/>
            </p:nvSpPr>
            <p:spPr>
              <a:xfrm>
                <a:off x="314781" y="4157009"/>
                <a:ext cx="3695100" cy="2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7: Neither position is a used DV? First time attempted?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8" name="Google Shape;1568;g3cd8d7dd279_0_261"/>
            <p:cNvGrpSpPr/>
            <p:nvPr/>
          </p:nvGrpSpPr>
          <p:grpSpPr>
            <a:xfrm>
              <a:off x="4196820" y="4156958"/>
              <a:ext cx="1647901" cy="290691"/>
              <a:chOff x="4196820" y="4304770"/>
              <a:chExt cx="1647901" cy="311700"/>
            </a:xfrm>
          </p:grpSpPr>
          <p:sp>
            <p:nvSpPr>
              <p:cNvPr id="1569" name="Google Shape;1569;g3cd8d7dd279_0_261"/>
              <p:cNvSpPr/>
              <p:nvPr/>
            </p:nvSpPr>
            <p:spPr>
              <a:xfrm>
                <a:off x="4196820" y="4304770"/>
                <a:ext cx="1647900" cy="3117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g3cd8d7dd279_0_261"/>
              <p:cNvSpPr/>
              <p:nvPr/>
            </p:nvSpPr>
            <p:spPr>
              <a:xfrm>
                <a:off x="4196821" y="4304770"/>
                <a:ext cx="1647900" cy="31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50"/>
                  <a:buFont typeface="Calibri"/>
                  <a:buNone/>
                </a:pPr>
                <a:r>
                  <a:rPr b="1" i="0" lang="en-US" sz="95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 BLOCKED </a:t>
                </a:r>
                <a:b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or USED from prior spin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71" name="Google Shape;1571;g3cd8d7dd279_0_261"/>
          <p:cNvSpPr/>
          <p:nvPr/>
        </p:nvSpPr>
        <p:spPr>
          <a:xfrm>
            <a:off x="274327" y="4699125"/>
            <a:ext cx="3561900" cy="290700"/>
          </a:xfrm>
          <a:prstGeom prst="rect">
            <a:avLst/>
          </a:prstGeom>
          <a:solidFill>
            <a:srgbClr val="D4EDD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g3cd8d7dd279_0_261"/>
          <p:cNvSpPr/>
          <p:nvPr/>
        </p:nvSpPr>
        <p:spPr>
          <a:xfrm>
            <a:off x="312488" y="4699125"/>
            <a:ext cx="34857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 Feature #7 </a:t>
            </a:r>
            <a:r>
              <a:rPr b="1" lang="en-US" sz="10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ACHIEVED </a:t>
            </a: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[MANDATORY] — </a:t>
            </a:r>
            <a:r>
              <a:rPr b="1" lang="en-US" sz="10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Level 4 Open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g3cd8d7dd279_0_261"/>
          <p:cNvSpPr/>
          <p:nvPr/>
        </p:nvSpPr>
        <p:spPr>
          <a:xfrm>
            <a:off x="5688300" y="2931200"/>
            <a:ext cx="3291900" cy="9144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74" name="Google Shape;1574;g3cd8d7dd279_0_261"/>
          <p:cNvSpPr/>
          <p:nvPr/>
        </p:nvSpPr>
        <p:spPr>
          <a:xfrm>
            <a:off x="5688290" y="2937200"/>
            <a:ext cx="3291900" cy="219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75" name="Google Shape;1575;g3cd8d7dd279_0_261"/>
          <p:cNvSpPr/>
          <p:nvPr/>
        </p:nvSpPr>
        <p:spPr>
          <a:xfrm>
            <a:off x="5761442" y="2937200"/>
            <a:ext cx="3145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g3cd8d7dd279_0_261"/>
          <p:cNvSpPr/>
          <p:nvPr/>
        </p:nvSpPr>
        <p:spPr>
          <a:xfrm>
            <a:off x="5761442" y="3193232"/>
            <a:ext cx="314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Flat blade — no true second circle; most common failure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g3cd8d7dd279_0_261"/>
          <p:cNvSpPr/>
          <p:nvPr/>
        </p:nvSpPr>
        <p:spPr>
          <a:xfrm>
            <a:off x="5761442" y="3394400"/>
            <a:ext cx="314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Leaving the basic position during the change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g3cd8d7dd279_0_261"/>
          <p:cNvSpPr/>
          <p:nvPr/>
        </p:nvSpPr>
        <p:spPr>
          <a:xfrm>
            <a:off x="5761442" y="3595568"/>
            <a:ext cx="314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Fewer than 2 continuous revolutions on either edge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g3cd8d7dd279_0_261"/>
          <p:cNvSpPr/>
          <p:nvPr/>
        </p:nvSpPr>
        <p:spPr>
          <a:xfrm>
            <a:off x="5688300" y="3925750"/>
            <a:ext cx="3291900" cy="10608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80" name="Google Shape;1580;g3cd8d7dd279_0_261"/>
          <p:cNvSpPr/>
          <p:nvPr/>
        </p:nvSpPr>
        <p:spPr>
          <a:xfrm>
            <a:off x="5688300" y="3925750"/>
            <a:ext cx="3291900" cy="25590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81" name="Google Shape;1581;g3cd8d7dd279_0_261"/>
          <p:cNvSpPr/>
          <p:nvPr/>
        </p:nvSpPr>
        <p:spPr>
          <a:xfrm>
            <a:off x="5761450" y="3925750"/>
            <a:ext cx="3145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📋  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Special Cases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g3cd8d7dd279_0_261"/>
          <p:cNvSpPr/>
          <p:nvPr/>
        </p:nvSpPr>
        <p:spPr>
          <a:xfrm>
            <a:off x="5761450" y="4200251"/>
            <a:ext cx="3145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Post-landing exception: short adjustment phase after flying entry (flat to edge) is NOT a change of edge attempt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g3cd8d7dd279_0_261"/>
          <p:cNvSpPr/>
          <p:nvPr/>
        </p:nvSpPr>
        <p:spPr>
          <a:xfrm>
            <a:off x="5761450" y="4582701"/>
            <a:ext cx="3145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Basic/simple upright edge changes: NOT attempts; feature stays available for valid 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4" name="Google Shape;1584;g3cd8d7dd279_0_261"/>
          <p:cNvGrpSpPr/>
          <p:nvPr/>
        </p:nvGrpSpPr>
        <p:grpSpPr>
          <a:xfrm>
            <a:off x="274335" y="3470417"/>
            <a:ext cx="5259756" cy="290700"/>
            <a:chOff x="274325" y="3364480"/>
            <a:chExt cx="5575910" cy="290700"/>
          </a:xfrm>
        </p:grpSpPr>
        <p:grpSp>
          <p:nvGrpSpPr>
            <p:cNvPr id="1585" name="Google Shape;1585;g3cd8d7dd279_0_261"/>
            <p:cNvGrpSpPr/>
            <p:nvPr/>
          </p:nvGrpSpPr>
          <p:grpSpPr>
            <a:xfrm>
              <a:off x="274325" y="3364480"/>
              <a:ext cx="3776100" cy="290700"/>
              <a:chOff x="274325" y="3364464"/>
              <a:chExt cx="3776100" cy="290700"/>
            </a:xfrm>
          </p:grpSpPr>
          <p:sp>
            <p:nvSpPr>
              <p:cNvPr id="1586" name="Google Shape;1586;g3cd8d7dd279_0_261"/>
              <p:cNvSpPr/>
              <p:nvPr/>
            </p:nvSpPr>
            <p:spPr>
              <a:xfrm>
                <a:off x="274325" y="3364464"/>
                <a:ext cx="3776100" cy="2907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g3cd8d7dd279_0_261"/>
              <p:cNvSpPr/>
              <p:nvPr/>
            </p:nvSpPr>
            <p:spPr>
              <a:xfrm>
                <a:off x="314781" y="3364464"/>
                <a:ext cx="3695100" cy="2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5: Is a TRUE edge change achieved? (Not flat blade)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8" name="Google Shape;1588;g3cd8d7dd279_0_261"/>
            <p:cNvGrpSpPr/>
            <p:nvPr/>
          </p:nvGrpSpPr>
          <p:grpSpPr>
            <a:xfrm>
              <a:off x="4202334" y="3364488"/>
              <a:ext cx="1647902" cy="290691"/>
              <a:chOff x="4202334" y="3479329"/>
              <a:chExt cx="1647902" cy="311700"/>
            </a:xfrm>
          </p:grpSpPr>
          <p:sp>
            <p:nvSpPr>
              <p:cNvPr id="1589" name="Google Shape;1589;g3cd8d7dd279_0_261"/>
              <p:cNvSpPr/>
              <p:nvPr/>
            </p:nvSpPr>
            <p:spPr>
              <a:xfrm>
                <a:off x="4202335" y="3479329"/>
                <a:ext cx="1647900" cy="3117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590" name="Google Shape;1590;g3cd8d7dd279_0_261"/>
              <p:cNvSpPr/>
              <p:nvPr/>
            </p:nvSpPr>
            <p:spPr>
              <a:xfrm>
                <a:off x="4202334" y="3479329"/>
                <a:ext cx="1314900" cy="31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50"/>
                  <a:buFont typeface="Calibri"/>
                  <a:buNone/>
                </a:pPr>
                <a:r>
                  <a:rPr b="1" i="0" lang="en-US" sz="95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lang="en-US" sz="950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 achieved, </a:t>
                </a: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b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US" sz="95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USED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91" name="Google Shape;1591;g3cd8d7dd279_0_261"/>
          <p:cNvSpPr/>
          <p:nvPr/>
        </p:nvSpPr>
        <p:spPr>
          <a:xfrm>
            <a:off x="274325" y="4554998"/>
            <a:ext cx="3708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cfe42002f4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g3cfe42002f4_0_0"/>
          <p:cNvSpPr/>
          <p:nvPr/>
        </p:nvSpPr>
        <p:spPr>
          <a:xfrm>
            <a:off x="0" y="914400"/>
            <a:ext cx="91440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g3cfe42002f4_0_0"/>
          <p:cNvSpPr/>
          <p:nvPr/>
        </p:nvSpPr>
        <p:spPr>
          <a:xfrm>
            <a:off x="320040" y="45720"/>
            <a:ext cx="85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— 8: Both Directions Immediately Following Each Other </a:t>
            </a: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g3cfe42002f4_0_0"/>
          <p:cNvSpPr/>
          <p:nvPr/>
        </p:nvSpPr>
        <p:spPr>
          <a:xfrm>
            <a:off x="3319100" y="1005850"/>
            <a:ext cx="5788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3+ revolutions and 2+ revolutions in basic position in each direction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g3cfe42002f4_0_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g3cfe42002f4_0_0"/>
          <p:cNvSpPr/>
          <p:nvPr/>
        </p:nvSpPr>
        <p:spPr>
          <a:xfrm>
            <a:off x="320040" y="102412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#8 — BOTH DIRECTIONS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g3cfe42002f4_0_0"/>
          <p:cNvSpPr/>
          <p:nvPr/>
        </p:nvSpPr>
        <p:spPr>
          <a:xfrm>
            <a:off x="1956825" y="1024124"/>
            <a:ext cx="1280100" cy="2376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g3cfe42002f4_0_0"/>
          <p:cNvSpPr/>
          <p:nvPr/>
        </p:nvSpPr>
        <p:spPr>
          <a:xfrm>
            <a:off x="1956825" y="1024124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TPH-S §SPIN.LF.8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g3cfe42002f4_0_0"/>
          <p:cNvSpPr/>
          <p:nvPr/>
        </p:nvSpPr>
        <p:spPr>
          <a:xfrm>
            <a:off x="274320" y="1371600"/>
            <a:ext cx="5120700" cy="255900"/>
          </a:xfrm>
          <a:prstGeom prst="rect">
            <a:avLst/>
          </a:prstGeom>
          <a:solidFill>
            <a:srgbClr val="1A2A4A"/>
          </a:solidFill>
          <a:ln cap="flat" cmpd="sng" w="12700">
            <a:solidFill>
              <a:srgbClr val="1A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g3cfe42002f4_0_0"/>
          <p:cNvSpPr/>
          <p:nvPr/>
        </p:nvSpPr>
        <p:spPr>
          <a:xfrm>
            <a:off x="274575" y="1371600"/>
            <a:ext cx="5120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Change direction </a:t>
            </a:r>
            <a:r>
              <a:rPr b="1" lang="en-US" sz="100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with an a</a:t>
            </a: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llowed</a:t>
            </a:r>
            <a:r>
              <a:rPr b="1" lang="en-US" sz="100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 position on both feet (</a:t>
            </a: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 Camel / Sit / Layback / Upright DV).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7" name="Google Shape;1607;g3cfe42002f4_0_0"/>
          <p:cNvGrpSpPr/>
          <p:nvPr/>
        </p:nvGrpSpPr>
        <p:grpSpPr>
          <a:xfrm>
            <a:off x="274325" y="1687298"/>
            <a:ext cx="5120900" cy="420338"/>
            <a:chOff x="274325" y="1687298"/>
            <a:chExt cx="5120900" cy="420338"/>
          </a:xfrm>
        </p:grpSpPr>
        <p:grpSp>
          <p:nvGrpSpPr>
            <p:cNvPr id="1608" name="Google Shape;1608;g3cfe42002f4_0_0"/>
            <p:cNvGrpSpPr/>
            <p:nvPr/>
          </p:nvGrpSpPr>
          <p:grpSpPr>
            <a:xfrm>
              <a:off x="274325" y="1687298"/>
              <a:ext cx="3461400" cy="420338"/>
              <a:chOff x="274325" y="1687845"/>
              <a:chExt cx="3461400" cy="435900"/>
            </a:xfrm>
          </p:grpSpPr>
          <p:sp>
            <p:nvSpPr>
              <p:cNvPr id="1609" name="Google Shape;1609;g3cfe42002f4_0_0"/>
              <p:cNvSpPr/>
              <p:nvPr/>
            </p:nvSpPr>
            <p:spPr>
              <a:xfrm>
                <a:off x="274325" y="1687845"/>
                <a:ext cx="3461400" cy="4359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10" name="Google Shape;1610;g3cfe42002f4_0_0"/>
              <p:cNvSpPr/>
              <p:nvPr/>
            </p:nvSpPr>
            <p:spPr>
              <a:xfrm>
                <a:off x="311411" y="1687845"/>
                <a:ext cx="3387300" cy="43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1: Does skater achieve an allowed position (camel/ sit/ </a:t>
                </a:r>
                <a:b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layback/ upright DV) with 2+ revolutions AND 3+ total </a:t>
                </a:r>
                <a:b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revolutions in the FIRST direction?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1" name="Google Shape;1611;g3cfe42002f4_0_0"/>
            <p:cNvGrpSpPr/>
            <p:nvPr/>
          </p:nvGrpSpPr>
          <p:grpSpPr>
            <a:xfrm>
              <a:off x="3879325" y="1687300"/>
              <a:ext cx="1515900" cy="420335"/>
              <a:chOff x="3879325" y="1673425"/>
              <a:chExt cx="1515900" cy="449700"/>
            </a:xfrm>
          </p:grpSpPr>
          <p:sp>
            <p:nvSpPr>
              <p:cNvPr id="1612" name="Google Shape;1612;g3cfe42002f4_0_0"/>
              <p:cNvSpPr/>
              <p:nvPr/>
            </p:nvSpPr>
            <p:spPr>
              <a:xfrm>
                <a:off x="3879325" y="1673425"/>
                <a:ext cx="1515900" cy="4497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13" name="Google Shape;1613;g3cfe42002f4_0_0"/>
              <p:cNvSpPr/>
              <p:nvPr/>
            </p:nvSpPr>
            <p:spPr>
              <a:xfrm>
                <a:off x="3900978" y="1673425"/>
                <a:ext cx="1472400" cy="44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80"/>
                  <a:buFont typeface="Calibri"/>
                  <a:buNone/>
                </a:pPr>
                <a:r>
                  <a:rPr b="1" i="0" lang="en-US" sz="98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8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 NOT achieved — IS marked USED</a:t>
                </a:r>
                <a:endParaRPr b="0" i="0" sz="98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14" name="Google Shape;1614;g3cfe42002f4_0_0"/>
          <p:cNvSpPr/>
          <p:nvPr/>
        </p:nvSpPr>
        <p:spPr>
          <a:xfrm>
            <a:off x="274324" y="2084700"/>
            <a:ext cx="44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5" name="Google Shape;1615;g3cfe42002f4_0_0"/>
          <p:cNvGrpSpPr/>
          <p:nvPr/>
        </p:nvGrpSpPr>
        <p:grpSpPr>
          <a:xfrm>
            <a:off x="274325" y="2240738"/>
            <a:ext cx="5120900" cy="420065"/>
            <a:chOff x="274325" y="2247072"/>
            <a:chExt cx="5120900" cy="420065"/>
          </a:xfrm>
        </p:grpSpPr>
        <p:grpSp>
          <p:nvGrpSpPr>
            <p:cNvPr id="1616" name="Google Shape;1616;g3cfe42002f4_0_0"/>
            <p:cNvGrpSpPr/>
            <p:nvPr/>
          </p:nvGrpSpPr>
          <p:grpSpPr>
            <a:xfrm>
              <a:off x="274325" y="2247080"/>
              <a:ext cx="3461400" cy="420049"/>
              <a:chOff x="274325" y="2263722"/>
              <a:chExt cx="3461400" cy="435600"/>
            </a:xfrm>
          </p:grpSpPr>
          <p:sp>
            <p:nvSpPr>
              <p:cNvPr id="1617" name="Google Shape;1617;g3cfe42002f4_0_0"/>
              <p:cNvSpPr/>
              <p:nvPr/>
            </p:nvSpPr>
            <p:spPr>
              <a:xfrm>
                <a:off x="274325" y="2263722"/>
                <a:ext cx="3461400" cy="4356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18" name="Google Shape;1618;g3cfe42002f4_0_0"/>
              <p:cNvSpPr/>
              <p:nvPr/>
            </p:nvSpPr>
            <p:spPr>
              <a:xfrm>
                <a:off x="311411" y="2263722"/>
                <a:ext cx="3387300" cy="43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2: Does skater change direction WITHOUT </a:t>
                </a:r>
                <a:r>
                  <a:rPr b="1" lang="en-US" sz="100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ending the </a:t>
                </a:r>
                <a:br>
                  <a:rPr b="1" lang="en-US" sz="100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1" lang="en-US" sz="100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spin</a:t>
                </a: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9" name="Google Shape;1619;g3cfe42002f4_0_0"/>
            <p:cNvGrpSpPr/>
            <p:nvPr/>
          </p:nvGrpSpPr>
          <p:grpSpPr>
            <a:xfrm>
              <a:off x="3879325" y="2247072"/>
              <a:ext cx="1515900" cy="420065"/>
              <a:chOff x="3879325" y="2221704"/>
              <a:chExt cx="1515900" cy="449700"/>
            </a:xfrm>
          </p:grpSpPr>
          <p:sp>
            <p:nvSpPr>
              <p:cNvPr id="1620" name="Google Shape;1620;g3cfe42002f4_0_0"/>
              <p:cNvSpPr/>
              <p:nvPr/>
            </p:nvSpPr>
            <p:spPr>
              <a:xfrm>
                <a:off x="3879325" y="2221704"/>
                <a:ext cx="1515900" cy="4497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21" name="Google Shape;1621;g3cfe42002f4_0_0"/>
              <p:cNvSpPr/>
              <p:nvPr/>
            </p:nvSpPr>
            <p:spPr>
              <a:xfrm>
                <a:off x="3900979" y="2221704"/>
                <a:ext cx="1472400" cy="44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80"/>
                  <a:buFont typeface="Calibri"/>
                  <a:buNone/>
                </a:pPr>
                <a:r>
                  <a:rPr b="1" i="0" lang="en-US" sz="98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lang="en-US" sz="980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 NOT achieved </a:t>
                </a:r>
                <a:r>
                  <a:rPr b="0" i="0" lang="en-US" sz="98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 IS marked USED</a:t>
                </a:r>
                <a:endParaRPr b="0" i="0" sz="98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22" name="Google Shape;1622;g3cfe42002f4_0_0"/>
          <p:cNvSpPr/>
          <p:nvPr/>
        </p:nvSpPr>
        <p:spPr>
          <a:xfrm>
            <a:off x="274325" y="2642525"/>
            <a:ext cx="44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3" name="Google Shape;1623;g3cfe42002f4_0_0"/>
          <p:cNvGrpSpPr/>
          <p:nvPr/>
        </p:nvGrpSpPr>
        <p:grpSpPr>
          <a:xfrm>
            <a:off x="274325" y="2793903"/>
            <a:ext cx="5120900" cy="438274"/>
            <a:chOff x="274325" y="2790056"/>
            <a:chExt cx="5120900" cy="438274"/>
          </a:xfrm>
        </p:grpSpPr>
        <p:grpSp>
          <p:nvGrpSpPr>
            <p:cNvPr id="1624" name="Google Shape;1624;g3cfe42002f4_0_0"/>
            <p:cNvGrpSpPr/>
            <p:nvPr/>
          </p:nvGrpSpPr>
          <p:grpSpPr>
            <a:xfrm>
              <a:off x="274325" y="2790056"/>
              <a:ext cx="3461400" cy="438274"/>
              <a:chOff x="274325" y="2831398"/>
              <a:chExt cx="3461400" cy="454500"/>
            </a:xfrm>
          </p:grpSpPr>
          <p:sp>
            <p:nvSpPr>
              <p:cNvPr id="1625" name="Google Shape;1625;g3cfe42002f4_0_0"/>
              <p:cNvSpPr/>
              <p:nvPr/>
            </p:nvSpPr>
            <p:spPr>
              <a:xfrm>
                <a:off x="274325" y="2831398"/>
                <a:ext cx="3461400" cy="4545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26" name="Google Shape;1626;g3cfe42002f4_0_0"/>
              <p:cNvSpPr/>
              <p:nvPr/>
            </p:nvSpPr>
            <p:spPr>
              <a:xfrm>
                <a:off x="311411" y="2831398"/>
                <a:ext cx="3387300" cy="45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3: Does skater achieve 2+ revolutions in the basic   position</a:t>
                </a:r>
                <a:r>
                  <a:rPr b="1" lang="en-US" sz="100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i="0" lang="en-US" sz="100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3+ total in the SECOND direction?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7" name="Google Shape;1627;g3cfe42002f4_0_0"/>
            <p:cNvGrpSpPr/>
            <p:nvPr/>
          </p:nvGrpSpPr>
          <p:grpSpPr>
            <a:xfrm>
              <a:off x="3879325" y="2799160"/>
              <a:ext cx="1515900" cy="420067"/>
              <a:chOff x="3879325" y="2801338"/>
              <a:chExt cx="1515900" cy="438300"/>
            </a:xfrm>
          </p:grpSpPr>
          <p:sp>
            <p:nvSpPr>
              <p:cNvPr id="1628" name="Google Shape;1628;g3cfe42002f4_0_0"/>
              <p:cNvSpPr/>
              <p:nvPr/>
            </p:nvSpPr>
            <p:spPr>
              <a:xfrm>
                <a:off x="3879325" y="2801338"/>
                <a:ext cx="1515900" cy="4383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29" name="Google Shape;1629;g3cfe42002f4_0_0"/>
              <p:cNvSpPr/>
              <p:nvPr/>
            </p:nvSpPr>
            <p:spPr>
              <a:xfrm>
                <a:off x="3900979" y="2801338"/>
                <a:ext cx="14724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80"/>
                  <a:buFont typeface="Calibri"/>
                  <a:buNone/>
                </a:pPr>
                <a:r>
                  <a:rPr b="1" i="0" lang="en-US" sz="98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8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 NOT achieved — IS marked USED</a:t>
                </a:r>
                <a:endParaRPr b="0" i="0" sz="98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30" name="Google Shape;1630;g3cfe42002f4_0_0"/>
          <p:cNvSpPr/>
          <p:nvPr/>
        </p:nvSpPr>
        <p:spPr>
          <a:xfrm>
            <a:off x="274325" y="3239950"/>
            <a:ext cx="4482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1" name="Google Shape;1631;g3cfe42002f4_0_0"/>
          <p:cNvGrpSpPr/>
          <p:nvPr/>
        </p:nvGrpSpPr>
        <p:grpSpPr>
          <a:xfrm>
            <a:off x="274325" y="3365278"/>
            <a:ext cx="5120900" cy="425546"/>
            <a:chOff x="274325" y="3340732"/>
            <a:chExt cx="5120900" cy="425546"/>
          </a:xfrm>
        </p:grpSpPr>
        <p:grpSp>
          <p:nvGrpSpPr>
            <p:cNvPr id="1632" name="Google Shape;1632;g3cfe42002f4_0_0"/>
            <p:cNvGrpSpPr/>
            <p:nvPr/>
          </p:nvGrpSpPr>
          <p:grpSpPr>
            <a:xfrm>
              <a:off x="274325" y="3340732"/>
              <a:ext cx="3461400" cy="425546"/>
              <a:chOff x="274325" y="3409066"/>
              <a:chExt cx="3461400" cy="441300"/>
            </a:xfrm>
          </p:grpSpPr>
          <p:sp>
            <p:nvSpPr>
              <p:cNvPr id="1633" name="Google Shape;1633;g3cfe42002f4_0_0"/>
              <p:cNvSpPr/>
              <p:nvPr/>
            </p:nvSpPr>
            <p:spPr>
              <a:xfrm>
                <a:off x="274325" y="3409066"/>
                <a:ext cx="3461400" cy="4413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34" name="Google Shape;1634;g3cfe42002f4_0_0"/>
              <p:cNvSpPr/>
              <p:nvPr/>
            </p:nvSpPr>
            <p:spPr>
              <a:xfrm>
                <a:off x="311411" y="3409066"/>
                <a:ext cx="3387300" cy="44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8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4: Are both positions free of </a:t>
                </a:r>
                <a:r>
                  <a:rPr b="1" lang="en-US" sz="108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</a:t>
                </a:r>
                <a:r>
                  <a:rPr b="1" i="0" lang="en-US" sz="108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used</a:t>
                </a:r>
                <a:r>
                  <a:rPr b="1" lang="en-US" sz="108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’</a:t>
                </a:r>
                <a:r>
                  <a:rPr b="1" i="0" lang="en-US" sz="108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DV designations?</a:t>
                </a:r>
                <a:endParaRPr b="0" i="0" sz="108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5" name="Google Shape;1635;g3cfe42002f4_0_0"/>
            <p:cNvGrpSpPr/>
            <p:nvPr/>
          </p:nvGrpSpPr>
          <p:grpSpPr>
            <a:xfrm>
              <a:off x="3879325" y="3340804"/>
              <a:ext cx="1515900" cy="425400"/>
              <a:chOff x="3879325" y="3334361"/>
              <a:chExt cx="1515900" cy="425400"/>
            </a:xfrm>
          </p:grpSpPr>
          <p:sp>
            <p:nvSpPr>
              <p:cNvPr id="1636" name="Google Shape;1636;g3cfe42002f4_0_0"/>
              <p:cNvSpPr/>
              <p:nvPr/>
            </p:nvSpPr>
            <p:spPr>
              <a:xfrm>
                <a:off x="3879325" y="3334361"/>
                <a:ext cx="1515900" cy="4254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37" name="Google Shape;1637;g3cfe42002f4_0_0"/>
              <p:cNvSpPr/>
              <p:nvPr/>
            </p:nvSpPr>
            <p:spPr>
              <a:xfrm>
                <a:off x="3900979" y="3334361"/>
                <a:ext cx="1472400" cy="42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80"/>
                  <a:buFont typeface="Calibri"/>
                  <a:buNone/>
                </a:pPr>
                <a:r>
                  <a:rPr b="1" i="0" lang="en-US" sz="98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8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 BLOCKED by used DV — IS marked USED</a:t>
                </a:r>
                <a:endParaRPr b="0" i="0" sz="98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38" name="Google Shape;1638;g3cfe42002f4_0_0"/>
          <p:cNvSpPr/>
          <p:nvPr/>
        </p:nvSpPr>
        <p:spPr>
          <a:xfrm>
            <a:off x="274325" y="3790825"/>
            <a:ext cx="4482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9" name="Google Shape;1639;g3cfe42002f4_0_0"/>
          <p:cNvGrpSpPr/>
          <p:nvPr/>
        </p:nvGrpSpPr>
        <p:grpSpPr>
          <a:xfrm>
            <a:off x="274325" y="3923924"/>
            <a:ext cx="5120900" cy="443482"/>
            <a:chOff x="274325" y="3895637"/>
            <a:chExt cx="5120900" cy="443482"/>
          </a:xfrm>
        </p:grpSpPr>
        <p:grpSp>
          <p:nvGrpSpPr>
            <p:cNvPr id="1640" name="Google Shape;1640;g3cfe42002f4_0_0"/>
            <p:cNvGrpSpPr/>
            <p:nvPr/>
          </p:nvGrpSpPr>
          <p:grpSpPr>
            <a:xfrm>
              <a:off x="274325" y="3895637"/>
              <a:ext cx="3461400" cy="443482"/>
              <a:chOff x="274325" y="3981039"/>
              <a:chExt cx="3461400" cy="459900"/>
            </a:xfrm>
          </p:grpSpPr>
          <p:sp>
            <p:nvSpPr>
              <p:cNvPr id="1641" name="Google Shape;1641;g3cfe42002f4_0_0"/>
              <p:cNvSpPr/>
              <p:nvPr/>
            </p:nvSpPr>
            <p:spPr>
              <a:xfrm>
                <a:off x="274325" y="3981039"/>
                <a:ext cx="3461400" cy="459900"/>
              </a:xfrm>
              <a:prstGeom prst="rect">
                <a:avLst/>
              </a:prstGeom>
              <a:solidFill>
                <a:srgbClr val="EDE9FE"/>
              </a:solidFill>
              <a:ln cap="flat" cmpd="sng" w="12700">
                <a:solidFill>
                  <a:srgbClr val="7B61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42" name="Google Shape;1642;g3cfe42002f4_0_0"/>
              <p:cNvSpPr/>
              <p:nvPr/>
            </p:nvSpPr>
            <p:spPr>
              <a:xfrm>
                <a:off x="311411" y="3981039"/>
                <a:ext cx="3387300" cy="4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A2A4A"/>
                  </a:buClr>
                  <a:buSzPts val="880"/>
                  <a:buFont typeface="Calibri"/>
                  <a:buNone/>
                </a:pPr>
                <a:r>
                  <a:rPr b="1" i="0" lang="en-US" sz="1080" u="none" cap="none" strike="noStrike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5: First time attempted in program?</a:t>
                </a:r>
                <a:endParaRPr b="0" i="0" sz="108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3" name="Google Shape;1643;g3cfe42002f4_0_0"/>
            <p:cNvGrpSpPr/>
            <p:nvPr/>
          </p:nvGrpSpPr>
          <p:grpSpPr>
            <a:xfrm>
              <a:off x="3879325" y="3895678"/>
              <a:ext cx="1515900" cy="443400"/>
              <a:chOff x="3879325" y="3892619"/>
              <a:chExt cx="1515900" cy="443400"/>
            </a:xfrm>
          </p:grpSpPr>
          <p:sp>
            <p:nvSpPr>
              <p:cNvPr id="1644" name="Google Shape;1644;g3cfe42002f4_0_0"/>
              <p:cNvSpPr/>
              <p:nvPr/>
            </p:nvSpPr>
            <p:spPr>
              <a:xfrm>
                <a:off x="3879325" y="3892619"/>
                <a:ext cx="1515900" cy="443400"/>
              </a:xfrm>
              <a:prstGeom prst="rect">
                <a:avLst/>
              </a:prstGeom>
              <a:solidFill>
                <a:srgbClr val="FFF3CD"/>
              </a:solidFill>
              <a:ln cap="flat" cmpd="sng" w="12700">
                <a:solidFill>
                  <a:srgbClr val="E8A8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645" name="Google Shape;1645;g3cfe42002f4_0_0"/>
              <p:cNvSpPr/>
              <p:nvPr/>
            </p:nvSpPr>
            <p:spPr>
              <a:xfrm>
                <a:off x="3900979" y="3892619"/>
                <a:ext cx="1472400" cy="4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25B00"/>
                  </a:buClr>
                  <a:buSzPts val="780"/>
                  <a:buFont typeface="Calibri"/>
                  <a:buNone/>
                </a:pPr>
                <a:r>
                  <a:rPr b="1" i="0" lang="en-US" sz="980" u="none" cap="none" strike="noStrike">
                    <a:solidFill>
                      <a:srgbClr val="C25B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→ </a:t>
                </a:r>
                <a:r>
                  <a:rPr b="0" i="0" lang="en-US" sz="980" u="none" cap="none" strike="noStrike">
                    <a:solidFill>
                      <a:srgbClr val="7B4A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USED from prior spin</a:t>
                </a:r>
                <a:endParaRPr b="0" i="0" sz="98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46" name="Google Shape;1646;g3cfe42002f4_0_0"/>
          <p:cNvGrpSpPr/>
          <p:nvPr/>
        </p:nvGrpSpPr>
        <p:grpSpPr>
          <a:xfrm>
            <a:off x="274325" y="4500507"/>
            <a:ext cx="3461400" cy="420338"/>
            <a:chOff x="274325" y="4526151"/>
            <a:chExt cx="3461400" cy="435900"/>
          </a:xfrm>
        </p:grpSpPr>
        <p:sp>
          <p:nvSpPr>
            <p:cNvPr id="1647" name="Google Shape;1647;g3cfe42002f4_0_0"/>
            <p:cNvSpPr/>
            <p:nvPr/>
          </p:nvSpPr>
          <p:spPr>
            <a:xfrm>
              <a:off x="274325" y="4526151"/>
              <a:ext cx="3461400" cy="435900"/>
            </a:xfrm>
            <a:prstGeom prst="rect">
              <a:avLst/>
            </a:prstGeom>
            <a:solidFill>
              <a:srgbClr val="D4EDDA"/>
            </a:solidFill>
            <a:ln cap="flat" cmpd="sng" w="12700">
              <a:solidFill>
                <a:srgbClr val="1A7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648" name="Google Shape;1648;g3cfe42002f4_0_0"/>
            <p:cNvSpPr/>
            <p:nvPr/>
          </p:nvSpPr>
          <p:spPr>
            <a:xfrm>
              <a:off x="311411" y="4526151"/>
              <a:ext cx="33873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A4A"/>
                </a:buClr>
                <a:buSzPts val="8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✓  Feature #8 </a:t>
              </a:r>
              <a:r>
                <a:rPr b="1" lang="en-US" sz="1050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ACHIEVED </a:t>
              </a:r>
              <a:r>
                <a:rPr b="1" i="0" lang="en-US" sz="1050" u="none" cap="none" strike="noStrike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[MANDATORY] — </a:t>
              </a:r>
              <a:r>
                <a:rPr b="1" lang="en-US" sz="1050">
                  <a:solidFill>
                    <a:srgbClr val="1A7A4A"/>
                  </a:solidFill>
                  <a:latin typeface="Calibri"/>
                  <a:ea typeface="Calibri"/>
                  <a:cs typeface="Calibri"/>
                  <a:sym typeface="Calibri"/>
                </a:rPr>
                <a:t>Level 4 open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9" name="Google Shape;1649;g3cfe42002f4_0_0"/>
          <p:cNvSpPr/>
          <p:nvPr/>
        </p:nvSpPr>
        <p:spPr>
          <a:xfrm>
            <a:off x="5577850" y="1371600"/>
            <a:ext cx="3291900" cy="15909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g3cfe42002f4_0_0"/>
          <p:cNvSpPr/>
          <p:nvPr/>
        </p:nvSpPr>
        <p:spPr>
          <a:xfrm>
            <a:off x="5577840" y="1371600"/>
            <a:ext cx="3291900" cy="23760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g3cfe42002f4_0_0"/>
          <p:cNvSpPr/>
          <p:nvPr/>
        </p:nvSpPr>
        <p:spPr>
          <a:xfrm>
            <a:off x="5650992" y="1371600"/>
            <a:ext cx="3145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⚡  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Same-Foot &amp; Leniency Rules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g3cfe42002f4_0_0"/>
          <p:cNvSpPr/>
          <p:nvPr/>
        </p:nvSpPr>
        <p:spPr>
          <a:xfrm>
            <a:off x="5651000" y="1685564"/>
            <a:ext cx="31455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Same-foot direction change: one turn or one change of edge allowed when changing direction on same foot — feature counted on foot of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g3cfe42002f4_0_0"/>
          <p:cNvSpPr/>
          <p:nvPr/>
        </p:nvSpPr>
        <p:spPr>
          <a:xfrm>
            <a:off x="5651000" y="2304400"/>
            <a:ext cx="3145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'Two spins' criteria usually NOT applied for Feature #8 </a:t>
            </a: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if the skater does a wider back </a:t>
            </a:r>
            <a:r>
              <a:rPr b="1" i="1"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inside </a:t>
            </a:r>
            <a:r>
              <a:rPr lang="en-US" sz="1000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edge to effect changing feet AND direction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g3cfe42002f4_0_0"/>
          <p:cNvSpPr/>
          <p:nvPr/>
        </p:nvSpPr>
        <p:spPr>
          <a:xfrm>
            <a:off x="5577800" y="3108650"/>
            <a:ext cx="3291900" cy="1417500"/>
          </a:xfrm>
          <a:prstGeom prst="rect">
            <a:avLst/>
          </a:prstGeom>
          <a:solidFill>
            <a:srgbClr val="FE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g3cfe42002f4_0_0"/>
          <p:cNvSpPr/>
          <p:nvPr/>
        </p:nvSpPr>
        <p:spPr>
          <a:xfrm>
            <a:off x="5577800" y="3108650"/>
            <a:ext cx="3291900" cy="293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g3cfe42002f4_0_0"/>
          <p:cNvSpPr/>
          <p:nvPr/>
        </p:nvSpPr>
        <p:spPr>
          <a:xfrm>
            <a:off x="5650952" y="3108650"/>
            <a:ext cx="31455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Common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g3cfe42002f4_0_0"/>
          <p:cNvSpPr/>
          <p:nvPr/>
        </p:nvSpPr>
        <p:spPr>
          <a:xfrm>
            <a:off x="5650952" y="3872029"/>
            <a:ext cx="31455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Weight transfer during change —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spin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 ends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g3cfe42002f4_0_0"/>
          <p:cNvSpPr/>
          <p:nvPr/>
        </p:nvSpPr>
        <p:spPr>
          <a:xfrm>
            <a:off x="5650952" y="3657908"/>
            <a:ext cx="31455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000" u="none" cap="none" strike="noStrike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Fewer than 3 total revolutions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in either direction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g3cfe42002f4_0_0"/>
          <p:cNvSpPr/>
          <p:nvPr/>
        </p:nvSpPr>
        <p:spPr>
          <a:xfrm>
            <a:off x="5650952" y="3437793"/>
            <a:ext cx="31455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No basic position achieved in either direction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g3cfe42002f4_0_0"/>
          <p:cNvSpPr/>
          <p:nvPr/>
        </p:nvSpPr>
        <p:spPr>
          <a:xfrm>
            <a:off x="5678352" y="4106654"/>
            <a:ext cx="31455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00">
                <a:solidFill>
                  <a:srgbClr val="7B1A1A"/>
                </a:solidFill>
                <a:latin typeface="Calibri"/>
                <a:ea typeface="Calibri"/>
                <a:cs typeface="Calibri"/>
                <a:sym typeface="Calibri"/>
              </a:rPr>
              <a:t>DV in either direction is previously ‘used’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g3cfe42002f4_0_0"/>
          <p:cNvSpPr/>
          <p:nvPr/>
        </p:nvSpPr>
        <p:spPr>
          <a:xfrm>
            <a:off x="274325" y="4355425"/>
            <a:ext cx="44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YES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2026-02-24T03:44:02Z</dcterms:created>
  <dc:creator>PptxGenJS</dc:creator>
</cp:coreProperties>
</file>