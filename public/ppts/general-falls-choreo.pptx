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hHpY7+ogBKtr1rDprXhxZPwgKW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AC81CE-FD54-4E50-9EA9-22FC3B5F8B37}">
  <a:tblStyle styleId="{93AC81CE-FD54-4E50-9EA9-22FC3B5F8B3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a32782429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ca32782429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a32782429_0_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a32782429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ca32782429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ca32782429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a32782429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ca32782429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ca32782429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a32782429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ca32782429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a32782429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a32782429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ca32782429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a32782429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a32782429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ca32782429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ca32782429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a32782429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ca32782429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ca32782429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a32782429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ca32782429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ca32782429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a32782429_0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ca32782429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ca32782429_0_2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a32782429_0_3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ca32782429_0_3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ca32782429_0_3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ca32782429_0_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ca32782429_0_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ca32782429_0_3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a32782429_0_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ca32782429_0_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ca32782429_0_4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a32782429_0_4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g3ca32782429_0_4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ca32782429_0_4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a32782429_0_5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ca32782429_0_5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ca32782429_0_5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a32782429_0_6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3ca32782429_0_6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g3ca32782429_0_6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ca32782429_0_6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g3ca32782429_0_6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ca32782429_0_6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ca2d50d4b5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g3ca2d50d4b5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ca2d50d4b5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ca32782429_0_8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ca32782429_0_8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ca32782429_0_8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ca32782429_0_8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6" name="Google Shape;716;g3ca32782429_0_8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ca32782429_0_8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ca32782429_0_8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g3ca32782429_0_8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ca32782429_0_8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ca32782429_0_9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g3ca32782429_0_9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g3ca32782429_0_9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ca32782429_0_5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g3ca32782429_0_5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g3ca32782429_0_5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c4bfe4d5a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g3c4bfe4d5a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g3c4bfe4d5a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c4bfe4d5af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g3c4bfe4d5af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c4bfe4d5af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ca32782429_0_7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7" name="Google Shape;997;g3ca32782429_0_7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g3ca32782429_0_7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9" name="Google Shape;10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ca32782429_0_9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g3ca32782429_0_9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g3ca32782429_0_9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ca32782429_0_10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6" name="Google Shape;1086;g3ca32782429_0_10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g3ca32782429_0_10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ca32782429_0_1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g3ca32782429_0_1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g3ca32782429_0_1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ca32782429_0_7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5" name="Google Shape;1205;g3ca32782429_0_7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g3ca32782429_0_7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7" name="Google Shape;12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3" name="Google Shape;12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ca32782429_0_1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4" name="Google Shape;1284;g3ca32782429_0_1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g3ca32782429_0_1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3ca32782429_0_1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0" name="Google Shape;1350;g3ca32782429_0_1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g3ca32782429_0_12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3ca32782429_0_1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8" name="Google Shape;1428;g3ca32782429_0_1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g3ca32782429_0_13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ca32782429_0_1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2" name="Google Shape;1502;g3ca32782429_0_1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g3ca32782429_0_13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2" name="Google Shape;15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3ca32782429_0_14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9" name="Google Shape;1599;g3ca32782429_0_14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g3ca32782429_0_14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0" y="457200"/>
            <a:ext cx="4114800" cy="3657600"/>
          </a:xfrm>
          <a:prstGeom prst="ellipse">
            <a:avLst/>
          </a:prstGeom>
          <a:solidFill>
            <a:srgbClr val="1A3A5C">
              <a:alpha val="30196"/>
            </a:srgbClr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0" y="822960"/>
            <a:ext cx="3200400" cy="2743200"/>
          </a:xfrm>
          <a:prstGeom prst="ellipse">
            <a:avLst/>
          </a:prstGeom>
          <a:solidFill>
            <a:srgbClr val="1A3A5C">
              <a:alpha val="20000"/>
            </a:srgbClr>
          </a:solidFill>
          <a:ln cap="flat" cmpd="sng" w="12700">
            <a:solidFill>
              <a:srgbClr val="7BA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65760"/>
            <a:ext cx="1280160" cy="41148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3657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914400"/>
            <a:ext cx="5943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2026 NTPS Singles Education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65176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Foundations: Calling Procedure, Definitions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Falls, Choreographic Sequence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Source: ISU Technical Panel Handbook, Single Skating, 2025–2026  |  Citation prefix: [TPH-S]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We're Covering Today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00584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1005840"/>
            <a:ext cx="457200" cy="9144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100584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107899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Officiating 101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14400" y="1426464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Professional conduct and expectations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754880" y="100584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754880" y="1005840"/>
            <a:ext cx="457200" cy="9144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54880" y="100584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303520" y="107899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 Definitions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303520" y="1426464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What counts as a fall, inside and outside elements</a:t>
            </a:r>
            <a:endParaRPr sz="1100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210312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5760" y="2103120"/>
            <a:ext cx="457200" cy="9144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65760" y="210312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14400" y="217627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Being on a Panel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14400" y="2523744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oles &amp; Responsibilities  of TS, TC and DO</a:t>
            </a:r>
            <a:endParaRPr sz="1100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54880" y="210312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754880" y="2103120"/>
            <a:ext cx="457200" cy="9144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754880" y="2103133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03520" y="217627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Choreographic Sequence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303520" y="2523744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What qualifies, what ends it, calling procedure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65760" y="3200400"/>
            <a:ext cx="40233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65760" y="3200400"/>
            <a:ext cx="457200" cy="9144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65760" y="3200400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14400" y="3273552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Basic Calling Principles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14400" y="3621024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When to call and what to 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[TPH-S §CALL.GEN] [TPH-S §CALL.FALL] [TPH-S §CHOREO.FS] [TPH-S §SPIN.GEN.POSITIONS]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54918" y="3200395"/>
            <a:ext cx="402330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754880" y="3200395"/>
            <a:ext cx="457200" cy="9144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754880" y="3182107"/>
            <a:ext cx="45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303520" y="3255260"/>
            <a:ext cx="338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Key Definitions / Homework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303520" y="3602732"/>
            <a:ext cx="3383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Seminar expectations and study goals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>
            <a:alpha val="30199"/>
          </a:srgbClr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a32782429_0_22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ca32782429_0_228"/>
          <p:cNvSpPr/>
          <p:nvPr/>
        </p:nvSpPr>
        <p:spPr>
          <a:xfrm>
            <a:off x="5943600" y="457200"/>
            <a:ext cx="4114800" cy="3657600"/>
          </a:xfrm>
          <a:prstGeom prst="ellipse">
            <a:avLst/>
          </a:prstGeom>
          <a:solidFill>
            <a:srgbClr val="1A3A5C">
              <a:alpha val="30199"/>
            </a:srgbClr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ca32782429_0_228"/>
          <p:cNvSpPr/>
          <p:nvPr/>
        </p:nvSpPr>
        <p:spPr>
          <a:xfrm>
            <a:off x="6400800" y="822960"/>
            <a:ext cx="3200400" cy="2743200"/>
          </a:xfrm>
          <a:prstGeom prst="ellipse">
            <a:avLst/>
          </a:prstGeom>
          <a:solidFill>
            <a:srgbClr val="1A3A5C">
              <a:alpha val="20000"/>
            </a:srgbClr>
          </a:solidFill>
          <a:ln cap="flat" cmpd="sng" w="12700">
            <a:solidFill>
              <a:srgbClr val="7BA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ca32782429_0_228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ca32782429_0_228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ca32782429_0_228"/>
          <p:cNvSpPr/>
          <p:nvPr/>
        </p:nvSpPr>
        <p:spPr>
          <a:xfrm>
            <a:off x="457200" y="1818850"/>
            <a:ext cx="5943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Officiating 101</a:t>
            </a:r>
            <a:endParaRPr b="0" i="0" sz="42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ca32782429_0_228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a32782429_0_1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a32782429_0_10"/>
          <p:cNvSpPr/>
          <p:nvPr/>
        </p:nvSpPr>
        <p:spPr>
          <a:xfrm>
            <a:off x="0" y="0"/>
            <a:ext cx="25602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ca32782429_0_10"/>
          <p:cNvSpPr/>
          <p:nvPr/>
        </p:nvSpPr>
        <p:spPr>
          <a:xfrm>
            <a:off x="182880" y="365760"/>
            <a:ext cx="2194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Officials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ca32782429_0_10"/>
          <p:cNvSpPr/>
          <p:nvPr/>
        </p:nvSpPr>
        <p:spPr>
          <a:xfrm>
            <a:off x="182880" y="1600200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DOR 2.01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ca32782429_0_10"/>
          <p:cNvSpPr/>
          <p:nvPr/>
        </p:nvSpPr>
        <p:spPr>
          <a:xfrm>
            <a:off x="182880" y="1965960"/>
            <a:ext cx="2194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The three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core pledges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every official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makes.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ca32782429_0_10"/>
          <p:cNvSpPr/>
          <p:nvPr/>
        </p:nvSpPr>
        <p:spPr>
          <a:xfrm>
            <a:off x="2697480" y="182880"/>
            <a:ext cx="6217800" cy="13260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ca32782429_0_10"/>
          <p:cNvSpPr/>
          <p:nvPr/>
        </p:nvSpPr>
        <p:spPr>
          <a:xfrm>
            <a:off x="2697480" y="182880"/>
            <a:ext cx="91500" cy="13260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ca32782429_0_10"/>
          <p:cNvSpPr/>
          <p:nvPr/>
        </p:nvSpPr>
        <p:spPr>
          <a:xfrm>
            <a:off x="2834640" y="25603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ca32782429_0_10"/>
          <p:cNvSpPr/>
          <p:nvPr/>
        </p:nvSpPr>
        <p:spPr>
          <a:xfrm>
            <a:off x="3337560" y="274320"/>
            <a:ext cx="544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"I consider it an honor and a privilege to be an official for U.S. Figure Skating."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ca32782429_0_10"/>
          <p:cNvSpPr/>
          <p:nvPr/>
        </p:nvSpPr>
        <p:spPr>
          <a:xfrm>
            <a:off x="2697480" y="1645920"/>
            <a:ext cx="6217800" cy="13260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ca32782429_0_10"/>
          <p:cNvSpPr/>
          <p:nvPr/>
        </p:nvSpPr>
        <p:spPr>
          <a:xfrm>
            <a:off x="2697480" y="1645920"/>
            <a:ext cx="91500" cy="13260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a32782429_0_10"/>
          <p:cNvSpPr/>
          <p:nvPr/>
        </p:nvSpPr>
        <p:spPr>
          <a:xfrm>
            <a:off x="2834640" y="171907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ca32782429_0_10"/>
          <p:cNvSpPr/>
          <p:nvPr/>
        </p:nvSpPr>
        <p:spPr>
          <a:xfrm>
            <a:off x="3337560" y="1737360"/>
            <a:ext cx="544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"I will make my judgment to the best of my ability with all humility and then will keep my own counsel unless questioned officially."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ca32782429_0_10"/>
          <p:cNvSpPr/>
          <p:nvPr/>
        </p:nvSpPr>
        <p:spPr>
          <a:xfrm>
            <a:off x="2697480" y="3108960"/>
            <a:ext cx="6217800" cy="13260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ca32782429_0_10"/>
          <p:cNvSpPr/>
          <p:nvPr/>
        </p:nvSpPr>
        <p:spPr>
          <a:xfrm>
            <a:off x="2697480" y="3108960"/>
            <a:ext cx="91500" cy="13260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a32782429_0_10"/>
          <p:cNvSpPr/>
          <p:nvPr/>
        </p:nvSpPr>
        <p:spPr>
          <a:xfrm>
            <a:off x="2834640" y="3182112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ca32782429_0_10"/>
          <p:cNvSpPr/>
          <p:nvPr/>
        </p:nvSpPr>
        <p:spPr>
          <a:xfrm>
            <a:off x="3337560" y="3200400"/>
            <a:ext cx="5440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"I will free my mind of all former impressions, be cooperative and punctual, and do my best always to improve my knowledge and to uphold the dignity of the sport."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ca32782429_0_10"/>
          <p:cNvSpPr/>
          <p:nvPr/>
        </p:nvSpPr>
        <p:spPr>
          <a:xfrm>
            <a:off x="2697480" y="4480560"/>
            <a:ext cx="6217800" cy="5943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D6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ca32782429_0_10"/>
          <p:cNvSpPr/>
          <p:nvPr/>
        </p:nvSpPr>
        <p:spPr>
          <a:xfrm>
            <a:off x="2834640" y="4480560"/>
            <a:ext cx="5989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DOR 2.02 </a:t>
            </a: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public statements/online comments about tests or competitions.  </a:t>
            </a:r>
            <a:r>
              <a:rPr b="1" i="0" lang="en-US" sz="10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DOR 2.03 </a:t>
            </a: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Must adhere to all USFS policies.  </a:t>
            </a:r>
            <a:r>
              <a:rPr b="1" i="0" lang="en-US" sz="10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DOR 2.04 </a:t>
            </a: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Judges may not communicate with each other or skaters while judging.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a32782429_0_3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ca32782429_0_33"/>
          <p:cNvSpPr/>
          <p:nvPr/>
        </p:nvSpPr>
        <p:spPr>
          <a:xfrm>
            <a:off x="457200" y="164592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Ethical Conduct Policy — All Officials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ca32782429_0_33"/>
          <p:cNvSpPr/>
          <p:nvPr/>
        </p:nvSpPr>
        <p:spPr>
          <a:xfrm>
            <a:off x="457200" y="62179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Ethical Conduct and Conflict of Interest Policy  |  DOR 2.03  |  Last updated 5/14/23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ca32782429_0_33"/>
          <p:cNvSpPr/>
          <p:nvPr/>
        </p:nvSpPr>
        <p:spPr>
          <a:xfrm>
            <a:off x="274320" y="987552"/>
            <a:ext cx="4206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a32782429_0_33"/>
          <p:cNvSpPr/>
          <p:nvPr/>
        </p:nvSpPr>
        <p:spPr>
          <a:xfrm>
            <a:off x="274320" y="987552"/>
            <a:ext cx="411600" cy="822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ca32782429_0_33"/>
          <p:cNvSpPr/>
          <p:nvPr/>
        </p:nvSpPr>
        <p:spPr>
          <a:xfrm>
            <a:off x="274320" y="987552"/>
            <a:ext cx="41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ca32782429_0_33"/>
          <p:cNvSpPr/>
          <p:nvPr/>
        </p:nvSpPr>
        <p:spPr>
          <a:xfrm>
            <a:off x="777240" y="1060704"/>
            <a:ext cx="3612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Comply with all USFS bylaws, rules, standards, codes and policies (DOR 2.03)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ca32782429_0_33"/>
          <p:cNvSpPr/>
          <p:nvPr/>
        </p:nvSpPr>
        <p:spPr>
          <a:xfrm>
            <a:off x="274320" y="1947672"/>
            <a:ext cx="4206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ca32782429_0_33"/>
          <p:cNvSpPr/>
          <p:nvPr/>
        </p:nvSpPr>
        <p:spPr>
          <a:xfrm>
            <a:off x="274320" y="1947672"/>
            <a:ext cx="411600" cy="822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ca32782429_0_33"/>
          <p:cNvSpPr/>
          <p:nvPr/>
        </p:nvSpPr>
        <p:spPr>
          <a:xfrm>
            <a:off x="274320" y="1947672"/>
            <a:ext cx="41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ca32782429_0_33"/>
          <p:cNvSpPr/>
          <p:nvPr/>
        </p:nvSpPr>
        <p:spPr>
          <a:xfrm>
            <a:off x="777240" y="2020824"/>
            <a:ext cx="3612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Demonstrate accountability, fairness, honesty, integrity, inclusion, respect, and truthfulness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ca32782429_0_33"/>
          <p:cNvSpPr/>
          <p:nvPr/>
        </p:nvSpPr>
        <p:spPr>
          <a:xfrm>
            <a:off x="274320" y="2907792"/>
            <a:ext cx="4206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ca32782429_0_33"/>
          <p:cNvSpPr/>
          <p:nvPr/>
        </p:nvSpPr>
        <p:spPr>
          <a:xfrm>
            <a:off x="274320" y="2907792"/>
            <a:ext cx="411600" cy="822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a32782429_0_33"/>
          <p:cNvSpPr/>
          <p:nvPr/>
        </p:nvSpPr>
        <p:spPr>
          <a:xfrm>
            <a:off x="274320" y="2907792"/>
            <a:ext cx="41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ca32782429_0_33"/>
          <p:cNvSpPr/>
          <p:nvPr/>
        </p:nvSpPr>
        <p:spPr>
          <a:xfrm>
            <a:off x="777240" y="2980944"/>
            <a:ext cx="3612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Conduct yourself with independence and neutrality at all times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ca32782429_0_33"/>
          <p:cNvSpPr/>
          <p:nvPr/>
        </p:nvSpPr>
        <p:spPr>
          <a:xfrm>
            <a:off x="274320" y="3867912"/>
            <a:ext cx="4206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ca32782429_0_33"/>
          <p:cNvSpPr/>
          <p:nvPr/>
        </p:nvSpPr>
        <p:spPr>
          <a:xfrm>
            <a:off x="274320" y="3867912"/>
            <a:ext cx="411600" cy="822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ca32782429_0_33"/>
          <p:cNvSpPr/>
          <p:nvPr/>
        </p:nvSpPr>
        <p:spPr>
          <a:xfrm>
            <a:off x="274320" y="3867912"/>
            <a:ext cx="41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ca32782429_0_33"/>
          <p:cNvSpPr/>
          <p:nvPr/>
        </p:nvSpPr>
        <p:spPr>
          <a:xfrm>
            <a:off x="777240" y="3941064"/>
            <a:ext cx="3612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Show no favoritism for, or prejudice against, any individual involved in U.S. Figure Skating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ca32782429_0_33"/>
          <p:cNvSpPr/>
          <p:nvPr/>
        </p:nvSpPr>
        <p:spPr>
          <a:xfrm>
            <a:off x="4754880" y="987552"/>
            <a:ext cx="4206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a32782429_0_33"/>
          <p:cNvSpPr/>
          <p:nvPr/>
        </p:nvSpPr>
        <p:spPr>
          <a:xfrm>
            <a:off x="4754880" y="987552"/>
            <a:ext cx="411600" cy="822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ca32782429_0_33"/>
          <p:cNvSpPr/>
          <p:nvPr/>
        </p:nvSpPr>
        <p:spPr>
          <a:xfrm>
            <a:off x="4754880" y="987552"/>
            <a:ext cx="41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ca32782429_0_33"/>
          <p:cNvSpPr/>
          <p:nvPr/>
        </p:nvSpPr>
        <p:spPr>
          <a:xfrm>
            <a:off x="5257800" y="1060704"/>
            <a:ext cx="3612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Conduct and feedback must generate confidence and trust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ca32782429_0_33"/>
          <p:cNvSpPr/>
          <p:nvPr/>
        </p:nvSpPr>
        <p:spPr>
          <a:xfrm>
            <a:off x="4754880" y="1947672"/>
            <a:ext cx="4206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ca32782429_0_33"/>
          <p:cNvSpPr/>
          <p:nvPr/>
        </p:nvSpPr>
        <p:spPr>
          <a:xfrm>
            <a:off x="4754880" y="1947672"/>
            <a:ext cx="411600" cy="822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ca32782429_0_33"/>
          <p:cNvSpPr/>
          <p:nvPr/>
        </p:nvSpPr>
        <p:spPr>
          <a:xfrm>
            <a:off x="4754880" y="1947672"/>
            <a:ext cx="41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ca32782429_0_33"/>
          <p:cNvSpPr/>
          <p:nvPr/>
        </p:nvSpPr>
        <p:spPr>
          <a:xfrm>
            <a:off x="5257800" y="2020824"/>
            <a:ext cx="3612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USFS properties, funds, services, and your official identity may NOT be used for personal gain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ca32782429_0_33"/>
          <p:cNvSpPr/>
          <p:nvPr/>
        </p:nvSpPr>
        <p:spPr>
          <a:xfrm>
            <a:off x="4754880" y="2907792"/>
            <a:ext cx="4206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a32782429_0_33"/>
          <p:cNvSpPr/>
          <p:nvPr/>
        </p:nvSpPr>
        <p:spPr>
          <a:xfrm>
            <a:off x="4754880" y="2907792"/>
            <a:ext cx="411600" cy="822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a32782429_0_33"/>
          <p:cNvSpPr/>
          <p:nvPr/>
        </p:nvSpPr>
        <p:spPr>
          <a:xfrm>
            <a:off x="4754880" y="2907792"/>
            <a:ext cx="41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ca32782429_0_33"/>
          <p:cNvSpPr/>
          <p:nvPr/>
        </p:nvSpPr>
        <p:spPr>
          <a:xfrm>
            <a:off x="5257800" y="2980944"/>
            <a:ext cx="3612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 activities must comply with applicable federal, state, and local laws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ca32782429_0_33"/>
          <p:cNvSpPr/>
          <p:nvPr/>
        </p:nvSpPr>
        <p:spPr>
          <a:xfrm>
            <a:off x="4754880" y="3867912"/>
            <a:ext cx="4206300" cy="82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ca32782429_0_33"/>
          <p:cNvSpPr/>
          <p:nvPr/>
        </p:nvSpPr>
        <p:spPr>
          <a:xfrm>
            <a:off x="4754880" y="3867912"/>
            <a:ext cx="411600" cy="822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ca32782429_0_33"/>
          <p:cNvSpPr/>
          <p:nvPr/>
        </p:nvSpPr>
        <p:spPr>
          <a:xfrm>
            <a:off x="4754880" y="3867912"/>
            <a:ext cx="41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ca32782429_0_33"/>
          <p:cNvSpPr/>
          <p:nvPr/>
        </p:nvSpPr>
        <p:spPr>
          <a:xfrm>
            <a:off x="5257800" y="3941064"/>
            <a:ext cx="36120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 not accept payments, favors, or benefits for participation in USFS events — nominal gifts meeting IRS regulations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ca32782429_0_33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ca32782429_0_33"/>
          <p:cNvSpPr/>
          <p:nvPr/>
        </p:nvSpPr>
        <p:spPr>
          <a:xfrm>
            <a:off x="274320" y="4754880"/>
            <a:ext cx="8595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Violations may result in suspension or permanent exclusion from all U.S. Figure Skating activities.  Report: usfigureskating.org/skatesafe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a32782429_0_7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a32782429_0_74"/>
          <p:cNvSpPr/>
          <p:nvPr/>
        </p:nvSpPr>
        <p:spPr>
          <a:xfrm>
            <a:off x="365760" y="164592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Conflict of Interest — By Role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ca32782429_0_74"/>
          <p:cNvSpPr/>
          <p:nvPr/>
        </p:nvSpPr>
        <p:spPr>
          <a:xfrm>
            <a:off x="365760" y="621792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Key trigger: Any coaching payment accepted in past 12 months for a skater you may evaluate = conflict.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ca32782429_0_74"/>
          <p:cNvSpPr/>
          <p:nvPr/>
        </p:nvSpPr>
        <p:spPr>
          <a:xfrm>
            <a:off x="274320" y="1005840"/>
            <a:ext cx="4297800" cy="1828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a32782429_0_74"/>
          <p:cNvSpPr/>
          <p:nvPr/>
        </p:nvSpPr>
        <p:spPr>
          <a:xfrm>
            <a:off x="274320" y="1005840"/>
            <a:ext cx="4297800" cy="3840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ca32782429_0_74"/>
          <p:cNvSpPr/>
          <p:nvPr/>
        </p:nvSpPr>
        <p:spPr>
          <a:xfrm>
            <a:off x="384048" y="100584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Officials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ca32782429_0_74"/>
          <p:cNvSpPr/>
          <p:nvPr/>
        </p:nvSpPr>
        <p:spPr>
          <a:xfrm>
            <a:off x="411480" y="144475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Employing a coach for yourself/family does not auto-create conflict — but notify chief referee or test chair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ca32782429_0_74"/>
          <p:cNvSpPr/>
          <p:nvPr/>
        </p:nvSpPr>
        <p:spPr>
          <a:xfrm>
            <a:off x="411480" y="190195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Coach/parent of competing skater: stay out of officials' room ≥1 hr before and ≥1 hr after their event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ca32782429_0_74"/>
          <p:cNvSpPr/>
          <p:nvPr/>
        </p:nvSpPr>
        <p:spPr>
          <a:xfrm>
            <a:off x="4846320" y="1005840"/>
            <a:ext cx="4297800" cy="1828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ca32782429_0_74"/>
          <p:cNvSpPr/>
          <p:nvPr/>
        </p:nvSpPr>
        <p:spPr>
          <a:xfrm>
            <a:off x="4846320" y="1005840"/>
            <a:ext cx="4297800" cy="384000"/>
          </a:xfrm>
          <a:prstGeom prst="rect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ca32782429_0_74"/>
          <p:cNvSpPr/>
          <p:nvPr/>
        </p:nvSpPr>
        <p:spPr>
          <a:xfrm>
            <a:off x="4956048" y="100584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Judge / Referee / TC / Accountant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ca32782429_0_74"/>
          <p:cNvSpPr/>
          <p:nvPr/>
        </p:nvSpPr>
        <p:spPr>
          <a:xfrm>
            <a:off x="4983480" y="144475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Cannot officiate if coaching figure skating (except learn-to-skate group lessons for unskated skaters only)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ca32782429_0_74"/>
          <p:cNvSpPr/>
          <p:nvPr/>
        </p:nvSpPr>
        <p:spPr>
          <a:xfrm>
            <a:off x="4983480" y="190195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Cannot officiate in qualifying events if ANY conflict exists in ANY portion of that event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ca32782429_0_74"/>
          <p:cNvSpPr/>
          <p:nvPr/>
        </p:nvSpPr>
        <p:spPr>
          <a:xfrm>
            <a:off x="4983480" y="235915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Disclose to LOC (nonqualifying) or Domestic Selections Committee (qualifying) when accepting assignment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ca32782429_0_74"/>
          <p:cNvSpPr/>
          <p:nvPr/>
        </p:nvSpPr>
        <p:spPr>
          <a:xfrm>
            <a:off x="274320" y="3017520"/>
            <a:ext cx="4297800" cy="1828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ca32782429_0_74"/>
          <p:cNvSpPr/>
          <p:nvPr/>
        </p:nvSpPr>
        <p:spPr>
          <a:xfrm>
            <a:off x="274320" y="3017520"/>
            <a:ext cx="4297800" cy="3840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ca32782429_0_74"/>
          <p:cNvSpPr/>
          <p:nvPr/>
        </p:nvSpPr>
        <p:spPr>
          <a:xfrm>
            <a:off x="384048" y="301752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Specialist / Data Op / Video 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ca32782429_0_74"/>
          <p:cNvSpPr/>
          <p:nvPr/>
        </p:nvSpPr>
        <p:spPr>
          <a:xfrm>
            <a:off x="411480" y="345643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Conflict = coaching payment from competitor or family member in past 12 months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ca32782429_0_74"/>
          <p:cNvSpPr/>
          <p:nvPr/>
        </p:nvSpPr>
        <p:spPr>
          <a:xfrm>
            <a:off x="411480" y="391363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Same qualifying event rule: conflict in any group = conflict for entire event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ca32782429_0_74"/>
          <p:cNvSpPr/>
          <p:nvPr/>
        </p:nvSpPr>
        <p:spPr>
          <a:xfrm>
            <a:off x="411480" y="437083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At competition: notify TP Captain + TC + Chief Referee; Chief Referee makes final decision if disagreement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ca32782429_0_74"/>
          <p:cNvSpPr/>
          <p:nvPr/>
        </p:nvSpPr>
        <p:spPr>
          <a:xfrm>
            <a:off x="4846320" y="3017520"/>
            <a:ext cx="4297800" cy="1828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ca32782429_0_74"/>
          <p:cNvSpPr/>
          <p:nvPr/>
        </p:nvSpPr>
        <p:spPr>
          <a:xfrm>
            <a:off x="4846320" y="3017520"/>
            <a:ext cx="4297800" cy="3840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ca32782429_0_74"/>
          <p:cNvSpPr/>
          <p:nvPr/>
        </p:nvSpPr>
        <p:spPr>
          <a:xfrm>
            <a:off x="4956048" y="301752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Coach Certified as Test Judge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ca32782429_0_74"/>
          <p:cNvSpPr/>
          <p:nvPr/>
        </p:nvSpPr>
        <p:spPr>
          <a:xfrm>
            <a:off x="4983480" y="345643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May ONLY serve as 1-judge minority on a 3-judge panel — cannot be single judge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ca32782429_0_74"/>
          <p:cNvSpPr/>
          <p:nvPr/>
        </p:nvSpPr>
        <p:spPr>
          <a:xfrm>
            <a:off x="4983480" y="391363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Cannot judge competitions (except Compete USA)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ca32782429_0_74"/>
          <p:cNvSpPr/>
          <p:nvPr/>
        </p:nvSpPr>
        <p:spPr>
          <a:xfrm>
            <a:off x="4983480" y="4370832"/>
            <a:ext cx="4023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Conducting a seminar = must disclose all participant names as conflicts for 12 months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ca32782429_0_74"/>
          <p:cNvSpPr/>
          <p:nvPr/>
        </p:nvSpPr>
        <p:spPr>
          <a:xfrm>
            <a:off x="0" y="4923300"/>
            <a:ext cx="9144000" cy="22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ca32782429_0_74"/>
          <p:cNvSpPr/>
          <p:nvPr/>
        </p:nvSpPr>
        <p:spPr>
          <a:xfrm>
            <a:off x="49695" y="4864601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US Championships: Assigned TP officials may ONLY serve as officials — no coaching role for any event at that competition.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a32782429_0_10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ca32782429_0_106"/>
          <p:cNvSpPr/>
          <p:nvPr/>
        </p:nvSpPr>
        <p:spPr>
          <a:xfrm>
            <a:off x="457200" y="164592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Feedback Embargo Periods &amp; Reporting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ca32782429_0_106"/>
          <p:cNvSpPr/>
          <p:nvPr/>
        </p:nvSpPr>
        <p:spPr>
          <a:xfrm>
            <a:off x="457200" y="62179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Feedback NOT linked to an event you recently officiated triggers embargo periods for future assignments.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g3ca32782429_0_106"/>
          <p:cNvGraphicFramePr/>
          <p:nvPr/>
        </p:nvGraphicFramePr>
        <p:xfrm>
          <a:off x="36576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{93AC81CE-FD54-4E50-9EA9-22FC3B5F8B37}</a:tableStyleId>
              </a:tblPr>
              <a:tblGrid>
                <a:gridCol w="3200400"/>
                <a:gridCol w="1828800"/>
                <a:gridCol w="33832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Event Type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Embargo Period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(in-person and virtual)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FA5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6FA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days prior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Applies within respective discipline only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Nonqualifying competition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6FA5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A6FA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days prior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Feedback must be available to ALL skaters in event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Qualifying (incl. NQS events)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504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850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days prior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See NQS Handbook for particulars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Championship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504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850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days prior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 not advise on refinements/review improvement videos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g3ca32782429_0_106"/>
          <p:cNvSpPr/>
          <p:nvPr/>
        </p:nvSpPr>
        <p:spPr>
          <a:xfrm>
            <a:off x="365760" y="3200400"/>
            <a:ext cx="27888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a32782429_0_106"/>
          <p:cNvSpPr/>
          <p:nvPr/>
        </p:nvSpPr>
        <p:spPr>
          <a:xfrm>
            <a:off x="365760" y="3200400"/>
            <a:ext cx="2788800" cy="3474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ca32782429_0_106"/>
          <p:cNvSpPr/>
          <p:nvPr/>
        </p:nvSpPr>
        <p:spPr>
          <a:xfrm>
            <a:off x="457200" y="3200400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Monitoring (ISP)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ca32782429_0_106"/>
          <p:cNvSpPr/>
          <p:nvPr/>
        </p:nvSpPr>
        <p:spPr>
          <a:xfrm>
            <a:off x="457200" y="3602736"/>
            <a:ext cx="260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Officials may monitor skaters/teams despite embargo if requested by the International Committee.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ca32782429_0_106"/>
          <p:cNvSpPr/>
          <p:nvPr/>
        </p:nvSpPr>
        <p:spPr>
          <a:xfrm>
            <a:off x="3291840" y="3200400"/>
            <a:ext cx="27888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a32782429_0_106"/>
          <p:cNvSpPr/>
          <p:nvPr/>
        </p:nvSpPr>
        <p:spPr>
          <a:xfrm>
            <a:off x="3291840" y="3200400"/>
            <a:ext cx="2788800" cy="3474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ca32782429_0_106"/>
          <p:cNvSpPr/>
          <p:nvPr/>
        </p:nvSpPr>
        <p:spPr>
          <a:xfrm>
            <a:off x="3383280" y="3200400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Coach Connect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ca32782429_0_106"/>
          <p:cNvSpPr/>
          <p:nvPr/>
        </p:nvSpPr>
        <p:spPr>
          <a:xfrm>
            <a:off x="3383280" y="3602736"/>
            <a:ext cx="260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May participate despite embargo — EXCEPT for Sectional Finals, U.S. Championships, U.S. Synchronized Skating Championships.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ca32782429_0_106"/>
          <p:cNvSpPr/>
          <p:nvPr/>
        </p:nvSpPr>
        <p:spPr>
          <a:xfrm>
            <a:off x="6217920" y="3200400"/>
            <a:ext cx="278880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ca32782429_0_106"/>
          <p:cNvSpPr/>
          <p:nvPr/>
        </p:nvSpPr>
        <p:spPr>
          <a:xfrm>
            <a:off x="6217920" y="3200400"/>
            <a:ext cx="2788800" cy="34740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ca32782429_0_106"/>
          <p:cNvSpPr/>
          <p:nvPr/>
        </p:nvSpPr>
        <p:spPr>
          <a:xfrm>
            <a:off x="6309360" y="3200400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Levels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ca32782429_0_106"/>
          <p:cNvSpPr/>
          <p:nvPr/>
        </p:nvSpPr>
        <p:spPr>
          <a:xfrm>
            <a:off x="6309360" y="3602736"/>
            <a:ext cx="260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Questions about levels must go to the TC only. Other panel members may not provide this information.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ca32782429_0_106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ca32782429_0_106"/>
          <p:cNvSpPr/>
          <p:nvPr/>
        </p:nvSpPr>
        <p:spPr>
          <a:xfrm>
            <a:off x="274320" y="4754880"/>
            <a:ext cx="8595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Report violations: usfigureskating.org/skatesafe — Click Report A Concern  |  Anonymous complaints accepted — include all relevant details.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a32782429_0_12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a32782429_0_128"/>
          <p:cNvSpPr/>
          <p:nvPr/>
        </p:nvSpPr>
        <p:spPr>
          <a:xfrm>
            <a:off x="0" y="0"/>
            <a:ext cx="26061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ca32782429_0_128"/>
          <p:cNvSpPr/>
          <p:nvPr/>
        </p:nvSpPr>
        <p:spPr>
          <a:xfrm>
            <a:off x="182880" y="320040"/>
            <a:ext cx="2240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ca32782429_0_128"/>
          <p:cNvSpPr/>
          <p:nvPr/>
        </p:nvSpPr>
        <p:spPr>
          <a:xfrm>
            <a:off x="182880" y="2011680"/>
            <a:ext cx="224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All Officials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2023-24 Season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DOR 2.03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ca32782429_0_128"/>
          <p:cNvSpPr/>
          <p:nvPr/>
        </p:nvSpPr>
        <p:spPr>
          <a:xfrm>
            <a:off x="137160" y="2834640"/>
            <a:ext cx="2331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"As an official, you represent U.S. Figure Skating at all times.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Act accordingly."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ca32782429_0_128"/>
          <p:cNvSpPr/>
          <p:nvPr/>
        </p:nvSpPr>
        <p:spPr>
          <a:xfrm>
            <a:off x="2697480" y="109728"/>
            <a:ext cx="3108900" cy="713100"/>
          </a:xfrm>
          <a:prstGeom prst="rect">
            <a:avLst/>
          </a:prstGeom>
          <a:solidFill>
            <a:srgbClr val="FFF0ED"/>
          </a:solidFill>
          <a:ln cap="flat" cmpd="sng" w="12700">
            <a:solidFill>
              <a:srgbClr val="F5C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ca32782429_0_128"/>
          <p:cNvSpPr/>
          <p:nvPr/>
        </p:nvSpPr>
        <p:spPr>
          <a:xfrm>
            <a:off x="2788920" y="274320"/>
            <a:ext cx="347400" cy="3474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ca32782429_0_128"/>
          <p:cNvSpPr/>
          <p:nvPr/>
        </p:nvSpPr>
        <p:spPr>
          <a:xfrm>
            <a:off x="2788920" y="27432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ca32782429_0_128"/>
          <p:cNvSpPr/>
          <p:nvPr/>
        </p:nvSpPr>
        <p:spPr>
          <a:xfrm>
            <a:off x="3227832" y="164592"/>
            <a:ext cx="2487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Follow or friend Minor Athletes on social media (prohibited by SkateSafe)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ca32782429_0_128"/>
          <p:cNvSpPr/>
          <p:nvPr/>
        </p:nvSpPr>
        <p:spPr>
          <a:xfrm>
            <a:off x="2697480" y="905256"/>
            <a:ext cx="3108900" cy="713100"/>
          </a:xfrm>
          <a:prstGeom prst="rect">
            <a:avLst/>
          </a:prstGeom>
          <a:solidFill>
            <a:srgbClr val="FFF0ED"/>
          </a:solidFill>
          <a:ln cap="flat" cmpd="sng" w="12700">
            <a:solidFill>
              <a:srgbClr val="F5C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ca32782429_0_128"/>
          <p:cNvSpPr/>
          <p:nvPr/>
        </p:nvSpPr>
        <p:spPr>
          <a:xfrm>
            <a:off x="2788920" y="1069848"/>
            <a:ext cx="347400" cy="3474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ca32782429_0_128"/>
          <p:cNvSpPr/>
          <p:nvPr/>
        </p:nvSpPr>
        <p:spPr>
          <a:xfrm>
            <a:off x="2788920" y="106984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ca32782429_0_128"/>
          <p:cNvSpPr/>
          <p:nvPr/>
        </p:nvSpPr>
        <p:spPr>
          <a:xfrm>
            <a:off x="3227832" y="960120"/>
            <a:ext cx="2487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Comment or react to posts of skaters/teams you will officiate this season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ca32782429_0_128"/>
          <p:cNvSpPr/>
          <p:nvPr/>
        </p:nvSpPr>
        <p:spPr>
          <a:xfrm>
            <a:off x="2697480" y="1700784"/>
            <a:ext cx="3108900" cy="713100"/>
          </a:xfrm>
          <a:prstGeom prst="rect">
            <a:avLst/>
          </a:prstGeom>
          <a:solidFill>
            <a:srgbClr val="FFF0ED"/>
          </a:solidFill>
          <a:ln cap="flat" cmpd="sng" w="12700">
            <a:solidFill>
              <a:srgbClr val="F5C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ca32782429_0_128"/>
          <p:cNvSpPr/>
          <p:nvPr/>
        </p:nvSpPr>
        <p:spPr>
          <a:xfrm>
            <a:off x="2788920" y="1865376"/>
            <a:ext cx="347400" cy="3474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ca32782429_0_128"/>
          <p:cNvSpPr/>
          <p:nvPr/>
        </p:nvSpPr>
        <p:spPr>
          <a:xfrm>
            <a:off x="2788920" y="186537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ca32782429_0_128"/>
          <p:cNvSpPr/>
          <p:nvPr/>
        </p:nvSpPr>
        <p:spPr>
          <a:xfrm>
            <a:off x="3227832" y="1755648"/>
            <a:ext cx="2487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Comment about officials, coaches, parents, skaters, clubs, or USFS decisions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ca32782429_0_128"/>
          <p:cNvSpPr/>
          <p:nvPr/>
        </p:nvSpPr>
        <p:spPr>
          <a:xfrm>
            <a:off x="2697480" y="2496312"/>
            <a:ext cx="3108900" cy="713100"/>
          </a:xfrm>
          <a:prstGeom prst="rect">
            <a:avLst/>
          </a:prstGeom>
          <a:solidFill>
            <a:srgbClr val="FFF0ED"/>
          </a:solidFill>
          <a:ln cap="flat" cmpd="sng" w="12700">
            <a:solidFill>
              <a:srgbClr val="F5C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ca32782429_0_128"/>
          <p:cNvSpPr/>
          <p:nvPr/>
        </p:nvSpPr>
        <p:spPr>
          <a:xfrm>
            <a:off x="2788920" y="2660904"/>
            <a:ext cx="347400" cy="3474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ca32782429_0_128"/>
          <p:cNvSpPr/>
          <p:nvPr/>
        </p:nvSpPr>
        <p:spPr>
          <a:xfrm>
            <a:off x="2788920" y="2660904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ca32782429_0_128"/>
          <p:cNvSpPr/>
          <p:nvPr/>
        </p:nvSpPr>
        <p:spPr>
          <a:xfrm>
            <a:off x="3227832" y="2551176"/>
            <a:ext cx="2487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Engage in negative, critical, or unprofessional commentary on results, evaluations, or test sessions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ca32782429_0_128"/>
          <p:cNvSpPr/>
          <p:nvPr/>
        </p:nvSpPr>
        <p:spPr>
          <a:xfrm>
            <a:off x="2697480" y="3291840"/>
            <a:ext cx="3108900" cy="713100"/>
          </a:xfrm>
          <a:prstGeom prst="rect">
            <a:avLst/>
          </a:prstGeom>
          <a:solidFill>
            <a:srgbClr val="FFF0ED"/>
          </a:solidFill>
          <a:ln cap="flat" cmpd="sng" w="12700">
            <a:solidFill>
              <a:srgbClr val="F5C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a32782429_0_128"/>
          <p:cNvSpPr/>
          <p:nvPr/>
        </p:nvSpPr>
        <p:spPr>
          <a:xfrm>
            <a:off x="2788920" y="3456432"/>
            <a:ext cx="347400" cy="3474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ca32782429_0_128"/>
          <p:cNvSpPr/>
          <p:nvPr/>
        </p:nvSpPr>
        <p:spPr>
          <a:xfrm>
            <a:off x="2788920" y="3456432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ca32782429_0_128"/>
          <p:cNvSpPr/>
          <p:nvPr/>
        </p:nvSpPr>
        <p:spPr>
          <a:xfrm>
            <a:off x="3227832" y="3346704"/>
            <a:ext cx="2487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Post articles, pictures, or videos of skaters/teams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ca32782429_0_128"/>
          <p:cNvSpPr/>
          <p:nvPr/>
        </p:nvSpPr>
        <p:spPr>
          <a:xfrm>
            <a:off x="2697480" y="4087368"/>
            <a:ext cx="3108900" cy="713100"/>
          </a:xfrm>
          <a:prstGeom prst="rect">
            <a:avLst/>
          </a:prstGeom>
          <a:solidFill>
            <a:srgbClr val="FFF0ED"/>
          </a:solidFill>
          <a:ln cap="flat" cmpd="sng" w="12700">
            <a:solidFill>
              <a:srgbClr val="F5C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ca32782429_0_128"/>
          <p:cNvSpPr/>
          <p:nvPr/>
        </p:nvSpPr>
        <p:spPr>
          <a:xfrm>
            <a:off x="2788920" y="4251960"/>
            <a:ext cx="347400" cy="3474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ca32782429_0_128"/>
          <p:cNvSpPr/>
          <p:nvPr/>
        </p:nvSpPr>
        <p:spPr>
          <a:xfrm>
            <a:off x="2788920" y="425196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ca32782429_0_128"/>
          <p:cNvSpPr/>
          <p:nvPr/>
        </p:nvSpPr>
        <p:spPr>
          <a:xfrm>
            <a:off x="3227832" y="4142232"/>
            <a:ext cx="2487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Share clips of elements or TP/judge scores — learning communication must be done privately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ca32782429_0_128"/>
          <p:cNvSpPr/>
          <p:nvPr/>
        </p:nvSpPr>
        <p:spPr>
          <a:xfrm>
            <a:off x="5943600" y="109728"/>
            <a:ext cx="3108900" cy="7131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C2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ca32782429_0_128"/>
          <p:cNvSpPr/>
          <p:nvPr/>
        </p:nvSpPr>
        <p:spPr>
          <a:xfrm>
            <a:off x="6035040" y="274320"/>
            <a:ext cx="347400" cy="3474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a32782429_0_128"/>
          <p:cNvSpPr/>
          <p:nvPr/>
        </p:nvSpPr>
        <p:spPr>
          <a:xfrm>
            <a:off x="6035040" y="27432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ca32782429_0_128"/>
          <p:cNvSpPr/>
          <p:nvPr/>
        </p:nvSpPr>
        <p:spPr>
          <a:xfrm>
            <a:off x="6473952" y="164592"/>
            <a:ext cx="2487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Congratulate a LOC on a well-run competition (general, not skater-specific)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ca32782429_0_128"/>
          <p:cNvSpPr/>
          <p:nvPr/>
        </p:nvSpPr>
        <p:spPr>
          <a:xfrm>
            <a:off x="5943600" y="905256"/>
            <a:ext cx="3108900" cy="7131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C2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a32782429_0_128"/>
          <p:cNvSpPr/>
          <p:nvPr/>
        </p:nvSpPr>
        <p:spPr>
          <a:xfrm>
            <a:off x="6035040" y="1069848"/>
            <a:ext cx="347400" cy="3474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ca32782429_0_128"/>
          <p:cNvSpPr/>
          <p:nvPr/>
        </p:nvSpPr>
        <p:spPr>
          <a:xfrm>
            <a:off x="6035040" y="106984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ca32782429_0_128"/>
          <p:cNvSpPr/>
          <p:nvPr/>
        </p:nvSpPr>
        <p:spPr>
          <a:xfrm>
            <a:off x="6473952" y="960120"/>
            <a:ext cx="2487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Post entire U.S. delegation photos (as team leader/international official)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ca32782429_0_128"/>
          <p:cNvSpPr/>
          <p:nvPr/>
        </p:nvSpPr>
        <p:spPr>
          <a:xfrm>
            <a:off x="5943600" y="1700784"/>
            <a:ext cx="3108900" cy="7131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C2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ca32782429_0_128"/>
          <p:cNvSpPr/>
          <p:nvPr/>
        </p:nvSpPr>
        <p:spPr>
          <a:xfrm>
            <a:off x="6035040" y="1865376"/>
            <a:ext cx="347400" cy="3474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ca32782429_0_128"/>
          <p:cNvSpPr/>
          <p:nvPr/>
        </p:nvSpPr>
        <p:spPr>
          <a:xfrm>
            <a:off x="6035040" y="186537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ca32782429_0_128"/>
          <p:cNvSpPr/>
          <p:nvPr/>
        </p:nvSpPr>
        <p:spPr>
          <a:xfrm>
            <a:off x="6473952" y="1755648"/>
            <a:ext cx="2487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Personal posts unrelated to your USFS official role or USFS opinions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ca32782429_0_128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a32782429_0_128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Report violations: usfigureskating.org/skatesafe  |  Anonymous reports accepted  |  Include screenshots and whether page is public/private.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a32782429_0_17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ca32782429_0_175"/>
          <p:cNvSpPr/>
          <p:nvPr/>
        </p:nvSpPr>
        <p:spPr>
          <a:xfrm>
            <a:off x="457200" y="164592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Social Media Policy — Frequently Asked Questions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ca32782429_0_175"/>
          <p:cNvSpPr/>
          <p:nvPr/>
        </p:nvSpPr>
        <p:spPr>
          <a:xfrm>
            <a:off x="457200" y="62179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Selected scenarios from the official FAQ document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ca32782429_0_175"/>
          <p:cNvSpPr/>
          <p:nvPr/>
        </p:nvSpPr>
        <p:spPr>
          <a:xfrm>
            <a:off x="274320" y="1005840"/>
            <a:ext cx="4297800" cy="11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ca32782429_0_175"/>
          <p:cNvSpPr/>
          <p:nvPr/>
        </p:nvSpPr>
        <p:spPr>
          <a:xfrm>
            <a:off x="274320" y="1005840"/>
            <a:ext cx="91500" cy="11703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ca32782429_0_175"/>
          <p:cNvSpPr/>
          <p:nvPr/>
        </p:nvSpPr>
        <p:spPr>
          <a:xfrm>
            <a:off x="438912" y="106070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ca32782429_0_175"/>
          <p:cNvSpPr/>
          <p:nvPr/>
        </p:nvSpPr>
        <p:spPr>
          <a:xfrm>
            <a:off x="713232" y="1042416"/>
            <a:ext cx="376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Can I 'like' a post by a skater I'll be officiating?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ca32782429_0_175"/>
          <p:cNvSpPr/>
          <p:nvPr/>
        </p:nvSpPr>
        <p:spPr>
          <a:xfrm>
            <a:off x="411480" y="1481328"/>
            <a:ext cx="4041600" cy="90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ca32782429_0_175"/>
          <p:cNvSpPr/>
          <p:nvPr/>
        </p:nvSpPr>
        <p:spPr>
          <a:xfrm>
            <a:off x="438912" y="155448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ca32782429_0_175"/>
          <p:cNvSpPr/>
          <p:nvPr/>
        </p:nvSpPr>
        <p:spPr>
          <a:xfrm>
            <a:off x="713232" y="1517904"/>
            <a:ext cx="3767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No. No comments or reactions to any skater/team you officiate this season.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ca32782429_0_175"/>
          <p:cNvSpPr/>
          <p:nvPr/>
        </p:nvSpPr>
        <p:spPr>
          <a:xfrm>
            <a:off x="274320" y="2304288"/>
            <a:ext cx="4297800" cy="11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ca32782429_0_175"/>
          <p:cNvSpPr/>
          <p:nvPr/>
        </p:nvSpPr>
        <p:spPr>
          <a:xfrm>
            <a:off x="274320" y="2304288"/>
            <a:ext cx="91500" cy="11703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a32782429_0_175"/>
          <p:cNvSpPr/>
          <p:nvPr/>
        </p:nvSpPr>
        <p:spPr>
          <a:xfrm>
            <a:off x="438912" y="23591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ca32782429_0_175"/>
          <p:cNvSpPr/>
          <p:nvPr/>
        </p:nvSpPr>
        <p:spPr>
          <a:xfrm>
            <a:off x="713232" y="2340864"/>
            <a:ext cx="376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Can I post photos from the officials' hospitality room?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ca32782429_0_175"/>
          <p:cNvSpPr/>
          <p:nvPr/>
        </p:nvSpPr>
        <p:spPr>
          <a:xfrm>
            <a:off x="411480" y="2779776"/>
            <a:ext cx="4041600" cy="90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ca32782429_0_175"/>
          <p:cNvSpPr/>
          <p:nvPr/>
        </p:nvSpPr>
        <p:spPr>
          <a:xfrm>
            <a:off x="438912" y="285292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ca32782429_0_175"/>
          <p:cNvSpPr/>
          <p:nvPr/>
        </p:nvSpPr>
        <p:spPr>
          <a:xfrm>
            <a:off x="713232" y="2816352"/>
            <a:ext cx="3767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No. Never post photos of individuals without explicit permission, or showing alcohol/unprofessional behavior.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ca32782429_0_175"/>
          <p:cNvSpPr/>
          <p:nvPr/>
        </p:nvSpPr>
        <p:spPr>
          <a:xfrm>
            <a:off x="274320" y="3602736"/>
            <a:ext cx="4297800" cy="11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ca32782429_0_175"/>
          <p:cNvSpPr/>
          <p:nvPr/>
        </p:nvSpPr>
        <p:spPr>
          <a:xfrm>
            <a:off x="274320" y="3602736"/>
            <a:ext cx="91500" cy="11703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ca32782429_0_175"/>
          <p:cNvSpPr/>
          <p:nvPr/>
        </p:nvSpPr>
        <p:spPr>
          <a:xfrm>
            <a:off x="438912" y="365760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ca32782429_0_175"/>
          <p:cNvSpPr/>
          <p:nvPr/>
        </p:nvSpPr>
        <p:spPr>
          <a:xfrm>
            <a:off x="713232" y="3639312"/>
            <a:ext cx="376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Can I comment on TP calls or judges' scores on social media?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ca32782429_0_175"/>
          <p:cNvSpPr/>
          <p:nvPr/>
        </p:nvSpPr>
        <p:spPr>
          <a:xfrm>
            <a:off x="411480" y="4078224"/>
            <a:ext cx="4041600" cy="90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ca32782429_0_175"/>
          <p:cNvSpPr/>
          <p:nvPr/>
        </p:nvSpPr>
        <p:spPr>
          <a:xfrm>
            <a:off x="438912" y="415137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ca32782429_0_175"/>
          <p:cNvSpPr/>
          <p:nvPr/>
        </p:nvSpPr>
        <p:spPr>
          <a:xfrm>
            <a:off x="713232" y="4114800"/>
            <a:ext cx="3767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No. This undermines your peers and is completely inappropriate — even in live stream chats.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ca32782429_0_175"/>
          <p:cNvSpPr/>
          <p:nvPr/>
        </p:nvSpPr>
        <p:spPr>
          <a:xfrm>
            <a:off x="4846320" y="1005840"/>
            <a:ext cx="4297800" cy="11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a32782429_0_175"/>
          <p:cNvSpPr/>
          <p:nvPr/>
        </p:nvSpPr>
        <p:spPr>
          <a:xfrm>
            <a:off x="4846320" y="1005840"/>
            <a:ext cx="91500" cy="11703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ca32782429_0_175"/>
          <p:cNvSpPr/>
          <p:nvPr/>
        </p:nvSpPr>
        <p:spPr>
          <a:xfrm>
            <a:off x="5010912" y="106070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ca32782429_0_175"/>
          <p:cNvSpPr/>
          <p:nvPr/>
        </p:nvSpPr>
        <p:spPr>
          <a:xfrm>
            <a:off x="5285232" y="1042416"/>
            <a:ext cx="376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I'm also an adult skater. Can I comment on my group's competitors?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ca32782429_0_175"/>
          <p:cNvSpPr/>
          <p:nvPr/>
        </p:nvSpPr>
        <p:spPr>
          <a:xfrm>
            <a:off x="4983480" y="1481328"/>
            <a:ext cx="4041600" cy="90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ca32782429_0_175"/>
          <p:cNvSpPr/>
          <p:nvPr/>
        </p:nvSpPr>
        <p:spPr>
          <a:xfrm>
            <a:off x="5010912" y="155448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ca32782429_0_175"/>
          <p:cNvSpPr/>
          <p:nvPr/>
        </p:nvSpPr>
        <p:spPr>
          <a:xfrm>
            <a:off x="5285232" y="1517904"/>
            <a:ext cx="3767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No. Adult skaters who are officials must defer to their official role in all social media actions.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ca32782429_0_175"/>
          <p:cNvSpPr/>
          <p:nvPr/>
        </p:nvSpPr>
        <p:spPr>
          <a:xfrm>
            <a:off x="4846320" y="2304288"/>
            <a:ext cx="4297800" cy="11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ca32782429_0_175"/>
          <p:cNvSpPr/>
          <p:nvPr/>
        </p:nvSpPr>
        <p:spPr>
          <a:xfrm>
            <a:off x="4846320" y="2304288"/>
            <a:ext cx="91500" cy="1170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ca32782429_0_175"/>
          <p:cNvSpPr/>
          <p:nvPr/>
        </p:nvSpPr>
        <p:spPr>
          <a:xfrm>
            <a:off x="5010912" y="235915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ca32782429_0_175"/>
          <p:cNvSpPr/>
          <p:nvPr/>
        </p:nvSpPr>
        <p:spPr>
          <a:xfrm>
            <a:off x="5285232" y="2340864"/>
            <a:ext cx="376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Can I congratulate a local organizing committee (LOC) on a well-run event?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ca32782429_0_175"/>
          <p:cNvSpPr/>
          <p:nvPr/>
        </p:nvSpPr>
        <p:spPr>
          <a:xfrm>
            <a:off x="4983480" y="2779776"/>
            <a:ext cx="4041600" cy="90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ca32782429_0_175"/>
          <p:cNvSpPr/>
          <p:nvPr/>
        </p:nvSpPr>
        <p:spPr>
          <a:xfrm>
            <a:off x="5010912" y="285292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ca32782429_0_175"/>
          <p:cNvSpPr/>
          <p:nvPr/>
        </p:nvSpPr>
        <p:spPr>
          <a:xfrm>
            <a:off x="5285232" y="2816352"/>
            <a:ext cx="3767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Yes. General, non-skater-specific congratulations to an LOC is acceptable.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ca32782429_0_175"/>
          <p:cNvSpPr/>
          <p:nvPr/>
        </p:nvSpPr>
        <p:spPr>
          <a:xfrm>
            <a:off x="4846320" y="3602736"/>
            <a:ext cx="4297800" cy="117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ca32782429_0_175"/>
          <p:cNvSpPr/>
          <p:nvPr/>
        </p:nvSpPr>
        <p:spPr>
          <a:xfrm>
            <a:off x="4846320" y="3602736"/>
            <a:ext cx="91500" cy="1170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ca32782429_0_175"/>
          <p:cNvSpPr/>
          <p:nvPr/>
        </p:nvSpPr>
        <p:spPr>
          <a:xfrm>
            <a:off x="5010912" y="365760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ca32782429_0_175"/>
          <p:cNvSpPr/>
          <p:nvPr/>
        </p:nvSpPr>
        <p:spPr>
          <a:xfrm>
            <a:off x="5285232" y="3639312"/>
            <a:ext cx="376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news reporter contacts me via social media — should I respond?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ca32782429_0_175"/>
          <p:cNvSpPr/>
          <p:nvPr/>
        </p:nvSpPr>
        <p:spPr>
          <a:xfrm>
            <a:off x="4983480" y="4078224"/>
            <a:ext cx="4041600" cy="90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ca32782429_0_175"/>
          <p:cNvSpPr/>
          <p:nvPr/>
        </p:nvSpPr>
        <p:spPr>
          <a:xfrm>
            <a:off x="5010912" y="415137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ca32782429_0_175"/>
          <p:cNvSpPr/>
          <p:nvPr/>
        </p:nvSpPr>
        <p:spPr>
          <a:xfrm>
            <a:off x="5285232" y="4114800"/>
            <a:ext cx="3767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Only to say you are not an official USFS spokesperson. Refer them to USFS headquarters.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ca32782429_0_175"/>
          <p:cNvSpPr/>
          <p:nvPr/>
        </p:nvSpPr>
        <p:spPr>
          <a:xfrm>
            <a:off x="0" y="4892040"/>
            <a:ext cx="9144000" cy="251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ca32782429_0_175"/>
          <p:cNvSpPr/>
          <p:nvPr/>
        </p:nvSpPr>
        <p:spPr>
          <a:xfrm>
            <a:off x="274320" y="4892040"/>
            <a:ext cx="85953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Full FAQ available in the Social Media Policy for Officials document  |  usfigureskating.org/skatesafe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>
            <a:alpha val="30199"/>
          </a:srgbClr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a32782429_0_24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ca32782429_0_241"/>
          <p:cNvSpPr/>
          <p:nvPr/>
        </p:nvSpPr>
        <p:spPr>
          <a:xfrm>
            <a:off x="5943600" y="457200"/>
            <a:ext cx="4114800" cy="3657600"/>
          </a:xfrm>
          <a:prstGeom prst="ellipse">
            <a:avLst/>
          </a:prstGeom>
          <a:solidFill>
            <a:srgbClr val="1A3A5C">
              <a:alpha val="30199"/>
            </a:srgbClr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ca32782429_0_241"/>
          <p:cNvSpPr/>
          <p:nvPr/>
        </p:nvSpPr>
        <p:spPr>
          <a:xfrm>
            <a:off x="6400800" y="822960"/>
            <a:ext cx="3200400" cy="2743200"/>
          </a:xfrm>
          <a:prstGeom prst="ellipse">
            <a:avLst/>
          </a:prstGeom>
          <a:solidFill>
            <a:srgbClr val="1A3A5C">
              <a:alpha val="20000"/>
            </a:srgbClr>
          </a:solidFill>
          <a:ln cap="flat" cmpd="sng" w="12700">
            <a:solidFill>
              <a:srgbClr val="7BA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ca32782429_0_241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ca32782429_0_241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ca32782429_0_241"/>
          <p:cNvSpPr/>
          <p:nvPr/>
        </p:nvSpPr>
        <p:spPr>
          <a:xfrm>
            <a:off x="457200" y="1818850"/>
            <a:ext cx="5943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Being on a Panel</a:t>
            </a:r>
            <a:endParaRPr b="0" i="0" sz="42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ca32782429_0_241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a32782429_0_29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ca32782429_0_294"/>
          <p:cNvSpPr/>
          <p:nvPr/>
        </p:nvSpPr>
        <p:spPr>
          <a:xfrm>
            <a:off x="457200" y="164592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Technical Panel Team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ca32782429_0_294"/>
          <p:cNvSpPr/>
          <p:nvPr/>
        </p:nvSpPr>
        <p:spPr>
          <a:xfrm>
            <a:off x="457200" y="62179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Every event has up to five roles. Three make the calls. Two support the process.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ca32782429_0_294"/>
          <p:cNvSpPr/>
          <p:nvPr/>
        </p:nvSpPr>
        <p:spPr>
          <a:xfrm>
            <a:off x="274320" y="987552"/>
            <a:ext cx="8595300" cy="3291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ca32782429_0_294"/>
          <p:cNvSpPr/>
          <p:nvPr/>
        </p:nvSpPr>
        <p:spPr>
          <a:xfrm>
            <a:off x="274320" y="987552"/>
            <a:ext cx="8595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THE CALLING UNIT — makes all element identification and level decisions by majority vote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ca32782429_0_294"/>
          <p:cNvSpPr/>
          <p:nvPr/>
        </p:nvSpPr>
        <p:spPr>
          <a:xfrm>
            <a:off x="274320" y="1316736"/>
            <a:ext cx="2743200" cy="20118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ca32782429_0_294"/>
          <p:cNvSpPr/>
          <p:nvPr/>
        </p:nvSpPr>
        <p:spPr>
          <a:xfrm>
            <a:off x="274320" y="1408176"/>
            <a:ext cx="2743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ca32782429_0_294"/>
          <p:cNvSpPr/>
          <p:nvPr/>
        </p:nvSpPr>
        <p:spPr>
          <a:xfrm>
            <a:off x="274320" y="2048256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Specialist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ca32782429_0_294"/>
          <p:cNvSpPr/>
          <p:nvPr/>
        </p:nvSpPr>
        <p:spPr>
          <a:xfrm>
            <a:off x="411480" y="2578608"/>
            <a:ext cx="246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Calls every element and level in real time — the primary voice on the headset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ca32782429_0_294"/>
          <p:cNvSpPr/>
          <p:nvPr/>
        </p:nvSpPr>
        <p:spPr>
          <a:xfrm>
            <a:off x="3154680" y="1316736"/>
            <a:ext cx="2743200" cy="20118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ca32782429_0_294"/>
          <p:cNvSpPr/>
          <p:nvPr/>
        </p:nvSpPr>
        <p:spPr>
          <a:xfrm>
            <a:off x="3154680" y="1408176"/>
            <a:ext cx="2743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g3ca32782429_0_294"/>
          <p:cNvSpPr/>
          <p:nvPr/>
        </p:nvSpPr>
        <p:spPr>
          <a:xfrm>
            <a:off x="3154680" y="2048256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Specialist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ca32782429_0_294"/>
          <p:cNvSpPr/>
          <p:nvPr/>
        </p:nvSpPr>
        <p:spPr>
          <a:xfrm>
            <a:off x="3291840" y="2578608"/>
            <a:ext cx="246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Pre-calls upcoming elements, confirms readback, and participates in decisions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ca32782429_0_294"/>
          <p:cNvSpPr/>
          <p:nvPr/>
        </p:nvSpPr>
        <p:spPr>
          <a:xfrm>
            <a:off x="6035040" y="1316736"/>
            <a:ext cx="2743200" cy="20118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ca32782429_0_294"/>
          <p:cNvSpPr/>
          <p:nvPr/>
        </p:nvSpPr>
        <p:spPr>
          <a:xfrm>
            <a:off x="6035040" y="1408176"/>
            <a:ext cx="2743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3ca32782429_0_294"/>
          <p:cNvSpPr/>
          <p:nvPr/>
        </p:nvSpPr>
        <p:spPr>
          <a:xfrm>
            <a:off x="6035040" y="2048256"/>
            <a:ext cx="2743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ca32782429_0_294"/>
          <p:cNvSpPr/>
          <p:nvPr/>
        </p:nvSpPr>
        <p:spPr>
          <a:xfrm>
            <a:off x="6172200" y="2578608"/>
            <a:ext cx="246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Supervises the panel, authorizes calls, breaks ties, and is the spokesperson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ca32782429_0_294"/>
          <p:cNvSpPr/>
          <p:nvPr/>
        </p:nvSpPr>
        <p:spPr>
          <a:xfrm>
            <a:off x="274320" y="3419856"/>
            <a:ext cx="8595300" cy="292500"/>
          </a:xfrm>
          <a:prstGeom prst="rect">
            <a:avLst/>
          </a:prstGeom>
          <a:solidFill>
            <a:srgbClr val="1A2D1A"/>
          </a:solidFill>
          <a:ln cap="flat" cmpd="sng" w="12700">
            <a:solidFill>
              <a:srgbClr val="1A2D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ca32782429_0_294"/>
          <p:cNvSpPr/>
          <p:nvPr/>
        </p:nvSpPr>
        <p:spPr>
          <a:xfrm>
            <a:off x="274320" y="3419856"/>
            <a:ext cx="8595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SUPPORT ROLES — do not vote on element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ca32782429_0_294"/>
          <p:cNvSpPr/>
          <p:nvPr/>
        </p:nvSpPr>
        <p:spPr>
          <a:xfrm>
            <a:off x="274320" y="3712464"/>
            <a:ext cx="4114800" cy="10059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ca32782429_0_294"/>
          <p:cNvSpPr/>
          <p:nvPr/>
        </p:nvSpPr>
        <p:spPr>
          <a:xfrm>
            <a:off x="274320" y="3712464"/>
            <a:ext cx="594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ca32782429_0_294"/>
          <p:cNvSpPr/>
          <p:nvPr/>
        </p:nvSpPr>
        <p:spPr>
          <a:xfrm>
            <a:off x="868680" y="3712464"/>
            <a:ext cx="18300" cy="1005900"/>
          </a:xfrm>
          <a:prstGeom prst="rect">
            <a:avLst/>
          </a:prstGeom>
          <a:solidFill>
            <a:srgbClr val="1A3A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ca32782429_0_294"/>
          <p:cNvSpPr/>
          <p:nvPr/>
        </p:nvSpPr>
        <p:spPr>
          <a:xfrm>
            <a:off x="960120" y="3767328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Operator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ca32782429_0_294"/>
          <p:cNvSpPr/>
          <p:nvPr/>
        </p:nvSpPr>
        <p:spPr>
          <a:xfrm>
            <a:off x="960120" y="4059936"/>
            <a:ext cx="3291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Enters all called elements, levels, and bonuses into the computer system and reads them back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ca32782429_0_294"/>
          <p:cNvSpPr/>
          <p:nvPr/>
        </p:nvSpPr>
        <p:spPr>
          <a:xfrm>
            <a:off x="4617720" y="3712464"/>
            <a:ext cx="4114800" cy="10059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ca32782429_0_294"/>
          <p:cNvSpPr/>
          <p:nvPr/>
        </p:nvSpPr>
        <p:spPr>
          <a:xfrm>
            <a:off x="4617720" y="3712464"/>
            <a:ext cx="594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ca32782429_0_294"/>
          <p:cNvSpPr/>
          <p:nvPr/>
        </p:nvSpPr>
        <p:spPr>
          <a:xfrm>
            <a:off x="5212080" y="3712464"/>
            <a:ext cx="18300" cy="1005900"/>
          </a:xfrm>
          <a:prstGeom prst="rect">
            <a:avLst/>
          </a:prstGeom>
          <a:solidFill>
            <a:srgbClr val="1A3A5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ca32782429_0_294"/>
          <p:cNvSpPr/>
          <p:nvPr/>
        </p:nvSpPr>
        <p:spPr>
          <a:xfrm>
            <a:off x="5303520" y="3767328"/>
            <a:ext cx="3291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Replay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ca32782429_0_294"/>
          <p:cNvSpPr/>
          <p:nvPr/>
        </p:nvSpPr>
        <p:spPr>
          <a:xfrm>
            <a:off x="5303520" y="4059936"/>
            <a:ext cx="3291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Captures video clips of every element for use during reviews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ca32782429_0_294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ca32782429_0_294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Decisions are made by majority vote of TS1, TS2, and TC. The D and V roles support — they do not vote.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a32782429_0_32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ca32782429_0_329"/>
          <p:cNvSpPr/>
          <p:nvPr/>
        </p:nvSpPr>
        <p:spPr>
          <a:xfrm>
            <a:off x="0" y="0"/>
            <a:ext cx="2606100" cy="51435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ca32782429_0_329"/>
          <p:cNvSpPr/>
          <p:nvPr/>
        </p:nvSpPr>
        <p:spPr>
          <a:xfrm>
            <a:off x="137160" y="320040"/>
            <a:ext cx="233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ca32782429_0_329"/>
          <p:cNvSpPr/>
          <p:nvPr/>
        </p:nvSpPr>
        <p:spPr>
          <a:xfrm>
            <a:off x="137160" y="1005840"/>
            <a:ext cx="233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ca32782429_0_329"/>
          <p:cNvSpPr/>
          <p:nvPr/>
        </p:nvSpPr>
        <p:spPr>
          <a:xfrm>
            <a:off x="274320" y="1920240"/>
            <a:ext cx="2057400" cy="36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ca32782429_0_329"/>
          <p:cNvSpPr/>
          <p:nvPr/>
        </p:nvSpPr>
        <p:spPr>
          <a:xfrm>
            <a:off x="137160" y="2029968"/>
            <a:ext cx="2331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In plain language: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The TC is the </a:t>
            </a:r>
            <a:r>
              <a:rPr lang="en-US" sz="1050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steward</a:t>
            </a: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They run the </a:t>
            </a:r>
            <a:r>
              <a:rPr lang="en-US" sz="1050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ensure rules are applied </a:t>
            </a:r>
            <a:br>
              <a:rPr lang="en-US" sz="1050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correctly</a:t>
            </a: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, break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ties, </a:t>
            </a:r>
            <a:b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1050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directly work with </a:t>
            </a:r>
            <a:br>
              <a:rPr lang="en-US" sz="1050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the data </a:t>
            </a:r>
            <a:r>
              <a:rPr b="0" i="0" lang="en-US" sz="10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operator.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ca32782429_0_329"/>
          <p:cNvSpPr/>
          <p:nvPr/>
        </p:nvSpPr>
        <p:spPr>
          <a:xfrm>
            <a:off x="2697480" y="91440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ca32782429_0_329"/>
          <p:cNvSpPr/>
          <p:nvPr/>
        </p:nvSpPr>
        <p:spPr>
          <a:xfrm>
            <a:off x="2697480" y="91440"/>
            <a:ext cx="91500" cy="14355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ca32782429_0_329"/>
          <p:cNvSpPr/>
          <p:nvPr/>
        </p:nvSpPr>
        <p:spPr>
          <a:xfrm>
            <a:off x="2880360" y="182880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Runs the Pre-Event Meeting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ca32782429_0_329"/>
          <p:cNvSpPr/>
          <p:nvPr/>
        </p:nvSpPr>
        <p:spPr>
          <a:xfrm>
            <a:off x="2880360" y="548640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Schedules and moderates the meeting. Sets the tone and agenda for the panel before the event begins.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3ca32782429_0_329"/>
          <p:cNvSpPr/>
          <p:nvPr/>
        </p:nvSpPr>
        <p:spPr>
          <a:xfrm>
            <a:off x="2697480" y="1664208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ca32782429_0_329"/>
          <p:cNvSpPr/>
          <p:nvPr/>
        </p:nvSpPr>
        <p:spPr>
          <a:xfrm>
            <a:off x="2697480" y="1664208"/>
            <a:ext cx="91500" cy="14355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ca32782429_0_329"/>
          <p:cNvSpPr/>
          <p:nvPr/>
        </p:nvSpPr>
        <p:spPr>
          <a:xfrm>
            <a:off x="2880360" y="1755648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Manages the Headset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ca32782429_0_329"/>
          <p:cNvSpPr/>
          <p:nvPr/>
        </p:nvSpPr>
        <p:spPr>
          <a:xfrm>
            <a:off x="2880360" y="2121408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Ensures communication is orderly, clear, dignified, and efficient. Keeps all voices on the headset disciplined.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ca32782429_0_329"/>
          <p:cNvSpPr/>
          <p:nvPr/>
        </p:nvSpPr>
        <p:spPr>
          <a:xfrm>
            <a:off x="2697480" y="3236976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ca32782429_0_329"/>
          <p:cNvSpPr/>
          <p:nvPr/>
        </p:nvSpPr>
        <p:spPr>
          <a:xfrm>
            <a:off x="2697480" y="3236976"/>
            <a:ext cx="91500" cy="14355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ca32782429_0_329"/>
          <p:cNvSpPr/>
          <p:nvPr/>
        </p:nvSpPr>
        <p:spPr>
          <a:xfrm>
            <a:off x="2880360" y="3328416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Reviews Calls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ca32782429_0_329"/>
          <p:cNvSpPr/>
          <p:nvPr/>
        </p:nvSpPr>
        <p:spPr>
          <a:xfrm>
            <a:off x="2880360" y="3694176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Can review the TS1's call when necessary. Final call = majority vote of TS1, TS2, and TC.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ca32782429_0_329"/>
          <p:cNvSpPr/>
          <p:nvPr/>
        </p:nvSpPr>
        <p:spPr>
          <a:xfrm>
            <a:off x="5943600" y="91440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ca32782429_0_329"/>
          <p:cNvSpPr/>
          <p:nvPr/>
        </p:nvSpPr>
        <p:spPr>
          <a:xfrm>
            <a:off x="5943600" y="91440"/>
            <a:ext cx="91500" cy="14355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ca32782429_0_329"/>
          <p:cNvSpPr/>
          <p:nvPr/>
        </p:nvSpPr>
        <p:spPr>
          <a:xfrm>
            <a:off x="6126480" y="182880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Authorizes to the 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3ca32782429_0_329"/>
          <p:cNvSpPr/>
          <p:nvPr/>
        </p:nvSpPr>
        <p:spPr>
          <a:xfrm>
            <a:off x="6126480" y="548640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Authorizes or corrects: element deletions, element bonuses, illegal elements, and falls.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ca32782429_0_329"/>
          <p:cNvSpPr/>
          <p:nvPr/>
        </p:nvSpPr>
        <p:spPr>
          <a:xfrm>
            <a:off x="5943600" y="1664208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ca32782429_0_329"/>
          <p:cNvSpPr/>
          <p:nvPr/>
        </p:nvSpPr>
        <p:spPr>
          <a:xfrm>
            <a:off x="5943600" y="1664208"/>
            <a:ext cx="91500" cy="14355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ca32782429_0_329"/>
          <p:cNvSpPr/>
          <p:nvPr/>
        </p:nvSpPr>
        <p:spPr>
          <a:xfrm>
            <a:off x="6126480" y="1755648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Verifies the Record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ca32782429_0_329"/>
          <p:cNvSpPr/>
          <p:nvPr/>
        </p:nvSpPr>
        <p:spPr>
          <a:xfrm>
            <a:off x="6126480" y="2121408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Confirms elements and levels are correctly recorded and authorizes them to go to the calculation program.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ca32782429_0_329"/>
          <p:cNvSpPr/>
          <p:nvPr/>
        </p:nvSpPr>
        <p:spPr>
          <a:xfrm>
            <a:off x="5943600" y="3236976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ca32782429_0_329"/>
          <p:cNvSpPr/>
          <p:nvPr/>
        </p:nvSpPr>
        <p:spPr>
          <a:xfrm>
            <a:off x="5943600" y="3236976"/>
            <a:ext cx="91500" cy="14355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ca32782429_0_329"/>
          <p:cNvSpPr/>
          <p:nvPr/>
        </p:nvSpPr>
        <p:spPr>
          <a:xfrm>
            <a:off x="6126480" y="3328416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Written Record (Shared)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ca32782429_0_329"/>
          <p:cNvSpPr/>
          <p:nvPr/>
        </p:nvSpPr>
        <p:spPr>
          <a:xfrm>
            <a:off x="6126480" y="3694176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Maintains a written record of called elements — same responsibility as TS2.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ca32782429_0_329"/>
          <p:cNvSpPr/>
          <p:nvPr/>
        </p:nvSpPr>
        <p:spPr>
          <a:xfrm>
            <a:off x="2697480" y="4754880"/>
            <a:ext cx="6217800" cy="3840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D6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ca32782429_0_329"/>
          <p:cNvSpPr/>
          <p:nvPr/>
        </p:nvSpPr>
        <p:spPr>
          <a:xfrm>
            <a:off x="2834640" y="4754880"/>
            <a:ext cx="598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Note: A TC who is not also a certified TS may serve as TS2 at non-qualifying competitions in disciplines where they are certified.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a32782429_0_365"/>
          <p:cNvSpPr/>
          <p:nvPr/>
        </p:nvSpPr>
        <p:spPr>
          <a:xfrm>
            <a:off x="274325" y="46648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Two specialists, one shared goal: identify what the skater actually performed. They work as a team.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g3ca32782429_0_36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ca32782429_0_365"/>
          <p:cNvSpPr/>
          <p:nvPr/>
        </p:nvSpPr>
        <p:spPr>
          <a:xfrm>
            <a:off x="274325" y="63967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Technical Specialists — TS1 &amp; TS2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ca32782429_0_365"/>
          <p:cNvSpPr/>
          <p:nvPr/>
        </p:nvSpPr>
        <p:spPr>
          <a:xfrm>
            <a:off x="274320" y="804672"/>
            <a:ext cx="4206300" cy="3840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ca32782429_0_365"/>
          <p:cNvSpPr/>
          <p:nvPr/>
        </p:nvSpPr>
        <p:spPr>
          <a:xfrm>
            <a:off x="320040" y="804672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TS1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ca32782429_0_365"/>
          <p:cNvSpPr/>
          <p:nvPr/>
        </p:nvSpPr>
        <p:spPr>
          <a:xfrm>
            <a:off x="4663440" y="804672"/>
            <a:ext cx="4206300" cy="3840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ca32782429_0_365"/>
          <p:cNvSpPr/>
          <p:nvPr/>
        </p:nvSpPr>
        <p:spPr>
          <a:xfrm>
            <a:off x="4709160" y="804672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TS2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ca32782429_0_365"/>
          <p:cNvSpPr/>
          <p:nvPr/>
        </p:nvSpPr>
        <p:spPr>
          <a:xfrm>
            <a:off x="274320" y="1271016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ca32782429_0_365"/>
          <p:cNvSpPr/>
          <p:nvPr/>
        </p:nvSpPr>
        <p:spPr>
          <a:xfrm>
            <a:off x="274320" y="1271016"/>
            <a:ext cx="732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ca32782429_0_365"/>
          <p:cNvSpPr/>
          <p:nvPr/>
        </p:nvSpPr>
        <p:spPr>
          <a:xfrm>
            <a:off x="438912" y="1271016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Identifies and calls every performed element — in real time, by name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ca32782429_0_365"/>
          <p:cNvSpPr/>
          <p:nvPr/>
        </p:nvSpPr>
        <p:spPr>
          <a:xfrm>
            <a:off x="274320" y="1856232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ca32782429_0_365"/>
          <p:cNvSpPr/>
          <p:nvPr/>
        </p:nvSpPr>
        <p:spPr>
          <a:xfrm>
            <a:off x="274320" y="1856232"/>
            <a:ext cx="732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ca32782429_0_365"/>
          <p:cNvSpPr/>
          <p:nvPr/>
        </p:nvSpPr>
        <p:spPr>
          <a:xfrm>
            <a:off x="438912" y="1856232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Determines the correct level of difficulty for each element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ca32782429_0_365"/>
          <p:cNvSpPr/>
          <p:nvPr/>
        </p:nvSpPr>
        <p:spPr>
          <a:xfrm>
            <a:off x="274320" y="2441448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ca32782429_0_365"/>
          <p:cNvSpPr/>
          <p:nvPr/>
        </p:nvSpPr>
        <p:spPr>
          <a:xfrm>
            <a:off x="274320" y="2441448"/>
            <a:ext cx="732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ca32782429_0_365"/>
          <p:cNvSpPr/>
          <p:nvPr/>
        </p:nvSpPr>
        <p:spPr>
          <a:xfrm>
            <a:off x="438912" y="2441448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Identifies illegal elements and calls falls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ca32782429_0_365"/>
          <p:cNvSpPr/>
          <p:nvPr/>
        </p:nvSpPr>
        <p:spPr>
          <a:xfrm>
            <a:off x="274320" y="3026664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ca32782429_0_365"/>
          <p:cNvSpPr/>
          <p:nvPr/>
        </p:nvSpPr>
        <p:spPr>
          <a:xfrm>
            <a:off x="274320" y="3026664"/>
            <a:ext cx="732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ca32782429_0_365"/>
          <p:cNvSpPr/>
          <p:nvPr/>
        </p:nvSpPr>
        <p:spPr>
          <a:xfrm>
            <a:off x="438912" y="3026664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Is the primary voice on the headset during the program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ca32782429_0_365"/>
          <p:cNvSpPr/>
          <p:nvPr/>
        </p:nvSpPr>
        <p:spPr>
          <a:xfrm>
            <a:off x="274320" y="3611880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ca32782429_0_365"/>
          <p:cNvSpPr/>
          <p:nvPr/>
        </p:nvSpPr>
        <p:spPr>
          <a:xfrm>
            <a:off x="274320" y="3611880"/>
            <a:ext cx="732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ca32782429_0_365"/>
          <p:cNvSpPr/>
          <p:nvPr/>
        </p:nvSpPr>
        <p:spPr>
          <a:xfrm>
            <a:off x="438912" y="3611880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Has first right to review the verbal 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ca32782429_0_365"/>
          <p:cNvSpPr/>
          <p:nvPr/>
        </p:nvSpPr>
        <p:spPr>
          <a:xfrm>
            <a:off x="274320" y="4197096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ca32782429_0_365"/>
          <p:cNvSpPr/>
          <p:nvPr/>
        </p:nvSpPr>
        <p:spPr>
          <a:xfrm>
            <a:off x="274320" y="4197096"/>
            <a:ext cx="732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ca32782429_0_365"/>
          <p:cNvSpPr/>
          <p:nvPr/>
        </p:nvSpPr>
        <p:spPr>
          <a:xfrm>
            <a:off x="438912" y="4197096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Attends the pre-event technical panel meeting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ca32782429_0_365"/>
          <p:cNvSpPr/>
          <p:nvPr/>
        </p:nvSpPr>
        <p:spPr>
          <a:xfrm>
            <a:off x="4663440" y="1271016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ca32782429_0_365"/>
          <p:cNvSpPr/>
          <p:nvPr/>
        </p:nvSpPr>
        <p:spPr>
          <a:xfrm>
            <a:off x="4663440" y="1271016"/>
            <a:ext cx="73200" cy="5211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ca32782429_0_365"/>
          <p:cNvSpPr/>
          <p:nvPr/>
        </p:nvSpPr>
        <p:spPr>
          <a:xfrm>
            <a:off x="4828032" y="1271016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Pre-calls upcoming elements: "next, jump", "next, spin", "next, steps", etc.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ca32782429_0_365"/>
          <p:cNvSpPr/>
          <p:nvPr/>
        </p:nvSpPr>
        <p:spPr>
          <a:xfrm>
            <a:off x="4663440" y="1856232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ca32782429_0_365"/>
          <p:cNvSpPr/>
          <p:nvPr/>
        </p:nvSpPr>
        <p:spPr>
          <a:xfrm>
            <a:off x="4663440" y="1856232"/>
            <a:ext cx="73200" cy="5211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ca32782429_0_365"/>
          <p:cNvSpPr/>
          <p:nvPr/>
        </p:nvSpPr>
        <p:spPr>
          <a:xfrm>
            <a:off x="4828032" y="1856232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Participates in all decisions — has equal vote with TS1 and TC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ca32782429_0_365"/>
          <p:cNvSpPr/>
          <p:nvPr/>
        </p:nvSpPr>
        <p:spPr>
          <a:xfrm>
            <a:off x="4663440" y="2441448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ca32782429_0_365"/>
          <p:cNvSpPr/>
          <p:nvPr/>
        </p:nvSpPr>
        <p:spPr>
          <a:xfrm>
            <a:off x="4663440" y="2441448"/>
            <a:ext cx="73200" cy="5211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ca32782429_0_365"/>
          <p:cNvSpPr/>
          <p:nvPr/>
        </p:nvSpPr>
        <p:spPr>
          <a:xfrm>
            <a:off x="4828032" y="2441448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Maintains a written record of all called elements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ca32782429_0_365"/>
          <p:cNvSpPr/>
          <p:nvPr/>
        </p:nvSpPr>
        <p:spPr>
          <a:xfrm>
            <a:off x="4663440" y="3026664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ca32782429_0_365"/>
          <p:cNvSpPr/>
          <p:nvPr/>
        </p:nvSpPr>
        <p:spPr>
          <a:xfrm>
            <a:off x="4663440" y="3026664"/>
            <a:ext cx="73200" cy="5211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ca32782429_0_365"/>
          <p:cNvSpPr/>
          <p:nvPr/>
        </p:nvSpPr>
        <p:spPr>
          <a:xfrm>
            <a:off x="4828032" y="3026664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Confirms the DO's readback with "I agree" before TC authorizes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ca32782429_0_365"/>
          <p:cNvSpPr/>
          <p:nvPr/>
        </p:nvSpPr>
        <p:spPr>
          <a:xfrm>
            <a:off x="4663440" y="3611880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ca32782429_0_365"/>
          <p:cNvSpPr/>
          <p:nvPr/>
        </p:nvSpPr>
        <p:spPr>
          <a:xfrm>
            <a:off x="4663440" y="3611880"/>
            <a:ext cx="73200" cy="5211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ca32782429_0_365"/>
          <p:cNvSpPr/>
          <p:nvPr/>
        </p:nvSpPr>
        <p:spPr>
          <a:xfrm>
            <a:off x="4828032" y="3611880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Has second right to review the verbal call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ca32782429_0_365"/>
          <p:cNvSpPr/>
          <p:nvPr/>
        </p:nvSpPr>
        <p:spPr>
          <a:xfrm>
            <a:off x="4663440" y="4197096"/>
            <a:ext cx="4206300" cy="521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ca32782429_0_365"/>
          <p:cNvSpPr/>
          <p:nvPr/>
        </p:nvSpPr>
        <p:spPr>
          <a:xfrm>
            <a:off x="4663440" y="4197096"/>
            <a:ext cx="73200" cy="5211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ca32782429_0_365"/>
          <p:cNvSpPr/>
          <p:nvPr/>
        </p:nvSpPr>
        <p:spPr>
          <a:xfrm>
            <a:off x="4828032" y="4197096"/>
            <a:ext cx="3931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Attends the pre-event technical panel meeting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ca32782429_0_365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ca32782429_0_365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TS1 and TS2 have equal votes with TC — all decisions by majority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a32782429_0_41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ca32782429_0_414"/>
          <p:cNvSpPr/>
          <p:nvPr/>
        </p:nvSpPr>
        <p:spPr>
          <a:xfrm>
            <a:off x="0" y="0"/>
            <a:ext cx="2606100" cy="51435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ca32782429_0_414"/>
          <p:cNvSpPr/>
          <p:nvPr/>
        </p:nvSpPr>
        <p:spPr>
          <a:xfrm>
            <a:off x="137160" y="320040"/>
            <a:ext cx="233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ca32782429_0_414"/>
          <p:cNvSpPr/>
          <p:nvPr/>
        </p:nvSpPr>
        <p:spPr>
          <a:xfrm>
            <a:off x="137160" y="1005840"/>
            <a:ext cx="2331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Operator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ca32782429_0_414"/>
          <p:cNvSpPr/>
          <p:nvPr/>
        </p:nvSpPr>
        <p:spPr>
          <a:xfrm>
            <a:off x="274320" y="1920240"/>
            <a:ext cx="2057400" cy="36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ca32782429_0_414"/>
          <p:cNvSpPr/>
          <p:nvPr/>
        </p:nvSpPr>
        <p:spPr>
          <a:xfrm>
            <a:off x="137160" y="2029968"/>
            <a:ext cx="2331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In plain language: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The DO is the recorder.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Every call the panel makes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goes through the DO</a:t>
            </a:r>
            <a:br>
              <a:rPr lang="en-US" sz="1050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into the system.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They also operate the video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E8E8"/>
                </a:solidFill>
                <a:latin typeface="Calibri"/>
                <a:ea typeface="Calibri"/>
                <a:cs typeface="Calibri"/>
                <a:sym typeface="Calibri"/>
              </a:rPr>
              <a:t>replay during reviews.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ca32782429_0_414"/>
          <p:cNvSpPr/>
          <p:nvPr/>
        </p:nvSpPr>
        <p:spPr>
          <a:xfrm>
            <a:off x="2697480" y="91440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ca32782429_0_414"/>
          <p:cNvSpPr/>
          <p:nvPr/>
        </p:nvSpPr>
        <p:spPr>
          <a:xfrm>
            <a:off x="2697480" y="91440"/>
            <a:ext cx="91500" cy="14355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ca32782429_0_414"/>
          <p:cNvSpPr/>
          <p:nvPr/>
        </p:nvSpPr>
        <p:spPr>
          <a:xfrm>
            <a:off x="2880360" y="182880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Enters All Called Elements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ca32782429_0_414"/>
          <p:cNvSpPr/>
          <p:nvPr/>
        </p:nvSpPr>
        <p:spPr>
          <a:xfrm>
            <a:off x="2880360" y="548640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Types every element called by TS1 into the data entry screen using the correct ISU element code.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ca32782429_0_414"/>
          <p:cNvSpPr/>
          <p:nvPr/>
        </p:nvSpPr>
        <p:spPr>
          <a:xfrm>
            <a:off x="2697480" y="1664208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ca32782429_0_414"/>
          <p:cNvSpPr/>
          <p:nvPr/>
        </p:nvSpPr>
        <p:spPr>
          <a:xfrm>
            <a:off x="2697480" y="1664208"/>
            <a:ext cx="91500" cy="14355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ca32782429_0_414"/>
          <p:cNvSpPr/>
          <p:nvPr/>
        </p:nvSpPr>
        <p:spPr>
          <a:xfrm>
            <a:off x="2880360" y="1755648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Enters Levels, Bonuses &amp; Flags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ca32782429_0_414"/>
          <p:cNvSpPr/>
          <p:nvPr/>
        </p:nvSpPr>
        <p:spPr>
          <a:xfrm>
            <a:off x="2880360" y="2121408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Records called levels of difficulty, element bonuses, illegal element flags, and falls as directed.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ca32782429_0_414"/>
          <p:cNvSpPr/>
          <p:nvPr/>
        </p:nvSpPr>
        <p:spPr>
          <a:xfrm>
            <a:off x="2697480" y="3236976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ca32782429_0_414"/>
          <p:cNvSpPr/>
          <p:nvPr/>
        </p:nvSpPr>
        <p:spPr>
          <a:xfrm>
            <a:off x="2697480" y="3236976"/>
            <a:ext cx="91500" cy="14355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ca32782429_0_414"/>
          <p:cNvSpPr/>
          <p:nvPr/>
        </p:nvSpPr>
        <p:spPr>
          <a:xfrm>
            <a:off x="2880360" y="3328416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Edits on TC Instruction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ca32782429_0_414"/>
          <p:cNvSpPr/>
          <p:nvPr/>
        </p:nvSpPr>
        <p:spPr>
          <a:xfrm>
            <a:off x="2880360" y="3694176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Makes corrections to elements or levels only when explicitly directed to do so by the TC.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ca32782429_0_414"/>
          <p:cNvSpPr/>
          <p:nvPr/>
        </p:nvSpPr>
        <p:spPr>
          <a:xfrm>
            <a:off x="5943600" y="91440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ca32782429_0_414"/>
          <p:cNvSpPr/>
          <p:nvPr/>
        </p:nvSpPr>
        <p:spPr>
          <a:xfrm>
            <a:off x="5943600" y="91440"/>
            <a:ext cx="91500" cy="14355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ca32782429_0_414"/>
          <p:cNvSpPr/>
          <p:nvPr/>
        </p:nvSpPr>
        <p:spPr>
          <a:xfrm>
            <a:off x="6126480" y="182880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Reads Back Elements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ca32782429_0_414"/>
          <p:cNvSpPr/>
          <p:nvPr/>
        </p:nvSpPr>
        <p:spPr>
          <a:xfrm>
            <a:off x="6126480" y="548640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After reviews, reads back all elements aloud — including any with an asterisk (*) from WBP violations.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ca32782429_0_414"/>
          <p:cNvSpPr/>
          <p:nvPr/>
        </p:nvSpPr>
        <p:spPr>
          <a:xfrm>
            <a:off x="5943600" y="1664208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ca32782429_0_414"/>
          <p:cNvSpPr/>
          <p:nvPr/>
        </p:nvSpPr>
        <p:spPr>
          <a:xfrm>
            <a:off x="5943600" y="1664208"/>
            <a:ext cx="91500" cy="14355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ca32782429_0_414"/>
          <p:cNvSpPr/>
          <p:nvPr/>
        </p:nvSpPr>
        <p:spPr>
          <a:xfrm>
            <a:off x="6126480" y="1755648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Flags WBP Issues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ca32782429_0_414"/>
          <p:cNvSpPr/>
          <p:nvPr/>
        </p:nvSpPr>
        <p:spPr>
          <a:xfrm>
            <a:off x="6126480" y="2121408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Calls any well-balanced program violations not already caught by the TC or calculation software to TC's attention.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ca32782429_0_414"/>
          <p:cNvSpPr/>
          <p:nvPr/>
        </p:nvSpPr>
        <p:spPr>
          <a:xfrm>
            <a:off x="5943600" y="3236976"/>
            <a:ext cx="3154800" cy="1435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ca32782429_0_414"/>
          <p:cNvSpPr/>
          <p:nvPr/>
        </p:nvSpPr>
        <p:spPr>
          <a:xfrm>
            <a:off x="5943600" y="3236976"/>
            <a:ext cx="91500" cy="14355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ca32782429_0_414"/>
          <p:cNvSpPr/>
          <p:nvPr/>
        </p:nvSpPr>
        <p:spPr>
          <a:xfrm>
            <a:off x="6126480" y="3328416"/>
            <a:ext cx="2880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Operates Video Replay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ca32782429_0_414"/>
          <p:cNvSpPr/>
          <p:nvPr/>
        </p:nvSpPr>
        <p:spPr>
          <a:xfrm>
            <a:off x="6126480" y="3694176"/>
            <a:ext cx="2880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Controls the video replay system during reviews as directed by the TC. Attends the pre-event meeting.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ca32782429_0_414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ca32782429_0_414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The DO follows TC direction — never acts independently on calls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a32782429_0_49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ca32782429_0_491"/>
          <p:cNvSpPr/>
          <p:nvPr/>
        </p:nvSpPr>
        <p:spPr>
          <a:xfrm>
            <a:off x="365760" y="164592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Technical Panel Event Procedure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ca32782429_0_491"/>
          <p:cNvSpPr/>
          <p:nvPr/>
        </p:nvSpPr>
        <p:spPr>
          <a:xfrm>
            <a:off x="320040" y="658368"/>
            <a:ext cx="8503800" cy="420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ca32782429_0_491"/>
          <p:cNvSpPr/>
          <p:nvPr/>
        </p:nvSpPr>
        <p:spPr>
          <a:xfrm>
            <a:off x="502920" y="658368"/>
            <a:ext cx="8229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Guiding Principle: The role of the technical panel is to FIND features achieved by the skater. Do not be quick to take away features or entire elements.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ca32782429_0_491"/>
          <p:cNvSpPr/>
          <p:nvPr/>
        </p:nvSpPr>
        <p:spPr>
          <a:xfrm>
            <a:off x="320040" y="1170432"/>
            <a:ext cx="4160400" cy="347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ca32782429_0_491"/>
          <p:cNvSpPr/>
          <p:nvPr/>
        </p:nvSpPr>
        <p:spPr>
          <a:xfrm>
            <a:off x="320040" y="1170432"/>
            <a:ext cx="416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BEFORE THE EVENT — Pre-Event Meeting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ca32782429_0_491"/>
          <p:cNvSpPr/>
          <p:nvPr/>
        </p:nvSpPr>
        <p:spPr>
          <a:xfrm>
            <a:off x="320040" y="1591056"/>
            <a:ext cx="4160400" cy="658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ca32782429_0_491"/>
          <p:cNvSpPr/>
          <p:nvPr/>
        </p:nvSpPr>
        <p:spPr>
          <a:xfrm>
            <a:off x="320040" y="1591056"/>
            <a:ext cx="567000" cy="65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ca32782429_0_491"/>
          <p:cNvSpPr/>
          <p:nvPr/>
        </p:nvSpPr>
        <p:spPr>
          <a:xfrm>
            <a:off x="320040" y="1591056"/>
            <a:ext cx="567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ca32782429_0_491"/>
          <p:cNvSpPr/>
          <p:nvPr/>
        </p:nvSpPr>
        <p:spPr>
          <a:xfrm>
            <a:off x="969264" y="1591056"/>
            <a:ext cx="3429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TC convenes and runs the meeting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ca32782429_0_491"/>
          <p:cNvSpPr/>
          <p:nvPr/>
        </p:nvSpPr>
        <p:spPr>
          <a:xfrm>
            <a:off x="320040" y="2322576"/>
            <a:ext cx="4160400" cy="658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ca32782429_0_491"/>
          <p:cNvSpPr/>
          <p:nvPr/>
        </p:nvSpPr>
        <p:spPr>
          <a:xfrm>
            <a:off x="320040" y="2322576"/>
            <a:ext cx="567000" cy="65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ca32782429_0_491"/>
          <p:cNvSpPr/>
          <p:nvPr/>
        </p:nvSpPr>
        <p:spPr>
          <a:xfrm>
            <a:off x="320040" y="2322576"/>
            <a:ext cx="567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TS1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ca32782429_0_491"/>
          <p:cNvSpPr/>
          <p:nvPr/>
        </p:nvSpPr>
        <p:spPr>
          <a:xfrm>
            <a:off x="969264" y="2322576"/>
            <a:ext cx="3429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TS1 requests assistance for certain lev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el features from TS2 and TC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ca32782429_0_491"/>
          <p:cNvSpPr/>
          <p:nvPr/>
        </p:nvSpPr>
        <p:spPr>
          <a:xfrm>
            <a:off x="320040" y="3054096"/>
            <a:ext cx="4160400" cy="658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ca32782429_0_491"/>
          <p:cNvSpPr/>
          <p:nvPr/>
        </p:nvSpPr>
        <p:spPr>
          <a:xfrm>
            <a:off x="320040" y="3054096"/>
            <a:ext cx="567000" cy="65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ca32782429_0_491"/>
          <p:cNvSpPr/>
          <p:nvPr/>
        </p:nvSpPr>
        <p:spPr>
          <a:xfrm>
            <a:off x="320040" y="3054096"/>
            <a:ext cx="567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ca32782429_0_491"/>
          <p:cNvSpPr/>
          <p:nvPr/>
        </p:nvSpPr>
        <p:spPr>
          <a:xfrm>
            <a:off x="969264" y="3054096"/>
            <a:ext cx="3429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Panel discusses gray areas and anticipated edge cases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ca32782429_0_491"/>
          <p:cNvSpPr/>
          <p:nvPr/>
        </p:nvSpPr>
        <p:spPr>
          <a:xfrm>
            <a:off x="320040" y="3785616"/>
            <a:ext cx="4160400" cy="658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ca32782429_0_491"/>
          <p:cNvSpPr/>
          <p:nvPr/>
        </p:nvSpPr>
        <p:spPr>
          <a:xfrm>
            <a:off x="320040" y="3785616"/>
            <a:ext cx="567000" cy="65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ca32782429_0_491"/>
          <p:cNvSpPr/>
          <p:nvPr/>
        </p:nvSpPr>
        <p:spPr>
          <a:xfrm>
            <a:off x="320040" y="3785616"/>
            <a:ext cx="567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ca32782429_0_491"/>
          <p:cNvSpPr/>
          <p:nvPr/>
        </p:nvSpPr>
        <p:spPr>
          <a:xfrm>
            <a:off x="969264" y="3785616"/>
            <a:ext cx="3429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Review basic element rules and well-balanced program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g3ca32782429_0_491"/>
          <p:cNvSpPr/>
          <p:nvPr/>
        </p:nvSpPr>
        <p:spPr>
          <a:xfrm>
            <a:off x="4663440" y="1170432"/>
            <a:ext cx="4160400" cy="347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ca32782429_0_491"/>
          <p:cNvSpPr/>
          <p:nvPr/>
        </p:nvSpPr>
        <p:spPr>
          <a:xfrm>
            <a:off x="4663440" y="1170432"/>
            <a:ext cx="416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DURING THE EVENT — On the Stand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ca32782429_0_491"/>
          <p:cNvSpPr/>
          <p:nvPr/>
        </p:nvSpPr>
        <p:spPr>
          <a:xfrm>
            <a:off x="4663440" y="1591056"/>
            <a:ext cx="4160400" cy="521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ca32782429_0_491"/>
          <p:cNvSpPr/>
          <p:nvPr/>
        </p:nvSpPr>
        <p:spPr>
          <a:xfrm>
            <a:off x="4663440" y="1591056"/>
            <a:ext cx="5670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ca32782429_0_491"/>
          <p:cNvSpPr/>
          <p:nvPr/>
        </p:nvSpPr>
        <p:spPr>
          <a:xfrm>
            <a:off x="4663440" y="1591056"/>
            <a:ext cx="567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ca32782429_0_491"/>
          <p:cNvSpPr/>
          <p:nvPr/>
        </p:nvSpPr>
        <p:spPr>
          <a:xfrm>
            <a:off x="5312664" y="1591056"/>
            <a:ext cx="3429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Watch the warm-up — confirm gray zones from the meeting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ca32782429_0_491"/>
          <p:cNvSpPr/>
          <p:nvPr/>
        </p:nvSpPr>
        <p:spPr>
          <a:xfrm>
            <a:off x="4663440" y="2176272"/>
            <a:ext cx="4160400" cy="521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ca32782429_0_491"/>
          <p:cNvSpPr/>
          <p:nvPr/>
        </p:nvSpPr>
        <p:spPr>
          <a:xfrm>
            <a:off x="4663440" y="2176272"/>
            <a:ext cx="5670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ca32782429_0_491"/>
          <p:cNvSpPr/>
          <p:nvPr/>
        </p:nvSpPr>
        <p:spPr>
          <a:xfrm>
            <a:off x="4663440" y="2176272"/>
            <a:ext cx="567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ca32782429_0_491"/>
          <p:cNvSpPr/>
          <p:nvPr/>
        </p:nvSpPr>
        <p:spPr>
          <a:xfrm>
            <a:off x="5312664" y="2176272"/>
            <a:ext cx="3429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Keep dialogue to a minimum — only necessary communication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ca32782429_0_491"/>
          <p:cNvSpPr/>
          <p:nvPr/>
        </p:nvSpPr>
        <p:spPr>
          <a:xfrm>
            <a:off x="4663440" y="2761488"/>
            <a:ext cx="4160400" cy="521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ca32782429_0_491"/>
          <p:cNvSpPr/>
          <p:nvPr/>
        </p:nvSpPr>
        <p:spPr>
          <a:xfrm>
            <a:off x="4663440" y="2761488"/>
            <a:ext cx="5670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ca32782429_0_491"/>
          <p:cNvSpPr/>
          <p:nvPr/>
        </p:nvSpPr>
        <p:spPr>
          <a:xfrm>
            <a:off x="4663440" y="2761488"/>
            <a:ext cx="567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ca32782429_0_491"/>
          <p:cNvSpPr/>
          <p:nvPr/>
        </p:nvSpPr>
        <p:spPr>
          <a:xfrm>
            <a:off x="5312664" y="2761488"/>
            <a:ext cx="3429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Pre-call each upcoming element type before it begins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ca32782429_0_491"/>
          <p:cNvSpPr/>
          <p:nvPr/>
        </p:nvSpPr>
        <p:spPr>
          <a:xfrm>
            <a:off x="4663440" y="3346704"/>
            <a:ext cx="4160400" cy="521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ca32782429_0_491"/>
          <p:cNvSpPr/>
          <p:nvPr/>
        </p:nvSpPr>
        <p:spPr>
          <a:xfrm>
            <a:off x="4663440" y="3346704"/>
            <a:ext cx="5670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ca32782429_0_491"/>
          <p:cNvSpPr/>
          <p:nvPr/>
        </p:nvSpPr>
        <p:spPr>
          <a:xfrm>
            <a:off x="4663440" y="3346704"/>
            <a:ext cx="567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ca32782429_0_491"/>
          <p:cNvSpPr/>
          <p:nvPr/>
        </p:nvSpPr>
        <p:spPr>
          <a:xfrm>
            <a:off x="5312664" y="3346704"/>
            <a:ext cx="3429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Allow TS1 time to review first; then TS2; then TC weighs 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ca32782429_0_491"/>
          <p:cNvSpPr/>
          <p:nvPr/>
        </p:nvSpPr>
        <p:spPr>
          <a:xfrm>
            <a:off x="4663440" y="3931920"/>
            <a:ext cx="4160400" cy="521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ca32782429_0_491"/>
          <p:cNvSpPr/>
          <p:nvPr/>
        </p:nvSpPr>
        <p:spPr>
          <a:xfrm>
            <a:off x="4663440" y="3931920"/>
            <a:ext cx="567000" cy="521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ca32782429_0_491"/>
          <p:cNvSpPr/>
          <p:nvPr/>
        </p:nvSpPr>
        <p:spPr>
          <a:xfrm>
            <a:off x="4663440" y="3931920"/>
            <a:ext cx="567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ca32782429_0_491"/>
          <p:cNvSpPr/>
          <p:nvPr/>
        </p:nvSpPr>
        <p:spPr>
          <a:xfrm>
            <a:off x="5312664" y="3931920"/>
            <a:ext cx="34290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eighing in on assigned features for spins and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ca32782429_0_491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ca32782429_0_491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If a call is too close to determine, go with the skater.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a32782429_0_54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ca32782429_0_541"/>
          <p:cNvSpPr/>
          <p:nvPr/>
        </p:nvSpPr>
        <p:spPr>
          <a:xfrm>
            <a:off x="457200" y="164592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Review Process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ca32782429_0_541"/>
          <p:cNvSpPr/>
          <p:nvPr/>
        </p:nvSpPr>
        <p:spPr>
          <a:xfrm>
            <a:off x="457200" y="62179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Following the performance, the panel reviews any element that was flagged for review during the program.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ca32782429_0_541"/>
          <p:cNvSpPr/>
          <p:nvPr/>
        </p:nvSpPr>
        <p:spPr>
          <a:xfrm>
            <a:off x="320040" y="987552"/>
            <a:ext cx="8503800" cy="69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ca32782429_0_541"/>
          <p:cNvSpPr/>
          <p:nvPr/>
        </p:nvSpPr>
        <p:spPr>
          <a:xfrm>
            <a:off x="384048" y="1115568"/>
            <a:ext cx="438900" cy="4389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ca32782429_0_541"/>
          <p:cNvSpPr/>
          <p:nvPr/>
        </p:nvSpPr>
        <p:spPr>
          <a:xfrm>
            <a:off x="384048" y="1115568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ca32782429_0_541"/>
          <p:cNvSpPr/>
          <p:nvPr/>
        </p:nvSpPr>
        <p:spPr>
          <a:xfrm>
            <a:off x="914400" y="1106424"/>
            <a:ext cx="594300" cy="457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ca32782429_0_541"/>
          <p:cNvSpPr/>
          <p:nvPr/>
        </p:nvSpPr>
        <p:spPr>
          <a:xfrm>
            <a:off x="914400" y="1106424"/>
            <a:ext cx="5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ca32782429_0_541"/>
          <p:cNvSpPr/>
          <p:nvPr/>
        </p:nvSpPr>
        <p:spPr>
          <a:xfrm>
            <a:off x="1627632" y="1042416"/>
            <a:ext cx="708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TC leads the review and identifies the issue — either by asking the TS who called the review, or by identifying it themselves if TC called 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ca32782429_0_541"/>
          <p:cNvSpPr/>
          <p:nvPr/>
        </p:nvSpPr>
        <p:spPr>
          <a:xfrm>
            <a:off x="320040" y="1773936"/>
            <a:ext cx="8503800" cy="69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ca32782429_0_541"/>
          <p:cNvSpPr/>
          <p:nvPr/>
        </p:nvSpPr>
        <p:spPr>
          <a:xfrm>
            <a:off x="384048" y="1901952"/>
            <a:ext cx="438900" cy="438900"/>
          </a:xfrm>
          <a:prstGeom prst="ellipse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ca32782429_0_541"/>
          <p:cNvSpPr/>
          <p:nvPr/>
        </p:nvSpPr>
        <p:spPr>
          <a:xfrm>
            <a:off x="384048" y="1901952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ca32782429_0_541"/>
          <p:cNvSpPr/>
          <p:nvPr/>
        </p:nvSpPr>
        <p:spPr>
          <a:xfrm>
            <a:off x="914400" y="1892808"/>
            <a:ext cx="594300" cy="4572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ca32782429_0_541"/>
          <p:cNvSpPr/>
          <p:nvPr/>
        </p:nvSpPr>
        <p:spPr>
          <a:xfrm>
            <a:off x="914400" y="1892808"/>
            <a:ext cx="5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g3ca32782429_0_541"/>
          <p:cNvSpPr/>
          <p:nvPr/>
        </p:nvSpPr>
        <p:spPr>
          <a:xfrm>
            <a:off x="1627632" y="1828800"/>
            <a:ext cx="708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 plays the video clip from the data screen. Slow motion is available and frequently used for rotation and edge reviews.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ca32782429_0_541"/>
          <p:cNvSpPr/>
          <p:nvPr/>
        </p:nvSpPr>
        <p:spPr>
          <a:xfrm>
            <a:off x="320040" y="2560320"/>
            <a:ext cx="8503800" cy="69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ca32782429_0_541"/>
          <p:cNvSpPr/>
          <p:nvPr/>
        </p:nvSpPr>
        <p:spPr>
          <a:xfrm>
            <a:off x="384048" y="2688336"/>
            <a:ext cx="438900" cy="4389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ca32782429_0_541"/>
          <p:cNvSpPr/>
          <p:nvPr/>
        </p:nvSpPr>
        <p:spPr>
          <a:xfrm>
            <a:off x="384048" y="2688336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3ca32782429_0_541"/>
          <p:cNvSpPr/>
          <p:nvPr/>
        </p:nvSpPr>
        <p:spPr>
          <a:xfrm>
            <a:off x="914400" y="2679192"/>
            <a:ext cx="594300" cy="4572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ca32782429_0_541"/>
          <p:cNvSpPr/>
          <p:nvPr/>
        </p:nvSpPr>
        <p:spPr>
          <a:xfrm>
            <a:off x="914400" y="2679192"/>
            <a:ext cx="5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ca32782429_0_541"/>
          <p:cNvSpPr/>
          <p:nvPr/>
        </p:nvSpPr>
        <p:spPr>
          <a:xfrm>
            <a:off x="1627632" y="2615184"/>
            <a:ext cx="708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Panel focuses on the screen and the specific issue (the reason for the review). Be decisive — don't second-guess without new information.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ca32782429_0_541"/>
          <p:cNvSpPr/>
          <p:nvPr/>
        </p:nvSpPr>
        <p:spPr>
          <a:xfrm>
            <a:off x="320040" y="3346704"/>
            <a:ext cx="8503800" cy="69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ca32782429_0_541"/>
          <p:cNvSpPr/>
          <p:nvPr/>
        </p:nvSpPr>
        <p:spPr>
          <a:xfrm>
            <a:off x="384048" y="3474720"/>
            <a:ext cx="438900" cy="4389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ca32782429_0_541"/>
          <p:cNvSpPr/>
          <p:nvPr/>
        </p:nvSpPr>
        <p:spPr>
          <a:xfrm>
            <a:off x="384048" y="347472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ca32782429_0_541"/>
          <p:cNvSpPr/>
          <p:nvPr/>
        </p:nvSpPr>
        <p:spPr>
          <a:xfrm>
            <a:off x="914400" y="3465576"/>
            <a:ext cx="594300" cy="4572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ca32782429_0_541"/>
          <p:cNvSpPr/>
          <p:nvPr/>
        </p:nvSpPr>
        <p:spPr>
          <a:xfrm>
            <a:off x="914400" y="3465576"/>
            <a:ext cx="5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ca32782429_0_541"/>
          <p:cNvSpPr/>
          <p:nvPr/>
        </p:nvSpPr>
        <p:spPr>
          <a:xfrm>
            <a:off x="1627632" y="3401568"/>
            <a:ext cx="708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TS1 and TS2 each weigh in with their opinion. If TS1 and TS2 agree — call is confirmed. If they disagree, TC breaks the tie. (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TC should always chime in with their vote just so it is known if the decision was unanimous or split)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ca32782429_0_541"/>
          <p:cNvSpPr/>
          <p:nvPr/>
        </p:nvSpPr>
        <p:spPr>
          <a:xfrm>
            <a:off x="320040" y="4133088"/>
            <a:ext cx="8503800" cy="69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ca32782429_0_541"/>
          <p:cNvSpPr/>
          <p:nvPr/>
        </p:nvSpPr>
        <p:spPr>
          <a:xfrm>
            <a:off x="384048" y="4261104"/>
            <a:ext cx="438900" cy="438900"/>
          </a:xfrm>
          <a:prstGeom prst="ellipse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g3ca32782429_0_541"/>
          <p:cNvSpPr/>
          <p:nvPr/>
        </p:nvSpPr>
        <p:spPr>
          <a:xfrm>
            <a:off x="384048" y="4261104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ca32782429_0_541"/>
          <p:cNvSpPr/>
          <p:nvPr/>
        </p:nvSpPr>
        <p:spPr>
          <a:xfrm>
            <a:off x="914400" y="4251960"/>
            <a:ext cx="594300" cy="4572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ca32782429_0_541"/>
          <p:cNvSpPr/>
          <p:nvPr/>
        </p:nvSpPr>
        <p:spPr>
          <a:xfrm>
            <a:off x="914400" y="4251960"/>
            <a:ext cx="5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3ca32782429_0_541"/>
          <p:cNvSpPr/>
          <p:nvPr/>
        </p:nvSpPr>
        <p:spPr>
          <a:xfrm>
            <a:off x="1627632" y="4187952"/>
            <a:ext cx="7086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All decisions are made by majority vote of TS1, TS2, and TC. TC directs the DO to update the element if the call changes.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ca32782429_0_541"/>
          <p:cNvSpPr/>
          <p:nvPr/>
        </p:nvSpPr>
        <p:spPr>
          <a:xfrm>
            <a:off x="320040" y="4910328"/>
            <a:ext cx="8503800" cy="1554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D6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ca32782429_0_541"/>
          <p:cNvSpPr/>
          <p:nvPr/>
        </p:nvSpPr>
        <p:spPr>
          <a:xfrm>
            <a:off x="457200" y="4910328"/>
            <a:ext cx="82296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If a call is too close to accurately determine — go with the skater. This is the consistent standard throughout all reviews.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ca32782429_0_541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ca32782429_0_66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ca32782429_0_663"/>
          <p:cNvSpPr/>
          <p:nvPr/>
        </p:nvSpPr>
        <p:spPr>
          <a:xfrm>
            <a:off x="0" y="0"/>
            <a:ext cx="25602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ca32782429_0_663"/>
          <p:cNvSpPr/>
          <p:nvPr/>
        </p:nvSpPr>
        <p:spPr>
          <a:xfrm>
            <a:off x="137160" y="457200"/>
            <a:ext cx="2286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Paper &amp;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Pencil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3ca32782429_0_663"/>
          <p:cNvSpPr/>
          <p:nvPr/>
        </p:nvSpPr>
        <p:spPr>
          <a:xfrm>
            <a:off x="137160" y="2331720"/>
            <a:ext cx="2286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U.S. Figure Skating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Domestic Protocol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ca32782429_0_663"/>
          <p:cNvSpPr/>
          <p:nvPr/>
        </p:nvSpPr>
        <p:spPr>
          <a:xfrm>
            <a:off x="274320" y="3291840"/>
            <a:ext cx="347400" cy="3474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ca32782429_0_663"/>
          <p:cNvSpPr/>
          <p:nvPr/>
        </p:nvSpPr>
        <p:spPr>
          <a:xfrm>
            <a:off x="274320" y="329184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ca32782429_0_663"/>
          <p:cNvSpPr/>
          <p:nvPr/>
        </p:nvSpPr>
        <p:spPr>
          <a:xfrm>
            <a:off x="685800" y="3273552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Calls elements, levels,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rotation &amp; edge issues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g3ca32782429_0_663"/>
          <p:cNvSpPr/>
          <p:nvPr/>
        </p:nvSpPr>
        <p:spPr>
          <a:xfrm>
            <a:off x="274320" y="3840480"/>
            <a:ext cx="347400" cy="3474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ca32782429_0_663"/>
          <p:cNvSpPr/>
          <p:nvPr/>
        </p:nvSpPr>
        <p:spPr>
          <a:xfrm>
            <a:off x="274320" y="384048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TS2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ca32782429_0_663"/>
          <p:cNvSpPr/>
          <p:nvPr/>
        </p:nvSpPr>
        <p:spPr>
          <a:xfrm>
            <a:off x="685800" y="3822192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Takes notes incl. own opinion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on rotation, edge &amp;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ca32782429_0_663"/>
          <p:cNvSpPr/>
          <p:nvPr/>
        </p:nvSpPr>
        <p:spPr>
          <a:xfrm>
            <a:off x="274320" y="4389120"/>
            <a:ext cx="347400" cy="347400"/>
          </a:xfrm>
          <a:prstGeom prst="ellipse">
            <a:avLst/>
          </a:prstGeom>
          <a:solidFill>
            <a:srgbClr val="6D2E46"/>
          </a:solidFill>
          <a:ln cap="flat" cmpd="sng" w="12700">
            <a:solidFill>
              <a:srgbClr val="6D2E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ca32782429_0_663"/>
          <p:cNvSpPr/>
          <p:nvPr/>
        </p:nvSpPr>
        <p:spPr>
          <a:xfrm>
            <a:off x="274320" y="4389120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ca32782429_0_663"/>
          <p:cNvSpPr/>
          <p:nvPr/>
        </p:nvSpPr>
        <p:spPr>
          <a:xfrm>
            <a:off x="685800" y="4370832"/>
            <a:ext cx="1737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Takes notes; reads 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elements &amp; falls to Referee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ca32782429_0_663"/>
          <p:cNvSpPr/>
          <p:nvPr/>
        </p:nvSpPr>
        <p:spPr>
          <a:xfrm>
            <a:off x="2697480" y="164592"/>
            <a:ext cx="3108900" cy="1079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3ca32782429_0_663"/>
          <p:cNvSpPr/>
          <p:nvPr/>
        </p:nvSpPr>
        <p:spPr>
          <a:xfrm>
            <a:off x="2697480" y="164592"/>
            <a:ext cx="91500" cy="1079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g3ca32782429_0_663"/>
          <p:cNvSpPr/>
          <p:nvPr/>
        </p:nvSpPr>
        <p:spPr>
          <a:xfrm>
            <a:off x="2862072" y="256032"/>
            <a:ext cx="292500" cy="2925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g3ca32782429_0_663"/>
          <p:cNvSpPr/>
          <p:nvPr/>
        </p:nvSpPr>
        <p:spPr>
          <a:xfrm>
            <a:off x="2862072" y="256032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g3ca32782429_0_663"/>
          <p:cNvSpPr/>
          <p:nvPr/>
        </p:nvSpPr>
        <p:spPr>
          <a:xfrm>
            <a:off x="3227832" y="219456"/>
            <a:ext cx="2514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TS2 agrees → silence is agreement.</a:t>
            </a: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No need to verbalize unless there is a dispute.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ca32782429_0_663"/>
          <p:cNvSpPr/>
          <p:nvPr/>
        </p:nvSpPr>
        <p:spPr>
          <a:xfrm>
            <a:off x="2697480" y="1371600"/>
            <a:ext cx="3108900" cy="1079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ca32782429_0_663"/>
          <p:cNvSpPr/>
          <p:nvPr/>
        </p:nvSpPr>
        <p:spPr>
          <a:xfrm>
            <a:off x="2697480" y="1371600"/>
            <a:ext cx="91500" cy="10791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ca32782429_0_663"/>
          <p:cNvSpPr/>
          <p:nvPr/>
        </p:nvSpPr>
        <p:spPr>
          <a:xfrm>
            <a:off x="2862072" y="1463040"/>
            <a:ext cx="292500" cy="2925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ca32782429_0_663"/>
          <p:cNvSpPr/>
          <p:nvPr/>
        </p:nvSpPr>
        <p:spPr>
          <a:xfrm>
            <a:off x="2862072" y="1463040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ca32782429_0_663"/>
          <p:cNvSpPr/>
          <p:nvPr/>
        </p:nvSpPr>
        <p:spPr>
          <a:xfrm>
            <a:off x="3227832" y="1426464"/>
            <a:ext cx="2514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Disagreement → resolve immediately.</a:t>
            </a: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If no time: call "Review, under" and verbalize. When in doubt — go with the skater.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ca32782429_0_663"/>
          <p:cNvSpPr/>
          <p:nvPr/>
        </p:nvSpPr>
        <p:spPr>
          <a:xfrm>
            <a:off x="2697480" y="2578608"/>
            <a:ext cx="3108900" cy="1079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ca32782429_0_663"/>
          <p:cNvSpPr/>
          <p:nvPr/>
        </p:nvSpPr>
        <p:spPr>
          <a:xfrm>
            <a:off x="2697480" y="2578608"/>
            <a:ext cx="91500" cy="10791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ca32782429_0_663"/>
          <p:cNvSpPr/>
          <p:nvPr/>
        </p:nvSpPr>
        <p:spPr>
          <a:xfrm>
            <a:off x="2862072" y="2670048"/>
            <a:ext cx="292500" cy="2925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ca32782429_0_663"/>
          <p:cNvSpPr/>
          <p:nvPr/>
        </p:nvSpPr>
        <p:spPr>
          <a:xfrm>
            <a:off x="2862072" y="267004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ca32782429_0_663"/>
          <p:cNvSpPr/>
          <p:nvPr/>
        </p:nvSpPr>
        <p:spPr>
          <a:xfrm>
            <a:off x="3227832" y="2633472"/>
            <a:ext cx="2514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TC only + TS1 (no TS2):</a:t>
            </a: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Split decision goes in favor of the skater.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ca32782429_0_663"/>
          <p:cNvSpPr/>
          <p:nvPr/>
        </p:nvSpPr>
        <p:spPr>
          <a:xfrm>
            <a:off x="2697480" y="3785616"/>
            <a:ext cx="3108900" cy="1079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ca32782429_0_663"/>
          <p:cNvSpPr/>
          <p:nvPr/>
        </p:nvSpPr>
        <p:spPr>
          <a:xfrm>
            <a:off x="2697480" y="3785616"/>
            <a:ext cx="91500" cy="1079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ca32782429_0_663"/>
          <p:cNvSpPr/>
          <p:nvPr/>
        </p:nvSpPr>
        <p:spPr>
          <a:xfrm>
            <a:off x="2862072" y="3877056"/>
            <a:ext cx="292500" cy="2925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ca32782429_0_663"/>
          <p:cNvSpPr/>
          <p:nvPr/>
        </p:nvSpPr>
        <p:spPr>
          <a:xfrm>
            <a:off x="2862072" y="3877056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ca32782429_0_663"/>
          <p:cNvSpPr/>
          <p:nvPr/>
        </p:nvSpPr>
        <p:spPr>
          <a:xfrm>
            <a:off x="3227832" y="3840480"/>
            <a:ext cx="2514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Everyone participates in review.</a:t>
            </a: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TC, TS2, and Event Referee all list elements, level calls, and falls.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g3ca32782429_0_663"/>
          <p:cNvSpPr/>
          <p:nvPr/>
        </p:nvSpPr>
        <p:spPr>
          <a:xfrm>
            <a:off x="5943600" y="164592"/>
            <a:ext cx="3108900" cy="1079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ca32782429_0_663"/>
          <p:cNvSpPr/>
          <p:nvPr/>
        </p:nvSpPr>
        <p:spPr>
          <a:xfrm>
            <a:off x="5943600" y="164592"/>
            <a:ext cx="91500" cy="10791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ca32782429_0_663"/>
          <p:cNvSpPr/>
          <p:nvPr/>
        </p:nvSpPr>
        <p:spPr>
          <a:xfrm>
            <a:off x="6108192" y="256032"/>
            <a:ext cx="292500" cy="2925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ca32782429_0_663"/>
          <p:cNvSpPr/>
          <p:nvPr/>
        </p:nvSpPr>
        <p:spPr>
          <a:xfrm>
            <a:off x="6108192" y="256032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ca32782429_0_663"/>
          <p:cNvSpPr/>
          <p:nvPr/>
        </p:nvSpPr>
        <p:spPr>
          <a:xfrm>
            <a:off x="6473952" y="219456"/>
            <a:ext cx="2514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Accountant enters called elements</a:t>
            </a: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and judge scores per the TC list.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g3ca32782429_0_663"/>
          <p:cNvSpPr/>
          <p:nvPr/>
        </p:nvSpPr>
        <p:spPr>
          <a:xfrm>
            <a:off x="5943600" y="1371600"/>
            <a:ext cx="3108900" cy="1079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ca32782429_0_663"/>
          <p:cNvSpPr/>
          <p:nvPr/>
        </p:nvSpPr>
        <p:spPr>
          <a:xfrm>
            <a:off x="5943600" y="1371600"/>
            <a:ext cx="91500" cy="10791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ca32782429_0_663"/>
          <p:cNvSpPr/>
          <p:nvPr/>
        </p:nvSpPr>
        <p:spPr>
          <a:xfrm>
            <a:off x="6108192" y="1463040"/>
            <a:ext cx="292500" cy="2925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ca32782429_0_663"/>
          <p:cNvSpPr/>
          <p:nvPr/>
        </p:nvSpPr>
        <p:spPr>
          <a:xfrm>
            <a:off x="6108192" y="1463040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ca32782429_0_663"/>
          <p:cNvSpPr/>
          <p:nvPr/>
        </p:nvSpPr>
        <p:spPr>
          <a:xfrm>
            <a:off x="6473952" y="1426464"/>
            <a:ext cx="2514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Event Referee cross-checks TC list.</a:t>
            </a: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They confirm elements and falls match.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g3ca32782429_0_663"/>
          <p:cNvSpPr/>
          <p:nvPr/>
        </p:nvSpPr>
        <p:spPr>
          <a:xfrm>
            <a:off x="5943600" y="2578608"/>
            <a:ext cx="3108900" cy="1079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ca32782429_0_663"/>
          <p:cNvSpPr/>
          <p:nvPr/>
        </p:nvSpPr>
        <p:spPr>
          <a:xfrm>
            <a:off x="5943600" y="2578608"/>
            <a:ext cx="91500" cy="10791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ca32782429_0_663"/>
          <p:cNvSpPr/>
          <p:nvPr/>
        </p:nvSpPr>
        <p:spPr>
          <a:xfrm>
            <a:off x="6108192" y="2670048"/>
            <a:ext cx="292500" cy="292500"/>
          </a:xfrm>
          <a:prstGeom prst="ellipse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ca32782429_0_663"/>
          <p:cNvSpPr/>
          <p:nvPr/>
        </p:nvSpPr>
        <p:spPr>
          <a:xfrm>
            <a:off x="6108192" y="267004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ca32782429_0_663"/>
          <p:cNvSpPr/>
          <p:nvPr/>
        </p:nvSpPr>
        <p:spPr>
          <a:xfrm>
            <a:off x="6473952" y="2633472"/>
            <a:ext cx="2514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Referee or TC reads list to judges:</a:t>
            </a: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includes edge calls &amp; rotation errors. Does NOT include spin/StSq levels. Done BEFORE judges' marks collected.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ca32782429_0_663"/>
          <p:cNvSpPr/>
          <p:nvPr/>
        </p:nvSpPr>
        <p:spPr>
          <a:xfrm>
            <a:off x="5943600" y="3785616"/>
            <a:ext cx="3108900" cy="10791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ca32782429_0_663"/>
          <p:cNvSpPr/>
          <p:nvPr/>
        </p:nvSpPr>
        <p:spPr>
          <a:xfrm>
            <a:off x="5943600" y="3785616"/>
            <a:ext cx="91500" cy="10791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ca32782429_0_663"/>
          <p:cNvSpPr/>
          <p:nvPr/>
        </p:nvSpPr>
        <p:spPr>
          <a:xfrm>
            <a:off x="6108192" y="3877056"/>
            <a:ext cx="292500" cy="292500"/>
          </a:xfrm>
          <a:prstGeom prst="ellipse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ca32782429_0_663"/>
          <p:cNvSpPr/>
          <p:nvPr/>
        </p:nvSpPr>
        <p:spPr>
          <a:xfrm>
            <a:off x="6108192" y="3877056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ca32782429_0_663"/>
          <p:cNvSpPr/>
          <p:nvPr/>
        </p:nvSpPr>
        <p:spPr>
          <a:xfrm>
            <a:off x="6473952" y="3840480"/>
            <a:ext cx="2514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Officials' sheets collected:</a:t>
            </a: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after each skater (1-per-sheet format) or after every 3rd skater (3-per-sheet format).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ca32782429_0_663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ca32782429_0_663"/>
          <p:cNvSpPr/>
          <p:nvPr/>
        </p:nvSpPr>
        <p:spPr>
          <a:xfrm>
            <a:off x="274320" y="4754880"/>
            <a:ext cx="85953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Source: U.S. Figure Skating Paper and Pencil Procedure  |  Cross-ref: [TPH-S §CALL.AUTH] — TC authorization and panel agreement rules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>
            <a:alpha val="30199"/>
          </a:srgbClr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ca32782429_0_65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ca32782429_0_652"/>
          <p:cNvSpPr/>
          <p:nvPr/>
        </p:nvSpPr>
        <p:spPr>
          <a:xfrm>
            <a:off x="5943600" y="457200"/>
            <a:ext cx="4114800" cy="3657600"/>
          </a:xfrm>
          <a:prstGeom prst="ellipse">
            <a:avLst/>
          </a:prstGeom>
          <a:solidFill>
            <a:srgbClr val="1A3A5C">
              <a:alpha val="30199"/>
            </a:srgbClr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ca32782429_0_652"/>
          <p:cNvSpPr/>
          <p:nvPr/>
        </p:nvSpPr>
        <p:spPr>
          <a:xfrm>
            <a:off x="6400800" y="822960"/>
            <a:ext cx="3200400" cy="2743200"/>
          </a:xfrm>
          <a:prstGeom prst="ellipse">
            <a:avLst/>
          </a:prstGeom>
          <a:solidFill>
            <a:srgbClr val="1A3A5C">
              <a:alpha val="20000"/>
            </a:srgbClr>
          </a:solidFill>
          <a:ln cap="flat" cmpd="sng" w="12700">
            <a:solidFill>
              <a:srgbClr val="7BA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ca32782429_0_652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ca32782429_0_652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ca32782429_0_652"/>
          <p:cNvSpPr/>
          <p:nvPr/>
        </p:nvSpPr>
        <p:spPr>
          <a:xfrm>
            <a:off x="457200" y="1818850"/>
            <a:ext cx="5943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Basic Calling Principles</a:t>
            </a:r>
            <a:endParaRPr b="0" i="0" sz="42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ca32782429_0_652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ca2d50d4b5_0_2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ca2d50d4b5_0_26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ca2d50d4b5_0_26"/>
          <p:cNvSpPr/>
          <p:nvPr/>
        </p:nvSpPr>
        <p:spPr>
          <a:xfrm>
            <a:off x="182880" y="457200"/>
            <a:ext cx="2377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Foundational Tech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Panel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Principles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ca2d50d4b5_0_26"/>
          <p:cNvSpPr/>
          <p:nvPr/>
        </p:nvSpPr>
        <p:spPr>
          <a:xfrm>
            <a:off x="3017520" y="305715"/>
            <a:ext cx="5852100" cy="10059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ca2d50d4b5_0_26"/>
          <p:cNvSpPr/>
          <p:nvPr/>
        </p:nvSpPr>
        <p:spPr>
          <a:xfrm>
            <a:off x="3017520" y="305715"/>
            <a:ext cx="640200" cy="1005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ca2d50d4b5_0_26"/>
          <p:cNvSpPr/>
          <p:nvPr/>
        </p:nvSpPr>
        <p:spPr>
          <a:xfrm>
            <a:off x="3749040" y="378867"/>
            <a:ext cx="502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Elements are called as actually performed - not as intended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3ca2d50d4b5_0_26"/>
          <p:cNvSpPr/>
          <p:nvPr/>
        </p:nvSpPr>
        <p:spPr>
          <a:xfrm>
            <a:off x="3749040" y="726339"/>
            <a:ext cx="5029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Elements are not according to requirements will receive an </a:t>
            </a:r>
            <a:r>
              <a:rPr lang="en-US" sz="12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asterisk</a:t>
            </a:r>
            <a:r>
              <a:rPr lang="en-US" sz="12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AFTER they have been fully evaluated and leveled  (e.g. FCCoSp4V* in Senior SP)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ca2d50d4b5_0_26"/>
          <p:cNvSpPr/>
          <p:nvPr/>
        </p:nvSpPr>
        <p:spPr>
          <a:xfrm>
            <a:off x="3017520" y="1488897"/>
            <a:ext cx="5852100" cy="10059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3ca2d50d4b5_0_26"/>
          <p:cNvSpPr/>
          <p:nvPr/>
        </p:nvSpPr>
        <p:spPr>
          <a:xfrm>
            <a:off x="3017520" y="1497572"/>
            <a:ext cx="640200" cy="1005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ca2d50d4b5_0_26"/>
          <p:cNvSpPr/>
          <p:nvPr/>
        </p:nvSpPr>
        <p:spPr>
          <a:xfrm>
            <a:off x="3749050" y="2146666"/>
            <a:ext cx="5029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If a call is too close to determine, go with the skater.</a:t>
            </a:r>
            <a:endParaRPr sz="1200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ca2d50d4b5_0_26"/>
          <p:cNvSpPr/>
          <p:nvPr/>
        </p:nvSpPr>
        <p:spPr>
          <a:xfrm>
            <a:off x="3749050" y="1556143"/>
            <a:ext cx="5029200" cy="58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role of the technical panel is to FIND features achieved by the skater. Do not be quick to take away features or entire elements.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g3ca2d50d4b5_0_26"/>
          <p:cNvSpPr/>
          <p:nvPr/>
        </p:nvSpPr>
        <p:spPr>
          <a:xfrm>
            <a:off x="3017520" y="2712705"/>
            <a:ext cx="5852100" cy="10059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g3ca2d50d4b5_0_26"/>
          <p:cNvSpPr/>
          <p:nvPr/>
        </p:nvSpPr>
        <p:spPr>
          <a:xfrm>
            <a:off x="3017520" y="2712705"/>
            <a:ext cx="640200" cy="1005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ca2d50d4b5_0_26"/>
          <p:cNvSpPr/>
          <p:nvPr/>
        </p:nvSpPr>
        <p:spPr>
          <a:xfrm>
            <a:off x="3749040" y="2745257"/>
            <a:ext cx="502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Establish and maintain a consistent, attainable standard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ca2d50d4b5_0_26"/>
          <p:cNvSpPr/>
          <p:nvPr/>
        </p:nvSpPr>
        <p:spPr>
          <a:xfrm>
            <a:off x="3749040" y="3120867"/>
            <a:ext cx="5029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Keep the playing field fair and consistent throughout the event for all athletes</a:t>
            </a:r>
            <a:endParaRPr sz="1200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ca2d50d4b5_0_26"/>
          <p:cNvSpPr/>
          <p:nvPr/>
        </p:nvSpPr>
        <p:spPr>
          <a:xfrm>
            <a:off x="3017520" y="3927830"/>
            <a:ext cx="5852100" cy="10059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ca2d50d4b5_0_26"/>
          <p:cNvSpPr/>
          <p:nvPr/>
        </p:nvSpPr>
        <p:spPr>
          <a:xfrm>
            <a:off x="3017520" y="3927830"/>
            <a:ext cx="640200" cy="1005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ca2d50d4b5_0_26"/>
          <p:cNvSpPr/>
          <p:nvPr/>
        </p:nvSpPr>
        <p:spPr>
          <a:xfrm>
            <a:off x="3749040" y="3984057"/>
            <a:ext cx="5029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Economy of language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g3ca2d50d4b5_0_26"/>
          <p:cNvSpPr/>
          <p:nvPr/>
        </p:nvSpPr>
        <p:spPr>
          <a:xfrm>
            <a:off x="3749040" y="4331479"/>
            <a:ext cx="5029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Everyone on the panel is </a:t>
            </a:r>
            <a:r>
              <a:rPr lang="en-US" sz="12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knowledgeable</a:t>
            </a:r>
            <a:r>
              <a:rPr lang="en-US" sz="12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on the rules and calling clarifications, therefore you can be concise in making decisions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4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When to Call and What to Call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"/>
          <p:cNvSpPr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"/>
          <p:cNvSpPr/>
          <p:nvPr/>
        </p:nvSpPr>
        <p:spPr>
          <a:xfrm>
            <a:off x="457200" y="914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to Call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"/>
          <p:cNvSpPr/>
          <p:nvPr/>
        </p:nvSpPr>
        <p:spPr>
          <a:xfrm>
            <a:off x="2651760" y="9144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[TPH-S §CALL.TIME]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"/>
          <p:cNvSpPr/>
          <p:nvPr/>
        </p:nvSpPr>
        <p:spPr>
          <a:xfrm>
            <a:off x="548640" y="150876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When the skater begins their program, the TS2 begins pre-call and the TS1 begins assessing elements.</a:t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TS1 calls all elements attempted and falls.</a:t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Elements started AFTER required program time + 10 sec grace period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are NOT called, do NOT get a box, and are considered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alue.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(Event </a:t>
            </a:r>
            <a:r>
              <a:rPr i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referee</a:t>
            </a:r>
            <a:r>
              <a:rPr i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help tech panel to determine this as the official timekeeper for the program)</a:t>
            </a:r>
            <a:endParaRPr b="0" i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"/>
          <p:cNvSpPr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"/>
          <p:cNvSpPr/>
          <p:nvPr/>
        </p:nvSpPr>
        <p:spPr>
          <a:xfrm>
            <a:off x="4846320" y="914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to Call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"/>
          <p:cNvSpPr/>
          <p:nvPr/>
        </p:nvSpPr>
        <p:spPr>
          <a:xfrm>
            <a:off x="7040880" y="9144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[TPH-S §CALL.GEN]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"/>
          <p:cNvSpPr/>
          <p:nvPr/>
        </p:nvSpPr>
        <p:spPr>
          <a:xfrm>
            <a:off x="4937760" y="1508760"/>
            <a:ext cx="3657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We call what the skater actually does, not what is needed to meet program requirements.</a:t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If an e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lement is performed differently from what is required by the rules (e.g., wrong jump in SP, spin doesn't meet requirements)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, the tech panel still assess the element as if it were legal, but the element gets 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marked with a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‘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and receives No Value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incorrect element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ccupies the box; cannot be replaced.</a:t>
            </a:r>
            <a:endParaRPr b="0" i="0" sz="13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This makes sure the skater gets clear feedback on what they performed, what they achieved, and what they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received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points for.</a:t>
            </a:r>
            <a:endParaRPr sz="130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ca32782429_0_80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g3ca32782429_0_800"/>
          <p:cNvSpPr/>
          <p:nvPr/>
        </p:nvSpPr>
        <p:spPr>
          <a:xfrm>
            <a:off x="365760" y="109728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Focus on What the Skater Achieves - Not on </a:t>
            </a:r>
            <a:r>
              <a:rPr b="1" lang="en-US" sz="2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Skater “Loses”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g3ca32782429_0_800"/>
          <p:cNvSpPr/>
          <p:nvPr/>
        </p:nvSpPr>
        <p:spPr>
          <a:xfrm>
            <a:off x="365760" y="557784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Reviews verify earned features. Build the level up from what is confirmed — not down from an assumed level.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g3ca32782429_0_800"/>
          <p:cNvSpPr/>
          <p:nvPr/>
        </p:nvSpPr>
        <p:spPr>
          <a:xfrm>
            <a:off x="320040" y="877824"/>
            <a:ext cx="8503800" cy="658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ca32782429_0_800"/>
          <p:cNvSpPr/>
          <p:nvPr/>
        </p:nvSpPr>
        <p:spPr>
          <a:xfrm>
            <a:off x="466344" y="950976"/>
            <a:ext cx="201300" cy="201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ca32782429_0_800"/>
          <p:cNvSpPr/>
          <p:nvPr/>
        </p:nvSpPr>
        <p:spPr>
          <a:xfrm>
            <a:off x="466344" y="950976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ca32782429_0_800"/>
          <p:cNvSpPr/>
          <p:nvPr/>
        </p:nvSpPr>
        <p:spPr>
          <a:xfrm>
            <a:off x="667588" y="877813"/>
            <a:ext cx="182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based on features successfully achieved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ca32782429_0_800"/>
          <p:cNvSpPr/>
          <p:nvPr/>
        </p:nvSpPr>
        <p:spPr>
          <a:xfrm>
            <a:off x="2587752" y="950976"/>
            <a:ext cx="201300" cy="201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ca32782429_0_800"/>
          <p:cNvSpPr/>
          <p:nvPr/>
        </p:nvSpPr>
        <p:spPr>
          <a:xfrm>
            <a:off x="2587752" y="950976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g3ca32782429_0_800"/>
          <p:cNvSpPr/>
          <p:nvPr/>
        </p:nvSpPr>
        <p:spPr>
          <a:xfrm>
            <a:off x="2789021" y="877813"/>
            <a:ext cx="182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Construct levels upward from verified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g3ca32782429_0_800"/>
          <p:cNvSpPr/>
          <p:nvPr/>
        </p:nvSpPr>
        <p:spPr>
          <a:xfrm>
            <a:off x="4709160" y="950976"/>
            <a:ext cx="201300" cy="201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ca32782429_0_800"/>
          <p:cNvSpPr/>
          <p:nvPr/>
        </p:nvSpPr>
        <p:spPr>
          <a:xfrm>
            <a:off x="4709160" y="950976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g3ca32782429_0_800"/>
          <p:cNvSpPr/>
          <p:nvPr/>
        </p:nvSpPr>
        <p:spPr>
          <a:xfrm>
            <a:off x="4910441" y="877813"/>
            <a:ext cx="182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Avoid starting from an assumed level and looking for reasons to reduce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g3ca32782429_0_800"/>
          <p:cNvSpPr/>
          <p:nvPr/>
        </p:nvSpPr>
        <p:spPr>
          <a:xfrm>
            <a:off x="6830568" y="950976"/>
            <a:ext cx="201300" cy="2013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ca32782429_0_800"/>
          <p:cNvSpPr/>
          <p:nvPr/>
        </p:nvSpPr>
        <p:spPr>
          <a:xfrm>
            <a:off x="6830568" y="950976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g3ca32782429_0_800"/>
          <p:cNvSpPr/>
          <p:nvPr/>
        </p:nvSpPr>
        <p:spPr>
          <a:xfrm>
            <a:off x="7031887" y="877813"/>
            <a:ext cx="1828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Improves consistency and reduces over-calling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g3ca32782429_0_800"/>
          <p:cNvSpPr/>
          <p:nvPr/>
        </p:nvSpPr>
        <p:spPr>
          <a:xfrm>
            <a:off x="320040" y="1609344"/>
            <a:ext cx="8503800" cy="329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3ca32782429_0_800"/>
          <p:cNvSpPr/>
          <p:nvPr/>
        </p:nvSpPr>
        <p:spPr>
          <a:xfrm>
            <a:off x="457200" y="1609344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EXAMPLE — Spin Review:  SF(2)   DCP   C(1.5)   /   US(2)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g3ca32782429_0_800"/>
          <p:cNvSpPr/>
          <p:nvPr/>
        </p:nvSpPr>
        <p:spPr>
          <a:xfrm>
            <a:off x="320040" y="2011680"/>
            <a:ext cx="4160400" cy="2395800"/>
          </a:xfrm>
          <a:prstGeom prst="rect">
            <a:avLst/>
          </a:prstGeom>
          <a:solidFill>
            <a:srgbClr val="FFF5F3"/>
          </a:solidFill>
          <a:ln cap="flat" cmpd="sng" w="12700">
            <a:solidFill>
              <a:srgbClr val="F5C0B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g3ca32782429_0_800"/>
          <p:cNvSpPr/>
          <p:nvPr/>
        </p:nvSpPr>
        <p:spPr>
          <a:xfrm>
            <a:off x="320040" y="2011680"/>
            <a:ext cx="4160400" cy="4023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ca32782429_0_800"/>
          <p:cNvSpPr/>
          <p:nvPr/>
        </p:nvSpPr>
        <p:spPr>
          <a:xfrm>
            <a:off x="457200" y="2011680"/>
            <a:ext cx="3977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INCORRECT — Subtractive Mindset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g3ca32782429_0_800"/>
          <p:cNvSpPr/>
          <p:nvPr/>
        </p:nvSpPr>
        <p:spPr>
          <a:xfrm>
            <a:off x="502920" y="2505456"/>
            <a:ext cx="388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ourier New"/>
                <a:ea typeface="Courier New"/>
                <a:cs typeface="Courier New"/>
                <a:sym typeface="Courier New"/>
              </a:rPr>
              <a:t>"CCoSp3 — Review"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g3ca32782429_0_800"/>
          <p:cNvSpPr/>
          <p:nvPr/>
        </p:nvSpPr>
        <p:spPr>
          <a:xfrm>
            <a:off x="502920" y="2889504"/>
            <a:ext cx="3886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Starts from the max level the skater is attempting (3)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then looks to use review to take away value based </a:t>
            </a:r>
            <a:b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camel </a:t>
            </a: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not being hel</a:t>
            </a: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 for 2 revs and for not having 3 </a:t>
            </a: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revolutions</a:t>
            </a: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on one foot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g3ca32782429_0_800"/>
          <p:cNvSpPr/>
          <p:nvPr/>
        </p:nvSpPr>
        <p:spPr>
          <a:xfrm>
            <a:off x="457200" y="3584448"/>
            <a:ext cx="3886200" cy="713100"/>
          </a:xfrm>
          <a:prstGeom prst="rect">
            <a:avLst/>
          </a:prstGeom>
          <a:solidFill>
            <a:srgbClr val="FAD8D0"/>
          </a:solidFill>
          <a:ln cap="flat" cmpd="sng" w="12700">
            <a:solidFill>
              <a:srgbClr val="FA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ca32782429_0_800"/>
          <p:cNvSpPr/>
          <p:nvPr/>
        </p:nvSpPr>
        <p:spPr>
          <a:xfrm>
            <a:off x="566928" y="3602736"/>
            <a:ext cx="3657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Problem: The panel is now </a:t>
            </a:r>
            <a:r>
              <a:rPr i="1" lang="en-US" sz="105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taking away levels and value from the spin in the review process</a:t>
            </a:r>
            <a:r>
              <a:rPr b="0" i="1" lang="en-US" sz="10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g3ca32782429_0_800"/>
          <p:cNvSpPr/>
          <p:nvPr/>
        </p:nvSpPr>
        <p:spPr>
          <a:xfrm>
            <a:off x="4663440" y="2011680"/>
            <a:ext cx="4160400" cy="23958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C2E0D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ca32782429_0_800"/>
          <p:cNvSpPr/>
          <p:nvPr/>
        </p:nvSpPr>
        <p:spPr>
          <a:xfrm>
            <a:off x="4663440" y="2011680"/>
            <a:ext cx="4160400" cy="402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ca32782429_0_800"/>
          <p:cNvSpPr/>
          <p:nvPr/>
        </p:nvSpPr>
        <p:spPr>
          <a:xfrm>
            <a:off x="4800600" y="2011680"/>
            <a:ext cx="393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CORRECT — Achievement-Based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g3ca32782429_0_800"/>
          <p:cNvSpPr/>
          <p:nvPr/>
        </p:nvSpPr>
        <p:spPr>
          <a:xfrm>
            <a:off x="4754880" y="2505456"/>
            <a:ext cx="388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2E7D6B"/>
                </a:solidFill>
                <a:latin typeface="Courier New"/>
                <a:ea typeface="Courier New"/>
                <a:cs typeface="Courier New"/>
                <a:sym typeface="Courier New"/>
              </a:rPr>
              <a:t>"CCoSp1V — Review"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g3ca32782429_0_800"/>
          <p:cNvSpPr/>
          <p:nvPr/>
        </p:nvSpPr>
        <p:spPr>
          <a:xfrm>
            <a:off x="4754880" y="2889504"/>
            <a:ext cx="3886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Starts from confirmed features (1V)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then reviews to verify whether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additional features were earned.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3ca32782429_0_800"/>
          <p:cNvSpPr/>
          <p:nvPr/>
        </p:nvSpPr>
        <p:spPr>
          <a:xfrm>
            <a:off x="4754880" y="3584448"/>
            <a:ext cx="3886200" cy="713100"/>
          </a:xfrm>
          <a:prstGeom prst="rect">
            <a:avLst/>
          </a:prstGeom>
          <a:solidFill>
            <a:srgbClr val="C8EAE0"/>
          </a:solidFill>
          <a:ln cap="flat" cmpd="sng" w="12700">
            <a:solidFill>
              <a:srgbClr val="C8EA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ca32782429_0_800"/>
          <p:cNvSpPr/>
          <p:nvPr/>
        </p:nvSpPr>
        <p:spPr>
          <a:xfrm>
            <a:off x="4864608" y="3602736"/>
            <a:ext cx="3657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Why it works: The review now adds clarity by confirming what was earned and adding value — not designed to take levels away.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3ca32782429_0_800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3ca32782429_0_800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[TPH-S §CALL.AUTH]  |  Officials Training — Achievement-Based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ca32782429_0_83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3ca32782429_0_838"/>
          <p:cNvSpPr/>
          <p:nvPr/>
        </p:nvSpPr>
        <p:spPr>
          <a:xfrm>
            <a:off x="365760" y="109728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 Skater-Focused, Criteria-Based Language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g3ca32782429_0_838"/>
          <p:cNvSpPr/>
          <p:nvPr/>
        </p:nvSpPr>
        <p:spPr>
          <a:xfrm>
            <a:off x="365760" y="557784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Review language should describe what the skater achieved relative to the criterion — not the official's opinion.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g3ca32782429_0_838"/>
          <p:cNvSpPr/>
          <p:nvPr/>
        </p:nvSpPr>
        <p:spPr>
          <a:xfrm>
            <a:off x="320040" y="877824"/>
            <a:ext cx="8503800" cy="4389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ca32782429_0_838"/>
          <p:cNvSpPr/>
          <p:nvPr/>
        </p:nvSpPr>
        <p:spPr>
          <a:xfrm>
            <a:off x="548640" y="877824"/>
            <a:ext cx="1371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Simple formula: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ca32782429_0_838"/>
          <p:cNvSpPr/>
          <p:nvPr/>
        </p:nvSpPr>
        <p:spPr>
          <a:xfrm>
            <a:off x="1874520" y="877824"/>
            <a:ext cx="12801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Criterion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ca32782429_0_838"/>
          <p:cNvSpPr/>
          <p:nvPr/>
        </p:nvSpPr>
        <p:spPr>
          <a:xfrm>
            <a:off x="3154680" y="877824"/>
            <a:ext cx="274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ca32782429_0_838"/>
          <p:cNvSpPr/>
          <p:nvPr/>
        </p:nvSpPr>
        <p:spPr>
          <a:xfrm>
            <a:off x="3429000" y="877824"/>
            <a:ext cx="2286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Observable outcome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3ca32782429_0_838"/>
          <p:cNvSpPr/>
          <p:nvPr/>
        </p:nvSpPr>
        <p:spPr>
          <a:xfrm>
            <a:off x="5715000" y="877824"/>
            <a:ext cx="274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g3ca32782429_0_838"/>
          <p:cNvSpPr/>
          <p:nvPr/>
        </p:nvSpPr>
        <p:spPr>
          <a:xfrm>
            <a:off x="5989320" y="877824"/>
            <a:ext cx="2743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Duration / quantity (if required)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ca32782429_0_838"/>
          <p:cNvSpPr/>
          <p:nvPr/>
        </p:nvSpPr>
        <p:spPr>
          <a:xfrm>
            <a:off x="320040" y="1408176"/>
            <a:ext cx="4160400" cy="4023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3ca32782429_0_838"/>
          <p:cNvSpPr/>
          <p:nvPr/>
        </p:nvSpPr>
        <p:spPr>
          <a:xfrm>
            <a:off x="457200" y="1408176"/>
            <a:ext cx="393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AVOID — Official-Centered Phrasing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g3ca32782429_0_838"/>
          <p:cNvSpPr/>
          <p:nvPr/>
        </p:nvSpPr>
        <p:spPr>
          <a:xfrm>
            <a:off x="4663440" y="1408176"/>
            <a:ext cx="4160400" cy="402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ca32782429_0_838"/>
          <p:cNvSpPr/>
          <p:nvPr/>
        </p:nvSpPr>
        <p:spPr>
          <a:xfrm>
            <a:off x="4800600" y="1408176"/>
            <a:ext cx="393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USE — Skater &amp; Criteria-Based Phrasing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ca32782429_0_838"/>
          <p:cNvSpPr/>
          <p:nvPr/>
        </p:nvSpPr>
        <p:spPr>
          <a:xfrm>
            <a:off x="320040" y="1883664"/>
            <a:ext cx="4160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C0B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ca32782429_0_838"/>
          <p:cNvSpPr/>
          <p:nvPr/>
        </p:nvSpPr>
        <p:spPr>
          <a:xfrm>
            <a:off x="320040" y="1883664"/>
            <a:ext cx="73200" cy="804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g3ca32782429_0_838"/>
          <p:cNvSpPr/>
          <p:nvPr/>
        </p:nvSpPr>
        <p:spPr>
          <a:xfrm>
            <a:off x="475488" y="1975104"/>
            <a:ext cx="3931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300"/>
              <a:buFont typeface="Courier New"/>
              <a:buNone/>
            </a:pPr>
            <a:r>
              <a:rPr b="0" i="1" lang="en-US" sz="1300" u="none" cap="none" strike="noStrike">
                <a:solidFill>
                  <a:srgbClr val="B85042"/>
                </a:solidFill>
                <a:latin typeface="Courier New"/>
                <a:ea typeface="Courier New"/>
                <a:cs typeface="Courier New"/>
                <a:sym typeface="Courier New"/>
              </a:rPr>
              <a:t>"I don't have a camel."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3ca32782429_0_838"/>
          <p:cNvSpPr/>
          <p:nvPr/>
        </p:nvSpPr>
        <p:spPr>
          <a:xfrm>
            <a:off x="4663440" y="1883664"/>
            <a:ext cx="4160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D8C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g3ca32782429_0_838"/>
          <p:cNvSpPr/>
          <p:nvPr/>
        </p:nvSpPr>
        <p:spPr>
          <a:xfrm>
            <a:off x="4663440" y="1883664"/>
            <a:ext cx="73200" cy="8046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g3ca32782429_0_838"/>
          <p:cNvSpPr/>
          <p:nvPr/>
        </p:nvSpPr>
        <p:spPr>
          <a:xfrm>
            <a:off x="4818888" y="1975104"/>
            <a:ext cx="393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7D6B"/>
                </a:solidFill>
                <a:latin typeface="Courier New"/>
                <a:ea typeface="Courier New"/>
                <a:cs typeface="Courier New"/>
                <a:sym typeface="Courier New"/>
              </a:rPr>
              <a:t>"Camel position not achieved for 2 revs."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g3ca32782429_0_838"/>
          <p:cNvSpPr/>
          <p:nvPr/>
        </p:nvSpPr>
        <p:spPr>
          <a:xfrm>
            <a:off x="4818888" y="2359152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Names the criterion (camel position) + observable outcome (not achieved) + required duration (2 revs)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g3ca32782429_0_838"/>
          <p:cNvSpPr/>
          <p:nvPr/>
        </p:nvSpPr>
        <p:spPr>
          <a:xfrm>
            <a:off x="320040" y="2852928"/>
            <a:ext cx="4160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C0B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g3ca32782429_0_838"/>
          <p:cNvSpPr/>
          <p:nvPr/>
        </p:nvSpPr>
        <p:spPr>
          <a:xfrm>
            <a:off x="320040" y="2852928"/>
            <a:ext cx="73200" cy="804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ca32782429_0_838"/>
          <p:cNvSpPr/>
          <p:nvPr/>
        </p:nvSpPr>
        <p:spPr>
          <a:xfrm>
            <a:off x="475488" y="2944368"/>
            <a:ext cx="3931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300"/>
              <a:buFont typeface="Courier New"/>
              <a:buNone/>
            </a:pPr>
            <a:r>
              <a:rPr b="0" i="1" lang="en-US" sz="1300" u="none" cap="none" strike="noStrike">
                <a:solidFill>
                  <a:srgbClr val="B85042"/>
                </a:solidFill>
                <a:latin typeface="Courier New"/>
                <a:ea typeface="Courier New"/>
                <a:cs typeface="Courier New"/>
                <a:sym typeface="Courier New"/>
              </a:rPr>
              <a:t>"I don't have the cluster."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3ca32782429_0_838"/>
          <p:cNvSpPr/>
          <p:nvPr/>
        </p:nvSpPr>
        <p:spPr>
          <a:xfrm>
            <a:off x="4663440" y="2852928"/>
            <a:ext cx="4160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D8C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ca32782429_0_838"/>
          <p:cNvSpPr/>
          <p:nvPr/>
        </p:nvSpPr>
        <p:spPr>
          <a:xfrm>
            <a:off x="4663440" y="2852928"/>
            <a:ext cx="73200" cy="8046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ca32782429_0_838"/>
          <p:cNvSpPr/>
          <p:nvPr/>
        </p:nvSpPr>
        <p:spPr>
          <a:xfrm>
            <a:off x="4818888" y="2944368"/>
            <a:ext cx="393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7D6B"/>
                </a:solidFill>
                <a:latin typeface="Courier New"/>
                <a:ea typeface="Courier New"/>
                <a:cs typeface="Courier New"/>
                <a:sym typeface="Courier New"/>
              </a:rPr>
              <a:t>"Cluster not achieved."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g3ca32782429_0_838"/>
          <p:cNvSpPr/>
          <p:nvPr/>
        </p:nvSpPr>
        <p:spPr>
          <a:xfrm>
            <a:off x="4818888" y="3328416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Names the criterion directly. No personal opinion — just the observed result against the standard.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g3ca32782429_0_838"/>
          <p:cNvSpPr/>
          <p:nvPr/>
        </p:nvSpPr>
        <p:spPr>
          <a:xfrm>
            <a:off x="320040" y="3822192"/>
            <a:ext cx="4160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0C0B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ca32782429_0_838"/>
          <p:cNvSpPr/>
          <p:nvPr/>
        </p:nvSpPr>
        <p:spPr>
          <a:xfrm>
            <a:off x="320040" y="3822192"/>
            <a:ext cx="73200" cy="804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ca32782429_0_838"/>
          <p:cNvSpPr/>
          <p:nvPr/>
        </p:nvSpPr>
        <p:spPr>
          <a:xfrm>
            <a:off x="475488" y="3913632"/>
            <a:ext cx="3931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300"/>
              <a:buFont typeface="Courier New"/>
              <a:buNone/>
            </a:pPr>
            <a:r>
              <a:rPr b="0" i="1" lang="en-US" sz="1300" u="none" cap="none" strike="noStrike">
                <a:solidFill>
                  <a:srgbClr val="B85042"/>
                </a:solidFill>
                <a:latin typeface="Courier New"/>
                <a:ea typeface="Courier New"/>
                <a:cs typeface="Courier New"/>
                <a:sym typeface="Courier New"/>
              </a:rPr>
              <a:t>"I don't think that's difficult."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g3ca32782429_0_838"/>
          <p:cNvSpPr/>
          <p:nvPr/>
        </p:nvSpPr>
        <p:spPr>
          <a:xfrm>
            <a:off x="4663440" y="3822192"/>
            <a:ext cx="4160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D8C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3ca32782429_0_838"/>
          <p:cNvSpPr/>
          <p:nvPr/>
        </p:nvSpPr>
        <p:spPr>
          <a:xfrm>
            <a:off x="4663440" y="3822192"/>
            <a:ext cx="73200" cy="8046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ca32782429_0_838"/>
          <p:cNvSpPr/>
          <p:nvPr/>
        </p:nvSpPr>
        <p:spPr>
          <a:xfrm>
            <a:off x="4818888" y="3913632"/>
            <a:ext cx="393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7D6B"/>
                </a:solidFill>
                <a:latin typeface="Courier New"/>
                <a:ea typeface="Courier New"/>
                <a:cs typeface="Courier New"/>
                <a:sym typeface="Courier New"/>
              </a:rPr>
              <a:t>"Position achieved does not require significant strength."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g3ca32782429_0_838"/>
          <p:cNvSpPr/>
          <p:nvPr/>
        </p:nvSpPr>
        <p:spPr>
          <a:xfrm>
            <a:off x="4818888" y="4297680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Replaces 'I think' with the actual legal criterion — significant strength or flexibility required.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g3ca32782429_0_838"/>
          <p:cNvSpPr/>
          <p:nvPr/>
        </p:nvSpPr>
        <p:spPr>
          <a:xfrm>
            <a:off x="320040" y="4718304"/>
            <a:ext cx="8503800" cy="732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D6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g3ca32782429_0_838"/>
          <p:cNvSpPr/>
          <p:nvPr/>
        </p:nvSpPr>
        <p:spPr>
          <a:xfrm>
            <a:off x="457200" y="4718304"/>
            <a:ext cx="8229600" cy="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When in doubt: replace "I think / I have" with  Criterion + Observed Outcome.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g3ca32782429_0_838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ca32782429_0_838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Officials Training — Criteria-Based Language  |  Describe what the skater did relative to the criterion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ca32782429_0_88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g3ca32782429_0_881"/>
          <p:cNvSpPr/>
          <p:nvPr/>
        </p:nvSpPr>
        <p:spPr>
          <a:xfrm>
            <a:off x="365760" y="109728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Quick Cheat Sheet: Convert Opinion → Criterion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ca32782429_0_881"/>
          <p:cNvSpPr/>
          <p:nvPr/>
        </p:nvSpPr>
        <p:spPr>
          <a:xfrm>
            <a:off x="320040" y="640080"/>
            <a:ext cx="2743200" cy="1206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ca32782429_0_881"/>
          <p:cNvSpPr/>
          <p:nvPr/>
        </p:nvSpPr>
        <p:spPr>
          <a:xfrm>
            <a:off x="448056" y="713232"/>
            <a:ext cx="502800" cy="5028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g3ca32782429_0_881"/>
          <p:cNvSpPr/>
          <p:nvPr/>
        </p:nvSpPr>
        <p:spPr>
          <a:xfrm>
            <a:off x="448056" y="71323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ca32782429_0_881"/>
          <p:cNvSpPr/>
          <p:nvPr/>
        </p:nvSpPr>
        <p:spPr>
          <a:xfrm>
            <a:off x="1051560" y="749808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Name the criterion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g3ca32782429_0_881"/>
          <p:cNvSpPr/>
          <p:nvPr/>
        </p:nvSpPr>
        <p:spPr>
          <a:xfrm>
            <a:off x="448056" y="1170432"/>
            <a:ext cx="2523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requirement are we evaluating?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Identify the specific rule standard before saying anything.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ca32782429_0_881"/>
          <p:cNvSpPr/>
          <p:nvPr/>
        </p:nvSpPr>
        <p:spPr>
          <a:xfrm>
            <a:off x="3200400" y="640080"/>
            <a:ext cx="2743200" cy="12069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g3ca32782429_0_881"/>
          <p:cNvSpPr/>
          <p:nvPr/>
        </p:nvSpPr>
        <p:spPr>
          <a:xfrm>
            <a:off x="3328416" y="713232"/>
            <a:ext cx="502800" cy="5028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g3ca32782429_0_881"/>
          <p:cNvSpPr/>
          <p:nvPr/>
        </p:nvSpPr>
        <p:spPr>
          <a:xfrm>
            <a:off x="3328416" y="71323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3ca32782429_0_881"/>
          <p:cNvSpPr/>
          <p:nvPr/>
        </p:nvSpPr>
        <p:spPr>
          <a:xfrm>
            <a:off x="3931920" y="749808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State the observation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ca32782429_0_881"/>
          <p:cNvSpPr/>
          <p:nvPr/>
        </p:nvSpPr>
        <p:spPr>
          <a:xfrm>
            <a:off x="3328416" y="1170432"/>
            <a:ext cx="2523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did the skater actually do on ice?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Describe only what is visible — not intent.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ca32782429_0_881"/>
          <p:cNvSpPr/>
          <p:nvPr/>
        </p:nvSpPr>
        <p:spPr>
          <a:xfrm>
            <a:off x="6080760" y="640080"/>
            <a:ext cx="2743200" cy="12069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ca32782429_0_881"/>
          <p:cNvSpPr/>
          <p:nvPr/>
        </p:nvSpPr>
        <p:spPr>
          <a:xfrm>
            <a:off x="6208776" y="713232"/>
            <a:ext cx="502800" cy="5028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ca32782429_0_881"/>
          <p:cNvSpPr/>
          <p:nvPr/>
        </p:nvSpPr>
        <p:spPr>
          <a:xfrm>
            <a:off x="6208776" y="713232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g3ca32782429_0_881"/>
          <p:cNvSpPr/>
          <p:nvPr/>
        </p:nvSpPr>
        <p:spPr>
          <a:xfrm>
            <a:off x="6812280" y="749808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Add the measure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3ca32782429_0_881"/>
          <p:cNvSpPr/>
          <p:nvPr/>
        </p:nvSpPr>
        <p:spPr>
          <a:xfrm>
            <a:off x="6208776" y="1170432"/>
            <a:ext cx="2523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Duration, count, or threshold — if the rule requires 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'2 revolutions', 'first time attempted', etc.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3ca32782429_0_881"/>
          <p:cNvSpPr/>
          <p:nvPr/>
        </p:nvSpPr>
        <p:spPr>
          <a:xfrm>
            <a:off x="320040" y="1938528"/>
            <a:ext cx="8503800" cy="347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g3ca32782429_0_881"/>
          <p:cNvSpPr/>
          <p:nvPr/>
        </p:nvSpPr>
        <p:spPr>
          <a:xfrm>
            <a:off x="457200" y="1938528"/>
            <a:ext cx="4023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Opinion-Centered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g3ca32782429_0_881"/>
          <p:cNvSpPr/>
          <p:nvPr/>
        </p:nvSpPr>
        <p:spPr>
          <a:xfrm>
            <a:off x="4480560" y="1938528"/>
            <a:ext cx="18300" cy="347400"/>
          </a:xfrm>
          <a:prstGeom prst="rect">
            <a:avLst/>
          </a:prstGeom>
          <a:solidFill>
            <a:srgbClr val="7BA3CC"/>
          </a:solidFill>
          <a:ln cap="flat" cmpd="sng" w="12700">
            <a:solidFill>
              <a:srgbClr val="7BA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g3ca32782429_0_881"/>
          <p:cNvSpPr/>
          <p:nvPr/>
        </p:nvSpPr>
        <p:spPr>
          <a:xfrm>
            <a:off x="4617720" y="1938528"/>
            <a:ext cx="411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Criterion-Based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4" name="Google Shape;784;g3ca32782429_0_881"/>
          <p:cNvGrpSpPr/>
          <p:nvPr/>
        </p:nvGrpSpPr>
        <p:grpSpPr>
          <a:xfrm>
            <a:off x="320050" y="2285994"/>
            <a:ext cx="8503800" cy="566998"/>
            <a:chOff x="320040" y="2286000"/>
            <a:chExt cx="8503800" cy="749700"/>
          </a:xfrm>
        </p:grpSpPr>
        <p:sp>
          <p:nvSpPr>
            <p:cNvPr id="785" name="Google Shape;785;g3ca32782429_0_881"/>
            <p:cNvSpPr/>
            <p:nvPr/>
          </p:nvSpPr>
          <p:spPr>
            <a:xfrm>
              <a:off x="320040" y="2286000"/>
              <a:ext cx="8503800" cy="7497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g3ca32782429_0_881"/>
            <p:cNvSpPr/>
            <p:nvPr/>
          </p:nvSpPr>
          <p:spPr>
            <a:xfrm>
              <a:off x="4480560" y="2286000"/>
              <a:ext cx="18300" cy="749700"/>
            </a:xfrm>
            <a:prstGeom prst="rect">
              <a:avLst/>
            </a:prstGeom>
            <a:solidFill>
              <a:srgbClr val="E8F4FD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g3ca32782429_0_881"/>
            <p:cNvSpPr/>
            <p:nvPr/>
          </p:nvSpPr>
          <p:spPr>
            <a:xfrm>
              <a:off x="502920" y="2377440"/>
              <a:ext cx="3840600" cy="5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5042"/>
                </a:buClr>
                <a:buSzPts val="1300"/>
                <a:buFont typeface="Courier New"/>
                <a:buNone/>
              </a:pPr>
              <a:r>
                <a:rPr b="0" i="1" lang="en-US" sz="1300" u="none" cap="none" strike="noStrike">
                  <a:solidFill>
                    <a:srgbClr val="B8504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 don't have a camel."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g3ca32782429_0_881"/>
            <p:cNvSpPr/>
            <p:nvPr/>
          </p:nvSpPr>
          <p:spPr>
            <a:xfrm>
              <a:off x="4663440" y="2377440"/>
              <a:ext cx="4023300" cy="5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E7D6B"/>
                </a:buClr>
                <a:buSzPts val="1200"/>
                <a:buFont typeface="Courier New"/>
                <a:buNone/>
              </a:pPr>
              <a:r>
                <a:rPr b="1" i="0" lang="en-US" sz="1200" u="none" cap="none" strike="noStrike">
                  <a:solidFill>
                    <a:srgbClr val="2E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"Camel position not achieved for 2 revs."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9" name="Google Shape;789;g3ca32782429_0_881"/>
          <p:cNvGrpSpPr/>
          <p:nvPr/>
        </p:nvGrpSpPr>
        <p:grpSpPr>
          <a:xfrm>
            <a:off x="320050" y="2933332"/>
            <a:ext cx="8503800" cy="566998"/>
            <a:chOff x="320040" y="3108960"/>
            <a:chExt cx="8503800" cy="749700"/>
          </a:xfrm>
        </p:grpSpPr>
        <p:sp>
          <p:nvSpPr>
            <p:cNvPr id="790" name="Google Shape;790;g3ca32782429_0_881"/>
            <p:cNvSpPr/>
            <p:nvPr/>
          </p:nvSpPr>
          <p:spPr>
            <a:xfrm>
              <a:off x="320040" y="3108960"/>
              <a:ext cx="8503800" cy="7497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g3ca32782429_0_881"/>
            <p:cNvSpPr/>
            <p:nvPr/>
          </p:nvSpPr>
          <p:spPr>
            <a:xfrm>
              <a:off x="4480560" y="3108960"/>
              <a:ext cx="18300" cy="749700"/>
            </a:xfrm>
            <a:prstGeom prst="rect">
              <a:avLst/>
            </a:prstGeom>
            <a:solidFill>
              <a:srgbClr val="E8F4FD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g3ca32782429_0_881"/>
            <p:cNvSpPr/>
            <p:nvPr/>
          </p:nvSpPr>
          <p:spPr>
            <a:xfrm>
              <a:off x="502920" y="3200400"/>
              <a:ext cx="3840600" cy="5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5042"/>
                </a:buClr>
                <a:buSzPts val="1300"/>
                <a:buFont typeface="Courier New"/>
                <a:buNone/>
              </a:pPr>
              <a:r>
                <a:rPr b="0" i="1" lang="en-US" sz="1300" u="none" cap="none" strike="noStrike">
                  <a:solidFill>
                    <a:srgbClr val="B8504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 don't have the cluster."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g3ca32782429_0_881"/>
            <p:cNvSpPr/>
            <p:nvPr/>
          </p:nvSpPr>
          <p:spPr>
            <a:xfrm>
              <a:off x="4663440" y="3200400"/>
              <a:ext cx="4023300" cy="5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E7D6B"/>
                </a:buClr>
                <a:buSzPts val="1200"/>
                <a:buFont typeface="Courier New"/>
                <a:buNone/>
              </a:pPr>
              <a:r>
                <a:rPr b="1" i="0" lang="en-US" sz="1200" u="none" cap="none" strike="noStrike">
                  <a:solidFill>
                    <a:srgbClr val="2E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"Cluster not achieved."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4" name="Google Shape;794;g3ca32782429_0_881"/>
          <p:cNvGrpSpPr/>
          <p:nvPr/>
        </p:nvGrpSpPr>
        <p:grpSpPr>
          <a:xfrm>
            <a:off x="338325" y="3580640"/>
            <a:ext cx="8503800" cy="566998"/>
            <a:chOff x="320040" y="3931920"/>
            <a:chExt cx="8503800" cy="749700"/>
          </a:xfrm>
        </p:grpSpPr>
        <p:sp>
          <p:nvSpPr>
            <p:cNvPr id="795" name="Google Shape;795;g3ca32782429_0_881"/>
            <p:cNvSpPr/>
            <p:nvPr/>
          </p:nvSpPr>
          <p:spPr>
            <a:xfrm>
              <a:off x="320040" y="3931920"/>
              <a:ext cx="8503800" cy="7497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g3ca32782429_0_881"/>
            <p:cNvSpPr/>
            <p:nvPr/>
          </p:nvSpPr>
          <p:spPr>
            <a:xfrm>
              <a:off x="4480560" y="3931920"/>
              <a:ext cx="18300" cy="749700"/>
            </a:xfrm>
            <a:prstGeom prst="rect">
              <a:avLst/>
            </a:prstGeom>
            <a:solidFill>
              <a:srgbClr val="E8F4FD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g3ca32782429_0_881"/>
            <p:cNvSpPr/>
            <p:nvPr/>
          </p:nvSpPr>
          <p:spPr>
            <a:xfrm>
              <a:off x="502920" y="4023360"/>
              <a:ext cx="3840600" cy="5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85042"/>
                </a:buClr>
                <a:buSzPts val="1300"/>
                <a:buFont typeface="Courier New"/>
                <a:buNone/>
              </a:pPr>
              <a:r>
                <a:rPr b="0" i="1" lang="en-US" sz="1300" u="none" cap="none" strike="noStrike">
                  <a:solidFill>
                    <a:srgbClr val="B8504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"I don't think that's difficult."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g3ca32782429_0_881"/>
            <p:cNvSpPr/>
            <p:nvPr/>
          </p:nvSpPr>
          <p:spPr>
            <a:xfrm>
              <a:off x="4663440" y="4023360"/>
              <a:ext cx="4023300" cy="5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E7D6B"/>
                </a:buClr>
                <a:buSzPts val="1200"/>
                <a:buFont typeface="Courier New"/>
                <a:buNone/>
              </a:pPr>
              <a:r>
                <a:rPr b="1" i="0" lang="en-US" sz="1200" u="none" cap="none" strike="noStrike">
                  <a:solidFill>
                    <a:srgbClr val="2E7D6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"Position achieved does not require significant strength."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9" name="Google Shape;799;g3ca32782429_0_881"/>
          <p:cNvSpPr/>
          <p:nvPr/>
        </p:nvSpPr>
        <p:spPr>
          <a:xfrm>
            <a:off x="320050" y="4355641"/>
            <a:ext cx="8503800" cy="3474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D6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g3ca32782429_0_881"/>
          <p:cNvSpPr/>
          <p:nvPr/>
        </p:nvSpPr>
        <p:spPr>
          <a:xfrm>
            <a:off x="457200" y="4355675"/>
            <a:ext cx="8229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When in doubt: replace "I think / I have"  with  Criterion + Observed Outcome.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g3ca32782429_0_881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g3ca32782429_0_881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Officials Training — Criteria-Based Language  |  Use this formula on every review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ca32782429_0_92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g3ca32782429_0_922"/>
          <p:cNvSpPr/>
          <p:nvPr/>
        </p:nvSpPr>
        <p:spPr>
          <a:xfrm>
            <a:off x="365760" y="109728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Setting the Panel Standard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g3ca32782429_0_922"/>
          <p:cNvSpPr/>
          <p:nvPr/>
        </p:nvSpPr>
        <p:spPr>
          <a:xfrm>
            <a:off x="365760" y="557784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 panel standard must be criteria-based, calibrated together, and achievable at the event level.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g3ca32782429_0_922"/>
          <p:cNvSpPr/>
          <p:nvPr/>
        </p:nvSpPr>
        <p:spPr>
          <a:xfrm>
            <a:off x="320040" y="877824"/>
            <a:ext cx="27432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ca32782429_0_922"/>
          <p:cNvSpPr/>
          <p:nvPr/>
        </p:nvSpPr>
        <p:spPr>
          <a:xfrm>
            <a:off x="320040" y="877824"/>
            <a:ext cx="2743200" cy="4755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ca32782429_0_922"/>
          <p:cNvSpPr/>
          <p:nvPr/>
        </p:nvSpPr>
        <p:spPr>
          <a:xfrm>
            <a:off x="411480" y="914400"/>
            <a:ext cx="384000" cy="3840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ca32782429_0_922"/>
          <p:cNvSpPr/>
          <p:nvPr/>
        </p:nvSpPr>
        <p:spPr>
          <a:xfrm>
            <a:off x="411480" y="91440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g3ca32782429_0_922"/>
          <p:cNvSpPr/>
          <p:nvPr/>
        </p:nvSpPr>
        <p:spPr>
          <a:xfrm>
            <a:off x="886968" y="914400"/>
            <a:ext cx="210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Criteria-Based Standard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g3ca32782429_0_922"/>
          <p:cNvSpPr/>
          <p:nvPr/>
        </p:nvSpPr>
        <p:spPr>
          <a:xfrm>
            <a:off x="457200" y="1463040"/>
            <a:ext cx="201300" cy="2013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g3ca32782429_0_922"/>
          <p:cNvSpPr/>
          <p:nvPr/>
        </p:nvSpPr>
        <p:spPr>
          <a:xfrm>
            <a:off x="457200" y="146304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g3ca32782429_0_922"/>
          <p:cNvSpPr/>
          <p:nvPr/>
        </p:nvSpPr>
        <p:spPr>
          <a:xfrm>
            <a:off x="731520" y="1426464"/>
            <a:ext cx="224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Define the standard using published criteria — not personal preference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g3ca32782429_0_922"/>
          <p:cNvSpPr/>
          <p:nvPr/>
        </p:nvSpPr>
        <p:spPr>
          <a:xfrm>
            <a:off x="457200" y="2286000"/>
            <a:ext cx="201300" cy="2013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g3ca32782429_0_922"/>
          <p:cNvSpPr/>
          <p:nvPr/>
        </p:nvSpPr>
        <p:spPr>
          <a:xfrm>
            <a:off x="457200" y="228600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g3ca32782429_0_922"/>
          <p:cNvSpPr/>
          <p:nvPr/>
        </p:nvSpPr>
        <p:spPr>
          <a:xfrm>
            <a:off x="731520" y="2249424"/>
            <a:ext cx="224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State it in observable terms: what is achieved, how long, how clear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g3ca32782429_0_922"/>
          <p:cNvSpPr/>
          <p:nvPr/>
        </p:nvSpPr>
        <p:spPr>
          <a:xfrm>
            <a:off x="457200" y="3108960"/>
            <a:ext cx="201300" cy="2013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ca32782429_0_922"/>
          <p:cNvSpPr/>
          <p:nvPr/>
        </p:nvSpPr>
        <p:spPr>
          <a:xfrm>
            <a:off x="457200" y="310896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g3ca32782429_0_922"/>
          <p:cNvSpPr/>
          <p:nvPr/>
        </p:nvSpPr>
        <p:spPr>
          <a:xfrm>
            <a:off x="731520" y="3072384"/>
            <a:ext cx="224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 the same language across the whole panel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g3ca32782429_0_922"/>
          <p:cNvSpPr/>
          <p:nvPr/>
        </p:nvSpPr>
        <p:spPr>
          <a:xfrm>
            <a:off x="3200400" y="877824"/>
            <a:ext cx="27432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g3ca32782429_0_922"/>
          <p:cNvSpPr/>
          <p:nvPr/>
        </p:nvSpPr>
        <p:spPr>
          <a:xfrm>
            <a:off x="3200400" y="877824"/>
            <a:ext cx="2743200" cy="4755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g3ca32782429_0_922"/>
          <p:cNvSpPr/>
          <p:nvPr/>
        </p:nvSpPr>
        <p:spPr>
          <a:xfrm>
            <a:off x="3291840" y="914400"/>
            <a:ext cx="384000" cy="3840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g3ca32782429_0_922"/>
          <p:cNvSpPr/>
          <p:nvPr/>
        </p:nvSpPr>
        <p:spPr>
          <a:xfrm>
            <a:off x="3291840" y="91440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g3ca32782429_0_922"/>
          <p:cNvSpPr/>
          <p:nvPr/>
        </p:nvSpPr>
        <p:spPr>
          <a:xfrm>
            <a:off x="3767328" y="914400"/>
            <a:ext cx="210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Calibrate Together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g3ca32782429_0_922"/>
          <p:cNvSpPr/>
          <p:nvPr/>
        </p:nvSpPr>
        <p:spPr>
          <a:xfrm>
            <a:off x="3337560" y="1463040"/>
            <a:ext cx="201300" cy="2013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g3ca32782429_0_922"/>
          <p:cNvSpPr/>
          <p:nvPr/>
        </p:nvSpPr>
        <p:spPr>
          <a:xfrm>
            <a:off x="3337560" y="146304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g3ca32782429_0_922"/>
          <p:cNvSpPr/>
          <p:nvPr/>
        </p:nvSpPr>
        <p:spPr>
          <a:xfrm>
            <a:off x="3611880" y="1426464"/>
            <a:ext cx="224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Align early on what 'meets the criterion' before the event begins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g3ca32782429_0_922"/>
          <p:cNvSpPr/>
          <p:nvPr/>
        </p:nvSpPr>
        <p:spPr>
          <a:xfrm>
            <a:off x="3337560" y="2286000"/>
            <a:ext cx="201300" cy="2013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ca32782429_0_922"/>
          <p:cNvSpPr/>
          <p:nvPr/>
        </p:nvSpPr>
        <p:spPr>
          <a:xfrm>
            <a:off x="3337560" y="228600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g3ca32782429_0_922"/>
          <p:cNvSpPr/>
          <p:nvPr/>
        </p:nvSpPr>
        <p:spPr>
          <a:xfrm>
            <a:off x="3611880" y="2249424"/>
            <a:ext cx="224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If specialists are consistently opposite, TC may need to call the event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g3ca32782429_0_922"/>
          <p:cNvSpPr/>
          <p:nvPr/>
        </p:nvSpPr>
        <p:spPr>
          <a:xfrm>
            <a:off x="3337560" y="3108960"/>
            <a:ext cx="201300" cy="2013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ca32782429_0_922"/>
          <p:cNvSpPr/>
          <p:nvPr/>
        </p:nvSpPr>
        <p:spPr>
          <a:xfrm>
            <a:off x="3337560" y="310896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g3ca32782429_0_922"/>
          <p:cNvSpPr/>
          <p:nvPr/>
        </p:nvSpPr>
        <p:spPr>
          <a:xfrm>
            <a:off x="3611880" y="3072384"/>
            <a:ext cx="224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 borderline reviews to lock in a shared standard mid-event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g3ca32782429_0_922"/>
          <p:cNvSpPr/>
          <p:nvPr/>
        </p:nvSpPr>
        <p:spPr>
          <a:xfrm>
            <a:off x="6080760" y="877824"/>
            <a:ext cx="27432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g3ca32782429_0_922"/>
          <p:cNvSpPr/>
          <p:nvPr/>
        </p:nvSpPr>
        <p:spPr>
          <a:xfrm>
            <a:off x="6080760" y="877824"/>
            <a:ext cx="2743200" cy="4755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ca32782429_0_922"/>
          <p:cNvSpPr/>
          <p:nvPr/>
        </p:nvSpPr>
        <p:spPr>
          <a:xfrm>
            <a:off x="6172200" y="914400"/>
            <a:ext cx="384000" cy="3840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g3ca32782429_0_922"/>
          <p:cNvSpPr/>
          <p:nvPr/>
        </p:nvSpPr>
        <p:spPr>
          <a:xfrm>
            <a:off x="6172200" y="914400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g3ca32782429_0_922"/>
          <p:cNvSpPr/>
          <p:nvPr/>
        </p:nvSpPr>
        <p:spPr>
          <a:xfrm>
            <a:off x="6647688" y="914400"/>
            <a:ext cx="210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 It Achievable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3ca32782429_0_922"/>
          <p:cNvSpPr/>
          <p:nvPr/>
        </p:nvSpPr>
        <p:spPr>
          <a:xfrm>
            <a:off x="6217920" y="1463040"/>
            <a:ext cx="201300" cy="2013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g3ca32782429_0_922"/>
          <p:cNvSpPr/>
          <p:nvPr/>
        </p:nvSpPr>
        <p:spPr>
          <a:xfrm>
            <a:off x="6217920" y="146304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g3ca32782429_0_922"/>
          <p:cNvSpPr/>
          <p:nvPr/>
        </p:nvSpPr>
        <p:spPr>
          <a:xfrm>
            <a:off x="6492240" y="1426464"/>
            <a:ext cx="224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Too stringent: if top-level skaters only achieve 'body,' recalibrate — bar is likely unrealistic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g3ca32782429_0_922"/>
          <p:cNvSpPr/>
          <p:nvPr/>
        </p:nvSpPr>
        <p:spPr>
          <a:xfrm>
            <a:off x="6217920" y="2286000"/>
            <a:ext cx="201300" cy="2013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g3ca32782429_0_922"/>
          <p:cNvSpPr/>
          <p:nvPr/>
        </p:nvSpPr>
        <p:spPr>
          <a:xfrm>
            <a:off x="6217920" y="228600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g3ca32782429_0_922"/>
          <p:cNvSpPr/>
          <p:nvPr/>
        </p:nvSpPr>
        <p:spPr>
          <a:xfrm>
            <a:off x="6492240" y="2249424"/>
            <a:ext cx="224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Too loose: if every small change is 'clear increase,' tighten definitions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g3ca32782429_0_922"/>
          <p:cNvSpPr/>
          <p:nvPr/>
        </p:nvSpPr>
        <p:spPr>
          <a:xfrm>
            <a:off x="6217920" y="3108960"/>
            <a:ext cx="201300" cy="2013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3ca32782429_0_922"/>
          <p:cNvSpPr/>
          <p:nvPr/>
        </p:nvSpPr>
        <p:spPr>
          <a:xfrm>
            <a:off x="6217920" y="310896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g3ca32782429_0_922"/>
          <p:cNvSpPr/>
          <p:nvPr/>
        </p:nvSpPr>
        <p:spPr>
          <a:xfrm>
            <a:off x="6492240" y="3072384"/>
            <a:ext cx="224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Goal: all awarded elements demonstrate the same level of strength and/or flexibility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g3ca32782429_0_922"/>
          <p:cNvSpPr/>
          <p:nvPr/>
        </p:nvSpPr>
        <p:spPr>
          <a:xfrm>
            <a:off x="320040" y="4169664"/>
            <a:ext cx="8503800" cy="5853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g3ca32782429_0_922"/>
          <p:cNvSpPr/>
          <p:nvPr/>
        </p:nvSpPr>
        <p:spPr>
          <a:xfrm>
            <a:off x="502920" y="4169664"/>
            <a:ext cx="1371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Standard Check: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g3ca32782429_0_922"/>
          <p:cNvSpPr/>
          <p:nvPr/>
        </p:nvSpPr>
        <p:spPr>
          <a:xfrm>
            <a:off x="1874520" y="4315968"/>
            <a:ext cx="255900" cy="2559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g3ca32782429_0_922"/>
          <p:cNvSpPr/>
          <p:nvPr/>
        </p:nvSpPr>
        <p:spPr>
          <a:xfrm>
            <a:off x="1874520" y="43159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g3ca32782429_0_922"/>
          <p:cNvSpPr/>
          <p:nvPr/>
        </p:nvSpPr>
        <p:spPr>
          <a:xfrm>
            <a:off x="2185416" y="4279392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Criteria-based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g3ca32782429_0_922"/>
          <p:cNvSpPr/>
          <p:nvPr/>
        </p:nvSpPr>
        <p:spPr>
          <a:xfrm>
            <a:off x="3593592" y="4315968"/>
            <a:ext cx="255900" cy="2559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g3ca32782429_0_922"/>
          <p:cNvSpPr/>
          <p:nvPr/>
        </p:nvSpPr>
        <p:spPr>
          <a:xfrm>
            <a:off x="3593592" y="43159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3ca32782429_0_922"/>
          <p:cNvSpPr/>
          <p:nvPr/>
        </p:nvSpPr>
        <p:spPr>
          <a:xfrm>
            <a:off x="3904488" y="4279392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 by the panel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g3ca32782429_0_922"/>
          <p:cNvSpPr/>
          <p:nvPr/>
        </p:nvSpPr>
        <p:spPr>
          <a:xfrm>
            <a:off x="5312664" y="4315968"/>
            <a:ext cx="255900" cy="2559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ca32782429_0_922"/>
          <p:cNvSpPr/>
          <p:nvPr/>
        </p:nvSpPr>
        <p:spPr>
          <a:xfrm>
            <a:off x="5312664" y="43159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g3ca32782429_0_922"/>
          <p:cNvSpPr/>
          <p:nvPr/>
        </p:nvSpPr>
        <p:spPr>
          <a:xfrm>
            <a:off x="5623560" y="4279392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Achievable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g3ca32782429_0_922"/>
          <p:cNvSpPr/>
          <p:nvPr/>
        </p:nvSpPr>
        <p:spPr>
          <a:xfrm>
            <a:off x="7031736" y="4315968"/>
            <a:ext cx="255900" cy="2559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g3ca32782429_0_922"/>
          <p:cNvSpPr/>
          <p:nvPr/>
        </p:nvSpPr>
        <p:spPr>
          <a:xfrm>
            <a:off x="7031736" y="43159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g3ca32782429_0_922"/>
          <p:cNvSpPr/>
          <p:nvPr/>
        </p:nvSpPr>
        <p:spPr>
          <a:xfrm>
            <a:off x="7342632" y="4279392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Consistent on borderlines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g3ca32782429_0_922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g3ca32782429_0_922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Officials Training — Panel Calibration  |  A shared standard is the foundation of a consistent technical panel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ca32782429_0_58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g3ca32782429_0_581"/>
          <p:cNvSpPr/>
          <p:nvPr/>
        </p:nvSpPr>
        <p:spPr>
          <a:xfrm>
            <a:off x="365760" y="164592"/>
            <a:ext cx="8412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Economy of Language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g3ca32782429_0_581"/>
          <p:cNvSpPr/>
          <p:nvPr/>
        </p:nvSpPr>
        <p:spPr>
          <a:xfrm>
            <a:off x="365760" y="621792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Every unnecessary word on the headset costs the TS1 attention. Keep it concise, precise, and consistent.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g3ca32782429_0_581"/>
          <p:cNvSpPr/>
          <p:nvPr/>
        </p:nvSpPr>
        <p:spPr>
          <a:xfrm>
            <a:off x="320040" y="987552"/>
            <a:ext cx="8503800" cy="676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g3ca32782429_0_581"/>
          <p:cNvSpPr/>
          <p:nvPr/>
        </p:nvSpPr>
        <p:spPr>
          <a:xfrm>
            <a:off x="265415" y="978277"/>
            <a:ext cx="1874400" cy="676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g3ca32782429_0_581"/>
          <p:cNvSpPr/>
          <p:nvPr/>
        </p:nvSpPr>
        <p:spPr>
          <a:xfrm>
            <a:off x="274323" y="978277"/>
            <a:ext cx="1737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Repeated DVs /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3ca32782429_0_581"/>
          <p:cNvSpPr/>
          <p:nvPr/>
        </p:nvSpPr>
        <p:spPr>
          <a:xfrm>
            <a:off x="2194560" y="1097280"/>
            <a:ext cx="219600" cy="219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g3ca32782429_0_581"/>
          <p:cNvSpPr/>
          <p:nvPr/>
        </p:nvSpPr>
        <p:spPr>
          <a:xfrm>
            <a:off x="2194560" y="1097280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g3ca32782429_0_581"/>
          <p:cNvSpPr/>
          <p:nvPr/>
        </p:nvSpPr>
        <p:spPr>
          <a:xfrm>
            <a:off x="2468880" y="1042416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Say "REPEAT"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g3ca32782429_0_581"/>
          <p:cNvSpPr/>
          <p:nvPr/>
        </p:nvSpPr>
        <p:spPr>
          <a:xfrm>
            <a:off x="2194560" y="1371600"/>
            <a:ext cx="219600" cy="2196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g3ca32782429_0_581"/>
          <p:cNvSpPr/>
          <p:nvPr/>
        </p:nvSpPr>
        <p:spPr>
          <a:xfrm>
            <a:off x="2194560" y="1371600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g3ca32782429_0_581"/>
          <p:cNvSpPr/>
          <p:nvPr/>
        </p:nvSpPr>
        <p:spPr>
          <a:xfrm>
            <a:off x="2468880" y="1316736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Say "USED"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g3ca32782429_0_581"/>
          <p:cNvSpPr/>
          <p:nvPr/>
        </p:nvSpPr>
        <p:spPr>
          <a:xfrm>
            <a:off x="4846320" y="1060704"/>
            <a:ext cx="18300" cy="5304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g3ca32782429_0_581"/>
          <p:cNvSpPr/>
          <p:nvPr/>
        </p:nvSpPr>
        <p:spPr>
          <a:xfrm>
            <a:off x="4956048" y="1078992"/>
            <a:ext cx="3749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Consistent with ISU protocol — 'USED' signals the DV category cannot be counted again this program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g3ca32782429_0_581"/>
          <p:cNvSpPr/>
          <p:nvPr/>
        </p:nvSpPr>
        <p:spPr>
          <a:xfrm>
            <a:off x="320040" y="1755648"/>
            <a:ext cx="8503800" cy="676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g3ca32782429_0_581"/>
          <p:cNvSpPr/>
          <p:nvPr/>
        </p:nvSpPr>
        <p:spPr>
          <a:xfrm>
            <a:off x="256177" y="1751011"/>
            <a:ext cx="1874400" cy="676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3ca32782429_0_581"/>
          <p:cNvSpPr/>
          <p:nvPr/>
        </p:nvSpPr>
        <p:spPr>
          <a:xfrm>
            <a:off x="320050" y="1751025"/>
            <a:ext cx="18012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Jump Combinations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g3ca32782429_0_581"/>
          <p:cNvSpPr/>
          <p:nvPr/>
        </p:nvSpPr>
        <p:spPr>
          <a:xfrm>
            <a:off x="2194560" y="1865376"/>
            <a:ext cx="219600" cy="219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g3ca32782429_0_581"/>
          <p:cNvSpPr/>
          <p:nvPr/>
        </p:nvSpPr>
        <p:spPr>
          <a:xfrm>
            <a:off x="2194560" y="1865376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ca32782429_0_581"/>
          <p:cNvSpPr/>
          <p:nvPr/>
        </p:nvSpPr>
        <p:spPr>
          <a:xfrm>
            <a:off x="2468880" y="1810512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Say "PLUS" between jumps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g3ca32782429_0_581"/>
          <p:cNvSpPr/>
          <p:nvPr/>
        </p:nvSpPr>
        <p:spPr>
          <a:xfrm>
            <a:off x="2194560" y="2139696"/>
            <a:ext cx="219600" cy="2196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g3ca32782429_0_581"/>
          <p:cNvSpPr/>
          <p:nvPr/>
        </p:nvSpPr>
        <p:spPr>
          <a:xfrm>
            <a:off x="2194560" y="2139696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g3ca32782429_0_581"/>
          <p:cNvSpPr/>
          <p:nvPr/>
        </p:nvSpPr>
        <p:spPr>
          <a:xfrm>
            <a:off x="2468880" y="2084832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Just call the jumps </a:t>
            </a:r>
            <a:r>
              <a:rPr b="1" lang="en-US" sz="1100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as attempted</a:t>
            </a:r>
            <a:r>
              <a:rPr b="1" i="0" lang="en-US" sz="11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 — no connective word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3ca32782429_0_581"/>
          <p:cNvSpPr/>
          <p:nvPr/>
        </p:nvSpPr>
        <p:spPr>
          <a:xfrm>
            <a:off x="4846320" y="1828800"/>
            <a:ext cx="18300" cy="5304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g3ca32782429_0_581"/>
          <p:cNvSpPr/>
          <p:nvPr/>
        </p:nvSpPr>
        <p:spPr>
          <a:xfrm>
            <a:off x="4956048" y="1847088"/>
            <a:ext cx="3749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Example: "triple Lutz, triple toe" — not "triple Lutz PLUS triple toe"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g3ca32782429_0_581"/>
          <p:cNvSpPr/>
          <p:nvPr/>
        </p:nvSpPr>
        <p:spPr>
          <a:xfrm>
            <a:off x="320040" y="2523744"/>
            <a:ext cx="8503800" cy="676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g3ca32782429_0_581"/>
          <p:cNvSpPr/>
          <p:nvPr/>
        </p:nvSpPr>
        <p:spPr>
          <a:xfrm>
            <a:off x="256177" y="2523744"/>
            <a:ext cx="1874400" cy="676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g3ca32782429_0_581"/>
          <p:cNvSpPr/>
          <p:nvPr/>
        </p:nvSpPr>
        <p:spPr>
          <a:xfrm>
            <a:off x="274319" y="2523744"/>
            <a:ext cx="1737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Calling Reviews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g3ca32782429_0_581"/>
          <p:cNvSpPr/>
          <p:nvPr/>
        </p:nvSpPr>
        <p:spPr>
          <a:xfrm>
            <a:off x="2194560" y="2633472"/>
            <a:ext cx="219600" cy="219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g3ca32782429_0_581"/>
          <p:cNvSpPr/>
          <p:nvPr/>
        </p:nvSpPr>
        <p:spPr>
          <a:xfrm>
            <a:off x="2194560" y="2633472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ca32782429_0_581"/>
          <p:cNvSpPr/>
          <p:nvPr/>
        </p:nvSpPr>
        <p:spPr>
          <a:xfrm>
            <a:off x="2468880" y="2578608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Say "review [reason]" for every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g3ca32782429_0_581"/>
          <p:cNvSpPr/>
          <p:nvPr/>
        </p:nvSpPr>
        <p:spPr>
          <a:xfrm>
            <a:off x="2194560" y="2907792"/>
            <a:ext cx="219600" cy="2196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ca32782429_0_581"/>
          <p:cNvSpPr/>
          <p:nvPr/>
        </p:nvSpPr>
        <p:spPr>
          <a:xfrm>
            <a:off x="2194560" y="2907792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3ca32782429_0_581"/>
          <p:cNvSpPr/>
          <p:nvPr/>
        </p:nvSpPr>
        <p:spPr>
          <a:xfrm>
            <a:off x="2468880" y="2852928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Just say "review"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ca32782429_0_581"/>
          <p:cNvSpPr/>
          <p:nvPr/>
        </p:nvSpPr>
        <p:spPr>
          <a:xfrm>
            <a:off x="4846320" y="2596896"/>
            <a:ext cx="18300" cy="5304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g3ca32782429_0_581"/>
          <p:cNvSpPr/>
          <p:nvPr/>
        </p:nvSpPr>
        <p:spPr>
          <a:xfrm>
            <a:off x="4956048" y="2615184"/>
            <a:ext cx="3749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Exception: Edge reviews, jump takeoffs, and falls — say 'review edge' or 'review takeoff' or </a:t>
            </a:r>
            <a:r>
              <a:rPr i="1"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‘review fall’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g3ca32782429_0_581"/>
          <p:cNvSpPr/>
          <p:nvPr/>
        </p:nvSpPr>
        <p:spPr>
          <a:xfrm>
            <a:off x="320040" y="3291840"/>
            <a:ext cx="8503800" cy="676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g3ca32782429_0_581"/>
          <p:cNvSpPr/>
          <p:nvPr/>
        </p:nvSpPr>
        <p:spPr>
          <a:xfrm>
            <a:off x="265419" y="3291828"/>
            <a:ext cx="1874400" cy="676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g3ca32782429_0_581"/>
          <p:cNvSpPr/>
          <p:nvPr/>
        </p:nvSpPr>
        <p:spPr>
          <a:xfrm>
            <a:off x="324723" y="3291828"/>
            <a:ext cx="1737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Partial ChSq — Live Call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g3ca32782429_0_581"/>
          <p:cNvSpPr/>
          <p:nvPr/>
        </p:nvSpPr>
        <p:spPr>
          <a:xfrm>
            <a:off x="2194560" y="3401568"/>
            <a:ext cx="219600" cy="219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g3ca32782429_0_581"/>
          <p:cNvSpPr/>
          <p:nvPr/>
        </p:nvSpPr>
        <p:spPr>
          <a:xfrm>
            <a:off x="2194560" y="3401568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g3ca32782429_0_581"/>
          <p:cNvSpPr/>
          <p:nvPr/>
        </p:nvSpPr>
        <p:spPr>
          <a:xfrm>
            <a:off x="2468880" y="3346704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TS1 says 'p' or 'partial' during the program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3ca32782429_0_581"/>
          <p:cNvSpPr/>
          <p:nvPr/>
        </p:nvSpPr>
        <p:spPr>
          <a:xfrm>
            <a:off x="2194560" y="3675888"/>
            <a:ext cx="219600" cy="2196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g3ca32782429_0_581"/>
          <p:cNvSpPr/>
          <p:nvPr/>
        </p:nvSpPr>
        <p:spPr>
          <a:xfrm>
            <a:off x="2194560" y="3675888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g3ca32782429_0_581"/>
          <p:cNvSpPr/>
          <p:nvPr/>
        </p:nvSpPr>
        <p:spPr>
          <a:xfrm>
            <a:off x="2468880" y="3621024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TS1 says 'Choreo Sequence'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g3ca32782429_0_581"/>
          <p:cNvSpPr/>
          <p:nvPr/>
        </p:nvSpPr>
        <p:spPr>
          <a:xfrm>
            <a:off x="4846320" y="3364992"/>
            <a:ext cx="18300" cy="5304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g3ca32782429_0_581"/>
          <p:cNvSpPr/>
          <p:nvPr/>
        </p:nvSpPr>
        <p:spPr>
          <a:xfrm>
            <a:off x="4956048" y="3383280"/>
            <a:ext cx="3749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The TS1 calls it as confirmed or no value. The 'p' designation goes on the DO's readback only.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g3ca32782429_0_581"/>
          <p:cNvSpPr/>
          <p:nvPr/>
        </p:nvSpPr>
        <p:spPr>
          <a:xfrm>
            <a:off x="320040" y="4059936"/>
            <a:ext cx="8503800" cy="676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g3ca32782429_0_581"/>
          <p:cNvSpPr/>
          <p:nvPr/>
        </p:nvSpPr>
        <p:spPr>
          <a:xfrm>
            <a:off x="265419" y="4055374"/>
            <a:ext cx="1874400" cy="676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g3ca32782429_0_581"/>
          <p:cNvSpPr/>
          <p:nvPr/>
        </p:nvSpPr>
        <p:spPr>
          <a:xfrm>
            <a:off x="324723" y="4055386"/>
            <a:ext cx="1737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ChSq Outcome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g3ca32782429_0_581"/>
          <p:cNvSpPr/>
          <p:nvPr/>
        </p:nvSpPr>
        <p:spPr>
          <a:xfrm>
            <a:off x="2194560" y="4169664"/>
            <a:ext cx="219600" cy="219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g3ca32782429_0_581"/>
          <p:cNvSpPr/>
          <p:nvPr/>
        </p:nvSpPr>
        <p:spPr>
          <a:xfrm>
            <a:off x="2194560" y="4169664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g3ca32782429_0_581"/>
          <p:cNvSpPr/>
          <p:nvPr/>
        </p:nvSpPr>
        <p:spPr>
          <a:xfrm>
            <a:off x="2468880" y="411480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Describe or qualify the result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g3ca32782429_0_581"/>
          <p:cNvSpPr/>
          <p:nvPr/>
        </p:nvSpPr>
        <p:spPr>
          <a:xfrm>
            <a:off x="2194560" y="4443984"/>
            <a:ext cx="219600" cy="2196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g3ca32782429_0_581"/>
          <p:cNvSpPr/>
          <p:nvPr/>
        </p:nvSpPr>
        <p:spPr>
          <a:xfrm>
            <a:off x="2194560" y="4443984"/>
            <a:ext cx="21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ca32782429_0_581"/>
          <p:cNvSpPr/>
          <p:nvPr/>
        </p:nvSpPr>
        <p:spPr>
          <a:xfrm>
            <a:off x="2468880" y="438912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Exactly one of two calls: "CONFIRMED" or "NO VALUE"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ca32782429_0_581"/>
          <p:cNvSpPr/>
          <p:nvPr/>
        </p:nvSpPr>
        <p:spPr>
          <a:xfrm>
            <a:off x="4846320" y="4133088"/>
            <a:ext cx="18300" cy="5304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g3ca32782429_0_581"/>
          <p:cNvSpPr/>
          <p:nvPr/>
        </p:nvSpPr>
        <p:spPr>
          <a:xfrm>
            <a:off x="4956048" y="4151376"/>
            <a:ext cx="3749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There is no in-between. If it qualifies, confirmed. If not, no value.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g3ca32782429_0_581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g3ca32782429_0_581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Economy of language is a discipline — it takes practice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c4bfe4d5af_0_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g3c4bfe4d5af_0_0"/>
          <p:cNvSpPr/>
          <p:nvPr/>
        </p:nvSpPr>
        <p:spPr>
          <a:xfrm>
            <a:off x="0" y="0"/>
            <a:ext cx="21942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c4bfe4d5af_0_0"/>
          <p:cNvSpPr/>
          <p:nvPr/>
        </p:nvSpPr>
        <p:spPr>
          <a:xfrm>
            <a:off x="182880" y="457200"/>
            <a:ext cx="2377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Helpful Hints for New Specialists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2" name="Google Shape;942;g3c4bfe4d5af_0_0"/>
          <p:cNvGrpSpPr/>
          <p:nvPr/>
        </p:nvGrpSpPr>
        <p:grpSpPr>
          <a:xfrm>
            <a:off x="2414450" y="156825"/>
            <a:ext cx="6455100" cy="504300"/>
            <a:chOff x="2414450" y="305725"/>
            <a:chExt cx="6455100" cy="504300"/>
          </a:xfrm>
        </p:grpSpPr>
        <p:sp>
          <p:nvSpPr>
            <p:cNvPr id="943" name="Google Shape;943;g3c4bfe4d5af_0_0"/>
            <p:cNvSpPr/>
            <p:nvPr/>
          </p:nvSpPr>
          <p:spPr>
            <a:xfrm>
              <a:off x="2414450" y="305725"/>
              <a:ext cx="6455100" cy="5043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g3c4bfe4d5af_0_0"/>
            <p:cNvSpPr/>
            <p:nvPr/>
          </p:nvSpPr>
          <p:spPr>
            <a:xfrm>
              <a:off x="2560375" y="378875"/>
              <a:ext cx="62085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It’s not about being perfect.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Don’t put that pressure on yourself. Focus on  doing your best work in real time. 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5" name="Google Shape;945;g3c4bfe4d5af_0_0"/>
          <p:cNvGrpSpPr/>
          <p:nvPr/>
        </p:nvGrpSpPr>
        <p:grpSpPr>
          <a:xfrm>
            <a:off x="2414450" y="752525"/>
            <a:ext cx="6455100" cy="583813"/>
            <a:chOff x="2414450" y="955740"/>
            <a:chExt cx="6455100" cy="583813"/>
          </a:xfrm>
        </p:grpSpPr>
        <p:sp>
          <p:nvSpPr>
            <p:cNvPr id="946" name="Google Shape;946;g3c4bfe4d5af_0_0"/>
            <p:cNvSpPr/>
            <p:nvPr/>
          </p:nvSpPr>
          <p:spPr>
            <a:xfrm>
              <a:off x="2414450" y="955752"/>
              <a:ext cx="6455100" cy="5838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g3c4bfe4d5af_0_0"/>
            <p:cNvSpPr/>
            <p:nvPr/>
          </p:nvSpPr>
          <p:spPr>
            <a:xfrm>
              <a:off x="2500975" y="955740"/>
              <a:ext cx="62679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15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Don’t be 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afraid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 to drop a box.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Especially when there's no PPC and you're hunting for a ChSq or StSq — dropping the box makes life easier for the data operator and the judges down the line.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8" name="Google Shape;948;g3c4bfe4d5af_0_0"/>
          <p:cNvGrpSpPr/>
          <p:nvPr/>
        </p:nvGrpSpPr>
        <p:grpSpPr>
          <a:xfrm>
            <a:off x="2414450" y="1427745"/>
            <a:ext cx="6455100" cy="504305"/>
            <a:chOff x="2414450" y="1605776"/>
            <a:chExt cx="6455100" cy="504305"/>
          </a:xfrm>
        </p:grpSpPr>
        <p:sp>
          <p:nvSpPr>
            <p:cNvPr id="949" name="Google Shape;949;g3c4bfe4d5af_0_0"/>
            <p:cNvSpPr/>
            <p:nvPr/>
          </p:nvSpPr>
          <p:spPr>
            <a:xfrm>
              <a:off x="2414450" y="1605776"/>
              <a:ext cx="6455100" cy="5043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g3c4bfe4d5af_0_0"/>
            <p:cNvSpPr/>
            <p:nvPr/>
          </p:nvSpPr>
          <p:spPr>
            <a:xfrm>
              <a:off x="2477375" y="1605781"/>
              <a:ext cx="6291600" cy="50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Being reviewed is not a bad thing.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 We are all here as a team. Reviews exist to get athletes the levels they earned from their execution on the ice.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1" name="Google Shape;951;g3c4bfe4d5af_0_0"/>
          <p:cNvGrpSpPr/>
          <p:nvPr/>
        </p:nvGrpSpPr>
        <p:grpSpPr>
          <a:xfrm>
            <a:off x="2414450" y="2030350"/>
            <a:ext cx="6455100" cy="583800"/>
            <a:chOff x="2414450" y="2345197"/>
            <a:chExt cx="6455100" cy="583800"/>
          </a:xfrm>
        </p:grpSpPr>
        <p:sp>
          <p:nvSpPr>
            <p:cNvPr id="952" name="Google Shape;952;g3c4bfe4d5af_0_0"/>
            <p:cNvSpPr/>
            <p:nvPr/>
          </p:nvSpPr>
          <p:spPr>
            <a:xfrm>
              <a:off x="2414450" y="2388401"/>
              <a:ext cx="6455100" cy="5043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g3c4bfe4d5af_0_0"/>
            <p:cNvSpPr/>
            <p:nvPr/>
          </p:nvSpPr>
          <p:spPr>
            <a:xfrm>
              <a:off x="2477374" y="2345197"/>
              <a:ext cx="62280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It's completely appropriate to review your own calls. 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Turn combinations, rotation features, body features — if you need a second look, take it.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4" name="Google Shape;954;g3c4bfe4d5af_0_0"/>
          <p:cNvGrpSpPr/>
          <p:nvPr/>
        </p:nvGrpSpPr>
        <p:grpSpPr>
          <a:xfrm>
            <a:off x="2414450" y="2705550"/>
            <a:ext cx="6455100" cy="583813"/>
            <a:chOff x="2414450" y="3164113"/>
            <a:chExt cx="6455100" cy="583813"/>
          </a:xfrm>
        </p:grpSpPr>
        <p:sp>
          <p:nvSpPr>
            <p:cNvPr id="955" name="Google Shape;955;g3c4bfe4d5af_0_0"/>
            <p:cNvSpPr/>
            <p:nvPr/>
          </p:nvSpPr>
          <p:spPr>
            <a:xfrm>
              <a:off x="2414450" y="3164126"/>
              <a:ext cx="6455100" cy="5838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g3c4bfe4d5af_0_0"/>
            <p:cNvSpPr/>
            <p:nvPr/>
          </p:nvSpPr>
          <p:spPr>
            <a:xfrm>
              <a:off x="2485250" y="3164113"/>
              <a:ext cx="62838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15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When you fumble, stay calm.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Make a call and review. Getting flustered trying to "get it right" in the moment can cause a ripple effect that bleeds into the next element — or beyond.</a:t>
              </a:r>
              <a:endParaRPr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7" name="Google Shape;957;g3c4bfe4d5af_0_0"/>
          <p:cNvGrpSpPr/>
          <p:nvPr/>
        </p:nvGrpSpPr>
        <p:grpSpPr>
          <a:xfrm>
            <a:off x="2414450" y="4155818"/>
            <a:ext cx="6455100" cy="946461"/>
            <a:chOff x="2414450" y="4536875"/>
            <a:chExt cx="6455100" cy="896100"/>
          </a:xfrm>
        </p:grpSpPr>
        <p:sp>
          <p:nvSpPr>
            <p:cNvPr id="958" name="Google Shape;958;g3c4bfe4d5af_0_0"/>
            <p:cNvSpPr/>
            <p:nvPr/>
          </p:nvSpPr>
          <p:spPr>
            <a:xfrm>
              <a:off x="2414450" y="4536875"/>
              <a:ext cx="6455100" cy="8961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g3c4bfe4d5af_0_0"/>
            <p:cNvSpPr/>
            <p:nvPr/>
          </p:nvSpPr>
          <p:spPr>
            <a:xfrm>
              <a:off x="2469500" y="4615276"/>
              <a:ext cx="6299400" cy="7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During a review — let the reviewer speak first</a:t>
              </a:r>
              <a:r>
                <a:rPr lang="en-U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 Please, please, please let the person who called the review share their thinking before anyone else jumps in. They may be focused on a camel position while you're about to chime in about a sit. Letting them lead makes the review calmer and more efficient for everyone.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0" name="Google Shape;960;g3c4bfe4d5af_0_0"/>
          <p:cNvGrpSpPr/>
          <p:nvPr/>
        </p:nvGrpSpPr>
        <p:grpSpPr>
          <a:xfrm>
            <a:off x="2414450" y="3380770"/>
            <a:ext cx="6455100" cy="663000"/>
            <a:chOff x="2414450" y="3801251"/>
            <a:chExt cx="6455100" cy="663000"/>
          </a:xfrm>
        </p:grpSpPr>
        <p:sp>
          <p:nvSpPr>
            <p:cNvPr id="961" name="Google Shape;961;g3c4bfe4d5af_0_0"/>
            <p:cNvSpPr/>
            <p:nvPr/>
          </p:nvSpPr>
          <p:spPr>
            <a:xfrm>
              <a:off x="2414450" y="3801251"/>
              <a:ext cx="6455100" cy="6630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g3c4bfe4d5af_0_0"/>
            <p:cNvSpPr/>
            <p:nvPr/>
          </p:nvSpPr>
          <p:spPr>
            <a:xfrm>
              <a:off x="2485249" y="3833806"/>
              <a:ext cx="6283800" cy="58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TS2 — take your notes seriously.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Calling the program is not your job. If your notes don't match the TS1 call, that's fine. Simply review and explain yourself during the review process.</a:t>
              </a:r>
              <a:endParaRPr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c4bfe4d5af_0_4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g3c4bfe4d5af_0_43"/>
          <p:cNvSpPr/>
          <p:nvPr/>
        </p:nvSpPr>
        <p:spPr>
          <a:xfrm>
            <a:off x="0" y="0"/>
            <a:ext cx="21942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3c4bfe4d5af_0_43"/>
          <p:cNvSpPr/>
          <p:nvPr/>
        </p:nvSpPr>
        <p:spPr>
          <a:xfrm>
            <a:off x="182880" y="457200"/>
            <a:ext cx="2377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Helpful Hints for New Controllers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1" name="Google Shape;971;g3c4bfe4d5af_0_43"/>
          <p:cNvGrpSpPr/>
          <p:nvPr/>
        </p:nvGrpSpPr>
        <p:grpSpPr>
          <a:xfrm>
            <a:off x="2414450" y="156775"/>
            <a:ext cx="6455100" cy="652850"/>
            <a:chOff x="2414450" y="305675"/>
            <a:chExt cx="6455100" cy="652850"/>
          </a:xfrm>
        </p:grpSpPr>
        <p:sp>
          <p:nvSpPr>
            <p:cNvPr id="972" name="Google Shape;972;g3c4bfe4d5af_0_43"/>
            <p:cNvSpPr/>
            <p:nvPr/>
          </p:nvSpPr>
          <p:spPr>
            <a:xfrm>
              <a:off x="2414450" y="305725"/>
              <a:ext cx="6455100" cy="6528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g3c4bfe4d5af_0_43"/>
            <p:cNvSpPr/>
            <p:nvPr/>
          </p:nvSpPr>
          <p:spPr>
            <a:xfrm>
              <a:off x="2560375" y="305675"/>
              <a:ext cx="6208800" cy="6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You do not 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ultimately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 the final call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You do control that everything is being assessed according to rules and criteria, and that everything is being held to a consistent standard, but you are only one of a team. 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4" name="Google Shape;974;g3c4bfe4d5af_0_43"/>
          <p:cNvGrpSpPr/>
          <p:nvPr/>
        </p:nvGrpSpPr>
        <p:grpSpPr>
          <a:xfrm>
            <a:off x="2414450" y="893200"/>
            <a:ext cx="6455100" cy="652850"/>
            <a:chOff x="2414450" y="305675"/>
            <a:chExt cx="6455100" cy="652850"/>
          </a:xfrm>
        </p:grpSpPr>
        <p:sp>
          <p:nvSpPr>
            <p:cNvPr id="975" name="Google Shape;975;g3c4bfe4d5af_0_43"/>
            <p:cNvSpPr/>
            <p:nvPr/>
          </p:nvSpPr>
          <p:spPr>
            <a:xfrm>
              <a:off x="2414450" y="305725"/>
              <a:ext cx="6455100" cy="6528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g3c4bfe4d5af_0_43"/>
            <p:cNvSpPr/>
            <p:nvPr/>
          </p:nvSpPr>
          <p:spPr>
            <a:xfrm>
              <a:off x="2508825" y="305675"/>
              <a:ext cx="6260100" cy="6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You set the tone for the panel.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Setting an efficient, calm panel stems from you. If the review process is led chaotically as opposed to an organized,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efficient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 way, that chaos is going to seep into the rest of your panel 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7" name="Google Shape;977;g3c4bfe4d5af_0_43"/>
          <p:cNvGrpSpPr/>
          <p:nvPr/>
        </p:nvGrpSpPr>
        <p:grpSpPr>
          <a:xfrm>
            <a:off x="2414450" y="1629650"/>
            <a:ext cx="6455100" cy="456071"/>
            <a:chOff x="2414450" y="305690"/>
            <a:chExt cx="6455100" cy="652835"/>
          </a:xfrm>
        </p:grpSpPr>
        <p:sp>
          <p:nvSpPr>
            <p:cNvPr id="978" name="Google Shape;978;g3c4bfe4d5af_0_43"/>
            <p:cNvSpPr/>
            <p:nvPr/>
          </p:nvSpPr>
          <p:spPr>
            <a:xfrm>
              <a:off x="2414450" y="305725"/>
              <a:ext cx="6455100" cy="6528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g3c4bfe4d5af_0_43"/>
            <p:cNvSpPr/>
            <p:nvPr/>
          </p:nvSpPr>
          <p:spPr>
            <a:xfrm>
              <a:off x="2477375" y="305690"/>
              <a:ext cx="6291600" cy="6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Be decisive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Watch attentively when the replay is playing and verbalize your call so you can immediately break ties rather than wasting time watching it again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0" name="Google Shape;980;g3c4bfe4d5af_0_43"/>
          <p:cNvGrpSpPr/>
          <p:nvPr/>
        </p:nvGrpSpPr>
        <p:grpSpPr>
          <a:xfrm>
            <a:off x="2414450" y="2169300"/>
            <a:ext cx="6455100" cy="652809"/>
            <a:chOff x="2414450" y="305653"/>
            <a:chExt cx="6455100" cy="1190172"/>
          </a:xfrm>
        </p:grpSpPr>
        <p:sp>
          <p:nvSpPr>
            <p:cNvPr id="981" name="Google Shape;981;g3c4bfe4d5af_0_43"/>
            <p:cNvSpPr/>
            <p:nvPr/>
          </p:nvSpPr>
          <p:spPr>
            <a:xfrm>
              <a:off x="2414450" y="305725"/>
              <a:ext cx="6455100" cy="11901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g3c4bfe4d5af_0_43"/>
            <p:cNvSpPr/>
            <p:nvPr/>
          </p:nvSpPr>
          <p:spPr>
            <a:xfrm>
              <a:off x="2485250" y="305653"/>
              <a:ext cx="6283800" cy="119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Be intentional, not reactive.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You will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inevitably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 be on panels where you feel everyone is trying to accelerate your pace or take over the review. Be confident enough to reclaim the control of the review 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3" name="Google Shape;983;g3c4bfe4d5af_0_43"/>
          <p:cNvGrpSpPr/>
          <p:nvPr/>
        </p:nvGrpSpPr>
        <p:grpSpPr>
          <a:xfrm>
            <a:off x="2414450" y="2909650"/>
            <a:ext cx="6455100" cy="456050"/>
            <a:chOff x="2414450" y="305675"/>
            <a:chExt cx="6455100" cy="456050"/>
          </a:xfrm>
        </p:grpSpPr>
        <p:sp>
          <p:nvSpPr>
            <p:cNvPr id="984" name="Google Shape;984;g3c4bfe4d5af_0_43"/>
            <p:cNvSpPr/>
            <p:nvPr/>
          </p:nvSpPr>
          <p:spPr>
            <a:xfrm>
              <a:off x="2414450" y="305725"/>
              <a:ext cx="6455100" cy="4560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g3c4bfe4d5af_0_43"/>
            <p:cNvSpPr/>
            <p:nvPr/>
          </p:nvSpPr>
          <p:spPr>
            <a:xfrm>
              <a:off x="2500975" y="305675"/>
              <a:ext cx="6267900" cy="45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Prompt when necessary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If your TS1 doesn’t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remember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 why they called review, use your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notes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 to prompt them what the skater attempted. 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6" name="Google Shape;986;g3c4bfe4d5af_0_43"/>
          <p:cNvGrpSpPr/>
          <p:nvPr/>
        </p:nvGrpSpPr>
        <p:grpSpPr>
          <a:xfrm>
            <a:off x="2414450" y="3449275"/>
            <a:ext cx="6455100" cy="311450"/>
            <a:chOff x="2414450" y="305675"/>
            <a:chExt cx="6455100" cy="311450"/>
          </a:xfrm>
        </p:grpSpPr>
        <p:sp>
          <p:nvSpPr>
            <p:cNvPr id="987" name="Google Shape;987;g3c4bfe4d5af_0_43"/>
            <p:cNvSpPr/>
            <p:nvPr/>
          </p:nvSpPr>
          <p:spPr>
            <a:xfrm>
              <a:off x="2414450" y="305725"/>
              <a:ext cx="6455100" cy="3114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g3c4bfe4d5af_0_43"/>
            <p:cNvSpPr/>
            <p:nvPr/>
          </p:nvSpPr>
          <p:spPr>
            <a:xfrm>
              <a:off x="2485250" y="305675"/>
              <a:ext cx="6283500" cy="2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Avoid silence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If everyone is silent, it means they don’t know what’s going on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9" name="Google Shape;989;g3c4bfe4d5af_0_43"/>
          <p:cNvGrpSpPr/>
          <p:nvPr/>
        </p:nvGrpSpPr>
        <p:grpSpPr>
          <a:xfrm>
            <a:off x="2414450" y="3844300"/>
            <a:ext cx="6455100" cy="616567"/>
            <a:chOff x="2414450" y="305680"/>
            <a:chExt cx="6455100" cy="311445"/>
          </a:xfrm>
        </p:grpSpPr>
        <p:sp>
          <p:nvSpPr>
            <p:cNvPr id="990" name="Google Shape;990;g3c4bfe4d5af_0_43"/>
            <p:cNvSpPr/>
            <p:nvPr/>
          </p:nvSpPr>
          <p:spPr>
            <a:xfrm>
              <a:off x="2414450" y="305725"/>
              <a:ext cx="6455100" cy="3114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g3c4bfe4d5af_0_43"/>
            <p:cNvSpPr/>
            <p:nvPr/>
          </p:nvSpPr>
          <p:spPr>
            <a:xfrm>
              <a:off x="2485250" y="305680"/>
              <a:ext cx="6283500" cy="31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Interact with data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Come up with a strategy WITH your DO beforehand on how to look at the screen, lead video replay, and add bonuses. They are your teammate, NOT your assistant. Not aligning beforehand can have a huge impact on the review.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2" name="Google Shape;992;g3c4bfe4d5af_0_43"/>
          <p:cNvGrpSpPr/>
          <p:nvPr/>
        </p:nvGrpSpPr>
        <p:grpSpPr>
          <a:xfrm>
            <a:off x="2414450" y="4526925"/>
            <a:ext cx="6455100" cy="505435"/>
            <a:chOff x="2414450" y="305686"/>
            <a:chExt cx="6455100" cy="311439"/>
          </a:xfrm>
        </p:grpSpPr>
        <p:sp>
          <p:nvSpPr>
            <p:cNvPr id="993" name="Google Shape;993;g3c4bfe4d5af_0_43"/>
            <p:cNvSpPr/>
            <p:nvPr/>
          </p:nvSpPr>
          <p:spPr>
            <a:xfrm>
              <a:off x="2414450" y="305725"/>
              <a:ext cx="6455100" cy="311400"/>
            </a:xfrm>
            <a:prstGeom prst="rect">
              <a:avLst/>
            </a:prstGeom>
            <a:solidFill>
              <a:srgbClr val="F4F8FC"/>
            </a:solidFill>
            <a:ln cap="flat" cmpd="sng" w="12700">
              <a:solidFill>
                <a:srgbClr val="E8F4F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8100000" dist="25400">
                <a:srgbClr val="000000">
                  <a:alpha val="121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g3c4bfe4d5af_0_43"/>
            <p:cNvSpPr/>
            <p:nvPr/>
          </p:nvSpPr>
          <p:spPr>
            <a:xfrm>
              <a:off x="2508825" y="305686"/>
              <a:ext cx="6260100" cy="31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300"/>
                <a:buFont typeface="Calibri"/>
                <a:buNone/>
              </a:pP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Be kind, but firm</a:t>
              </a:r>
              <a:r>
                <a:rPr b="1"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r>
                <a:rPr lang="en-US" sz="1300">
                  <a:solidFill>
                    <a:srgbClr val="0D1B2A"/>
                  </a:solidFill>
                  <a:latin typeface="Calibri"/>
                  <a:ea typeface="Calibri"/>
                  <a:cs typeface="Calibri"/>
                  <a:sym typeface="Calibri"/>
                </a:rPr>
                <a:t>If someone if citing fake rules, calmly state that’s not the rule and move on. You do not need to convince them of the rules for their ego</a:t>
              </a:r>
              <a:endParaRPr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>
            <a:alpha val="30199"/>
          </a:srgbClr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ca32782429_0_72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g3ca32782429_0_724"/>
          <p:cNvSpPr/>
          <p:nvPr/>
        </p:nvSpPr>
        <p:spPr>
          <a:xfrm>
            <a:off x="5943600" y="457200"/>
            <a:ext cx="4114800" cy="3657600"/>
          </a:xfrm>
          <a:prstGeom prst="ellipse">
            <a:avLst/>
          </a:prstGeom>
          <a:solidFill>
            <a:srgbClr val="1A3A5C">
              <a:alpha val="30199"/>
            </a:srgbClr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g3ca32782429_0_724"/>
          <p:cNvSpPr/>
          <p:nvPr/>
        </p:nvSpPr>
        <p:spPr>
          <a:xfrm>
            <a:off x="6400800" y="822960"/>
            <a:ext cx="3200400" cy="2743200"/>
          </a:xfrm>
          <a:prstGeom prst="ellipse">
            <a:avLst/>
          </a:prstGeom>
          <a:solidFill>
            <a:srgbClr val="1A3A5C">
              <a:alpha val="20000"/>
            </a:srgbClr>
          </a:solidFill>
          <a:ln cap="flat" cmpd="sng" w="12700">
            <a:solidFill>
              <a:srgbClr val="7BA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g3ca32782429_0_724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g3ca32782429_0_724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g3ca32782429_0_724"/>
          <p:cNvSpPr/>
          <p:nvPr/>
        </p:nvSpPr>
        <p:spPr>
          <a:xfrm>
            <a:off x="457200" y="1818850"/>
            <a:ext cx="5943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Falls</a:t>
            </a:r>
            <a:endParaRPr b="0" i="0" sz="42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g3ca32782429_0_724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5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5"/>
          <p:cNvSpPr/>
          <p:nvPr/>
        </p:nvSpPr>
        <p:spPr>
          <a:xfrm>
            <a:off x="182880" y="4572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5"/>
          <p:cNvSpPr/>
          <p:nvPr/>
        </p:nvSpPr>
        <p:spPr>
          <a:xfrm>
            <a:off x="182880" y="1828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[TPH-S §CALL.FALL]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[TPH-S §CALL.FALL.DEF]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5"/>
          <p:cNvSpPr/>
          <p:nvPr/>
        </p:nvSpPr>
        <p:spPr>
          <a:xfrm>
            <a:off x="3017520" y="18288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The Definition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5"/>
          <p:cNvSpPr/>
          <p:nvPr/>
        </p:nvSpPr>
        <p:spPr>
          <a:xfrm>
            <a:off x="3017520" y="640080"/>
            <a:ext cx="5852160" cy="9144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D6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5"/>
          <p:cNvSpPr/>
          <p:nvPr/>
        </p:nvSpPr>
        <p:spPr>
          <a:xfrm>
            <a:off x="3200400" y="6400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"A loss of control by a Skater with the res</a:t>
            </a:r>
            <a:r>
              <a:rPr i="1" lang="en-US" sz="13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ult that the m</a:t>
            </a:r>
            <a:r>
              <a:rPr b="0" i="1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ajority of his/her body weight is on </a:t>
            </a:r>
            <a:r>
              <a:rPr i="1" lang="en-US" sz="1300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0" i="1" lang="en-US" sz="13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 ice, supported by anything other than the blade"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5"/>
          <p:cNvSpPr/>
          <p:nvPr/>
        </p:nvSpPr>
        <p:spPr>
          <a:xfrm>
            <a:off x="3017520" y="169164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Two Call Types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"/>
          <p:cNvSpPr/>
          <p:nvPr/>
        </p:nvSpPr>
        <p:spPr>
          <a:xfrm>
            <a:off x="3017520" y="2194560"/>
            <a:ext cx="5852160" cy="118872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5"/>
          <p:cNvSpPr/>
          <p:nvPr/>
        </p:nvSpPr>
        <p:spPr>
          <a:xfrm>
            <a:off x="3017520" y="2194560"/>
            <a:ext cx="109728" cy="118872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5"/>
          <p:cNvSpPr/>
          <p:nvPr/>
        </p:nvSpPr>
        <p:spPr>
          <a:xfrm>
            <a:off x="3246120" y="2249424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 IN Element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"/>
          <p:cNvSpPr/>
          <p:nvPr/>
        </p:nvSpPr>
        <p:spPr>
          <a:xfrm>
            <a:off x="3246120" y="2615184"/>
            <a:ext cx="53949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Skater falls during the element itself.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→ TP calls: "Fall"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→ GOE reduced by judges; skate continues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"/>
          <p:cNvSpPr/>
          <p:nvPr/>
        </p:nvSpPr>
        <p:spPr>
          <a:xfrm>
            <a:off x="3017520" y="3566160"/>
            <a:ext cx="5852160" cy="118872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5"/>
          <p:cNvSpPr/>
          <p:nvPr/>
        </p:nvSpPr>
        <p:spPr>
          <a:xfrm>
            <a:off x="3017520" y="3566160"/>
            <a:ext cx="109728" cy="1188720"/>
          </a:xfrm>
          <a:prstGeom prst="rect">
            <a:avLst/>
          </a:prstGeom>
          <a:solidFill>
            <a:srgbClr val="8B5E3C"/>
          </a:solidFill>
          <a:ln cap="flat" cmpd="sng" w="12700">
            <a:solidFill>
              <a:srgbClr val="8B5E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5"/>
          <p:cNvSpPr/>
          <p:nvPr/>
        </p:nvSpPr>
        <p:spPr>
          <a:xfrm>
            <a:off x="3246120" y="3621024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 OUTSIDE Element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5"/>
          <p:cNvSpPr/>
          <p:nvPr/>
        </p:nvSpPr>
        <p:spPr>
          <a:xfrm>
            <a:off x="3246120" y="3986784"/>
            <a:ext cx="53949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Skater falls outside any identified element.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→ TP calls: "Fall outside"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→ No direct level impact; GOE is judges' decision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ca32782429_0_98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g3ca32782429_0_989"/>
          <p:cNvSpPr/>
          <p:nvPr/>
        </p:nvSpPr>
        <p:spPr>
          <a:xfrm>
            <a:off x="365760" y="109728"/>
            <a:ext cx="67665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Falls — Is It a Fall?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g3ca32782429_0_989"/>
          <p:cNvSpPr/>
          <p:nvPr/>
        </p:nvSpPr>
        <p:spPr>
          <a:xfrm>
            <a:off x="6995160" y="109728"/>
            <a:ext cx="1828800" cy="4389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g3ca32782429_0_989"/>
          <p:cNvSpPr/>
          <p:nvPr/>
        </p:nvSpPr>
        <p:spPr>
          <a:xfrm>
            <a:off x="6995160" y="109728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Always called when seen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g3ca32782429_0_989"/>
          <p:cNvSpPr/>
          <p:nvPr/>
        </p:nvSpPr>
        <p:spPr>
          <a:xfrm>
            <a:off x="320040" y="640080"/>
            <a:ext cx="8503800" cy="420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g3ca32782429_0_989"/>
          <p:cNvSpPr/>
          <p:nvPr/>
        </p:nvSpPr>
        <p:spPr>
          <a:xfrm>
            <a:off x="502920" y="640080"/>
            <a:ext cx="1005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Definition: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g3ca32782429_0_989"/>
          <p:cNvSpPr/>
          <p:nvPr/>
        </p:nvSpPr>
        <p:spPr>
          <a:xfrm>
            <a:off x="1417320" y="640080"/>
            <a:ext cx="7315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"Loss of control with the result that the majority of body weight is on the ice supported by any part of the body other than the blades."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g3ca32782429_0_989"/>
          <p:cNvSpPr/>
          <p:nvPr/>
        </p:nvSpPr>
        <p:spPr>
          <a:xfrm>
            <a:off x="960120" y="1170432"/>
            <a:ext cx="1737342" cy="420606"/>
          </a:xfrm>
          <a:prstGeom prst="flowChartTerminator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g3ca32782429_0_989"/>
          <p:cNvSpPr/>
          <p:nvPr/>
        </p:nvSpPr>
        <p:spPr>
          <a:xfrm>
            <a:off x="960120" y="1170432"/>
            <a:ext cx="1737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g3ca32782429_0_989"/>
          <p:cNvSpPr/>
          <p:nvPr/>
        </p:nvSpPr>
        <p:spPr>
          <a:xfrm>
            <a:off x="1709928" y="1591056"/>
            <a:ext cx="237600" cy="274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g3ca32782429_0_989"/>
          <p:cNvSpPr/>
          <p:nvPr/>
        </p:nvSpPr>
        <p:spPr>
          <a:xfrm>
            <a:off x="320040" y="1865376"/>
            <a:ext cx="3017520" cy="786384"/>
          </a:xfrm>
          <a:prstGeom prst="flowChartDecision">
            <a:avLst/>
          </a:prstGeom>
          <a:solidFill>
            <a:srgbClr val="E8F4FD"/>
          </a:solidFill>
          <a:ln cap="flat" cmpd="sng" w="1905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g3ca32782429_0_989"/>
          <p:cNvSpPr/>
          <p:nvPr/>
        </p:nvSpPr>
        <p:spPr>
          <a:xfrm>
            <a:off x="320040" y="1865376"/>
            <a:ext cx="3017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Q1: Majority of body weight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off the blades?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g3ca32782429_0_989"/>
          <p:cNvSpPr/>
          <p:nvPr/>
        </p:nvSpPr>
        <p:spPr>
          <a:xfrm>
            <a:off x="3337560" y="2139696"/>
            <a:ext cx="502800" cy="23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9A9A"/>
          </a:solidFill>
          <a:ln cap="flat" cmpd="sng" w="12700">
            <a:solidFill>
              <a:srgbClr val="9A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g3ca32782429_0_989"/>
          <p:cNvSpPr/>
          <p:nvPr/>
        </p:nvSpPr>
        <p:spPr>
          <a:xfrm>
            <a:off x="3360355" y="1984169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g3ca32782429_0_989"/>
          <p:cNvSpPr/>
          <p:nvPr/>
        </p:nvSpPr>
        <p:spPr>
          <a:xfrm>
            <a:off x="3840476" y="2011675"/>
            <a:ext cx="1506114" cy="475470"/>
          </a:xfrm>
          <a:prstGeom prst="flowChartTerminator">
            <a:avLst/>
          </a:prstGeom>
          <a:solidFill>
            <a:srgbClr val="E8E8E8"/>
          </a:solidFill>
          <a:ln cap="flat" cmpd="sng" w="12700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3ca32782429_0_989"/>
          <p:cNvSpPr/>
          <p:nvPr/>
        </p:nvSpPr>
        <p:spPr>
          <a:xfrm>
            <a:off x="3840476" y="2011675"/>
            <a:ext cx="150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NOT A FALL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g3ca32782429_0_989"/>
          <p:cNvSpPr/>
          <p:nvPr/>
        </p:nvSpPr>
        <p:spPr>
          <a:xfrm>
            <a:off x="3855576" y="2249550"/>
            <a:ext cx="1506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09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rPr>
              <a:t>Stays on blades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g3ca32782429_0_989"/>
          <p:cNvSpPr/>
          <p:nvPr/>
        </p:nvSpPr>
        <p:spPr>
          <a:xfrm>
            <a:off x="1901952" y="2633472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4A6FA5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g3ca32782429_0_989"/>
          <p:cNvSpPr/>
          <p:nvPr/>
        </p:nvSpPr>
        <p:spPr>
          <a:xfrm>
            <a:off x="1709928" y="2651760"/>
            <a:ext cx="237600" cy="274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3ca32782429_0_989"/>
          <p:cNvSpPr/>
          <p:nvPr/>
        </p:nvSpPr>
        <p:spPr>
          <a:xfrm>
            <a:off x="320040" y="2926080"/>
            <a:ext cx="3017520" cy="786384"/>
          </a:xfrm>
          <a:prstGeom prst="flowChartDecision">
            <a:avLst/>
          </a:prstGeom>
          <a:solidFill>
            <a:srgbClr val="E8F4FD"/>
          </a:solidFill>
          <a:ln cap="flat" cmpd="sng" w="1905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g3ca32782429_0_989"/>
          <p:cNvSpPr/>
          <p:nvPr/>
        </p:nvSpPr>
        <p:spPr>
          <a:xfrm>
            <a:off x="320040" y="2926080"/>
            <a:ext cx="3017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Q2: Did the skater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lose control?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g3ca32782429_0_989"/>
          <p:cNvSpPr/>
          <p:nvPr/>
        </p:nvSpPr>
        <p:spPr>
          <a:xfrm>
            <a:off x="3337560" y="3200400"/>
            <a:ext cx="502800" cy="237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A9A9A"/>
          </a:solidFill>
          <a:ln cap="flat" cmpd="sng" w="12700">
            <a:solidFill>
              <a:srgbClr val="9A9A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g3ca32782429_0_989"/>
          <p:cNvSpPr/>
          <p:nvPr/>
        </p:nvSpPr>
        <p:spPr>
          <a:xfrm>
            <a:off x="3360355" y="3063160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g3ca32782429_0_989"/>
          <p:cNvSpPr/>
          <p:nvPr/>
        </p:nvSpPr>
        <p:spPr>
          <a:xfrm>
            <a:off x="3840476" y="3072375"/>
            <a:ext cx="1506114" cy="475470"/>
          </a:xfrm>
          <a:prstGeom prst="flowChartTerminator">
            <a:avLst/>
          </a:prstGeom>
          <a:solidFill>
            <a:srgbClr val="E8E8E8"/>
          </a:solidFill>
          <a:ln cap="flat" cmpd="sng" w="12700">
            <a:solidFill>
              <a:srgbClr val="B0B0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g3ca32782429_0_989"/>
          <p:cNvSpPr/>
          <p:nvPr/>
        </p:nvSpPr>
        <p:spPr>
          <a:xfrm>
            <a:off x="3840476" y="3072375"/>
            <a:ext cx="150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07070"/>
                </a:solidFill>
                <a:latin typeface="Calibri"/>
                <a:ea typeface="Calibri"/>
                <a:cs typeface="Calibri"/>
                <a:sym typeface="Calibri"/>
              </a:rPr>
              <a:t>NOT A FALL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g3ca32782429_0_989"/>
          <p:cNvSpPr/>
          <p:nvPr/>
        </p:nvSpPr>
        <p:spPr>
          <a:xfrm>
            <a:off x="3816175" y="3328275"/>
            <a:ext cx="1554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909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rPr>
              <a:t>Controlled knee slide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g3ca32782429_0_989"/>
          <p:cNvSpPr/>
          <p:nvPr/>
        </p:nvSpPr>
        <p:spPr>
          <a:xfrm>
            <a:off x="1901952" y="3694176"/>
            <a:ext cx="45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g3ca32782429_0_989"/>
          <p:cNvSpPr/>
          <p:nvPr/>
        </p:nvSpPr>
        <p:spPr>
          <a:xfrm>
            <a:off x="1709928" y="3712464"/>
            <a:ext cx="237600" cy="274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g3ca32782429_0_989"/>
          <p:cNvSpPr/>
          <p:nvPr/>
        </p:nvSpPr>
        <p:spPr>
          <a:xfrm>
            <a:off x="731520" y="3986784"/>
            <a:ext cx="2194560" cy="475470"/>
          </a:xfrm>
          <a:prstGeom prst="flowChartTerminator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g3ca32782429_0_989"/>
          <p:cNvSpPr/>
          <p:nvPr/>
        </p:nvSpPr>
        <p:spPr>
          <a:xfrm>
            <a:off x="731520" y="3986784"/>
            <a:ext cx="2194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 — Call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g3ca32782429_0_989"/>
          <p:cNvSpPr/>
          <p:nvPr/>
        </p:nvSpPr>
        <p:spPr>
          <a:xfrm>
            <a:off x="5394960" y="1170432"/>
            <a:ext cx="3429000" cy="36027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g3ca32782429_0_989"/>
          <p:cNvSpPr/>
          <p:nvPr/>
        </p:nvSpPr>
        <p:spPr>
          <a:xfrm>
            <a:off x="5394960" y="1170432"/>
            <a:ext cx="3429000" cy="3657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g3ca32782429_0_989"/>
          <p:cNvSpPr/>
          <p:nvPr/>
        </p:nvSpPr>
        <p:spPr>
          <a:xfrm>
            <a:off x="5394960" y="1170432"/>
            <a:ext cx="342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REAL-TIME CALLING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g3ca32782429_0_989"/>
          <p:cNvSpPr/>
          <p:nvPr/>
        </p:nvSpPr>
        <p:spPr>
          <a:xfrm>
            <a:off x="5504688" y="1627632"/>
            <a:ext cx="3200400" cy="69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g3ca32782429_0_989"/>
          <p:cNvSpPr/>
          <p:nvPr/>
        </p:nvSpPr>
        <p:spPr>
          <a:xfrm>
            <a:off x="5504688" y="1627632"/>
            <a:ext cx="73200" cy="6948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g3ca32782429_0_989"/>
          <p:cNvSpPr/>
          <p:nvPr/>
        </p:nvSpPr>
        <p:spPr>
          <a:xfrm>
            <a:off x="5650992" y="1664296"/>
            <a:ext cx="297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Say "Fall"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g3ca32782429_0_989"/>
          <p:cNvSpPr/>
          <p:nvPr/>
        </p:nvSpPr>
        <p:spPr>
          <a:xfrm>
            <a:off x="5651000" y="1865327"/>
            <a:ext cx="2971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Fall occurs during or within an element. </a:t>
            </a:r>
            <a:b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State it loudly and clearly for TC and DO who may be looking at notes.</a:t>
            </a:r>
            <a:endParaRPr b="0" i="1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g3ca32782429_0_989"/>
          <p:cNvSpPr/>
          <p:nvPr/>
        </p:nvSpPr>
        <p:spPr>
          <a:xfrm>
            <a:off x="5504688" y="2404872"/>
            <a:ext cx="3200400" cy="69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g3ca32782429_0_989"/>
          <p:cNvSpPr/>
          <p:nvPr/>
        </p:nvSpPr>
        <p:spPr>
          <a:xfrm>
            <a:off x="5504688" y="2404872"/>
            <a:ext cx="73200" cy="6948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ca32782429_0_989"/>
          <p:cNvSpPr/>
          <p:nvPr/>
        </p:nvSpPr>
        <p:spPr>
          <a:xfrm>
            <a:off x="5650992" y="2459736"/>
            <a:ext cx="297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Say "Fall outside"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g3ca32782429_0_989"/>
          <p:cNvSpPr/>
          <p:nvPr/>
        </p:nvSpPr>
        <p:spPr>
          <a:xfrm>
            <a:off x="5650992" y="2734056"/>
            <a:ext cx="297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Fall occurs between elements. Same deduction — different placement on the protocol.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g3ca32782429_0_989"/>
          <p:cNvSpPr/>
          <p:nvPr/>
        </p:nvSpPr>
        <p:spPr>
          <a:xfrm>
            <a:off x="5504688" y="3182112"/>
            <a:ext cx="3200400" cy="69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g3ca32782429_0_989"/>
          <p:cNvSpPr/>
          <p:nvPr/>
        </p:nvSpPr>
        <p:spPr>
          <a:xfrm>
            <a:off x="5504688" y="3182112"/>
            <a:ext cx="73200" cy="6948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g3ca32782429_0_989"/>
          <p:cNvSpPr/>
          <p:nvPr/>
        </p:nvSpPr>
        <p:spPr>
          <a:xfrm>
            <a:off x="5650992" y="3236976"/>
            <a:ext cx="297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Say "Review for fall"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g3ca32782429_0_989"/>
          <p:cNvSpPr/>
          <p:nvPr/>
        </p:nvSpPr>
        <p:spPr>
          <a:xfrm>
            <a:off x="5650992" y="3511296"/>
            <a:ext cx="297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During the program so DO and TC know to cue real speed. Not slow motion — ever.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g3ca32782429_0_989"/>
          <p:cNvSpPr/>
          <p:nvPr/>
        </p:nvSpPr>
        <p:spPr>
          <a:xfrm>
            <a:off x="5504688" y="3959352"/>
            <a:ext cx="3200400" cy="694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g3ca32782429_0_989"/>
          <p:cNvSpPr/>
          <p:nvPr/>
        </p:nvSpPr>
        <p:spPr>
          <a:xfrm>
            <a:off x="5504688" y="3959352"/>
            <a:ext cx="73200" cy="6948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g3ca32782429_0_989"/>
          <p:cNvSpPr/>
          <p:nvPr/>
        </p:nvSpPr>
        <p:spPr>
          <a:xfrm>
            <a:off x="5650992" y="3954754"/>
            <a:ext cx="297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Review in r</a:t>
            </a: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eal speed only — </a:t>
            </a:r>
            <a:r>
              <a:rPr b="1" i="0" lang="en-US" sz="1150" u="sng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always</a:t>
            </a:r>
            <a:endParaRPr b="0" i="0" sz="115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g3ca32782429_0_989"/>
          <p:cNvSpPr/>
          <p:nvPr/>
        </p:nvSpPr>
        <p:spPr>
          <a:xfrm>
            <a:off x="5651000" y="4178722"/>
            <a:ext cx="2971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Fall reviews must be in real speed. This is a rule, not a preference. If slow motion is cued, redirect immediately.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g3ca32782429_0_989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ca32782429_0_989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Falls Framework — Phase 1  |  Both criteria must be met. When in doubt, call it and review.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ca32782429_0_104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g3ca32782429_0_1044"/>
          <p:cNvSpPr/>
          <p:nvPr/>
        </p:nvSpPr>
        <p:spPr>
          <a:xfrm>
            <a:off x="365760" y="109728"/>
            <a:ext cx="8412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Falls — Element Intersections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g3ca32782429_0_1044"/>
          <p:cNvSpPr/>
          <p:nvPr/>
        </p:nvSpPr>
        <p:spPr>
          <a:xfrm>
            <a:off x="365760" y="502920"/>
            <a:ext cx="841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What gets called depends on which element the fall occurs in or around.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g3ca32782429_0_1044"/>
          <p:cNvSpPr/>
          <p:nvPr/>
        </p:nvSpPr>
        <p:spPr>
          <a:xfrm>
            <a:off x="228600" y="768096"/>
            <a:ext cx="2121300" cy="329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g3ca32782429_0_1044"/>
          <p:cNvSpPr/>
          <p:nvPr/>
        </p:nvSpPr>
        <p:spPr>
          <a:xfrm>
            <a:off x="228600" y="768096"/>
            <a:ext cx="212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g3ca32782429_0_1044"/>
          <p:cNvSpPr/>
          <p:nvPr/>
        </p:nvSpPr>
        <p:spPr>
          <a:xfrm>
            <a:off x="2414016" y="768096"/>
            <a:ext cx="2121300" cy="3291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g3ca32782429_0_1044"/>
          <p:cNvSpPr/>
          <p:nvPr/>
        </p:nvSpPr>
        <p:spPr>
          <a:xfrm>
            <a:off x="2414016" y="768096"/>
            <a:ext cx="212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JUMPS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g3ca32782429_0_1044"/>
          <p:cNvSpPr/>
          <p:nvPr/>
        </p:nvSpPr>
        <p:spPr>
          <a:xfrm>
            <a:off x="4599432" y="768096"/>
            <a:ext cx="2121300" cy="3291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g3ca32782429_0_1044"/>
          <p:cNvSpPr/>
          <p:nvPr/>
        </p:nvSpPr>
        <p:spPr>
          <a:xfrm>
            <a:off x="4599432" y="768096"/>
            <a:ext cx="212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SEQUENCES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g3ca32782429_0_1044"/>
          <p:cNvSpPr/>
          <p:nvPr/>
        </p:nvSpPr>
        <p:spPr>
          <a:xfrm>
            <a:off x="6784848" y="768096"/>
            <a:ext cx="2121300" cy="329100"/>
          </a:xfrm>
          <a:prstGeom prst="rect">
            <a:avLst/>
          </a:prstGeom>
          <a:solidFill>
            <a:srgbClr val="7A5230"/>
          </a:solidFill>
          <a:ln cap="flat" cmpd="sng" w="12700">
            <a:solidFill>
              <a:srgbClr val="7A5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g3ca32782429_0_1044"/>
          <p:cNvSpPr/>
          <p:nvPr/>
        </p:nvSpPr>
        <p:spPr>
          <a:xfrm>
            <a:off x="6784848" y="768096"/>
            <a:ext cx="212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CHOREO SEQUENCE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g3ca32782429_0_1044"/>
          <p:cNvSpPr/>
          <p:nvPr/>
        </p:nvSpPr>
        <p:spPr>
          <a:xfrm>
            <a:off x="228600" y="1170424"/>
            <a:ext cx="2121300" cy="95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g3ca32782429_0_1044"/>
          <p:cNvSpPr/>
          <p:nvPr/>
        </p:nvSpPr>
        <p:spPr>
          <a:xfrm>
            <a:off x="228600" y="1170425"/>
            <a:ext cx="63900" cy="9504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g3ca32782429_0_1044"/>
          <p:cNvSpPr/>
          <p:nvPr/>
        </p:nvSpPr>
        <p:spPr>
          <a:xfrm>
            <a:off x="356616" y="1243584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Before position (&lt; 2 revs)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g3ca32782429_0_1044"/>
          <p:cNvSpPr/>
          <p:nvPr/>
        </p:nvSpPr>
        <p:spPr>
          <a:xfrm>
            <a:off x="356591" y="1572735"/>
            <a:ext cx="1920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Fall before 2 continuous revs in any position → Sp (no value).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Flying entry + fall before position → FSp (no value).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g3ca32782429_0_1044"/>
          <p:cNvSpPr/>
          <p:nvPr/>
        </p:nvSpPr>
        <p:spPr>
          <a:xfrm>
            <a:off x="228625" y="2199124"/>
            <a:ext cx="2121300" cy="11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g3ca32782429_0_1044"/>
          <p:cNvSpPr/>
          <p:nvPr/>
        </p:nvSpPr>
        <p:spPr>
          <a:xfrm>
            <a:off x="228600" y="2204712"/>
            <a:ext cx="63900" cy="1098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g3ca32782429_0_1044"/>
          <p:cNvSpPr/>
          <p:nvPr/>
        </p:nvSpPr>
        <p:spPr>
          <a:xfrm>
            <a:off x="356591" y="2235706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What gets called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g3ca32782429_0_1044"/>
          <p:cNvSpPr/>
          <p:nvPr/>
        </p:nvSpPr>
        <p:spPr>
          <a:xfrm>
            <a:off x="356600" y="2564822"/>
            <a:ext cx="1920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Spin is called from what was achieved before the fall only. Post-fall movement and intent are ignored.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g3ca32782429_0_1044"/>
          <p:cNvSpPr/>
          <p:nvPr/>
        </p:nvSpPr>
        <p:spPr>
          <a:xfrm>
            <a:off x="228600" y="3387491"/>
            <a:ext cx="2121300" cy="1349100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E0C87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g3ca32782429_0_1044"/>
          <p:cNvSpPr/>
          <p:nvPr/>
        </p:nvSpPr>
        <p:spPr>
          <a:xfrm>
            <a:off x="228600" y="3387554"/>
            <a:ext cx="63900" cy="13491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g3ca32782429_0_1044"/>
          <p:cNvSpPr/>
          <p:nvPr/>
        </p:nvSpPr>
        <p:spPr>
          <a:xfrm>
            <a:off x="356591" y="3465467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0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6000"/>
                </a:solidFill>
                <a:latin typeface="Calibri"/>
                <a:ea typeface="Calibri"/>
                <a:cs typeface="Calibri"/>
                <a:sym typeface="Calibri"/>
              </a:rPr>
              <a:t>★  Practical — Difficult exits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g3ca32782429_0_1044"/>
          <p:cNvSpPr/>
          <p:nvPr/>
        </p:nvSpPr>
        <p:spPr>
          <a:xfrm>
            <a:off x="393104" y="3858643"/>
            <a:ext cx="19203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00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A5000"/>
                </a:solidFill>
                <a:latin typeface="Calibri"/>
                <a:ea typeface="Calibri"/>
                <a:cs typeface="Calibri"/>
                <a:sym typeface="Calibri"/>
              </a:rPr>
              <a:t>Skaters often fall during a knee slide exit. The panel must determine if the exit meets the definition of a difficult exit. If it does, the fall is within the element</a:t>
            </a:r>
            <a:r>
              <a:rPr lang="en-US" sz="950">
                <a:solidFill>
                  <a:srgbClr val="6A5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950" u="none" cap="none" strike="noStrike">
                <a:solidFill>
                  <a:srgbClr val="6A5000"/>
                </a:solidFill>
                <a:latin typeface="Calibri"/>
                <a:ea typeface="Calibri"/>
                <a:cs typeface="Calibri"/>
                <a:sym typeface="Calibri"/>
              </a:rPr>
              <a:t>F tag applies, &amp; skater can achieve</a:t>
            </a:r>
            <a:r>
              <a:rPr lang="en-US" sz="950">
                <a:solidFill>
                  <a:srgbClr val="6A5000"/>
                </a:solidFill>
                <a:latin typeface="Calibri"/>
                <a:ea typeface="Calibri"/>
                <a:cs typeface="Calibri"/>
                <a:sym typeface="Calibri"/>
              </a:rPr>
              <a:t> the feature.</a:t>
            </a:r>
            <a:r>
              <a:rPr b="0" i="0" lang="en-US" sz="950" u="none" cap="none" strike="noStrike">
                <a:solidFill>
                  <a:srgbClr val="6A5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g3ca32782429_0_1044"/>
          <p:cNvSpPr/>
          <p:nvPr/>
        </p:nvSpPr>
        <p:spPr>
          <a:xfrm>
            <a:off x="2414016" y="1170432"/>
            <a:ext cx="2121300" cy="115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g3ca32782429_0_1044"/>
          <p:cNvSpPr/>
          <p:nvPr/>
        </p:nvSpPr>
        <p:spPr>
          <a:xfrm>
            <a:off x="2414016" y="1170432"/>
            <a:ext cx="63900" cy="11520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g3ca32782429_0_1044"/>
          <p:cNvSpPr/>
          <p:nvPr/>
        </p:nvSpPr>
        <p:spPr>
          <a:xfrm>
            <a:off x="2542032" y="1243584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During the jumping pass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g3ca32782429_0_1044"/>
          <p:cNvSpPr/>
          <p:nvPr/>
        </p:nvSpPr>
        <p:spPr>
          <a:xfrm>
            <a:off x="2542032" y="1508760"/>
            <a:ext cx="1920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Tech panel stops assessing at the fall. The rotation call is not affected by the fall itself. We still call what happens after a fall</a:t>
            </a: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 (see below)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g3ca32782429_0_1044"/>
          <p:cNvSpPr/>
          <p:nvPr/>
        </p:nvSpPr>
        <p:spPr>
          <a:xfrm>
            <a:off x="2414016" y="2377440"/>
            <a:ext cx="2121300" cy="115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g3ca32782429_0_1044"/>
          <p:cNvSpPr/>
          <p:nvPr/>
        </p:nvSpPr>
        <p:spPr>
          <a:xfrm>
            <a:off x="2414016" y="2377440"/>
            <a:ext cx="63900" cy="11520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g3ca32782429_0_1044"/>
          <p:cNvSpPr/>
          <p:nvPr/>
        </p:nvSpPr>
        <p:spPr>
          <a:xfrm>
            <a:off x="2542032" y="2450592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Jumps attempted after fall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g3ca32782429_0_1044"/>
          <p:cNvSpPr/>
          <p:nvPr/>
        </p:nvSpPr>
        <p:spPr>
          <a:xfrm>
            <a:off x="2542032" y="2715768"/>
            <a:ext cx="1920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Called — no base value, shown as attempted.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3F+COMBO+1T*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3F+SEQ+1A* (Axel-type)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g3ca32782429_0_1044"/>
          <p:cNvSpPr/>
          <p:nvPr/>
        </p:nvSpPr>
        <p:spPr>
          <a:xfrm>
            <a:off x="2414016" y="3584448"/>
            <a:ext cx="2121300" cy="115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g3ca32782429_0_1044"/>
          <p:cNvSpPr/>
          <p:nvPr/>
        </p:nvSpPr>
        <p:spPr>
          <a:xfrm>
            <a:off x="2414016" y="3584448"/>
            <a:ext cx="63900" cy="11520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g3ca32782429_0_1044"/>
          <p:cNvSpPr/>
          <p:nvPr/>
        </p:nvSpPr>
        <p:spPr>
          <a:xfrm>
            <a:off x="2542032" y="3657600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Falls on post-fall jumps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g3ca32782429_0_1044"/>
          <p:cNvSpPr/>
          <p:nvPr/>
        </p:nvSpPr>
        <p:spPr>
          <a:xfrm>
            <a:off x="2542032" y="3922776"/>
            <a:ext cx="1920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 fall on a zero-value jump still earns a full fall deduction. A fall is a fall regardless </a:t>
            </a: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if the element value or not</a:t>
            </a: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g3ca32782429_0_1044"/>
          <p:cNvSpPr/>
          <p:nvPr/>
        </p:nvSpPr>
        <p:spPr>
          <a:xfrm>
            <a:off x="4599432" y="1170432"/>
            <a:ext cx="2121300" cy="115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g3ca32782429_0_1044"/>
          <p:cNvSpPr/>
          <p:nvPr/>
        </p:nvSpPr>
        <p:spPr>
          <a:xfrm>
            <a:off x="4599432" y="1170432"/>
            <a:ext cx="63900" cy="11520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g3ca32782429_0_1044"/>
          <p:cNvSpPr/>
          <p:nvPr/>
        </p:nvSpPr>
        <p:spPr>
          <a:xfrm>
            <a:off x="4727448" y="1243584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Sequence does NOT 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g3ca32782429_0_1044"/>
          <p:cNvSpPr/>
          <p:nvPr/>
        </p:nvSpPr>
        <p:spPr>
          <a:xfrm>
            <a:off x="4727448" y="1508760"/>
            <a:ext cx="1920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The tech panel keeps evaluating features until the step sequence naturally concludes — fall or no fall.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g3ca32782429_0_1044"/>
          <p:cNvSpPr/>
          <p:nvPr/>
        </p:nvSpPr>
        <p:spPr>
          <a:xfrm>
            <a:off x="4599432" y="2377440"/>
            <a:ext cx="2121300" cy="115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g3ca32782429_0_1044"/>
          <p:cNvSpPr/>
          <p:nvPr/>
        </p:nvSpPr>
        <p:spPr>
          <a:xfrm>
            <a:off x="4599432" y="2377440"/>
            <a:ext cx="63900" cy="11520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g3ca32782429_0_1044"/>
          <p:cNvSpPr/>
          <p:nvPr/>
        </p:nvSpPr>
        <p:spPr>
          <a:xfrm>
            <a:off x="4727448" y="2450592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Most common impact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g3ca32782429_0_1044"/>
          <p:cNvSpPr/>
          <p:nvPr/>
        </p:nvSpPr>
        <p:spPr>
          <a:xfrm>
            <a:off x="4727448" y="2715768"/>
            <a:ext cx="1920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Fall + skater stops traveling the pattern → Distribution not met [TPH-S §STEPS.CL.DISTRIB] → maximum level: Base.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g3ca32782429_0_1044"/>
          <p:cNvSpPr/>
          <p:nvPr/>
        </p:nvSpPr>
        <p:spPr>
          <a:xfrm>
            <a:off x="4599432" y="3584448"/>
            <a:ext cx="2121300" cy="115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g3ca32782429_0_1044"/>
          <p:cNvSpPr/>
          <p:nvPr/>
        </p:nvSpPr>
        <p:spPr>
          <a:xfrm>
            <a:off x="4599432" y="3584448"/>
            <a:ext cx="63900" cy="1152000"/>
          </a:xfrm>
          <a:prstGeom prst="rect">
            <a:avLst/>
          </a:prstGeom>
          <a:solidFill>
            <a:srgbClr val="5C3D7A"/>
          </a:solidFill>
          <a:ln cap="flat" cmpd="sng" w="12700">
            <a:solidFill>
              <a:srgbClr val="5C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g3ca32782429_0_1044"/>
          <p:cNvSpPr/>
          <p:nvPr/>
        </p:nvSpPr>
        <p:spPr>
          <a:xfrm>
            <a:off x="4727448" y="3657600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Features still counted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g3ca32782429_0_1044"/>
          <p:cNvSpPr/>
          <p:nvPr/>
        </p:nvSpPr>
        <p:spPr>
          <a:xfrm>
            <a:off x="4727448" y="3922776"/>
            <a:ext cx="19203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All features achieved before and after the fall are counted normally. </a:t>
            </a:r>
            <a:r>
              <a:rPr lang="en-US" sz="9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Falls can change the pattern, which can impact distribution, rotation &amp; body</a:t>
            </a: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g3ca32782429_0_1044"/>
          <p:cNvSpPr/>
          <p:nvPr/>
        </p:nvSpPr>
        <p:spPr>
          <a:xfrm>
            <a:off x="6784850" y="1170425"/>
            <a:ext cx="2121300" cy="128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g3ca32782429_0_1044"/>
          <p:cNvSpPr/>
          <p:nvPr/>
        </p:nvSpPr>
        <p:spPr>
          <a:xfrm>
            <a:off x="6784850" y="1170425"/>
            <a:ext cx="63900" cy="1280100"/>
          </a:xfrm>
          <a:prstGeom prst="rect">
            <a:avLst/>
          </a:prstGeom>
          <a:solidFill>
            <a:srgbClr val="7A5230"/>
          </a:solidFill>
          <a:ln cap="flat" cmpd="sng" w="12700">
            <a:solidFill>
              <a:srgbClr val="7A5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g3ca32782429_0_1044"/>
          <p:cNvSpPr/>
          <p:nvPr/>
        </p:nvSpPr>
        <p:spPr>
          <a:xfrm>
            <a:off x="6912864" y="1243584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Confirmed ≠ ended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g3ca32782429_0_1044"/>
          <p:cNvSpPr/>
          <p:nvPr/>
        </p:nvSpPr>
        <p:spPr>
          <a:xfrm>
            <a:off x="6912875" y="1508752"/>
            <a:ext cx="1920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ChSq is confirmed after 2 skating elements are performed. But the element does not end until preparation for the next element begins, or the program ends.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g3ca32782429_0_1044"/>
          <p:cNvSpPr/>
          <p:nvPr/>
        </p:nvSpPr>
        <p:spPr>
          <a:xfrm>
            <a:off x="6784823" y="2546575"/>
            <a:ext cx="2121300" cy="1206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g3ca32782429_0_1044"/>
          <p:cNvSpPr/>
          <p:nvPr/>
        </p:nvSpPr>
        <p:spPr>
          <a:xfrm>
            <a:off x="6784850" y="2546575"/>
            <a:ext cx="63900" cy="1206900"/>
          </a:xfrm>
          <a:prstGeom prst="rect">
            <a:avLst/>
          </a:prstGeom>
          <a:solidFill>
            <a:srgbClr val="7A5230"/>
          </a:solidFill>
          <a:ln cap="flat" cmpd="sng" w="12700">
            <a:solidFill>
              <a:srgbClr val="7A5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g3ca32782429_0_1044"/>
          <p:cNvSpPr/>
          <p:nvPr/>
        </p:nvSpPr>
        <p:spPr>
          <a:xfrm>
            <a:off x="6912864" y="2601490"/>
            <a:ext cx="1920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 tag still applies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g3ca32782429_0_1044"/>
          <p:cNvSpPr/>
          <p:nvPr/>
        </p:nvSpPr>
        <p:spPr>
          <a:xfrm>
            <a:off x="6912864" y="2871203"/>
            <a:ext cx="1920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 fall after confirmation but before the sequence ends is still within the element — it receives an F tag on the protocol.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g3ca32782429_0_1044"/>
          <p:cNvSpPr/>
          <p:nvPr/>
        </p:nvSpPr>
        <p:spPr>
          <a:xfrm>
            <a:off x="6784850" y="3829710"/>
            <a:ext cx="2121300" cy="906600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E0C87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g3ca32782429_0_1044"/>
          <p:cNvSpPr/>
          <p:nvPr/>
        </p:nvSpPr>
        <p:spPr>
          <a:xfrm>
            <a:off x="6784850" y="3829850"/>
            <a:ext cx="63900" cy="906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g3ca32782429_0_1044"/>
          <p:cNvSpPr/>
          <p:nvPr/>
        </p:nvSpPr>
        <p:spPr>
          <a:xfrm>
            <a:off x="6912864" y="3899812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60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6000"/>
                </a:solidFill>
                <a:latin typeface="Calibri"/>
                <a:ea typeface="Calibri"/>
                <a:cs typeface="Calibri"/>
                <a:sym typeface="Calibri"/>
              </a:rPr>
              <a:t>★  Practical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g3ca32782429_0_1044"/>
          <p:cNvSpPr/>
          <p:nvPr/>
        </p:nvSpPr>
        <p:spPr>
          <a:xfrm>
            <a:off x="6912875" y="4169450"/>
            <a:ext cx="19203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00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A5000"/>
                </a:solidFill>
                <a:latin typeface="Calibri"/>
                <a:ea typeface="Calibri"/>
                <a:cs typeface="Calibri"/>
                <a:sym typeface="Calibri"/>
              </a:rPr>
              <a:t>When reviewing a late fall: always confirm where in the sequence it occurred relative to the program end or next element preparation.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g3ca32782429_0_1044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9" name="Google Shape;1149;g3ca32782429_0_1044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Falls Framework — Phase 2: Element Intersections  |  [TPH-S §SPIN.QUAL]  [TPH-S §JUMP.REP]  [TPH-S §STEPS.CL.DISTRIB]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ca32782429_0_111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g3ca32782429_0_1113"/>
          <p:cNvSpPr/>
          <p:nvPr/>
        </p:nvSpPr>
        <p:spPr>
          <a:xfrm>
            <a:off x="365760" y="109728"/>
            <a:ext cx="8412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Falls — Protocol Impact &amp; Deductions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g3ca32782429_0_1113"/>
          <p:cNvSpPr/>
          <p:nvPr/>
        </p:nvSpPr>
        <p:spPr>
          <a:xfrm>
            <a:off x="320040" y="621792"/>
            <a:ext cx="8503800" cy="310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g3ca32782429_0_1113"/>
          <p:cNvSpPr/>
          <p:nvPr/>
        </p:nvSpPr>
        <p:spPr>
          <a:xfrm>
            <a:off x="502920" y="621792"/>
            <a:ext cx="8229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Fall Tag vs. Fall Outside — Same Deduction Amount, Different Protocol Placement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g3ca32782429_0_1113"/>
          <p:cNvSpPr/>
          <p:nvPr/>
        </p:nvSpPr>
        <p:spPr>
          <a:xfrm>
            <a:off x="320040" y="1005840"/>
            <a:ext cx="4160400" cy="1170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g3ca32782429_0_1113"/>
          <p:cNvSpPr/>
          <p:nvPr/>
        </p:nvSpPr>
        <p:spPr>
          <a:xfrm>
            <a:off x="320040" y="1005840"/>
            <a:ext cx="4160400" cy="3291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g3ca32782429_0_1113"/>
          <p:cNvSpPr/>
          <p:nvPr/>
        </p:nvSpPr>
        <p:spPr>
          <a:xfrm>
            <a:off x="457200" y="1005840"/>
            <a:ext cx="393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  (within element)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g3ca32782429_0_1113"/>
          <p:cNvSpPr/>
          <p:nvPr/>
        </p:nvSpPr>
        <p:spPr>
          <a:xfrm>
            <a:off x="502920" y="13898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Verbal call: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g3ca32782429_0_1113"/>
          <p:cNvSpPr/>
          <p:nvPr/>
        </p:nvSpPr>
        <p:spPr>
          <a:xfrm>
            <a:off x="1435608" y="1389888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"Fall"  —  stated loudly and clearly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g3ca32782429_0_1113"/>
          <p:cNvSpPr/>
          <p:nvPr/>
        </p:nvSpPr>
        <p:spPr>
          <a:xfrm>
            <a:off x="502920" y="1645920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Protocol: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g3ca32782429_0_1113"/>
          <p:cNvSpPr/>
          <p:nvPr/>
        </p:nvSpPr>
        <p:spPr>
          <a:xfrm>
            <a:off x="1435608" y="1645920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F tag applied to that element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g3ca32782429_0_1113"/>
          <p:cNvSpPr/>
          <p:nvPr/>
        </p:nvSpPr>
        <p:spPr>
          <a:xfrm>
            <a:off x="502920" y="1901952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GOE: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g3ca32782429_0_1113"/>
          <p:cNvSpPr/>
          <p:nvPr/>
        </p:nvSpPr>
        <p:spPr>
          <a:xfrm>
            <a:off x="1435608" y="1901952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Judges' GOE reflects the fall within the element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g3ca32782429_0_1113"/>
          <p:cNvSpPr/>
          <p:nvPr/>
        </p:nvSpPr>
        <p:spPr>
          <a:xfrm>
            <a:off x="4572000" y="1005840"/>
            <a:ext cx="4160400" cy="1170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g3ca32782429_0_1113"/>
          <p:cNvSpPr/>
          <p:nvPr/>
        </p:nvSpPr>
        <p:spPr>
          <a:xfrm>
            <a:off x="4572000" y="1005840"/>
            <a:ext cx="4160400" cy="329100"/>
          </a:xfrm>
          <a:prstGeom prst="rect">
            <a:avLst/>
          </a:prstGeom>
          <a:solidFill>
            <a:srgbClr val="1B6E72"/>
          </a:solidFill>
          <a:ln cap="flat" cmpd="sng" w="12700">
            <a:solidFill>
              <a:srgbClr val="1B6E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3ca32782429_0_1113"/>
          <p:cNvSpPr/>
          <p:nvPr/>
        </p:nvSpPr>
        <p:spPr>
          <a:xfrm>
            <a:off x="4709160" y="1005840"/>
            <a:ext cx="3931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 OUTSIDE  (between elements)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g3ca32782429_0_1113"/>
          <p:cNvSpPr/>
          <p:nvPr/>
        </p:nvSpPr>
        <p:spPr>
          <a:xfrm>
            <a:off x="4754880" y="138988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Verbal call: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g3ca32782429_0_1113"/>
          <p:cNvSpPr/>
          <p:nvPr/>
        </p:nvSpPr>
        <p:spPr>
          <a:xfrm>
            <a:off x="5687568" y="1389888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"Fall outside"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g3ca32782429_0_1113"/>
          <p:cNvSpPr/>
          <p:nvPr/>
        </p:nvSpPr>
        <p:spPr>
          <a:xfrm>
            <a:off x="4754880" y="1645920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Protocol: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g3ca32782429_0_1113"/>
          <p:cNvSpPr/>
          <p:nvPr/>
        </p:nvSpPr>
        <p:spPr>
          <a:xfrm>
            <a:off x="5687568" y="1645920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No element tag — fall recorded separately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g3ca32782429_0_1113"/>
          <p:cNvSpPr/>
          <p:nvPr/>
        </p:nvSpPr>
        <p:spPr>
          <a:xfrm>
            <a:off x="4754880" y="1901952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GOE: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g3ca32782429_0_1113"/>
          <p:cNvSpPr/>
          <p:nvPr/>
        </p:nvSpPr>
        <p:spPr>
          <a:xfrm>
            <a:off x="5687568" y="1901952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No impact on individual element GOE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g3ca32782429_0_1113"/>
          <p:cNvSpPr/>
          <p:nvPr/>
        </p:nvSpPr>
        <p:spPr>
          <a:xfrm>
            <a:off x="320040" y="2231136"/>
            <a:ext cx="8503800" cy="2376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D6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g3ca32782429_0_1113"/>
          <p:cNvSpPr/>
          <p:nvPr/>
        </p:nvSpPr>
        <p:spPr>
          <a:xfrm>
            <a:off x="502920" y="2231136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The deduction amount is identical in both cases. The distinction is only where the fall appears on the protocol.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g3ca32782429_0_1113"/>
          <p:cNvSpPr/>
          <p:nvPr/>
        </p:nvSpPr>
        <p:spPr>
          <a:xfrm>
            <a:off x="320040" y="2542032"/>
            <a:ext cx="8503800" cy="310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g3ca32782429_0_1113"/>
          <p:cNvSpPr/>
          <p:nvPr/>
        </p:nvSpPr>
        <p:spPr>
          <a:xfrm>
            <a:off x="502920" y="2542032"/>
            <a:ext cx="5760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Deduction Tiers — USFS Domestic 2025–26  (v2.0, 10/01/25)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g3ca32782429_0_1113"/>
          <p:cNvSpPr/>
          <p:nvPr/>
        </p:nvSpPr>
        <p:spPr>
          <a:xfrm>
            <a:off x="6263640" y="2542032"/>
            <a:ext cx="2469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TS1 identifies  →  Panel decides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g3ca32782429_0_1113"/>
          <p:cNvSpPr/>
          <p:nvPr/>
        </p:nvSpPr>
        <p:spPr>
          <a:xfrm>
            <a:off x="320040" y="2907792"/>
            <a:ext cx="8503800" cy="283500"/>
          </a:xfrm>
          <a:prstGeom prst="rect">
            <a:avLst/>
          </a:prstGeom>
          <a:solidFill>
            <a:srgbClr val="FFF0EC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g3ca32782429_0_1113"/>
          <p:cNvSpPr/>
          <p:nvPr/>
        </p:nvSpPr>
        <p:spPr>
          <a:xfrm>
            <a:off x="320040" y="2907792"/>
            <a:ext cx="91500" cy="2835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g3ca32782429_0_1113"/>
          <p:cNvSpPr/>
          <p:nvPr/>
        </p:nvSpPr>
        <p:spPr>
          <a:xfrm>
            <a:off x="493776" y="2944368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Senior Singles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g3ca32782429_0_1113"/>
          <p:cNvSpPr/>
          <p:nvPr/>
        </p:nvSpPr>
        <p:spPr>
          <a:xfrm>
            <a:off x="4663440" y="2944368"/>
            <a:ext cx="406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1st &amp; 2nd fall: −1.0   /   3rd &amp; 4th: −2.0   /   5th+: −3.0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g3ca32782429_0_1113"/>
          <p:cNvSpPr/>
          <p:nvPr/>
        </p:nvSpPr>
        <p:spPr>
          <a:xfrm>
            <a:off x="320040" y="3209544"/>
            <a:ext cx="85038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g3ca32782429_0_1113"/>
          <p:cNvSpPr/>
          <p:nvPr/>
        </p:nvSpPr>
        <p:spPr>
          <a:xfrm>
            <a:off x="402336" y="3246120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Junior Singles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g3ca32782429_0_1113"/>
          <p:cNvSpPr/>
          <p:nvPr/>
        </p:nvSpPr>
        <p:spPr>
          <a:xfrm>
            <a:off x="4663440" y="3246120"/>
            <a:ext cx="406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−1.0 per fall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g3ca32782429_0_1113"/>
          <p:cNvSpPr/>
          <p:nvPr/>
        </p:nvSpPr>
        <p:spPr>
          <a:xfrm>
            <a:off x="320040" y="3511296"/>
            <a:ext cx="8503800" cy="283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g3ca32782429_0_1113"/>
          <p:cNvSpPr/>
          <p:nvPr/>
        </p:nvSpPr>
        <p:spPr>
          <a:xfrm>
            <a:off x="402336" y="3547872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Juvenile, Intermediate, Novice, Adult Gold+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g3ca32782429_0_1113"/>
          <p:cNvSpPr/>
          <p:nvPr/>
        </p:nvSpPr>
        <p:spPr>
          <a:xfrm>
            <a:off x="4663440" y="3547872"/>
            <a:ext cx="406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−0.5 per fall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g3ca32782429_0_1113"/>
          <p:cNvSpPr/>
          <p:nvPr/>
        </p:nvSpPr>
        <p:spPr>
          <a:xfrm>
            <a:off x="320040" y="3813048"/>
            <a:ext cx="85038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g3ca32782429_0_1113"/>
          <p:cNvSpPr/>
          <p:nvPr/>
        </p:nvSpPr>
        <p:spPr>
          <a:xfrm>
            <a:off x="402336" y="3849624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Pre-Prelim, Prelim, Pre-Juv, Adult Pre-Bronze / Bronze / Silver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g3ca32782429_0_1113"/>
          <p:cNvSpPr/>
          <p:nvPr/>
        </p:nvSpPr>
        <p:spPr>
          <a:xfrm>
            <a:off x="4663440" y="3849624"/>
            <a:ext cx="406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−0.25 per fall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g3ca32782429_0_1113"/>
          <p:cNvSpPr/>
          <p:nvPr/>
        </p:nvSpPr>
        <p:spPr>
          <a:xfrm>
            <a:off x="320040" y="4114800"/>
            <a:ext cx="8503800" cy="2835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g3ca32782429_0_1113"/>
          <p:cNvSpPr/>
          <p:nvPr/>
        </p:nvSpPr>
        <p:spPr>
          <a:xfrm>
            <a:off x="402336" y="4151376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Junior &amp; Senior Pairs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g3ca32782429_0_1113"/>
          <p:cNvSpPr/>
          <p:nvPr/>
        </p:nvSpPr>
        <p:spPr>
          <a:xfrm>
            <a:off x="4663440" y="4151376"/>
            <a:ext cx="406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One partner: −1.0   /   Both partners: −2.0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g3ca32782429_0_1113"/>
          <p:cNvSpPr/>
          <p:nvPr/>
        </p:nvSpPr>
        <p:spPr>
          <a:xfrm>
            <a:off x="320040" y="4416552"/>
            <a:ext cx="85038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g3ca32782429_0_1113"/>
          <p:cNvSpPr/>
          <p:nvPr/>
        </p:nvSpPr>
        <p:spPr>
          <a:xfrm>
            <a:off x="402336" y="4453128"/>
            <a:ext cx="4297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Juv, Int, Nov, All Adult Pairs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g3ca32782429_0_1113"/>
          <p:cNvSpPr/>
          <p:nvPr/>
        </p:nvSpPr>
        <p:spPr>
          <a:xfrm>
            <a:off x="4663440" y="4453128"/>
            <a:ext cx="406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One partner: −0.5   /   Both partners: −1.0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g3ca32782429_0_1113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g3ca32782429_0_1113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★ Senior graduated scale escalates with repeated falls — TC, DO, and Referee track the count and validate at readback.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5C">
            <a:alpha val="30199"/>
          </a:srgbClr>
        </a:solidFill>
      </p:bgPr>
    </p:bg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ca32782429_0_73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g3ca32782429_0_735"/>
          <p:cNvSpPr/>
          <p:nvPr/>
        </p:nvSpPr>
        <p:spPr>
          <a:xfrm>
            <a:off x="5943600" y="457200"/>
            <a:ext cx="4114800" cy="3657600"/>
          </a:xfrm>
          <a:prstGeom prst="ellipse">
            <a:avLst/>
          </a:prstGeom>
          <a:solidFill>
            <a:srgbClr val="1A3A5C">
              <a:alpha val="30199"/>
            </a:srgbClr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g3ca32782429_0_735"/>
          <p:cNvSpPr/>
          <p:nvPr/>
        </p:nvSpPr>
        <p:spPr>
          <a:xfrm>
            <a:off x="6400800" y="822960"/>
            <a:ext cx="3200400" cy="2743200"/>
          </a:xfrm>
          <a:prstGeom prst="ellipse">
            <a:avLst/>
          </a:prstGeom>
          <a:solidFill>
            <a:srgbClr val="1A3A5C">
              <a:alpha val="20000"/>
            </a:srgbClr>
          </a:solidFill>
          <a:ln cap="flat" cmpd="sng" w="12700">
            <a:solidFill>
              <a:srgbClr val="7BA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g3ca32782429_0_735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g3ca32782429_0_735"/>
          <p:cNvSpPr/>
          <p:nvPr/>
        </p:nvSpPr>
        <p:spPr>
          <a:xfrm>
            <a:off x="457200" y="36576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g3ca32782429_0_735"/>
          <p:cNvSpPr/>
          <p:nvPr/>
        </p:nvSpPr>
        <p:spPr>
          <a:xfrm>
            <a:off x="457200" y="1818850"/>
            <a:ext cx="5943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Choreographic </a:t>
            </a:r>
            <a:br>
              <a:rPr b="1" lang="en-US" sz="4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2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Sequences</a:t>
            </a:r>
            <a:endParaRPr b="0" i="0" sz="420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g3ca32782429_0_735"/>
          <p:cNvSpPr/>
          <p:nvPr/>
        </p:nvSpPr>
        <p:spPr>
          <a:xfrm>
            <a:off x="0" y="4754880"/>
            <a:ext cx="9144000" cy="3885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6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Choreographic Sequence — Qualification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6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[TPH-S §CHOREO.FS]  |  Jr &amp; Sr Free Skating only  |  Fixed base value — GOE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6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Requires ≥ 2 DIFFERENT skating movements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6"/>
          <p:cNvSpPr/>
          <p:nvPr/>
        </p:nvSpPr>
        <p:spPr>
          <a:xfrm>
            <a:off x="365760" y="1709928"/>
            <a:ext cx="292608" cy="292608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6"/>
          <p:cNvSpPr/>
          <p:nvPr/>
        </p:nvSpPr>
        <p:spPr>
          <a:xfrm>
            <a:off x="365760" y="17099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6"/>
          <p:cNvSpPr/>
          <p:nvPr/>
        </p:nvSpPr>
        <p:spPr>
          <a:xfrm>
            <a:off x="749808" y="16459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Spirals &amp; arabesques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6"/>
          <p:cNvSpPr/>
          <p:nvPr/>
        </p:nvSpPr>
        <p:spPr>
          <a:xfrm>
            <a:off x="365760" y="2350008"/>
            <a:ext cx="292608" cy="292608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6"/>
          <p:cNvSpPr/>
          <p:nvPr/>
        </p:nvSpPr>
        <p:spPr>
          <a:xfrm>
            <a:off x="365760" y="23500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6"/>
          <p:cNvSpPr/>
          <p:nvPr/>
        </p:nvSpPr>
        <p:spPr>
          <a:xfrm>
            <a:off x="749808" y="2286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Spread eagles &amp; Ina Bauers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6"/>
          <p:cNvSpPr/>
          <p:nvPr/>
        </p:nvSpPr>
        <p:spPr>
          <a:xfrm>
            <a:off x="365760" y="2990088"/>
            <a:ext cx="292608" cy="292608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6"/>
          <p:cNvSpPr/>
          <p:nvPr/>
        </p:nvSpPr>
        <p:spPr>
          <a:xfrm>
            <a:off x="365760" y="29900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6"/>
          <p:cNvSpPr/>
          <p:nvPr/>
        </p:nvSpPr>
        <p:spPr>
          <a:xfrm>
            <a:off x="749808" y="2926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Hydroblading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6"/>
          <p:cNvSpPr/>
          <p:nvPr/>
        </p:nvSpPr>
        <p:spPr>
          <a:xfrm>
            <a:off x="365760" y="3630168"/>
            <a:ext cx="292608" cy="292608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6"/>
          <p:cNvSpPr/>
          <p:nvPr/>
        </p:nvSpPr>
        <p:spPr>
          <a:xfrm>
            <a:off x="365760" y="363016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6"/>
          <p:cNvSpPr/>
          <p:nvPr/>
        </p:nvSpPr>
        <p:spPr>
          <a:xfrm>
            <a:off x="749808" y="35661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Jumps ≤ 2 revolutions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6"/>
          <p:cNvSpPr/>
          <p:nvPr/>
        </p:nvSpPr>
        <p:spPr>
          <a:xfrm>
            <a:off x="4937760" y="1709928"/>
            <a:ext cx="292608" cy="292608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6"/>
          <p:cNvSpPr/>
          <p:nvPr/>
        </p:nvSpPr>
        <p:spPr>
          <a:xfrm>
            <a:off x="4937760" y="17099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6"/>
          <p:cNvSpPr/>
          <p:nvPr/>
        </p:nvSpPr>
        <p:spPr>
          <a:xfrm>
            <a:off x="5321808" y="16459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Spins (not called separately in ChSq)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6"/>
          <p:cNvSpPr/>
          <p:nvPr/>
        </p:nvSpPr>
        <p:spPr>
          <a:xfrm>
            <a:off x="4937760" y="2350008"/>
            <a:ext cx="292500" cy="2925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6"/>
          <p:cNvSpPr/>
          <p:nvPr/>
        </p:nvSpPr>
        <p:spPr>
          <a:xfrm>
            <a:off x="4937760" y="235000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6"/>
          <p:cNvSpPr/>
          <p:nvPr/>
        </p:nvSpPr>
        <p:spPr>
          <a:xfrm>
            <a:off x="5321808" y="2286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Sliding on one or two knees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6"/>
          <p:cNvSpPr/>
          <p:nvPr/>
        </p:nvSpPr>
        <p:spPr>
          <a:xfrm>
            <a:off x="5321808" y="2926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Listed single/double jumps (except 2A) → not called, no box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6"/>
          <p:cNvSpPr/>
          <p:nvPr/>
        </p:nvSpPr>
        <p:spPr>
          <a:xfrm>
            <a:off x="4937760" y="3630168"/>
            <a:ext cx="292608" cy="292608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6"/>
          <p:cNvSpPr/>
          <p:nvPr/>
        </p:nvSpPr>
        <p:spPr>
          <a:xfrm>
            <a:off x="4937760" y="363016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6"/>
          <p:cNvSpPr/>
          <p:nvPr/>
        </p:nvSpPr>
        <p:spPr>
          <a:xfrm>
            <a:off x="5321808" y="35661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Jumps &gt; 2 revolutions → called &amp; ChSq ENDS at that moment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[TPH-S §CHOREO.CL.JUMPS1]  [TPH-S §CHOREO.CL.JUMPS2]  [TPH-S §CHOREO.CL.SPINS]  [TPH-S §CHOREO.CL.KNEES]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6"/>
          <p:cNvSpPr/>
          <p:nvPr/>
        </p:nvSpPr>
        <p:spPr>
          <a:xfrm>
            <a:off x="518160" y="378256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6"/>
          <p:cNvSpPr/>
          <p:nvPr/>
        </p:nvSpPr>
        <p:spPr>
          <a:xfrm>
            <a:off x="4937823" y="2990096"/>
            <a:ext cx="292500" cy="2925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6"/>
          <p:cNvSpPr/>
          <p:nvPr/>
        </p:nvSpPr>
        <p:spPr>
          <a:xfrm>
            <a:off x="4937823" y="2990096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7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7"/>
          <p:cNvSpPr/>
          <p:nvPr/>
        </p:nvSpPr>
        <p:spPr>
          <a:xfrm>
            <a:off x="182880" y="45720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ChSq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Procedure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7"/>
          <p:cNvSpPr/>
          <p:nvPr/>
        </p:nvSpPr>
        <p:spPr>
          <a:xfrm>
            <a:off x="182880" y="237744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[TPH-S §CHOREO.CL.CALL]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[TPH-S §CHOREO.CL.CONFIRM]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[TPH-S §CHOREO.CL.PATTERN]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7"/>
          <p:cNvSpPr/>
          <p:nvPr/>
        </p:nvSpPr>
        <p:spPr>
          <a:xfrm>
            <a:off x="3017520" y="365760"/>
            <a:ext cx="502920" cy="50292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7"/>
          <p:cNvSpPr/>
          <p:nvPr/>
        </p:nvSpPr>
        <p:spPr>
          <a:xfrm>
            <a:off x="3017520" y="365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7"/>
          <p:cNvSpPr/>
          <p:nvPr/>
        </p:nvSpPr>
        <p:spPr>
          <a:xfrm>
            <a:off x="3657600" y="320040"/>
            <a:ext cx="5212080" cy="685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7"/>
          <p:cNvSpPr/>
          <p:nvPr/>
        </p:nvSpPr>
        <p:spPr>
          <a:xfrm>
            <a:off x="3794760" y="32004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Skater begins a skating movement sequence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7"/>
          <p:cNvSpPr/>
          <p:nvPr/>
        </p:nvSpPr>
        <p:spPr>
          <a:xfrm>
            <a:off x="3017520" y="1261872"/>
            <a:ext cx="502920" cy="50292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7"/>
          <p:cNvSpPr/>
          <p:nvPr/>
        </p:nvSpPr>
        <p:spPr>
          <a:xfrm>
            <a:off x="3017520" y="1261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7"/>
          <p:cNvSpPr/>
          <p:nvPr/>
        </p:nvSpPr>
        <p:spPr>
          <a:xfrm>
            <a:off x="3657600" y="1216152"/>
            <a:ext cx="5212080" cy="685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7"/>
          <p:cNvSpPr/>
          <p:nvPr/>
        </p:nvSpPr>
        <p:spPr>
          <a:xfrm>
            <a:off x="3794760" y="1216152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 identifies first skating movement type,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calls “Choreo Sequence”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7"/>
          <p:cNvSpPr/>
          <p:nvPr/>
        </p:nvSpPr>
        <p:spPr>
          <a:xfrm>
            <a:off x="3017520" y="2157984"/>
            <a:ext cx="502920" cy="50292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7"/>
          <p:cNvSpPr/>
          <p:nvPr/>
        </p:nvSpPr>
        <p:spPr>
          <a:xfrm>
            <a:off x="3017520" y="21579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7"/>
          <p:cNvSpPr/>
          <p:nvPr/>
        </p:nvSpPr>
        <p:spPr>
          <a:xfrm>
            <a:off x="3657600" y="2112264"/>
            <a:ext cx="5212080" cy="685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7"/>
          <p:cNvSpPr/>
          <p:nvPr/>
        </p:nvSpPr>
        <p:spPr>
          <a:xfrm>
            <a:off x="3794760" y="2112264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 identifies a SECOND, DIFFERENT skating movement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7"/>
          <p:cNvSpPr/>
          <p:nvPr/>
        </p:nvSpPr>
        <p:spPr>
          <a:xfrm>
            <a:off x="3017520" y="3054096"/>
            <a:ext cx="502920" cy="50292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7"/>
          <p:cNvSpPr/>
          <p:nvPr/>
        </p:nvSpPr>
        <p:spPr>
          <a:xfrm>
            <a:off x="3017520" y="30540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7"/>
          <p:cNvSpPr/>
          <p:nvPr/>
        </p:nvSpPr>
        <p:spPr>
          <a:xfrm>
            <a:off x="3657600" y="3008376"/>
            <a:ext cx="5212080" cy="6858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E8F4F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7"/>
          <p:cNvSpPr/>
          <p:nvPr/>
        </p:nvSpPr>
        <p:spPr>
          <a:xfrm>
            <a:off x="3794760" y="3008376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 calls: "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onfirmed"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7"/>
          <p:cNvSpPr/>
          <p:nvPr/>
        </p:nvSpPr>
        <p:spPr>
          <a:xfrm>
            <a:off x="3017520" y="3950208"/>
            <a:ext cx="502920" cy="50292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7"/>
          <p:cNvSpPr/>
          <p:nvPr/>
        </p:nvSpPr>
        <p:spPr>
          <a:xfrm>
            <a:off x="3017520" y="39502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7"/>
          <p:cNvSpPr/>
          <p:nvPr/>
        </p:nvSpPr>
        <p:spPr>
          <a:xfrm>
            <a:off x="3657600" y="3904488"/>
            <a:ext cx="5212080" cy="685800"/>
          </a:xfrm>
          <a:prstGeom prst="rect">
            <a:avLst/>
          </a:prstGeom>
          <a:solidFill>
            <a:srgbClr val="FFF0ED"/>
          </a:solidFill>
          <a:ln cap="flat" cmpd="sng" w="12700">
            <a:solidFill>
              <a:srgbClr val="F5C0B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7"/>
          <p:cNvSpPr/>
          <p:nvPr/>
        </p:nvSpPr>
        <p:spPr>
          <a:xfrm>
            <a:off x="3794760" y="3904488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0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1A0A"/>
                </a:solidFill>
                <a:latin typeface="Calibri"/>
                <a:ea typeface="Calibri"/>
                <a:cs typeface="Calibri"/>
                <a:sym typeface="Calibri"/>
              </a:rPr>
              <a:t>If 2nd movement never comes: "</a:t>
            </a:r>
            <a:r>
              <a:rPr lang="en-US" sz="1300">
                <a:solidFill>
                  <a:srgbClr val="8B1A0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300" u="none" cap="none" strike="noStrike">
                <a:solidFill>
                  <a:srgbClr val="8B1A0A"/>
                </a:solidFill>
                <a:latin typeface="Calibri"/>
                <a:ea typeface="Calibri"/>
                <a:cs typeface="Calibri"/>
                <a:sym typeface="Calibri"/>
              </a:rPr>
              <a:t>o value"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7"/>
          <p:cNvSpPr/>
          <p:nvPr/>
        </p:nvSpPr>
        <p:spPr>
          <a:xfrm>
            <a:off x="3017520" y="4800600"/>
            <a:ext cx="5852160" cy="27432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D6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7"/>
          <p:cNvSpPr/>
          <p:nvPr/>
        </p:nvSpPr>
        <p:spPr>
          <a:xfrm>
            <a:off x="3108960" y="480060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Pattern: Any pattern is allowed (straight line, circle, serpentine, etc.) — must be clearly visible.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ca32782429_0_116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g3ca32782429_0_1167"/>
          <p:cNvSpPr/>
          <p:nvPr/>
        </p:nvSpPr>
        <p:spPr>
          <a:xfrm>
            <a:off x="365760" y="109728"/>
            <a:ext cx="8412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Choreographic Sequence (ChSq)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g3ca32782429_0_1167"/>
          <p:cNvSpPr/>
          <p:nvPr/>
        </p:nvSpPr>
        <p:spPr>
          <a:xfrm>
            <a:off x="320040" y="658368"/>
            <a:ext cx="8503800" cy="347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g3ca32782429_0_1167"/>
          <p:cNvSpPr/>
          <p:nvPr/>
        </p:nvSpPr>
        <p:spPr>
          <a:xfrm>
            <a:off x="502920" y="658368"/>
            <a:ext cx="1097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Required in: 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g3ca32782429_0_1167"/>
          <p:cNvSpPr/>
          <p:nvPr/>
        </p:nvSpPr>
        <p:spPr>
          <a:xfrm>
            <a:off x="1508760" y="658368"/>
            <a:ext cx="713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Novice, Junior &amp; Senior Free Skate (Women &amp; Men)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g3ca32782429_0_1167"/>
          <p:cNvSpPr/>
          <p:nvPr/>
        </p:nvSpPr>
        <p:spPr>
          <a:xfrm>
            <a:off x="320040" y="1078992"/>
            <a:ext cx="8503800" cy="658500"/>
          </a:xfrm>
          <a:prstGeom prst="rect">
            <a:avLst/>
          </a:prstGeom>
          <a:solidFill>
            <a:srgbClr val="E8F4FD"/>
          </a:solidFill>
          <a:ln cap="flat" cmpd="sng" w="12700">
            <a:solidFill>
              <a:srgbClr val="C8D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g3ca32782429_0_1167"/>
          <p:cNvSpPr/>
          <p:nvPr/>
        </p:nvSpPr>
        <p:spPr>
          <a:xfrm>
            <a:off x="475488" y="1115568"/>
            <a:ext cx="914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g3ca32782429_0_1167"/>
          <p:cNvSpPr/>
          <p:nvPr/>
        </p:nvSpPr>
        <p:spPr>
          <a:xfrm>
            <a:off x="475488" y="1353312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Consists of any kind of movements — steps, turns, spirals, spread eagles, arabesques, Ina Bauers, hydroblading, any jumps with 2 or fewer revolutions, or spins. The sequence is not level-graded. It is either CONFIRMED or NO VALUE.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g3ca32782429_0_1167"/>
          <p:cNvSpPr/>
          <p:nvPr/>
        </p:nvSpPr>
        <p:spPr>
          <a:xfrm>
            <a:off x="320040" y="1828800"/>
            <a:ext cx="2743200" cy="3108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g3ca32782429_0_1167"/>
          <p:cNvSpPr/>
          <p:nvPr/>
        </p:nvSpPr>
        <p:spPr>
          <a:xfrm>
            <a:off x="411480" y="1828800"/>
            <a:ext cx="2633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CONFIRMS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g3ca32782429_0_1167"/>
          <p:cNvSpPr/>
          <p:nvPr/>
        </p:nvSpPr>
        <p:spPr>
          <a:xfrm>
            <a:off x="320040" y="2194560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g3ca32782429_0_1167"/>
          <p:cNvSpPr/>
          <p:nvPr/>
        </p:nvSpPr>
        <p:spPr>
          <a:xfrm>
            <a:off x="411480" y="2331720"/>
            <a:ext cx="183000" cy="1830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g3ca32782429_0_1167"/>
          <p:cNvSpPr/>
          <p:nvPr/>
        </p:nvSpPr>
        <p:spPr>
          <a:xfrm>
            <a:off x="667512" y="2231136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 different skating movements performed (spirals, spread eagles, Ina Bauers, hydroblading, arabesques,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g3ca32782429_0_1167"/>
          <p:cNvSpPr/>
          <p:nvPr/>
        </p:nvSpPr>
        <p:spPr>
          <a:xfrm>
            <a:off x="320040" y="2706624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g3ca32782429_0_1167"/>
          <p:cNvSpPr/>
          <p:nvPr/>
        </p:nvSpPr>
        <p:spPr>
          <a:xfrm>
            <a:off x="411480" y="2843784"/>
            <a:ext cx="183000" cy="1830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g3ca32782429_0_1167"/>
          <p:cNvSpPr/>
          <p:nvPr/>
        </p:nvSpPr>
        <p:spPr>
          <a:xfrm>
            <a:off x="667512" y="2743200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time requirement — duration per movement does not matter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g3ca32782429_0_1167"/>
          <p:cNvSpPr/>
          <p:nvPr/>
        </p:nvSpPr>
        <p:spPr>
          <a:xfrm>
            <a:off x="320040" y="3218688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g3ca32782429_0_1167"/>
          <p:cNvSpPr/>
          <p:nvPr/>
        </p:nvSpPr>
        <p:spPr>
          <a:xfrm>
            <a:off x="411480" y="3355848"/>
            <a:ext cx="183000" cy="1830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g3ca32782429_0_1167"/>
          <p:cNvSpPr/>
          <p:nvPr/>
        </p:nvSpPr>
        <p:spPr>
          <a:xfrm>
            <a:off x="667512" y="3255264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Pattern is not restricted, but sequence must be clearly visible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g3ca32782429_0_1167"/>
          <p:cNvSpPr/>
          <p:nvPr/>
        </p:nvSpPr>
        <p:spPr>
          <a:xfrm>
            <a:off x="320040" y="3730752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g3ca32782429_0_1167"/>
          <p:cNvSpPr/>
          <p:nvPr/>
        </p:nvSpPr>
        <p:spPr>
          <a:xfrm>
            <a:off x="411480" y="3867912"/>
            <a:ext cx="183000" cy="1830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g3ca32782429_0_1167"/>
          <p:cNvSpPr/>
          <p:nvPr/>
        </p:nvSpPr>
        <p:spPr>
          <a:xfrm>
            <a:off x="667512" y="3767328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spiral is NOT required — any 2 skating movements qualify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g3ca32782429_0_1167"/>
          <p:cNvSpPr/>
          <p:nvPr/>
        </p:nvSpPr>
        <p:spPr>
          <a:xfrm>
            <a:off x="320040" y="4242816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g3ca32782429_0_1167"/>
          <p:cNvSpPr/>
          <p:nvPr/>
        </p:nvSpPr>
        <p:spPr>
          <a:xfrm>
            <a:off x="411480" y="4379976"/>
            <a:ext cx="183000" cy="183000"/>
          </a:xfrm>
          <a:prstGeom prst="ellipse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g3ca32782429_0_1167"/>
          <p:cNvSpPr/>
          <p:nvPr/>
        </p:nvSpPr>
        <p:spPr>
          <a:xfrm>
            <a:off x="667512" y="4279392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Jumps ≤2 revs and spins do NOT count toward confirmation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g3ca32782429_0_1167"/>
          <p:cNvSpPr/>
          <p:nvPr/>
        </p:nvSpPr>
        <p:spPr>
          <a:xfrm>
            <a:off x="3218688" y="1828800"/>
            <a:ext cx="2743200" cy="3108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g3ca32782429_0_1167"/>
          <p:cNvSpPr/>
          <p:nvPr/>
        </p:nvSpPr>
        <p:spPr>
          <a:xfrm>
            <a:off x="3310128" y="1828800"/>
            <a:ext cx="2633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ENDS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g3ca32782429_0_1167"/>
          <p:cNvSpPr/>
          <p:nvPr/>
        </p:nvSpPr>
        <p:spPr>
          <a:xfrm>
            <a:off x="3218688" y="2194560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g3ca32782429_0_1167"/>
          <p:cNvSpPr/>
          <p:nvPr/>
        </p:nvSpPr>
        <p:spPr>
          <a:xfrm>
            <a:off x="3310128" y="2331720"/>
            <a:ext cx="183000" cy="1830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g3ca32782429_0_1167"/>
          <p:cNvSpPr/>
          <p:nvPr/>
        </p:nvSpPr>
        <p:spPr>
          <a:xfrm>
            <a:off x="3566160" y="2231136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Preparation for the next element begins (if not the last element)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g3ca32782429_0_1167"/>
          <p:cNvSpPr/>
          <p:nvPr/>
        </p:nvSpPr>
        <p:spPr>
          <a:xfrm>
            <a:off x="3218688" y="2706624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g3ca32782429_0_1167"/>
          <p:cNvSpPr/>
          <p:nvPr/>
        </p:nvSpPr>
        <p:spPr>
          <a:xfrm>
            <a:off x="3310128" y="2843784"/>
            <a:ext cx="183000" cy="1830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g3ca32782429_0_1167"/>
          <p:cNvSpPr/>
          <p:nvPr/>
        </p:nvSpPr>
        <p:spPr>
          <a:xfrm>
            <a:off x="3566160" y="2743200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End of the program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g3ca32782429_0_1167"/>
          <p:cNvSpPr/>
          <p:nvPr/>
        </p:nvSpPr>
        <p:spPr>
          <a:xfrm>
            <a:off x="3218688" y="3218688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g3ca32782429_0_1167"/>
          <p:cNvSpPr/>
          <p:nvPr/>
        </p:nvSpPr>
        <p:spPr>
          <a:xfrm>
            <a:off x="3310128" y="3355848"/>
            <a:ext cx="183000" cy="1830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g3ca32782429_0_1167"/>
          <p:cNvSpPr/>
          <p:nvPr/>
        </p:nvSpPr>
        <p:spPr>
          <a:xfrm>
            <a:off x="3566160" y="3255264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jump of more than 2 revolutions is executed (it is called and occupies a box)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g3ca32782429_0_1167"/>
          <p:cNvSpPr/>
          <p:nvPr/>
        </p:nvSpPr>
        <p:spPr>
          <a:xfrm>
            <a:off x="3218688" y="3730752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g3ca32782429_0_1167"/>
          <p:cNvSpPr/>
          <p:nvPr/>
        </p:nvSpPr>
        <p:spPr>
          <a:xfrm>
            <a:off x="3310128" y="3867912"/>
            <a:ext cx="183000" cy="1830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g3ca32782429_0_1167"/>
          <p:cNvSpPr/>
          <p:nvPr/>
        </p:nvSpPr>
        <p:spPr>
          <a:xfrm>
            <a:off x="3566160" y="3767328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Performance of a leveled step sequence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g3ca32782429_0_1167"/>
          <p:cNvSpPr/>
          <p:nvPr/>
        </p:nvSpPr>
        <p:spPr>
          <a:xfrm>
            <a:off x="6108192" y="1828800"/>
            <a:ext cx="2743200" cy="3108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g3ca32782429_0_1167"/>
          <p:cNvSpPr/>
          <p:nvPr/>
        </p:nvSpPr>
        <p:spPr>
          <a:xfrm>
            <a:off x="6199632" y="1828800"/>
            <a:ext cx="2633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Calling Protocol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g3ca32782429_0_1167"/>
          <p:cNvSpPr/>
          <p:nvPr/>
        </p:nvSpPr>
        <p:spPr>
          <a:xfrm>
            <a:off x="6108192" y="2194560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g3ca32782429_0_1167"/>
          <p:cNvSpPr/>
          <p:nvPr/>
        </p:nvSpPr>
        <p:spPr>
          <a:xfrm>
            <a:off x="6199632" y="2331720"/>
            <a:ext cx="183000" cy="1830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g3ca32782429_0_1167"/>
          <p:cNvSpPr/>
          <p:nvPr/>
        </p:nvSpPr>
        <p:spPr>
          <a:xfrm>
            <a:off x="6455664" y="2231136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TS1 says "Choreo Sequence" when it commences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g3ca32782429_0_1167"/>
          <p:cNvSpPr/>
          <p:nvPr/>
        </p:nvSpPr>
        <p:spPr>
          <a:xfrm>
            <a:off x="6108192" y="2706624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g3ca32782429_0_1167"/>
          <p:cNvSpPr/>
          <p:nvPr/>
        </p:nvSpPr>
        <p:spPr>
          <a:xfrm>
            <a:off x="6199632" y="2843784"/>
            <a:ext cx="183000" cy="1830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g3ca32782429_0_1167"/>
          <p:cNvSpPr/>
          <p:nvPr/>
        </p:nvSpPr>
        <p:spPr>
          <a:xfrm>
            <a:off x="6455664" y="2743200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TS1 says "CONFIRMED" once 2 skating movements are identified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g3ca32782429_0_1167"/>
          <p:cNvSpPr/>
          <p:nvPr/>
        </p:nvSpPr>
        <p:spPr>
          <a:xfrm>
            <a:off x="6108192" y="3218688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g3ca32782429_0_1167"/>
          <p:cNvSpPr/>
          <p:nvPr/>
        </p:nvSpPr>
        <p:spPr>
          <a:xfrm>
            <a:off x="6199632" y="3355848"/>
            <a:ext cx="183000" cy="1830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g3ca32782429_0_1167"/>
          <p:cNvSpPr/>
          <p:nvPr/>
        </p:nvSpPr>
        <p:spPr>
          <a:xfrm>
            <a:off x="6455664" y="3255264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TS1 says "NO VALUE" if the sequence does not fulfill requirements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g3ca32782429_0_1167"/>
          <p:cNvSpPr/>
          <p:nvPr/>
        </p:nvSpPr>
        <p:spPr>
          <a:xfrm>
            <a:off x="6108192" y="3730752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g3ca32782429_0_1167"/>
          <p:cNvSpPr/>
          <p:nvPr/>
        </p:nvSpPr>
        <p:spPr>
          <a:xfrm>
            <a:off x="6199632" y="3867912"/>
            <a:ext cx="183000" cy="1830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g3ca32782429_0_1167"/>
          <p:cNvSpPr/>
          <p:nvPr/>
        </p:nvSpPr>
        <p:spPr>
          <a:xfrm>
            <a:off x="6455664" y="3767328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TS2 pre-calls the next element once ChSq is confirmed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g3ca32782429_0_1167"/>
          <p:cNvSpPr/>
          <p:nvPr/>
        </p:nvSpPr>
        <p:spPr>
          <a:xfrm>
            <a:off x="6108192" y="4242816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g3ca32782429_0_1167"/>
          <p:cNvSpPr/>
          <p:nvPr/>
        </p:nvSpPr>
        <p:spPr>
          <a:xfrm>
            <a:off x="6199632" y="4379976"/>
            <a:ext cx="183000" cy="183000"/>
          </a:xfrm>
          <a:prstGeom prst="ellipse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g3ca32782429_0_1167"/>
          <p:cNvSpPr/>
          <p:nvPr/>
        </p:nvSpPr>
        <p:spPr>
          <a:xfrm>
            <a:off x="6455664" y="4279392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 reads back as "Choreo Confirmed" or "Choreo No Value"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g3ca32782429_0_1167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g3ca32782429_0_1167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ChSq Framework — Slide 1  |  [TPH-S §CHSQ]  |  Source: A2E 2025 Slides 92–93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g3ca32782429_0_1167"/>
          <p:cNvSpPr/>
          <p:nvPr/>
        </p:nvSpPr>
        <p:spPr>
          <a:xfrm>
            <a:off x="3214113" y="4242790"/>
            <a:ext cx="27432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g3ca32782429_0_1167"/>
          <p:cNvSpPr/>
          <p:nvPr/>
        </p:nvSpPr>
        <p:spPr>
          <a:xfrm>
            <a:off x="3305491" y="4379975"/>
            <a:ext cx="183000" cy="183000"/>
          </a:xfrm>
          <a:prstGeom prst="ellipse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g3ca32782429_0_1167"/>
          <p:cNvSpPr/>
          <p:nvPr/>
        </p:nvSpPr>
        <p:spPr>
          <a:xfrm>
            <a:off x="3561600" y="4261101"/>
            <a:ext cx="2304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Order relative to the step sequence is NOT fixed — ChSq may come before or after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3ca32782429_0_123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g3ca32782429_0_1232"/>
          <p:cNvSpPr/>
          <p:nvPr/>
        </p:nvSpPr>
        <p:spPr>
          <a:xfrm>
            <a:off x="365760" y="109728"/>
            <a:ext cx="8412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ChSq — What the Panel Calls (and What It Ignores)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g3ca32782429_0_1232"/>
          <p:cNvSpPr/>
          <p:nvPr/>
        </p:nvSpPr>
        <p:spPr>
          <a:xfrm>
            <a:off x="320040" y="585216"/>
            <a:ext cx="8503800" cy="420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g3ca32782429_0_1232"/>
          <p:cNvSpPr/>
          <p:nvPr/>
        </p:nvSpPr>
        <p:spPr>
          <a:xfrm>
            <a:off x="502920" y="585216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Core rule: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g3ca32782429_0_1232"/>
          <p:cNvSpPr/>
          <p:nvPr/>
        </p:nvSpPr>
        <p:spPr>
          <a:xfrm>
            <a:off x="1325880" y="585216"/>
            <a:ext cx="74067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Inside a ChSq, "listed jump " vs. "unlisted jump" is irrelevant. The only thing that matters is jump revolution count. ≤2 revs → ignored. More than 2 revs → called, ends sequence.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g3ca32782429_0_1232"/>
          <p:cNvSpPr/>
          <p:nvPr/>
        </p:nvSpPr>
        <p:spPr>
          <a:xfrm>
            <a:off x="320040" y="1097280"/>
            <a:ext cx="2633400" cy="347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g3ca32782429_0_1232"/>
          <p:cNvSpPr/>
          <p:nvPr/>
        </p:nvSpPr>
        <p:spPr>
          <a:xfrm>
            <a:off x="411480" y="1097280"/>
            <a:ext cx="252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Element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g3ca32782429_0_1232"/>
          <p:cNvSpPr/>
          <p:nvPr/>
        </p:nvSpPr>
        <p:spPr>
          <a:xfrm>
            <a:off x="3017520" y="1097280"/>
            <a:ext cx="2212800" cy="347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g3ca32782429_0_1232"/>
          <p:cNvSpPr/>
          <p:nvPr/>
        </p:nvSpPr>
        <p:spPr>
          <a:xfrm>
            <a:off x="3108960" y="1097280"/>
            <a:ext cx="2103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Revolutions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g3ca32782429_0_1232"/>
          <p:cNvSpPr/>
          <p:nvPr/>
        </p:nvSpPr>
        <p:spPr>
          <a:xfrm>
            <a:off x="5303520" y="1097280"/>
            <a:ext cx="1755600" cy="347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g3ca32782429_0_1232"/>
          <p:cNvSpPr/>
          <p:nvPr/>
        </p:nvSpPr>
        <p:spPr>
          <a:xfrm>
            <a:off x="5394960" y="1097280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Called by panel?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g3ca32782429_0_1232"/>
          <p:cNvSpPr/>
          <p:nvPr/>
        </p:nvSpPr>
        <p:spPr>
          <a:xfrm>
            <a:off x="7132320" y="1097280"/>
            <a:ext cx="1691700" cy="347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g3ca32782429_0_1232"/>
          <p:cNvSpPr/>
          <p:nvPr/>
        </p:nvSpPr>
        <p:spPr>
          <a:xfrm>
            <a:off x="7223760" y="1097280"/>
            <a:ext cx="158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Ends ChSq?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g3ca32782429_0_1232"/>
          <p:cNvSpPr/>
          <p:nvPr/>
        </p:nvSpPr>
        <p:spPr>
          <a:xfrm>
            <a:off x="320040" y="1444752"/>
            <a:ext cx="26334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g3ca32782429_0_1232"/>
          <p:cNvSpPr/>
          <p:nvPr/>
        </p:nvSpPr>
        <p:spPr>
          <a:xfrm>
            <a:off x="3017520" y="1444752"/>
            <a:ext cx="2212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g3ca32782429_0_1232"/>
          <p:cNvSpPr/>
          <p:nvPr/>
        </p:nvSpPr>
        <p:spPr>
          <a:xfrm>
            <a:off x="5303520" y="1444752"/>
            <a:ext cx="17556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g3ca32782429_0_1232"/>
          <p:cNvSpPr/>
          <p:nvPr/>
        </p:nvSpPr>
        <p:spPr>
          <a:xfrm>
            <a:off x="7132320" y="1444752"/>
            <a:ext cx="16917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g3ca32782429_0_1232"/>
          <p:cNvSpPr/>
          <p:nvPr/>
        </p:nvSpPr>
        <p:spPr>
          <a:xfrm>
            <a:off x="411480" y="1481328"/>
            <a:ext cx="24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Spiral, spread eagle, Ina Bauer, hydroblading, arabesque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g3ca32782429_0_1232"/>
          <p:cNvSpPr/>
          <p:nvPr/>
        </p:nvSpPr>
        <p:spPr>
          <a:xfrm>
            <a:off x="3108960" y="1481328"/>
            <a:ext cx="207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N/A (skating element)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g3ca32782429_0_1232"/>
          <p:cNvSpPr/>
          <p:nvPr/>
        </p:nvSpPr>
        <p:spPr>
          <a:xfrm>
            <a:off x="5394960" y="1481328"/>
            <a:ext cx="161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No — ignored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g3ca32782429_0_1232"/>
          <p:cNvSpPr/>
          <p:nvPr/>
        </p:nvSpPr>
        <p:spPr>
          <a:xfrm>
            <a:off x="7223760" y="1481328"/>
            <a:ext cx="155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No — counts toward confirmation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g3ca32782429_0_1232"/>
          <p:cNvSpPr/>
          <p:nvPr/>
        </p:nvSpPr>
        <p:spPr>
          <a:xfrm>
            <a:off x="320040" y="1920240"/>
            <a:ext cx="26334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g3ca32782429_0_1232"/>
          <p:cNvSpPr/>
          <p:nvPr/>
        </p:nvSpPr>
        <p:spPr>
          <a:xfrm>
            <a:off x="3017520" y="1920240"/>
            <a:ext cx="22128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g3ca32782429_0_1232"/>
          <p:cNvSpPr/>
          <p:nvPr/>
        </p:nvSpPr>
        <p:spPr>
          <a:xfrm>
            <a:off x="5303520" y="1920240"/>
            <a:ext cx="17556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g3ca32782429_0_1232"/>
          <p:cNvSpPr/>
          <p:nvPr/>
        </p:nvSpPr>
        <p:spPr>
          <a:xfrm>
            <a:off x="7132320" y="1920240"/>
            <a:ext cx="16917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g3ca32782429_0_1232"/>
          <p:cNvSpPr/>
          <p:nvPr/>
        </p:nvSpPr>
        <p:spPr>
          <a:xfrm>
            <a:off x="411480" y="1956816"/>
            <a:ext cx="24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Unlisted jump (split, ballet, falling leaf,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g3ca32782429_0_1232"/>
          <p:cNvSpPr/>
          <p:nvPr/>
        </p:nvSpPr>
        <p:spPr>
          <a:xfrm>
            <a:off x="3108960" y="1956816"/>
            <a:ext cx="207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&lt; 1 rev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g3ca32782429_0_1232"/>
          <p:cNvSpPr/>
          <p:nvPr/>
        </p:nvSpPr>
        <p:spPr>
          <a:xfrm>
            <a:off x="5394960" y="1956816"/>
            <a:ext cx="161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No — ignored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g3ca32782429_0_1232"/>
          <p:cNvSpPr/>
          <p:nvPr/>
        </p:nvSpPr>
        <p:spPr>
          <a:xfrm>
            <a:off x="7223760" y="1956816"/>
            <a:ext cx="155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g3ca32782429_0_1232"/>
          <p:cNvSpPr/>
          <p:nvPr/>
        </p:nvSpPr>
        <p:spPr>
          <a:xfrm>
            <a:off x="320040" y="2395728"/>
            <a:ext cx="26334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g3ca32782429_0_1232"/>
          <p:cNvSpPr/>
          <p:nvPr/>
        </p:nvSpPr>
        <p:spPr>
          <a:xfrm>
            <a:off x="3017520" y="2395728"/>
            <a:ext cx="2212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g3ca32782429_0_1232"/>
          <p:cNvSpPr/>
          <p:nvPr/>
        </p:nvSpPr>
        <p:spPr>
          <a:xfrm>
            <a:off x="5303520" y="2395728"/>
            <a:ext cx="17556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g3ca32782429_0_1232"/>
          <p:cNvSpPr/>
          <p:nvPr/>
        </p:nvSpPr>
        <p:spPr>
          <a:xfrm>
            <a:off x="7132320" y="2395728"/>
            <a:ext cx="16917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g3ca32782429_0_1232"/>
          <p:cNvSpPr/>
          <p:nvPr/>
        </p:nvSpPr>
        <p:spPr>
          <a:xfrm>
            <a:off x="411480" y="2432304"/>
            <a:ext cx="24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Any double jump except 2A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(2S, 2T, 2Lo, 2F, 2Lz)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g3ca32782429_0_1232"/>
          <p:cNvSpPr/>
          <p:nvPr/>
        </p:nvSpPr>
        <p:spPr>
          <a:xfrm>
            <a:off x="3108960" y="2432304"/>
            <a:ext cx="207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Exactly 2 revs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g3ca32782429_0_1232"/>
          <p:cNvSpPr/>
          <p:nvPr/>
        </p:nvSpPr>
        <p:spPr>
          <a:xfrm>
            <a:off x="5394960" y="2432304"/>
            <a:ext cx="161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No — ignored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g3ca32782429_0_1232"/>
          <p:cNvSpPr/>
          <p:nvPr/>
        </p:nvSpPr>
        <p:spPr>
          <a:xfrm>
            <a:off x="7223760" y="2432304"/>
            <a:ext cx="155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No — stays in sequence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g3ca32782429_0_1232"/>
          <p:cNvSpPr/>
          <p:nvPr/>
        </p:nvSpPr>
        <p:spPr>
          <a:xfrm>
            <a:off x="320040" y="2871216"/>
            <a:ext cx="26334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g3ca32782429_0_1232"/>
          <p:cNvSpPr/>
          <p:nvPr/>
        </p:nvSpPr>
        <p:spPr>
          <a:xfrm>
            <a:off x="3017520" y="2871216"/>
            <a:ext cx="22128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g3ca32782429_0_1232"/>
          <p:cNvSpPr/>
          <p:nvPr/>
        </p:nvSpPr>
        <p:spPr>
          <a:xfrm>
            <a:off x="5303520" y="2871216"/>
            <a:ext cx="17556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g3ca32782429_0_1232"/>
          <p:cNvSpPr/>
          <p:nvPr/>
        </p:nvSpPr>
        <p:spPr>
          <a:xfrm>
            <a:off x="7132320" y="2871216"/>
            <a:ext cx="1691700" cy="4572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g3ca32782429_0_1232"/>
          <p:cNvSpPr/>
          <p:nvPr/>
        </p:nvSpPr>
        <p:spPr>
          <a:xfrm>
            <a:off x="411480" y="2907792"/>
            <a:ext cx="24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Spin (any type, any level)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g3ca32782429_0_1232"/>
          <p:cNvSpPr/>
          <p:nvPr/>
        </p:nvSpPr>
        <p:spPr>
          <a:xfrm>
            <a:off x="3108960" y="2907792"/>
            <a:ext cx="207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g3ca32782429_0_1232"/>
          <p:cNvSpPr/>
          <p:nvPr/>
        </p:nvSpPr>
        <p:spPr>
          <a:xfrm>
            <a:off x="5394960" y="2907792"/>
            <a:ext cx="161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No — ignored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g3ca32782429_0_1232"/>
          <p:cNvSpPr/>
          <p:nvPr/>
        </p:nvSpPr>
        <p:spPr>
          <a:xfrm>
            <a:off x="7223760" y="2907792"/>
            <a:ext cx="155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No — no box opened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g3ca32782429_0_1232"/>
          <p:cNvSpPr/>
          <p:nvPr/>
        </p:nvSpPr>
        <p:spPr>
          <a:xfrm>
            <a:off x="320040" y="3346704"/>
            <a:ext cx="2633400" cy="457200"/>
          </a:xfrm>
          <a:prstGeom prst="rect">
            <a:avLst/>
          </a:prstGeom>
          <a:solidFill>
            <a:srgbClr val="FFF5F0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g3ca32782429_0_1232"/>
          <p:cNvSpPr/>
          <p:nvPr/>
        </p:nvSpPr>
        <p:spPr>
          <a:xfrm>
            <a:off x="3017520" y="3346704"/>
            <a:ext cx="2212800" cy="457200"/>
          </a:xfrm>
          <a:prstGeom prst="rect">
            <a:avLst/>
          </a:prstGeom>
          <a:solidFill>
            <a:srgbClr val="FFF5F0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g3ca32782429_0_1232"/>
          <p:cNvSpPr/>
          <p:nvPr/>
        </p:nvSpPr>
        <p:spPr>
          <a:xfrm>
            <a:off x="5303520" y="3346704"/>
            <a:ext cx="1755600" cy="457200"/>
          </a:xfrm>
          <a:prstGeom prst="rect">
            <a:avLst/>
          </a:prstGeom>
          <a:solidFill>
            <a:srgbClr val="FFF5F0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g3ca32782429_0_1232"/>
          <p:cNvSpPr/>
          <p:nvPr/>
        </p:nvSpPr>
        <p:spPr>
          <a:xfrm>
            <a:off x="7132320" y="3346704"/>
            <a:ext cx="1691700" cy="457200"/>
          </a:xfrm>
          <a:prstGeom prst="rect">
            <a:avLst/>
          </a:prstGeom>
          <a:solidFill>
            <a:srgbClr val="FFF5F0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g3ca32782429_0_1232"/>
          <p:cNvSpPr/>
          <p:nvPr/>
        </p:nvSpPr>
        <p:spPr>
          <a:xfrm>
            <a:off x="411480" y="3383280"/>
            <a:ext cx="24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2A (Axel family)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g3ca32782429_0_1232"/>
          <p:cNvSpPr/>
          <p:nvPr/>
        </p:nvSpPr>
        <p:spPr>
          <a:xfrm>
            <a:off x="3108960" y="3383280"/>
            <a:ext cx="207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2.5 revs — more than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g3ca32782429_0_1232"/>
          <p:cNvSpPr/>
          <p:nvPr/>
        </p:nvSpPr>
        <p:spPr>
          <a:xfrm>
            <a:off x="5394960" y="3383280"/>
            <a:ext cx="161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Yes — called normally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g3ca32782429_0_1232"/>
          <p:cNvSpPr/>
          <p:nvPr/>
        </p:nvSpPr>
        <p:spPr>
          <a:xfrm>
            <a:off x="7223760" y="3383280"/>
            <a:ext cx="155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Yes — ends sequence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g3ca32782429_0_1232"/>
          <p:cNvSpPr/>
          <p:nvPr/>
        </p:nvSpPr>
        <p:spPr>
          <a:xfrm>
            <a:off x="320040" y="3822192"/>
            <a:ext cx="2633400" cy="457200"/>
          </a:xfrm>
          <a:prstGeom prst="rect">
            <a:avLst/>
          </a:prstGeom>
          <a:solidFill>
            <a:srgbClr val="FFF5F0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g3ca32782429_0_1232"/>
          <p:cNvSpPr/>
          <p:nvPr/>
        </p:nvSpPr>
        <p:spPr>
          <a:xfrm>
            <a:off x="3017520" y="3822192"/>
            <a:ext cx="2212800" cy="457200"/>
          </a:xfrm>
          <a:prstGeom prst="rect">
            <a:avLst/>
          </a:prstGeom>
          <a:solidFill>
            <a:srgbClr val="FFF5F0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g3ca32782429_0_1232"/>
          <p:cNvSpPr/>
          <p:nvPr/>
        </p:nvSpPr>
        <p:spPr>
          <a:xfrm>
            <a:off x="5303520" y="3822192"/>
            <a:ext cx="1755600" cy="457200"/>
          </a:xfrm>
          <a:prstGeom prst="rect">
            <a:avLst/>
          </a:prstGeom>
          <a:solidFill>
            <a:srgbClr val="FFF5F0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g3ca32782429_0_1232"/>
          <p:cNvSpPr/>
          <p:nvPr/>
        </p:nvSpPr>
        <p:spPr>
          <a:xfrm>
            <a:off x="7132320" y="3822192"/>
            <a:ext cx="1691700" cy="457200"/>
          </a:xfrm>
          <a:prstGeom prst="rect">
            <a:avLst/>
          </a:prstGeom>
          <a:solidFill>
            <a:srgbClr val="FFF5F0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g3ca32782429_0_1232"/>
          <p:cNvSpPr/>
          <p:nvPr/>
        </p:nvSpPr>
        <p:spPr>
          <a:xfrm>
            <a:off x="411480" y="3858768"/>
            <a:ext cx="24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Any triple or quad jump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(3T, 3A, 4S,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g3ca32782429_0_1232"/>
          <p:cNvSpPr/>
          <p:nvPr/>
        </p:nvSpPr>
        <p:spPr>
          <a:xfrm>
            <a:off x="3108960" y="3858768"/>
            <a:ext cx="207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3+ revs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g3ca32782429_0_1232"/>
          <p:cNvSpPr/>
          <p:nvPr/>
        </p:nvSpPr>
        <p:spPr>
          <a:xfrm>
            <a:off x="5394960" y="3858768"/>
            <a:ext cx="161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Yes — called normally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g3ca32782429_0_1232"/>
          <p:cNvSpPr/>
          <p:nvPr/>
        </p:nvSpPr>
        <p:spPr>
          <a:xfrm>
            <a:off x="7223760" y="3858768"/>
            <a:ext cx="155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Yes — ends sequence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g3ca32782429_0_1232"/>
          <p:cNvSpPr/>
          <p:nvPr/>
        </p:nvSpPr>
        <p:spPr>
          <a:xfrm>
            <a:off x="320040" y="4297680"/>
            <a:ext cx="2633400" cy="457200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g3ca32782429_0_1232"/>
          <p:cNvSpPr/>
          <p:nvPr/>
        </p:nvSpPr>
        <p:spPr>
          <a:xfrm>
            <a:off x="3017520" y="4297680"/>
            <a:ext cx="2212800" cy="457200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g3ca32782429_0_1232"/>
          <p:cNvSpPr/>
          <p:nvPr/>
        </p:nvSpPr>
        <p:spPr>
          <a:xfrm>
            <a:off x="5303520" y="4297680"/>
            <a:ext cx="1755600" cy="457200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g3ca32782429_0_1232"/>
          <p:cNvSpPr/>
          <p:nvPr/>
        </p:nvSpPr>
        <p:spPr>
          <a:xfrm>
            <a:off x="7132320" y="4297680"/>
            <a:ext cx="1691700" cy="457200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D8E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g3ca32782429_0_1232"/>
          <p:cNvSpPr/>
          <p:nvPr/>
        </p:nvSpPr>
        <p:spPr>
          <a:xfrm>
            <a:off x="411480" y="4334256"/>
            <a:ext cx="249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 (any point in sequence)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g3ca32782429_0_1232"/>
          <p:cNvSpPr/>
          <p:nvPr/>
        </p:nvSpPr>
        <p:spPr>
          <a:xfrm>
            <a:off x="3108960" y="4334256"/>
            <a:ext cx="2075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N/A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g3ca32782429_0_1232"/>
          <p:cNvSpPr/>
          <p:nvPr/>
        </p:nvSpPr>
        <p:spPr>
          <a:xfrm>
            <a:off x="5394960" y="4334256"/>
            <a:ext cx="16185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Yes — always. Say "Fall"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g3ca32782429_0_1232"/>
          <p:cNvSpPr/>
          <p:nvPr/>
        </p:nvSpPr>
        <p:spPr>
          <a:xfrm>
            <a:off x="7223760" y="4334256"/>
            <a:ext cx="1554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No — sequence continues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g3ca32782429_0_1232"/>
          <p:cNvSpPr/>
          <p:nvPr/>
        </p:nvSpPr>
        <p:spPr>
          <a:xfrm>
            <a:off x="320040" y="4690872"/>
            <a:ext cx="8503800" cy="91500"/>
          </a:xfrm>
          <a:prstGeom prst="rect">
            <a:avLst/>
          </a:prstGeom>
          <a:solidFill>
            <a:srgbClr val="D6E8F7"/>
          </a:solidFill>
          <a:ln cap="flat" cmpd="sng" w="12700">
            <a:solidFill>
              <a:srgbClr val="D6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g3ca32782429_0_1232"/>
          <p:cNvSpPr/>
          <p:nvPr/>
        </p:nvSpPr>
        <p:spPr>
          <a:xfrm>
            <a:off x="457200" y="4690872"/>
            <a:ext cx="8229600" cy="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g3ca32782429_0_1232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g3ca32782429_0_1232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8F4FD"/>
                </a:solidFill>
                <a:latin typeface="Calibri"/>
                <a:ea typeface="Calibri"/>
                <a:cs typeface="Calibri"/>
                <a:sym typeface="Calibri"/>
              </a:rPr>
              <a:t>Why: The ChSq is a creative freedom zone. Skaters can spin, jump, and move without those elements invalidating each other or taking up boxes.</a:t>
            </a:r>
            <a:endParaRPr b="0" sz="1000" u="none" cap="none" strike="noStrike">
              <a:solidFill>
                <a:srgbClr val="E8F4F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ca32782429_0_130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g3ca32782429_0_1309"/>
          <p:cNvSpPr/>
          <p:nvPr/>
        </p:nvSpPr>
        <p:spPr>
          <a:xfrm>
            <a:off x="365760" y="109728"/>
            <a:ext cx="8412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ChSq vs. pChSq — Key Differences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g3ca32782429_0_1309"/>
          <p:cNvSpPr/>
          <p:nvPr/>
        </p:nvSpPr>
        <p:spPr>
          <a:xfrm>
            <a:off x="365760" y="502920"/>
            <a:ext cx="841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The same element can behave completely differently depending on which sequence type is being evaluated.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g3ca32782429_0_1309"/>
          <p:cNvSpPr/>
          <p:nvPr/>
        </p:nvSpPr>
        <p:spPr>
          <a:xfrm>
            <a:off x="274320" y="768096"/>
            <a:ext cx="4251900" cy="4389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g3ca32782429_0_1309"/>
          <p:cNvSpPr/>
          <p:nvPr/>
        </p:nvSpPr>
        <p:spPr>
          <a:xfrm>
            <a:off x="384048" y="768096"/>
            <a:ext cx="406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ChSq — Choreographic Sequence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g3ca32782429_0_1309"/>
          <p:cNvSpPr/>
          <p:nvPr/>
        </p:nvSpPr>
        <p:spPr>
          <a:xfrm>
            <a:off x="384048" y="987552"/>
            <a:ext cx="406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C8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C8A8"/>
                </a:solidFill>
                <a:latin typeface="Calibri"/>
                <a:ea typeface="Calibri"/>
                <a:cs typeface="Calibri"/>
                <a:sym typeface="Calibri"/>
              </a:rPr>
              <a:t>Novice, Junior &amp; Senior Free Skate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g3ca32782429_0_1309"/>
          <p:cNvSpPr/>
          <p:nvPr/>
        </p:nvSpPr>
        <p:spPr>
          <a:xfrm>
            <a:off x="274320" y="1280160"/>
            <a:ext cx="4251900" cy="402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g3ca32782429_0_1309"/>
          <p:cNvSpPr/>
          <p:nvPr/>
        </p:nvSpPr>
        <p:spPr>
          <a:xfrm>
            <a:off x="384048" y="1316736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Jumps ≤ 2 revs (e.g. 2Lz, 2F)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g3ca32782429_0_1309"/>
          <p:cNvSpPr/>
          <p:nvPr/>
        </p:nvSpPr>
        <p:spPr>
          <a:xfrm>
            <a:off x="2084832" y="1353312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g3ca32782429_0_1309"/>
          <p:cNvSpPr/>
          <p:nvPr/>
        </p:nvSpPr>
        <p:spPr>
          <a:xfrm>
            <a:off x="2176272" y="1316736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✓  Allowed, ignored — no box, sequence continues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g3ca32782429_0_1309"/>
          <p:cNvSpPr/>
          <p:nvPr/>
        </p:nvSpPr>
        <p:spPr>
          <a:xfrm>
            <a:off x="274320" y="1709928"/>
            <a:ext cx="42519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g3ca32782429_0_1309"/>
          <p:cNvSpPr/>
          <p:nvPr/>
        </p:nvSpPr>
        <p:spPr>
          <a:xfrm>
            <a:off x="384048" y="1746504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2A (2.5 revs)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g3ca32782429_0_1309"/>
          <p:cNvSpPr/>
          <p:nvPr/>
        </p:nvSpPr>
        <p:spPr>
          <a:xfrm>
            <a:off x="2084832" y="1783080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g3ca32782429_0_1309"/>
          <p:cNvSpPr/>
          <p:nvPr/>
        </p:nvSpPr>
        <p:spPr>
          <a:xfrm>
            <a:off x="2176272" y="1746504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✗  Ends sequence — called, occupies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g3ca32782429_0_1309"/>
          <p:cNvSpPr/>
          <p:nvPr/>
        </p:nvSpPr>
        <p:spPr>
          <a:xfrm>
            <a:off x="274320" y="3858768"/>
            <a:ext cx="4251900" cy="402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g3ca32782429_0_1309"/>
          <p:cNvSpPr/>
          <p:nvPr/>
        </p:nvSpPr>
        <p:spPr>
          <a:xfrm>
            <a:off x="384048" y="3895344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 readback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g3ca32782429_0_1309"/>
          <p:cNvSpPr/>
          <p:nvPr/>
        </p:nvSpPr>
        <p:spPr>
          <a:xfrm>
            <a:off x="274345" y="3429011"/>
            <a:ext cx="42519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g3ca32782429_0_1309"/>
          <p:cNvSpPr/>
          <p:nvPr/>
        </p:nvSpPr>
        <p:spPr>
          <a:xfrm>
            <a:off x="2084832" y="3931920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g3ca32782429_0_1309"/>
          <p:cNvSpPr/>
          <p:nvPr/>
        </p:nvSpPr>
        <p:spPr>
          <a:xfrm>
            <a:off x="2176272" y="3895344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"Choreo Confirmed" or "Choreo No Value"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0" name="Google Shape;1450;g3ca32782429_0_1309"/>
          <p:cNvSpPr/>
          <p:nvPr/>
        </p:nvSpPr>
        <p:spPr>
          <a:xfrm>
            <a:off x="384048" y="3447262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g3ca32782429_0_1309"/>
          <p:cNvSpPr/>
          <p:nvPr/>
        </p:nvSpPr>
        <p:spPr>
          <a:xfrm>
            <a:off x="2084832" y="3483838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g3ca32782429_0_1309"/>
          <p:cNvSpPr/>
          <p:nvPr/>
        </p:nvSpPr>
        <p:spPr>
          <a:xfrm>
            <a:off x="2176272" y="3447300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Always called. F tag if within sequence.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g3ca32782429_0_1309"/>
          <p:cNvSpPr/>
          <p:nvPr/>
        </p:nvSpPr>
        <p:spPr>
          <a:xfrm>
            <a:off x="4645152" y="768096"/>
            <a:ext cx="4251900" cy="438900"/>
          </a:xfrm>
          <a:prstGeom prst="rect">
            <a:avLst/>
          </a:prstGeom>
          <a:solidFill>
            <a:srgbClr val="7A5230"/>
          </a:solidFill>
          <a:ln cap="flat" cmpd="sng" w="12700">
            <a:solidFill>
              <a:srgbClr val="7A5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g3ca32782429_0_1309"/>
          <p:cNvSpPr/>
          <p:nvPr/>
        </p:nvSpPr>
        <p:spPr>
          <a:xfrm>
            <a:off x="4754880" y="768096"/>
            <a:ext cx="4069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pChSq — Partial Choreographic Sequence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g3ca32782429_0_1309"/>
          <p:cNvSpPr/>
          <p:nvPr/>
        </p:nvSpPr>
        <p:spPr>
          <a:xfrm>
            <a:off x="4754880" y="987552"/>
            <a:ext cx="406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C8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0C8A8"/>
                </a:solidFill>
                <a:latin typeface="Calibri"/>
                <a:ea typeface="Calibri"/>
                <a:cs typeface="Calibri"/>
                <a:sym typeface="Calibri"/>
              </a:rPr>
              <a:t>No Test through Pre-Juvenile Free Skate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g3ca32782429_0_1309"/>
          <p:cNvSpPr/>
          <p:nvPr/>
        </p:nvSpPr>
        <p:spPr>
          <a:xfrm>
            <a:off x="4645152" y="1280160"/>
            <a:ext cx="4251900" cy="402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g3ca32782429_0_1309"/>
          <p:cNvSpPr/>
          <p:nvPr/>
        </p:nvSpPr>
        <p:spPr>
          <a:xfrm>
            <a:off x="4754880" y="1316736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Unlisted jumps (ballet, split,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g3ca32782429_0_1309"/>
          <p:cNvSpPr/>
          <p:nvPr/>
        </p:nvSpPr>
        <p:spPr>
          <a:xfrm>
            <a:off x="6455664" y="1353312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g3ca32782429_0_1309"/>
          <p:cNvSpPr/>
          <p:nvPr/>
        </p:nvSpPr>
        <p:spPr>
          <a:xfrm>
            <a:off x="274320" y="2139689"/>
            <a:ext cx="4251900" cy="402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g3ca32782429_0_1309"/>
          <p:cNvSpPr/>
          <p:nvPr/>
        </p:nvSpPr>
        <p:spPr>
          <a:xfrm>
            <a:off x="384048" y="2176265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Spins (any)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g3ca32782429_0_1309"/>
          <p:cNvSpPr/>
          <p:nvPr/>
        </p:nvSpPr>
        <p:spPr>
          <a:xfrm>
            <a:off x="2084832" y="2212841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g3ca32782429_0_1309"/>
          <p:cNvSpPr/>
          <p:nvPr/>
        </p:nvSpPr>
        <p:spPr>
          <a:xfrm>
            <a:off x="2176272" y="2176265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✓  Allowed, ignored — no box, sequence continues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g3ca32782429_0_1309"/>
          <p:cNvSpPr/>
          <p:nvPr/>
        </p:nvSpPr>
        <p:spPr>
          <a:xfrm>
            <a:off x="274320" y="2569457"/>
            <a:ext cx="4251900" cy="402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g3ca32782429_0_1309"/>
          <p:cNvSpPr/>
          <p:nvPr/>
        </p:nvSpPr>
        <p:spPr>
          <a:xfrm>
            <a:off x="384048" y="2606033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Confirmation threshold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g3ca32782429_0_1309"/>
          <p:cNvSpPr/>
          <p:nvPr/>
        </p:nvSpPr>
        <p:spPr>
          <a:xfrm>
            <a:off x="2084832" y="2642609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g3ca32782429_0_1309"/>
          <p:cNvSpPr/>
          <p:nvPr/>
        </p:nvSpPr>
        <p:spPr>
          <a:xfrm>
            <a:off x="2176272" y="2606033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2 different skating elements (spirals, spread eagles, etc.)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g3ca32782429_0_1309"/>
          <p:cNvSpPr/>
          <p:nvPr/>
        </p:nvSpPr>
        <p:spPr>
          <a:xfrm>
            <a:off x="6547104" y="1316736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✓  Allowed — may count toward confirmation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g3ca32782429_0_1309"/>
          <p:cNvSpPr/>
          <p:nvPr/>
        </p:nvSpPr>
        <p:spPr>
          <a:xfrm>
            <a:off x="4645152" y="1709928"/>
            <a:ext cx="42519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g3ca32782429_0_1309"/>
          <p:cNvSpPr/>
          <p:nvPr/>
        </p:nvSpPr>
        <p:spPr>
          <a:xfrm>
            <a:off x="4754880" y="1746504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Listed jumps (any) OR spin ≥ 3 revs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g3ca32782429_0_1309"/>
          <p:cNvSpPr/>
          <p:nvPr/>
        </p:nvSpPr>
        <p:spPr>
          <a:xfrm>
            <a:off x="6455664" y="1783080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g3ca32782429_0_1309"/>
          <p:cNvSpPr/>
          <p:nvPr/>
        </p:nvSpPr>
        <p:spPr>
          <a:xfrm>
            <a:off x="6547104" y="1746504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✗  Ends sequence immediately — called, occupies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g3ca32782429_0_1309"/>
          <p:cNvSpPr/>
          <p:nvPr/>
        </p:nvSpPr>
        <p:spPr>
          <a:xfrm>
            <a:off x="4645152" y="2139696"/>
            <a:ext cx="4251900" cy="402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g3ca32782429_0_1309"/>
          <p:cNvSpPr/>
          <p:nvPr/>
        </p:nvSpPr>
        <p:spPr>
          <a:xfrm>
            <a:off x="4754880" y="2176272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Spins &lt; 3 revs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g3ca32782429_0_1309"/>
          <p:cNvSpPr/>
          <p:nvPr/>
        </p:nvSpPr>
        <p:spPr>
          <a:xfrm>
            <a:off x="6455664" y="2212848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g3ca32782429_0_1309"/>
          <p:cNvSpPr/>
          <p:nvPr/>
        </p:nvSpPr>
        <p:spPr>
          <a:xfrm>
            <a:off x="6547104" y="2176272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✓  Allowed — treated as part of sequence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g3ca32782429_0_1309"/>
          <p:cNvSpPr/>
          <p:nvPr/>
        </p:nvSpPr>
        <p:spPr>
          <a:xfrm>
            <a:off x="4645152" y="2569464"/>
            <a:ext cx="42519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g3ca32782429_0_1309"/>
          <p:cNvSpPr/>
          <p:nvPr/>
        </p:nvSpPr>
        <p:spPr>
          <a:xfrm>
            <a:off x="4754880" y="2606040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Confirmation threshold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g3ca32782429_0_1309"/>
          <p:cNvSpPr/>
          <p:nvPr/>
        </p:nvSpPr>
        <p:spPr>
          <a:xfrm>
            <a:off x="6455664" y="2642616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g3ca32782429_0_1309"/>
          <p:cNvSpPr/>
          <p:nvPr/>
        </p:nvSpPr>
        <p:spPr>
          <a:xfrm>
            <a:off x="6547104" y="2606040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2 different skating movements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g3ca32782429_0_1309"/>
          <p:cNvSpPr/>
          <p:nvPr/>
        </p:nvSpPr>
        <p:spPr>
          <a:xfrm>
            <a:off x="4645152" y="2999232"/>
            <a:ext cx="4251900" cy="402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g3ca32782429_0_1309"/>
          <p:cNvSpPr/>
          <p:nvPr/>
        </p:nvSpPr>
        <p:spPr>
          <a:xfrm>
            <a:off x="4754880" y="3035808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Verbal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g3ca32782429_0_1309"/>
          <p:cNvSpPr/>
          <p:nvPr/>
        </p:nvSpPr>
        <p:spPr>
          <a:xfrm>
            <a:off x="6455664" y="3072384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g3ca32782429_0_1309"/>
          <p:cNvSpPr/>
          <p:nvPr/>
        </p:nvSpPr>
        <p:spPr>
          <a:xfrm>
            <a:off x="6547104" y="3035808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"Choreo Sequence" (TS1 does NOT say "partial")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g3ca32782429_0_1309"/>
          <p:cNvSpPr/>
          <p:nvPr/>
        </p:nvSpPr>
        <p:spPr>
          <a:xfrm>
            <a:off x="4645152" y="3858768"/>
            <a:ext cx="4251900" cy="402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g3ca32782429_0_1309"/>
          <p:cNvSpPr/>
          <p:nvPr/>
        </p:nvSpPr>
        <p:spPr>
          <a:xfrm>
            <a:off x="4754880" y="3895344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 readback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g3ca32782429_0_1309"/>
          <p:cNvSpPr/>
          <p:nvPr/>
        </p:nvSpPr>
        <p:spPr>
          <a:xfrm>
            <a:off x="6455664" y="3931920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g3ca32782429_0_1309"/>
          <p:cNvSpPr/>
          <p:nvPr/>
        </p:nvSpPr>
        <p:spPr>
          <a:xfrm>
            <a:off x="6547104" y="3895344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"P Choreo Confirmed" or "P Choreo No Value"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g3ca32782429_0_1309"/>
          <p:cNvSpPr/>
          <p:nvPr/>
        </p:nvSpPr>
        <p:spPr>
          <a:xfrm>
            <a:off x="4645152" y="3429011"/>
            <a:ext cx="42519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g3ca32782429_0_1309"/>
          <p:cNvSpPr/>
          <p:nvPr/>
        </p:nvSpPr>
        <p:spPr>
          <a:xfrm>
            <a:off x="4754880" y="3465587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Falls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g3ca32782429_0_1309"/>
          <p:cNvSpPr/>
          <p:nvPr/>
        </p:nvSpPr>
        <p:spPr>
          <a:xfrm>
            <a:off x="6455664" y="3502163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g3ca32782429_0_1309"/>
          <p:cNvSpPr/>
          <p:nvPr/>
        </p:nvSpPr>
        <p:spPr>
          <a:xfrm>
            <a:off x="6547104" y="3465587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Always called. F tag if within sequence.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g3ca32782429_0_1309"/>
          <p:cNvSpPr/>
          <p:nvPr/>
        </p:nvSpPr>
        <p:spPr>
          <a:xfrm>
            <a:off x="297100" y="4343507"/>
            <a:ext cx="8641200" cy="402300"/>
          </a:xfrm>
          <a:prstGeom prst="rect">
            <a:avLst/>
          </a:prstGeom>
          <a:solidFill>
            <a:srgbClr val="FFF8EC"/>
          </a:solidFill>
          <a:ln cap="flat" cmpd="sng" w="12700">
            <a:solidFill>
              <a:srgbClr val="E0C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g3ca32782429_0_1309"/>
          <p:cNvSpPr/>
          <p:nvPr/>
        </p:nvSpPr>
        <p:spPr>
          <a:xfrm>
            <a:off x="411400" y="4338856"/>
            <a:ext cx="8412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800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8A6800"/>
                </a:solidFill>
                <a:latin typeface="Calibri"/>
                <a:ea typeface="Calibri"/>
                <a:cs typeface="Calibri"/>
                <a:sym typeface="Calibri"/>
              </a:rPr>
              <a:t>★  Critical distinction: A 2Lz inside a ChSq is ignored (2 revs — under the limit). The same 2Lz inside a pChSq ends the sequence (it's a listed jump).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g3ca32782429_0_1309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g3ca32782429_0_1309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ChSq Framework — Slide 3  |  [TPH-S §CHSQ]  [USFS Domestic Clarifications Pre-Juv &amp; Below v1.0 12/18/25]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g3ca32782429_0_1309"/>
          <p:cNvSpPr/>
          <p:nvPr/>
        </p:nvSpPr>
        <p:spPr>
          <a:xfrm>
            <a:off x="274327" y="2999232"/>
            <a:ext cx="4251900" cy="402300"/>
          </a:xfrm>
          <a:prstGeom prst="rect">
            <a:avLst/>
          </a:prstGeom>
          <a:solidFill>
            <a:srgbClr val="F4F8FC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g3ca32782429_0_1309"/>
          <p:cNvSpPr/>
          <p:nvPr/>
        </p:nvSpPr>
        <p:spPr>
          <a:xfrm>
            <a:off x="384055" y="3035808"/>
            <a:ext cx="1691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Verbal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g3ca32782429_0_1309"/>
          <p:cNvSpPr/>
          <p:nvPr/>
        </p:nvSpPr>
        <p:spPr>
          <a:xfrm>
            <a:off x="2084839" y="3072384"/>
            <a:ext cx="18300" cy="255900"/>
          </a:xfrm>
          <a:prstGeom prst="rect">
            <a:avLst/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g3ca32782429_0_1309"/>
          <p:cNvSpPr/>
          <p:nvPr/>
        </p:nvSpPr>
        <p:spPr>
          <a:xfrm>
            <a:off x="2176279" y="3035808"/>
            <a:ext cx="226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"Choreo Sequence"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D"/>
        </a:solidFill>
      </p:bgPr>
    </p:bg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ca32782429_0_138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g3ca32782429_0_1382"/>
          <p:cNvSpPr/>
          <p:nvPr/>
        </p:nvSpPr>
        <p:spPr>
          <a:xfrm>
            <a:off x="365760" y="109728"/>
            <a:ext cx="8412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ChSq — Common Mistakes on Tests &amp; in Practice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g3ca32782429_0_1382"/>
          <p:cNvSpPr/>
          <p:nvPr/>
        </p:nvSpPr>
        <p:spPr>
          <a:xfrm>
            <a:off x="365760" y="502920"/>
            <a:ext cx="841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These are the most frequently missed rules — each drawn from actual test questions.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g3ca32782429_0_1382"/>
          <p:cNvSpPr/>
          <p:nvPr/>
        </p:nvSpPr>
        <p:spPr>
          <a:xfrm>
            <a:off x="274320" y="786384"/>
            <a:ext cx="2788800" cy="190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90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g3ca32782429_0_1382"/>
          <p:cNvSpPr/>
          <p:nvPr/>
        </p:nvSpPr>
        <p:spPr>
          <a:xfrm>
            <a:off x="274320" y="786384"/>
            <a:ext cx="2788800" cy="457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g3ca32782429_0_1382"/>
          <p:cNvSpPr/>
          <p:nvPr/>
        </p:nvSpPr>
        <p:spPr>
          <a:xfrm>
            <a:off x="384048" y="914400"/>
            <a:ext cx="201300" cy="201300"/>
          </a:xfrm>
          <a:prstGeom prst="rect">
            <a:avLst/>
          </a:prstGeom>
          <a:solidFill>
            <a:srgbClr val="7A2810"/>
          </a:solidFill>
          <a:ln cap="flat" cmpd="sng" w="12700">
            <a:solidFill>
              <a:srgbClr val="7A28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g3ca32782429_0_1382"/>
          <p:cNvSpPr/>
          <p:nvPr/>
        </p:nvSpPr>
        <p:spPr>
          <a:xfrm>
            <a:off x="384048" y="91440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g3ca32782429_0_1382"/>
          <p:cNvSpPr/>
          <p:nvPr/>
        </p:nvSpPr>
        <p:spPr>
          <a:xfrm>
            <a:off x="658368" y="841248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"ChSq is Senior only"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g3ca32782429_0_1382"/>
          <p:cNvSpPr/>
          <p:nvPr/>
        </p:nvSpPr>
        <p:spPr>
          <a:xfrm>
            <a:off x="274320" y="1243584"/>
            <a:ext cx="2788800" cy="4023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B0D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g3ca32782429_0_1382"/>
          <p:cNvSpPr/>
          <p:nvPr/>
        </p:nvSpPr>
        <p:spPr>
          <a:xfrm>
            <a:off x="384048" y="1335024"/>
            <a:ext cx="201300" cy="201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g3ca32782429_0_1382"/>
          <p:cNvSpPr/>
          <p:nvPr/>
        </p:nvSpPr>
        <p:spPr>
          <a:xfrm>
            <a:off x="384048" y="1335024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g3ca32782429_0_1382"/>
          <p:cNvSpPr/>
          <p:nvPr/>
        </p:nvSpPr>
        <p:spPr>
          <a:xfrm>
            <a:off x="658368" y="1261872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Required in Novice, Junior, AND Senior FS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g3ca32782429_0_1382"/>
          <p:cNvSpPr/>
          <p:nvPr/>
        </p:nvSpPr>
        <p:spPr>
          <a:xfrm>
            <a:off x="411480" y="1700784"/>
            <a:ext cx="25602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Novice is frequently overlooked. If you're calling Novice FS, there's a ChSq.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g3ca32782429_0_1382"/>
          <p:cNvSpPr/>
          <p:nvPr/>
        </p:nvSpPr>
        <p:spPr>
          <a:xfrm>
            <a:off x="3172968" y="786384"/>
            <a:ext cx="2788800" cy="190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90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g3ca32782429_0_1382"/>
          <p:cNvSpPr/>
          <p:nvPr/>
        </p:nvSpPr>
        <p:spPr>
          <a:xfrm>
            <a:off x="3172968" y="786384"/>
            <a:ext cx="2788800" cy="457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g3ca32782429_0_1382"/>
          <p:cNvSpPr/>
          <p:nvPr/>
        </p:nvSpPr>
        <p:spPr>
          <a:xfrm>
            <a:off x="3282696" y="914400"/>
            <a:ext cx="201300" cy="201300"/>
          </a:xfrm>
          <a:prstGeom prst="rect">
            <a:avLst/>
          </a:prstGeom>
          <a:solidFill>
            <a:srgbClr val="7A2810"/>
          </a:solidFill>
          <a:ln cap="flat" cmpd="sng" w="12700">
            <a:solidFill>
              <a:srgbClr val="7A28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g3ca32782429_0_1382"/>
          <p:cNvSpPr/>
          <p:nvPr/>
        </p:nvSpPr>
        <p:spPr>
          <a:xfrm>
            <a:off x="3282696" y="91440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g3ca32782429_0_1382"/>
          <p:cNvSpPr/>
          <p:nvPr/>
        </p:nvSpPr>
        <p:spPr>
          <a:xfrm>
            <a:off x="3557016" y="841248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"A spiral must be included for the ChSq to be confirmed"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g3ca32782429_0_1382"/>
          <p:cNvSpPr/>
          <p:nvPr/>
        </p:nvSpPr>
        <p:spPr>
          <a:xfrm>
            <a:off x="3172968" y="1243584"/>
            <a:ext cx="2788800" cy="4023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B0D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g3ca32782429_0_1382"/>
          <p:cNvSpPr/>
          <p:nvPr/>
        </p:nvSpPr>
        <p:spPr>
          <a:xfrm>
            <a:off x="3282696" y="1335024"/>
            <a:ext cx="201300" cy="201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g3ca32782429_0_1382"/>
          <p:cNvSpPr/>
          <p:nvPr/>
        </p:nvSpPr>
        <p:spPr>
          <a:xfrm>
            <a:off x="3282696" y="1335024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g3ca32782429_0_1382"/>
          <p:cNvSpPr/>
          <p:nvPr/>
        </p:nvSpPr>
        <p:spPr>
          <a:xfrm>
            <a:off x="3557016" y="1261872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Any 2 different skating movements confirm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g3ca32782429_0_1382"/>
          <p:cNvSpPr/>
          <p:nvPr/>
        </p:nvSpPr>
        <p:spPr>
          <a:xfrm>
            <a:off x="3310128" y="1700784"/>
            <a:ext cx="25602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Spirals are one example. A spread eagle + Ina Bauer confirms it just as well.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g3ca32782429_0_1382"/>
          <p:cNvSpPr/>
          <p:nvPr/>
        </p:nvSpPr>
        <p:spPr>
          <a:xfrm>
            <a:off x="6071616" y="786384"/>
            <a:ext cx="2788800" cy="190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90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g3ca32782429_0_1382"/>
          <p:cNvSpPr/>
          <p:nvPr/>
        </p:nvSpPr>
        <p:spPr>
          <a:xfrm>
            <a:off x="6071616" y="786384"/>
            <a:ext cx="2788800" cy="457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g3ca32782429_0_1382"/>
          <p:cNvSpPr/>
          <p:nvPr/>
        </p:nvSpPr>
        <p:spPr>
          <a:xfrm>
            <a:off x="6181344" y="914400"/>
            <a:ext cx="201300" cy="201300"/>
          </a:xfrm>
          <a:prstGeom prst="rect">
            <a:avLst/>
          </a:prstGeom>
          <a:solidFill>
            <a:srgbClr val="7A2810"/>
          </a:solidFill>
          <a:ln cap="flat" cmpd="sng" w="12700">
            <a:solidFill>
              <a:srgbClr val="7A28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g3ca32782429_0_1382"/>
          <p:cNvSpPr/>
          <p:nvPr/>
        </p:nvSpPr>
        <p:spPr>
          <a:xfrm>
            <a:off x="6181344" y="91440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g3ca32782429_0_1382"/>
          <p:cNvSpPr/>
          <p:nvPr/>
        </p:nvSpPr>
        <p:spPr>
          <a:xfrm>
            <a:off x="6455664" y="841248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"The step sequence must come before the ChSq"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g3ca32782429_0_1382"/>
          <p:cNvSpPr/>
          <p:nvPr/>
        </p:nvSpPr>
        <p:spPr>
          <a:xfrm>
            <a:off x="6071616" y="1243584"/>
            <a:ext cx="2788800" cy="4023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B0D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g3ca32782429_0_1382"/>
          <p:cNvSpPr/>
          <p:nvPr/>
        </p:nvSpPr>
        <p:spPr>
          <a:xfrm>
            <a:off x="6181344" y="1335024"/>
            <a:ext cx="201300" cy="201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g3ca32782429_0_1382"/>
          <p:cNvSpPr/>
          <p:nvPr/>
        </p:nvSpPr>
        <p:spPr>
          <a:xfrm>
            <a:off x="6181344" y="1335024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g3ca32782429_0_1382"/>
          <p:cNvSpPr/>
          <p:nvPr/>
        </p:nvSpPr>
        <p:spPr>
          <a:xfrm>
            <a:off x="6455664" y="1261872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Order is not fixed — ChSq may come before or after StSq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g3ca32782429_0_1382"/>
          <p:cNvSpPr/>
          <p:nvPr/>
        </p:nvSpPr>
        <p:spPr>
          <a:xfrm>
            <a:off x="6208776" y="1700784"/>
            <a:ext cx="25602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Skaters choose the order. The panel does not penalize based on placement.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g3ca32782429_0_1382"/>
          <p:cNvSpPr/>
          <p:nvPr/>
        </p:nvSpPr>
        <p:spPr>
          <a:xfrm>
            <a:off x="274320" y="2798064"/>
            <a:ext cx="2788800" cy="190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90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g3ca32782429_0_1382"/>
          <p:cNvSpPr/>
          <p:nvPr/>
        </p:nvSpPr>
        <p:spPr>
          <a:xfrm>
            <a:off x="274320" y="2798064"/>
            <a:ext cx="2788800" cy="457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g3ca32782429_0_1382"/>
          <p:cNvSpPr/>
          <p:nvPr/>
        </p:nvSpPr>
        <p:spPr>
          <a:xfrm>
            <a:off x="384048" y="2926080"/>
            <a:ext cx="201300" cy="201300"/>
          </a:xfrm>
          <a:prstGeom prst="rect">
            <a:avLst/>
          </a:prstGeom>
          <a:solidFill>
            <a:srgbClr val="7A2810"/>
          </a:solidFill>
          <a:ln cap="flat" cmpd="sng" w="12700">
            <a:solidFill>
              <a:srgbClr val="7A28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g3ca32782429_0_1382"/>
          <p:cNvSpPr/>
          <p:nvPr/>
        </p:nvSpPr>
        <p:spPr>
          <a:xfrm>
            <a:off x="384048" y="292608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g3ca32782429_0_1382"/>
          <p:cNvSpPr/>
          <p:nvPr/>
        </p:nvSpPr>
        <p:spPr>
          <a:xfrm>
            <a:off x="658368" y="2852928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"2A stays in the ChSq — it's only a double"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g3ca32782429_0_1382"/>
          <p:cNvSpPr/>
          <p:nvPr/>
        </p:nvSpPr>
        <p:spPr>
          <a:xfrm>
            <a:off x="274320" y="3255264"/>
            <a:ext cx="2788800" cy="4023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B0D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g3ca32782429_0_1382"/>
          <p:cNvSpPr/>
          <p:nvPr/>
        </p:nvSpPr>
        <p:spPr>
          <a:xfrm>
            <a:off x="384048" y="3346704"/>
            <a:ext cx="201300" cy="201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g3ca32782429_0_1382"/>
          <p:cNvSpPr/>
          <p:nvPr/>
        </p:nvSpPr>
        <p:spPr>
          <a:xfrm>
            <a:off x="384048" y="3346704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g3ca32782429_0_1382"/>
          <p:cNvSpPr/>
          <p:nvPr/>
        </p:nvSpPr>
        <p:spPr>
          <a:xfrm>
            <a:off x="658368" y="3273552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2A has 2.5 revolutions — it exceeds the 2-rev limit and ends the sequence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g3ca32782429_0_1382"/>
          <p:cNvSpPr/>
          <p:nvPr/>
        </p:nvSpPr>
        <p:spPr>
          <a:xfrm>
            <a:off x="411480" y="3712464"/>
            <a:ext cx="25602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The Axel family always has a half-revolution more. 2A is NOT the same as 2Lz.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g3ca32782429_0_1382"/>
          <p:cNvSpPr/>
          <p:nvPr/>
        </p:nvSpPr>
        <p:spPr>
          <a:xfrm>
            <a:off x="3172968" y="2798064"/>
            <a:ext cx="2788800" cy="190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90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g3ca32782429_0_1382"/>
          <p:cNvSpPr/>
          <p:nvPr/>
        </p:nvSpPr>
        <p:spPr>
          <a:xfrm>
            <a:off x="3172968" y="2798064"/>
            <a:ext cx="2788800" cy="457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g3ca32782429_0_1382"/>
          <p:cNvSpPr/>
          <p:nvPr/>
        </p:nvSpPr>
        <p:spPr>
          <a:xfrm>
            <a:off x="3282696" y="2926080"/>
            <a:ext cx="201300" cy="201300"/>
          </a:xfrm>
          <a:prstGeom prst="rect">
            <a:avLst/>
          </a:prstGeom>
          <a:solidFill>
            <a:srgbClr val="7A2810"/>
          </a:solidFill>
          <a:ln cap="flat" cmpd="sng" w="12700">
            <a:solidFill>
              <a:srgbClr val="7A28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g3ca32782429_0_1382"/>
          <p:cNvSpPr/>
          <p:nvPr/>
        </p:nvSpPr>
        <p:spPr>
          <a:xfrm>
            <a:off x="3282696" y="292608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g3ca32782429_0_1382"/>
          <p:cNvSpPr/>
          <p:nvPr/>
        </p:nvSpPr>
        <p:spPr>
          <a:xfrm>
            <a:off x="3557016" y="2852928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"2Lz is a listed jump, so it ends the ChSq"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g3ca32782429_0_1382"/>
          <p:cNvSpPr/>
          <p:nvPr/>
        </p:nvSpPr>
        <p:spPr>
          <a:xfrm>
            <a:off x="3172968" y="3255264"/>
            <a:ext cx="2788800" cy="4023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B0D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g3ca32782429_0_1382"/>
          <p:cNvSpPr/>
          <p:nvPr/>
        </p:nvSpPr>
        <p:spPr>
          <a:xfrm>
            <a:off x="3282696" y="3346704"/>
            <a:ext cx="201300" cy="201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g3ca32782429_0_1382"/>
          <p:cNvSpPr/>
          <p:nvPr/>
        </p:nvSpPr>
        <p:spPr>
          <a:xfrm>
            <a:off x="3282696" y="3346704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g3ca32782429_0_1382"/>
          <p:cNvSpPr/>
          <p:nvPr/>
        </p:nvSpPr>
        <p:spPr>
          <a:xfrm>
            <a:off x="3557016" y="3273552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2Lz has exactly 2 revolutions — it stays in, is ignored, no box opened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g3ca32782429_0_1382"/>
          <p:cNvSpPr/>
          <p:nvPr/>
        </p:nvSpPr>
        <p:spPr>
          <a:xfrm>
            <a:off x="3310128" y="3712464"/>
            <a:ext cx="25602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Inside a ChSq, listed vs. unlisted is irrelevant. Only revolution count matters.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g3ca32782429_0_1382"/>
          <p:cNvSpPr/>
          <p:nvPr/>
        </p:nvSpPr>
        <p:spPr>
          <a:xfrm>
            <a:off x="6071616" y="2798064"/>
            <a:ext cx="2788800" cy="190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90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g3ca32782429_0_1382"/>
          <p:cNvSpPr/>
          <p:nvPr/>
        </p:nvSpPr>
        <p:spPr>
          <a:xfrm>
            <a:off x="6071616" y="2798064"/>
            <a:ext cx="2788800" cy="457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g3ca32782429_0_1382"/>
          <p:cNvSpPr/>
          <p:nvPr/>
        </p:nvSpPr>
        <p:spPr>
          <a:xfrm>
            <a:off x="6181344" y="2926080"/>
            <a:ext cx="201300" cy="201300"/>
          </a:xfrm>
          <a:prstGeom prst="rect">
            <a:avLst/>
          </a:prstGeom>
          <a:solidFill>
            <a:srgbClr val="7A2810"/>
          </a:solidFill>
          <a:ln cap="flat" cmpd="sng" w="12700">
            <a:solidFill>
              <a:srgbClr val="7A28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g3ca32782429_0_1382"/>
          <p:cNvSpPr/>
          <p:nvPr/>
        </p:nvSpPr>
        <p:spPr>
          <a:xfrm>
            <a:off x="6181344" y="292608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g3ca32782429_0_1382"/>
          <p:cNvSpPr/>
          <p:nvPr/>
        </p:nvSpPr>
        <p:spPr>
          <a:xfrm>
            <a:off x="6455664" y="2852928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"Call "Choreo Sequence Not Confirmed" if it fails"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g3ca32782429_0_1382"/>
          <p:cNvSpPr/>
          <p:nvPr/>
        </p:nvSpPr>
        <p:spPr>
          <a:xfrm>
            <a:off x="6071616" y="3255264"/>
            <a:ext cx="2788800" cy="402300"/>
          </a:xfrm>
          <a:prstGeom prst="rect">
            <a:avLst/>
          </a:prstGeom>
          <a:solidFill>
            <a:srgbClr val="E8F5F1"/>
          </a:solidFill>
          <a:ln cap="flat" cmpd="sng" w="12700">
            <a:solidFill>
              <a:srgbClr val="B0D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g3ca32782429_0_1382"/>
          <p:cNvSpPr/>
          <p:nvPr/>
        </p:nvSpPr>
        <p:spPr>
          <a:xfrm>
            <a:off x="6181344" y="3346704"/>
            <a:ext cx="201300" cy="201300"/>
          </a:xfrm>
          <a:prstGeom prst="rect">
            <a:avLst/>
          </a:prstGeom>
          <a:solidFill>
            <a:srgbClr val="2E7D6B"/>
          </a:solidFill>
          <a:ln cap="flat" cmpd="sng" w="12700">
            <a:solidFill>
              <a:srgbClr val="2E7D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g3ca32782429_0_1382"/>
          <p:cNvSpPr/>
          <p:nvPr/>
        </p:nvSpPr>
        <p:spPr>
          <a:xfrm>
            <a:off x="6181344" y="3346704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g3ca32782429_0_1382"/>
          <p:cNvSpPr/>
          <p:nvPr/>
        </p:nvSpPr>
        <p:spPr>
          <a:xfrm>
            <a:off x="6455664" y="3273552"/>
            <a:ext cx="2295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7D6B"/>
                </a:solidFill>
                <a:latin typeface="Calibri"/>
                <a:ea typeface="Calibri"/>
                <a:cs typeface="Calibri"/>
                <a:sym typeface="Calibri"/>
              </a:rPr>
              <a:t>Call is "NO VALUE" — never "Not Confirmed" or "Zero"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g3ca32782429_0_1382"/>
          <p:cNvSpPr/>
          <p:nvPr/>
        </p:nvSpPr>
        <p:spPr>
          <a:xfrm>
            <a:off x="6208776" y="3712464"/>
            <a:ext cx="25602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Two outcomes only: CONFIRMED or NO VALUE. Nothing else is ever said.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g3ca32782429_0_1382"/>
          <p:cNvSpPr/>
          <p:nvPr/>
        </p:nvSpPr>
        <p:spPr>
          <a:xfrm>
            <a:off x="0" y="4818888"/>
            <a:ext cx="9144000" cy="3246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g3ca32782429_0_1382"/>
          <p:cNvSpPr/>
          <p:nvPr/>
        </p:nvSpPr>
        <p:spPr>
          <a:xfrm>
            <a:off x="274320" y="4818888"/>
            <a:ext cx="8595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ChSq Framework — Slide 4  |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 1 — 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11"/>
          <p:cNvSpPr/>
          <p:nvPr/>
        </p:nvSpPr>
        <p:spPr>
          <a:xfrm>
            <a:off x="365760" y="1014984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1"/>
          <p:cNvSpPr/>
          <p:nvPr/>
        </p:nvSpPr>
        <p:spPr>
          <a:xfrm>
            <a:off x="365760" y="10149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11"/>
          <p:cNvSpPr/>
          <p:nvPr/>
        </p:nvSpPr>
        <p:spPr>
          <a:xfrm>
            <a:off x="914400" y="960120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 panel roles and responsibilities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11"/>
          <p:cNvSpPr/>
          <p:nvPr/>
        </p:nvSpPr>
        <p:spPr>
          <a:xfrm>
            <a:off x="365760" y="1673352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1"/>
          <p:cNvSpPr/>
          <p:nvPr/>
        </p:nvSpPr>
        <p:spPr>
          <a:xfrm>
            <a:off x="365760" y="167335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11"/>
          <p:cNvSpPr/>
          <p:nvPr/>
        </p:nvSpPr>
        <p:spPr>
          <a:xfrm>
            <a:off x="914400" y="1618488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foundational principles when calling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11"/>
          <p:cNvSpPr/>
          <p:nvPr/>
        </p:nvSpPr>
        <p:spPr>
          <a:xfrm>
            <a:off x="365760" y="2331720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11"/>
          <p:cNvSpPr/>
          <p:nvPr/>
        </p:nvSpPr>
        <p:spPr>
          <a:xfrm>
            <a:off x="365760" y="23317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11"/>
          <p:cNvSpPr/>
          <p:nvPr/>
        </p:nvSpPr>
        <p:spPr>
          <a:xfrm>
            <a:off x="914400" y="2276856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Importance of economy of language and setting an achievable standard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11"/>
          <p:cNvSpPr/>
          <p:nvPr/>
        </p:nvSpPr>
        <p:spPr>
          <a:xfrm>
            <a:off x="365760" y="2990088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1"/>
          <p:cNvSpPr/>
          <p:nvPr/>
        </p:nvSpPr>
        <p:spPr>
          <a:xfrm>
            <a:off x="365760" y="2990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11"/>
          <p:cNvSpPr/>
          <p:nvPr/>
        </p:nvSpPr>
        <p:spPr>
          <a:xfrm>
            <a:off x="914400" y="2935224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'fall' means majority of body weight supported by anything other than blades.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11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11"/>
          <p:cNvSpPr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11"/>
          <p:cNvSpPr/>
          <p:nvPr/>
        </p:nvSpPr>
        <p:spPr>
          <a:xfrm>
            <a:off x="914400" y="3593592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Falls inside elements and outside elements are called differently.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1"/>
          <p:cNvSpPr/>
          <p:nvPr/>
        </p:nvSpPr>
        <p:spPr>
          <a:xfrm>
            <a:off x="365760" y="4306824"/>
            <a:ext cx="384048" cy="384048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1"/>
          <p:cNvSpPr/>
          <p:nvPr/>
        </p:nvSpPr>
        <p:spPr>
          <a:xfrm>
            <a:off x="365760" y="43068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11"/>
          <p:cNvSpPr/>
          <p:nvPr/>
        </p:nvSpPr>
        <p:spPr>
          <a:xfrm>
            <a:off x="914400" y="4251960"/>
            <a:ext cx="7863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ChSq requires ≥2 different skating movements. Jumps &gt;2 revs END the ChSq.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A3C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BA3CC"/>
                </a:solidFill>
                <a:latin typeface="Calibri"/>
                <a:ea typeface="Calibri"/>
                <a:cs typeface="Calibri"/>
                <a:sym typeface="Calibri"/>
              </a:rPr>
              <a:t>Next: Session 2 — Jumps Part 1 (Solo jumps, rotation calls, edge errors, quarters &amp; downgrades)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4B"/>
        </a:solidFill>
      </p:bgPr>
    </p:bg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3ca32782429_0_1459"/>
          <p:cNvSpPr/>
          <p:nvPr/>
        </p:nvSpPr>
        <p:spPr>
          <a:xfrm>
            <a:off x="0" y="0"/>
            <a:ext cx="9144000" cy="109800"/>
          </a:xfrm>
          <a:prstGeom prst="rect">
            <a:avLst/>
          </a:prstGeom>
          <a:solidFill>
            <a:srgbClr val="C8922A"/>
          </a:solidFill>
          <a:ln cap="flat" cmpd="sng" w="1270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g3ca32782429_0_1459"/>
          <p:cNvSpPr/>
          <p:nvPr/>
        </p:nvSpPr>
        <p:spPr>
          <a:xfrm>
            <a:off x="457200" y="22860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</a:t>
            </a: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Preparation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g3ca32782429_0_1459"/>
          <p:cNvSpPr/>
          <p:nvPr/>
        </p:nvSpPr>
        <p:spPr>
          <a:xfrm>
            <a:off x="0" y="4846320"/>
            <a:ext cx="9144000" cy="297300"/>
          </a:xfrm>
          <a:prstGeom prst="rect">
            <a:avLst/>
          </a:prstGeom>
          <a:solidFill>
            <a:srgbClr val="1E3A6E"/>
          </a:solidFill>
          <a:ln cap="flat" cmpd="sng" w="12700">
            <a:solidFill>
              <a:srgbClr val="1E3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g3ca32782429_0_1459"/>
          <p:cNvSpPr/>
          <p:nvPr/>
        </p:nvSpPr>
        <p:spPr>
          <a:xfrm>
            <a:off x="274320" y="4846320"/>
            <a:ext cx="85953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4F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Preview: Session </a:t>
            </a:r>
            <a:r>
              <a:rPr i="1" lang="en-US" sz="9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 covers </a:t>
            </a:r>
            <a:r>
              <a:rPr i="1" lang="en-US" sz="900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Jumps</a:t>
            </a:r>
            <a:r>
              <a:rPr b="0" i="1" lang="en-US" sz="900" u="none" cap="none" strike="noStrike">
                <a:solidFill>
                  <a:srgbClr val="D6E4F0"/>
                </a:solidFill>
                <a:latin typeface="Calibri"/>
                <a:ea typeface="Calibri"/>
                <a:cs typeface="Calibri"/>
                <a:sym typeface="Calibri"/>
              </a:rPr>
              <a:t> — Rule vetting: *, +REP, +COMBO, second half bonus, and jump achievement bonus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g3ca32782429_0_1459"/>
          <p:cNvSpPr/>
          <p:nvPr/>
        </p:nvSpPr>
        <p:spPr>
          <a:xfrm>
            <a:off x="320050" y="1037697"/>
            <a:ext cx="2743200" cy="2162100"/>
          </a:xfrm>
          <a:prstGeom prst="rect">
            <a:avLst/>
          </a:prstGeom>
          <a:solidFill>
            <a:srgbClr val="4A6FA5"/>
          </a:solidFill>
          <a:ln cap="flat" cmpd="sng" w="12700">
            <a:solidFill>
              <a:srgbClr val="4A6FA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g3ca32782429_0_1459"/>
          <p:cNvSpPr/>
          <p:nvPr/>
        </p:nvSpPr>
        <p:spPr>
          <a:xfrm>
            <a:off x="448056" y="1110857"/>
            <a:ext cx="502800" cy="502800"/>
          </a:xfrm>
          <a:prstGeom prst="ellipse">
            <a:avLst/>
          </a:prstGeom>
          <a:solidFill>
            <a:srgbClr val="C9A84C"/>
          </a:solidFill>
          <a:ln cap="flat" cmpd="sng" w="1270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g3ca32782429_0_1459"/>
          <p:cNvSpPr/>
          <p:nvPr/>
        </p:nvSpPr>
        <p:spPr>
          <a:xfrm>
            <a:off x="448056" y="1110857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g3ca32782429_0_1459"/>
          <p:cNvSpPr/>
          <p:nvPr/>
        </p:nvSpPr>
        <p:spPr>
          <a:xfrm>
            <a:off x="1051560" y="1147433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Tech Panel Handbook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g3ca32782429_0_1459"/>
          <p:cNvSpPr/>
          <p:nvPr/>
        </p:nvSpPr>
        <p:spPr>
          <a:xfrm>
            <a:off x="429850" y="1737077"/>
            <a:ext cx="25236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 pages 21-25 for key definitions for jumps within the handbook.</a:t>
            </a:r>
            <a:endParaRPr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1" name="Google Shape;1611;g3ca32782429_0_1459"/>
          <p:cNvSpPr/>
          <p:nvPr/>
        </p:nvSpPr>
        <p:spPr>
          <a:xfrm>
            <a:off x="274350" y="3414600"/>
            <a:ext cx="5348100" cy="1311000"/>
          </a:xfrm>
          <a:prstGeom prst="rect">
            <a:avLst/>
          </a:prstGeom>
          <a:solidFill>
            <a:srgbClr val="E8F4FD"/>
          </a:solidFill>
          <a:ln cap="flat" cmpd="sng" w="19050">
            <a:solidFill>
              <a:srgbClr val="C89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g3ca32782429_0_1459"/>
          <p:cNvSpPr/>
          <p:nvPr/>
        </p:nvSpPr>
        <p:spPr>
          <a:xfrm>
            <a:off x="274275" y="3414525"/>
            <a:ext cx="5228100" cy="13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Next session we are covering jumps basics. </a:t>
            </a:r>
            <a:br>
              <a:rPr lang="en-US" sz="1100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00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If you want to start going through flashcards/previous test questions on </a:t>
            </a:r>
            <a:r>
              <a:rPr lang="en-US" sz="1100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Choreographic</a:t>
            </a:r>
            <a:r>
              <a:rPr lang="en-US" sz="1100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 sequences and jumps, feel free to play around with the quiz at the QR code to the left (note the link covers all elements).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3" name="Google Shape;1613;g3ca32782429_0_14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275" y="3345388"/>
            <a:ext cx="1355350" cy="1355350"/>
          </a:xfrm>
          <a:prstGeom prst="rect">
            <a:avLst/>
          </a:prstGeom>
          <a:noFill/>
          <a:ln cap="flat" cmpd="sng" w="19050">
            <a:solidFill>
              <a:srgbClr val="C9A84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2026-02-22T16:55:57Z</dcterms:created>
  <dc:creator>PptxGenJS</dc:creator>
</cp:coreProperties>
</file>