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comments+xml" PartName="/ppt/comments/comment1.xml"/>
  <Override ContentType="application/vnd.openxmlformats-officedocument.presentationml.comments+xml" PartName="/ppt/comments/comment2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binary" PartName="/ppt/metadata"/>
  <Override ContentType="application/vnd.openxmlformats-officedocument.presentationml.notesMaster+xml" PartName="/ppt/notesMasters/notesMaster1.xml"/>
  <Override ContentType="application/vnd.openxmlformats-officedocument.presentationml.commentAuthors+xml" PartName="/ppt/commentAuthors.xml"/>
  <Override ContentType="application/vnd.openxmlformats-officedocument.presentationml.presProps+xml" PartName="/ppt/pres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0" roundtripDataSignature="AMtx7mj/nuqmSn4qEJB0bWQUve+6hcJAFw==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Author clrIdx="0" id="0" initials="" lastIdx="3" name="Lisa May"/>
</p:cmAuthorLst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04FF4CF-6B6D-4D36-A94F-728953CE8EA1}">
  <a:tblStyle styleId="{604FF4CF-6B6D-4D36-A94F-728953CE8EA1}" styleName="Table_0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customschemas.google.com/relationships/presentationmetadata" Target="meta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commentAuthors" Target="commentAuthor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19" Type="http://schemas.openxmlformats.org/officeDocument/2006/relationships/slide" Target="slides/slide13.xml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comments/comment1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1" dt="2026-03-19T23:43:16.858">
    <p:pos x="259" y="2338"/>
    <p:text>@ally.k.newman@gmail.com I think this should now be Max 2 for the 26/27 season
_Assigned to ally.k.newman@gmail.com_</p:text>
    <p:extLst>
      <p:ext uri="{C676402C-5697-4E1C-873F-D02D1690AC5C}">
        <p15:threadingInfo timeZoneBias="0"/>
      </p:ext>
      <p:ext uri="http://customooxmlschemas.google.com/">
        <go:slidesCustomData xmlns:go="http://customooxmlschemas.google.com/" commentPostId="AAAB2LjjmMc"/>
      </p:ext>
    </p:extLst>
  </p:cm>
</p:cmLst>
</file>

<file path=ppt/comments/comment2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2" dt="2026-03-19T23:53:45.665">
    <p:pos x="172" y="1209"/>
    <p:text>@ally.k.newman@gmail.com also no here
_Assigned to ally.k.newman@gmail.com_</p:text>
    <p:extLst>
      <p:ext uri="{C676402C-5697-4E1C-873F-D02D1690AC5C}">
        <p15:threadingInfo timeZoneBias="0"/>
      </p:ext>
      <p:ext uri="http://customooxmlschemas.google.com/">
        <go:slidesCustomData xmlns:go="http://customooxmlschemas.google.com/" commentPostId="AAAB2LjjmMk"/>
      </p:ext>
    </p:extLst>
  </p:cm>
  <p:cm authorId="0" idx="3" dt="2026-03-19T23:51:27.522">
    <p:pos x="172" y="1309"/>
    <p:text>@ally.k.newman@gmail.com This is NO for Novice and JuNior
_Assigned to ally.k.newman@gmail.com_</p:text>
    <p:extLst>
      <p:ext uri="{C676402C-5697-4E1C-873F-D02D1690AC5C}">
        <p15:threadingInfo timeZoneBias="0"/>
      </p:ext>
      <p:ext uri="http://customooxmlschemas.google.com/">
        <go:slidesCustomData xmlns:go="http://customooxmlschemas.google.com/" commentPostId="AAAB2LjjmMg"/>
      </p:ext>
    </p:extLst>
  </p:cm>
</p:cmLst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" name="Google Shape;14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g3d13b1e3a1e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" name="Google Shape;25;g3d13b1e3a1e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" name="Google Shape;26;g3d13b1e3a1e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ca84f39616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7" name="Google Shape;77;g3ca84f39616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8" name="Google Shape;78;g3ca84f39616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6" name="Google Shape;106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7" name="Google Shape;107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5" name="Google Shape;155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6" name="Google Shape;156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5" name="Google Shape;175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6" name="Google Shape;176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9" name="Google Shape;199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0" name="Google Shape;200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8" name="Google Shape;218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9" name="Google Shape;219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0" name="Google Shape;240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1" name="Google Shape;241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7" name="Google Shape;257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8" name="Google Shape;258;p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3d13b1e3a1e_0_5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9" name="Google Shape;289;g3d13b1e3a1e_0_5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0" name="Google Shape;290;g3d13b1e3a1e_0_5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7" name="Google Shape;307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08" name="Google Shape;308;p2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g3ca84f39616_0_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2" name="Google Shape;342;g3ca84f39616_0_2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" name="Google Shape;343;g3ca84f39616_0_2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comments" Target="../comments/comment1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comments" Target="../comments/comment2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4B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2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C8922A"/>
          </a:solidFill>
          <a:ln cap="flat" cmpd="sng" w="12700">
            <a:solidFill>
              <a:srgbClr val="C892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7;p12"/>
          <p:cNvSpPr/>
          <p:nvPr/>
        </p:nvSpPr>
        <p:spPr>
          <a:xfrm>
            <a:off x="457200" y="320040"/>
            <a:ext cx="2011680" cy="347472"/>
          </a:xfrm>
          <a:prstGeom prst="rect">
            <a:avLst/>
          </a:prstGeom>
          <a:solidFill>
            <a:srgbClr val="C8922A"/>
          </a:solidFill>
          <a:ln cap="flat" cmpd="sng" w="12700">
            <a:solidFill>
              <a:srgbClr val="C892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" name="Google Shape;18;p12"/>
          <p:cNvSpPr/>
          <p:nvPr/>
        </p:nvSpPr>
        <p:spPr>
          <a:xfrm>
            <a:off x="457200" y="320040"/>
            <a:ext cx="20116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1B4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D1B4B"/>
                </a:solidFill>
                <a:latin typeface="Calibri"/>
                <a:ea typeface="Calibri"/>
                <a:cs typeface="Calibri"/>
                <a:sym typeface="Calibri"/>
              </a:rPr>
              <a:t>SESSION 3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2"/>
          <p:cNvSpPr/>
          <p:nvPr/>
        </p:nvSpPr>
        <p:spPr>
          <a:xfrm>
            <a:off x="457200" y="1463040"/>
            <a:ext cx="8229600" cy="1645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mbria"/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Session 3 — Jump Rule Vetting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2"/>
          <p:cNvSpPr/>
          <p:nvPr/>
        </p:nvSpPr>
        <p:spPr>
          <a:xfrm>
            <a:off x="457200" y="3200400"/>
            <a:ext cx="8229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6E4F0"/>
              </a:buClr>
              <a:buSzPts val="1800"/>
              <a:buFont typeface="Calibri"/>
              <a:buNone/>
            </a:pPr>
            <a:r>
              <a:rPr b="0" i="1" lang="en-US" sz="1800" u="none" cap="none" strike="noStrike">
                <a:solidFill>
                  <a:srgbClr val="D6E4F0"/>
                </a:solidFill>
                <a:latin typeface="Calibri"/>
                <a:ea typeface="Calibri"/>
                <a:cs typeface="Calibri"/>
                <a:sym typeface="Calibri"/>
              </a:rPr>
              <a:t>Phase 4: *, +REP, +COMBO, Bonus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E3A6E"/>
          </a:solidFill>
          <a:ln cap="flat" cmpd="sng" w="12700">
            <a:solidFill>
              <a:srgbClr val="1E3A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" name="Google Shape;22;p12"/>
          <p:cNvSpPr/>
          <p:nvPr/>
        </p:nvSpPr>
        <p:spPr>
          <a:xfrm>
            <a:off x="274320" y="4846320"/>
            <a:ext cx="8595360" cy="2971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6E4F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D6E4F0"/>
                </a:solidFill>
                <a:latin typeface="Calibri"/>
                <a:ea typeface="Calibri"/>
                <a:cs typeface="Calibri"/>
                <a:sym typeface="Calibri"/>
              </a:rPr>
              <a:t>U.S. Figure Skating — Technical Panel Education  |  Singles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8F4FD"/>
        </a:solidFill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g3d13b1e3a1e_0_0"/>
          <p:cNvSpPr/>
          <p:nvPr/>
        </p:nvSpPr>
        <p:spPr>
          <a:xfrm>
            <a:off x="0" y="0"/>
            <a:ext cx="9144000" cy="73200"/>
          </a:xfrm>
          <a:prstGeom prst="rect">
            <a:avLst/>
          </a:prstGeom>
          <a:solidFill>
            <a:srgbClr val="C9A84C"/>
          </a:solidFill>
          <a:ln cap="flat" cmpd="sng" w="1270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" name="Google Shape;29;g3d13b1e3a1e_0_0"/>
          <p:cNvSpPr/>
          <p:nvPr/>
        </p:nvSpPr>
        <p:spPr>
          <a:xfrm>
            <a:off x="365760" y="109728"/>
            <a:ext cx="84126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2100"/>
              <a:buFont typeface="Calibri"/>
              <a:buNone/>
            </a:pPr>
            <a:r>
              <a:rPr b="1" lang="en-US" sz="2100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Update - </a:t>
            </a:r>
            <a:r>
              <a:rPr b="1" lang="en-US" sz="2100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Rules Across NTPS Segments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g3d13b1e3a1e_0_0"/>
          <p:cNvSpPr/>
          <p:nvPr/>
        </p:nvSpPr>
        <p:spPr>
          <a:xfrm>
            <a:off x="0" y="4818888"/>
            <a:ext cx="9144000" cy="324600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g3d13b1e3a1e_0_0"/>
          <p:cNvSpPr/>
          <p:nvPr/>
        </p:nvSpPr>
        <p:spPr>
          <a:xfrm>
            <a:off x="2005500" y="615700"/>
            <a:ext cx="3462600" cy="362700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2E7D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" name="Google Shape;32;g3d13b1e3a1e_0_0"/>
          <p:cNvSpPr/>
          <p:nvPr/>
        </p:nvSpPr>
        <p:spPr>
          <a:xfrm>
            <a:off x="2014425" y="615700"/>
            <a:ext cx="3430500" cy="36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C9A84C"/>
                </a:solidFill>
                <a:latin typeface="Calibri"/>
                <a:ea typeface="Calibri"/>
                <a:cs typeface="Calibri"/>
                <a:sym typeface="Calibri"/>
              </a:rPr>
              <a:t>Rotations &amp; Final Practical</a:t>
            </a:r>
            <a:endParaRPr b="0" i="0" sz="1100" u="none" cap="none" strike="noStrike">
              <a:solidFill>
                <a:srgbClr val="C9A84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g3d13b1e3a1e_0_0"/>
          <p:cNvSpPr/>
          <p:nvPr/>
        </p:nvSpPr>
        <p:spPr>
          <a:xfrm>
            <a:off x="5586900" y="615700"/>
            <a:ext cx="3462600" cy="362700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2E7D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Google Shape;34;g3d13b1e3a1e_0_0"/>
          <p:cNvSpPr/>
          <p:nvPr/>
        </p:nvSpPr>
        <p:spPr>
          <a:xfrm>
            <a:off x="5595825" y="615700"/>
            <a:ext cx="3430500" cy="36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C9A84C"/>
                </a:solidFill>
                <a:latin typeface="Calibri"/>
                <a:ea typeface="Calibri"/>
                <a:cs typeface="Calibri"/>
                <a:sym typeface="Calibri"/>
              </a:rPr>
              <a:t>Written Test &amp; Rule Vetting</a:t>
            </a:r>
            <a:endParaRPr b="0" i="0" sz="1100" u="none" cap="none" strike="noStrike">
              <a:solidFill>
                <a:srgbClr val="C9A84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g3d13b1e3a1e_0_0"/>
          <p:cNvSpPr/>
          <p:nvPr/>
        </p:nvSpPr>
        <p:spPr>
          <a:xfrm>
            <a:off x="340627" y="1143375"/>
            <a:ext cx="1545000" cy="742800"/>
          </a:xfrm>
          <a:prstGeom prst="rect">
            <a:avLst/>
          </a:prstGeom>
          <a:solidFill>
            <a:srgbClr val="4A6FA5"/>
          </a:solidFill>
          <a:ln cap="flat" cmpd="sng" w="12700">
            <a:solidFill>
              <a:srgbClr val="4A6F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" name="Google Shape;36;g3d13b1e3a1e_0_0"/>
          <p:cNvSpPr/>
          <p:nvPr/>
        </p:nvSpPr>
        <p:spPr>
          <a:xfrm>
            <a:off x="340627" y="1143375"/>
            <a:ext cx="1545000" cy="74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SPINS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g3d13b1e3a1e_0_0"/>
          <p:cNvSpPr/>
          <p:nvPr/>
        </p:nvSpPr>
        <p:spPr>
          <a:xfrm>
            <a:off x="340727" y="2066569"/>
            <a:ext cx="1545000" cy="742800"/>
          </a:xfrm>
          <a:prstGeom prst="rect">
            <a:avLst/>
          </a:prstGeom>
          <a:solidFill>
            <a:srgbClr val="1B6E72"/>
          </a:solidFill>
          <a:ln cap="flat" cmpd="sng" w="12700">
            <a:solidFill>
              <a:srgbClr val="1B6E7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" name="Google Shape;38;g3d13b1e3a1e_0_0"/>
          <p:cNvSpPr/>
          <p:nvPr/>
        </p:nvSpPr>
        <p:spPr>
          <a:xfrm>
            <a:off x="340725" y="2066450"/>
            <a:ext cx="1545000" cy="74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JUMPS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g3d13b1e3a1e_0_0"/>
          <p:cNvSpPr/>
          <p:nvPr/>
        </p:nvSpPr>
        <p:spPr>
          <a:xfrm>
            <a:off x="340627" y="2989763"/>
            <a:ext cx="1545000" cy="742800"/>
          </a:xfrm>
          <a:prstGeom prst="rect">
            <a:avLst/>
          </a:prstGeom>
          <a:solidFill>
            <a:srgbClr val="5C3D7A"/>
          </a:solidFill>
          <a:ln cap="flat" cmpd="sng" w="12700">
            <a:solidFill>
              <a:srgbClr val="5C3D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" name="Google Shape;40;g3d13b1e3a1e_0_0"/>
          <p:cNvSpPr/>
          <p:nvPr/>
        </p:nvSpPr>
        <p:spPr>
          <a:xfrm>
            <a:off x="340627" y="2989763"/>
            <a:ext cx="1545000" cy="74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STEP SEQUENCES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g3d13b1e3a1e_0_0"/>
          <p:cNvSpPr/>
          <p:nvPr/>
        </p:nvSpPr>
        <p:spPr>
          <a:xfrm>
            <a:off x="340625" y="3912957"/>
            <a:ext cx="1545000" cy="742800"/>
          </a:xfrm>
          <a:prstGeom prst="rect">
            <a:avLst/>
          </a:prstGeom>
          <a:solidFill>
            <a:srgbClr val="7A5230"/>
          </a:solidFill>
          <a:ln cap="flat" cmpd="sng" w="12700">
            <a:solidFill>
              <a:srgbClr val="7A52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Google Shape;42;g3d13b1e3a1e_0_0"/>
          <p:cNvSpPr/>
          <p:nvPr/>
        </p:nvSpPr>
        <p:spPr>
          <a:xfrm>
            <a:off x="340625" y="3912924"/>
            <a:ext cx="1545000" cy="74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CHOREO SEQUENCE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g3d13b1e3a1e_0_0"/>
          <p:cNvSpPr/>
          <p:nvPr/>
        </p:nvSpPr>
        <p:spPr>
          <a:xfrm>
            <a:off x="2005375" y="1143375"/>
            <a:ext cx="3462600" cy="7428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8E4F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102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" name="Google Shape;44;g3d13b1e3a1e_0_0"/>
          <p:cNvSpPr/>
          <p:nvPr/>
        </p:nvSpPr>
        <p:spPr>
          <a:xfrm>
            <a:off x="2005375" y="1143375"/>
            <a:ext cx="104100" cy="742800"/>
          </a:xfrm>
          <a:prstGeom prst="rect">
            <a:avLst/>
          </a:prstGeom>
          <a:solidFill>
            <a:srgbClr val="4A6FA5"/>
          </a:solidFill>
          <a:ln cap="flat" cmpd="sng" w="12700">
            <a:solidFill>
              <a:srgbClr val="4A6F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45;g3d13b1e3a1e_0_0"/>
          <p:cNvSpPr/>
          <p:nvPr/>
        </p:nvSpPr>
        <p:spPr>
          <a:xfrm>
            <a:off x="2214343" y="1200554"/>
            <a:ext cx="3134700" cy="18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Levels &amp; requirements based on 2025-2026</a:t>
            </a:r>
            <a:endParaRPr b="0" i="1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g3d13b1e3a1e_0_0"/>
          <p:cNvSpPr/>
          <p:nvPr/>
        </p:nvSpPr>
        <p:spPr>
          <a:xfrm>
            <a:off x="2214302" y="1457807"/>
            <a:ext cx="3134700" cy="3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A7A"/>
              </a:buClr>
              <a:buSzPts val="950"/>
              <a:buFont typeface="Calibri"/>
              <a:buNone/>
            </a:pPr>
            <a:r>
              <a:rPr b="1" lang="en-US" sz="9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 Choreographic Spin (all spins leveled)</a:t>
            </a:r>
            <a:endParaRPr b="1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g3d13b1e3a1e_0_0"/>
          <p:cNvSpPr/>
          <p:nvPr/>
        </p:nvSpPr>
        <p:spPr>
          <a:xfrm>
            <a:off x="5586900" y="1143375"/>
            <a:ext cx="3430500" cy="7428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8E4F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102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Google Shape;48;g3d13b1e3a1e_0_0"/>
          <p:cNvSpPr/>
          <p:nvPr/>
        </p:nvSpPr>
        <p:spPr>
          <a:xfrm>
            <a:off x="5586900" y="1143376"/>
            <a:ext cx="104100" cy="742800"/>
          </a:xfrm>
          <a:prstGeom prst="rect">
            <a:avLst/>
          </a:prstGeom>
          <a:solidFill>
            <a:srgbClr val="4A6FA5"/>
          </a:solidFill>
          <a:ln cap="flat" cmpd="sng" w="12700">
            <a:solidFill>
              <a:srgbClr val="4A6F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" name="Google Shape;49;g3d13b1e3a1e_0_0"/>
          <p:cNvSpPr/>
          <p:nvPr/>
        </p:nvSpPr>
        <p:spPr>
          <a:xfrm>
            <a:off x="5795868" y="1200554"/>
            <a:ext cx="3134700" cy="18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Choreographic Spin</a:t>
            </a:r>
            <a:endParaRPr b="0" i="1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g3d13b1e3a1e_0_0"/>
          <p:cNvSpPr/>
          <p:nvPr/>
        </p:nvSpPr>
        <p:spPr>
          <a:xfrm>
            <a:off x="5795827" y="1457806"/>
            <a:ext cx="3134700" cy="3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A7A"/>
              </a:buClr>
              <a:buSzPts val="950"/>
              <a:buFont typeface="Calibri"/>
              <a:buNone/>
            </a:pPr>
            <a:r>
              <a:rPr b="1" lang="en-US" sz="9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2026-2027 Program Requirements</a:t>
            </a:r>
            <a:endParaRPr b="1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g3d13b1e3a1e_0_0"/>
          <p:cNvSpPr/>
          <p:nvPr/>
        </p:nvSpPr>
        <p:spPr>
          <a:xfrm>
            <a:off x="2005375" y="2074650"/>
            <a:ext cx="3462600" cy="7428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8E4F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102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52;g3d13b1e3a1e_0_0"/>
          <p:cNvSpPr/>
          <p:nvPr/>
        </p:nvSpPr>
        <p:spPr>
          <a:xfrm>
            <a:off x="2005375" y="2074650"/>
            <a:ext cx="104100" cy="742800"/>
          </a:xfrm>
          <a:prstGeom prst="rect">
            <a:avLst/>
          </a:prstGeom>
          <a:solidFill>
            <a:srgbClr val="1B6E72"/>
          </a:solidFill>
          <a:ln cap="flat" cmpd="sng" w="12700">
            <a:solidFill>
              <a:srgbClr val="4A6F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g3d13b1e3a1e_0_0"/>
          <p:cNvSpPr/>
          <p:nvPr/>
        </p:nvSpPr>
        <p:spPr>
          <a:xfrm>
            <a:off x="2214343" y="2131829"/>
            <a:ext cx="3134700" cy="18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Eu for Championship Track </a:t>
            </a:r>
            <a:r>
              <a:rPr i="1" lang="en-US" sz="1000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(not 1Eu)</a:t>
            </a:r>
            <a:endParaRPr b="0" i="1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g3d13b1e3a1e_0_0"/>
          <p:cNvSpPr/>
          <p:nvPr/>
        </p:nvSpPr>
        <p:spPr>
          <a:xfrm>
            <a:off x="2214302" y="2389082"/>
            <a:ext cx="3134700" cy="3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A7A"/>
              </a:buClr>
              <a:buSzPts val="950"/>
              <a:buFont typeface="Calibri"/>
              <a:buNone/>
            </a:pPr>
            <a:r>
              <a:rPr b="1" lang="en-US" sz="9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Rule Vetting Based on 2025-2026 WBP Rules</a:t>
            </a:r>
            <a:endParaRPr b="1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g3d13b1e3a1e_0_0"/>
          <p:cNvSpPr/>
          <p:nvPr/>
        </p:nvSpPr>
        <p:spPr>
          <a:xfrm>
            <a:off x="5586900" y="2074650"/>
            <a:ext cx="3430500" cy="7428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8E4F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102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g3d13b1e3a1e_0_0"/>
          <p:cNvSpPr/>
          <p:nvPr/>
        </p:nvSpPr>
        <p:spPr>
          <a:xfrm>
            <a:off x="5586900" y="2074651"/>
            <a:ext cx="104100" cy="742800"/>
          </a:xfrm>
          <a:prstGeom prst="rect">
            <a:avLst/>
          </a:prstGeom>
          <a:solidFill>
            <a:srgbClr val="1B6E72"/>
          </a:solidFill>
          <a:ln cap="flat" cmpd="sng" w="12700">
            <a:solidFill>
              <a:srgbClr val="4A6F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g3d13b1e3a1e_0_0"/>
          <p:cNvSpPr/>
          <p:nvPr/>
        </p:nvSpPr>
        <p:spPr>
          <a:xfrm>
            <a:off x="5795868" y="2131829"/>
            <a:ext cx="3134700" cy="18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Eu for Championship Track </a:t>
            </a:r>
            <a:r>
              <a:rPr i="1" lang="en-US" sz="1000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(not 1Eu)</a:t>
            </a:r>
            <a:endParaRPr b="0" i="1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g3d13b1e3a1e_0_0"/>
          <p:cNvSpPr/>
          <p:nvPr/>
        </p:nvSpPr>
        <p:spPr>
          <a:xfrm>
            <a:off x="5795827" y="2389081"/>
            <a:ext cx="3134700" cy="3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A7A"/>
              </a:buClr>
              <a:buSzPts val="950"/>
              <a:buFont typeface="Calibri"/>
              <a:buNone/>
            </a:pPr>
            <a:r>
              <a:rPr b="1" lang="en-US" sz="9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Rule Vetting Based on 2026-2027 Championship Rules</a:t>
            </a:r>
            <a:endParaRPr b="1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g3d13b1e3a1e_0_0"/>
          <p:cNvSpPr/>
          <p:nvPr/>
        </p:nvSpPr>
        <p:spPr>
          <a:xfrm>
            <a:off x="2005500" y="2981138"/>
            <a:ext cx="3462600" cy="7428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8E4F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102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" name="Google Shape;60;g3d13b1e3a1e_0_0"/>
          <p:cNvSpPr/>
          <p:nvPr/>
        </p:nvSpPr>
        <p:spPr>
          <a:xfrm>
            <a:off x="2005500" y="2981138"/>
            <a:ext cx="104100" cy="742800"/>
          </a:xfrm>
          <a:prstGeom prst="rect">
            <a:avLst/>
          </a:prstGeom>
          <a:solidFill>
            <a:srgbClr val="5C3D7A"/>
          </a:solidFill>
          <a:ln cap="flat" cmpd="sng" w="12700">
            <a:solidFill>
              <a:srgbClr val="5C3D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" name="Google Shape;61;g3d13b1e3a1e_0_0"/>
          <p:cNvSpPr/>
          <p:nvPr/>
        </p:nvSpPr>
        <p:spPr>
          <a:xfrm>
            <a:off x="2214468" y="3038317"/>
            <a:ext cx="3134700" cy="18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2026-2027 Program Requirements (and new max levels)</a:t>
            </a:r>
            <a:endParaRPr b="0" i="1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g3d13b1e3a1e_0_0"/>
          <p:cNvSpPr/>
          <p:nvPr/>
        </p:nvSpPr>
        <p:spPr>
          <a:xfrm>
            <a:off x="2214427" y="3295569"/>
            <a:ext cx="3134700" cy="3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A6A7A"/>
              </a:buClr>
              <a:buSzPts val="950"/>
              <a:buFont typeface="Calibri"/>
              <a:buNone/>
            </a:pPr>
            <a:r>
              <a:rPr b="1" lang="en-US" sz="9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Level features</a:t>
            </a:r>
            <a:r>
              <a:rPr b="1" lang="en-US" sz="9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from 2025-2026 Handbook</a:t>
            </a:r>
            <a:endParaRPr b="1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g3d13b1e3a1e_0_0"/>
          <p:cNvSpPr/>
          <p:nvPr/>
        </p:nvSpPr>
        <p:spPr>
          <a:xfrm>
            <a:off x="5587025" y="2981138"/>
            <a:ext cx="3430500" cy="7428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8E4F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102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g3d13b1e3a1e_0_0"/>
          <p:cNvSpPr/>
          <p:nvPr/>
        </p:nvSpPr>
        <p:spPr>
          <a:xfrm>
            <a:off x="5587025" y="2981138"/>
            <a:ext cx="104100" cy="742800"/>
          </a:xfrm>
          <a:prstGeom prst="rect">
            <a:avLst/>
          </a:prstGeom>
          <a:solidFill>
            <a:srgbClr val="5C3D7A"/>
          </a:solidFill>
          <a:ln cap="flat" cmpd="sng" w="12700">
            <a:solidFill>
              <a:srgbClr val="5C3D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g3d13b1e3a1e_0_0"/>
          <p:cNvSpPr/>
          <p:nvPr/>
        </p:nvSpPr>
        <p:spPr>
          <a:xfrm>
            <a:off x="5795993" y="3038317"/>
            <a:ext cx="3134700" cy="18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2026-2027 Program Requirements (and new max levels)</a:t>
            </a:r>
            <a:endParaRPr b="0" i="1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g3d13b1e3a1e_0_0"/>
          <p:cNvSpPr/>
          <p:nvPr/>
        </p:nvSpPr>
        <p:spPr>
          <a:xfrm>
            <a:off x="5795952" y="3295569"/>
            <a:ext cx="3134700" cy="3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A7A"/>
              </a:buClr>
              <a:buSzPts val="950"/>
              <a:buFont typeface="Calibri"/>
              <a:buNone/>
            </a:pPr>
            <a:r>
              <a:rPr b="1" lang="en-US" sz="9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Level features</a:t>
            </a:r>
            <a:r>
              <a:rPr b="1" lang="en-US" sz="9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from 2025-2026 Handbook</a:t>
            </a:r>
            <a:endParaRPr b="1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g3d13b1e3a1e_0_0"/>
          <p:cNvSpPr/>
          <p:nvPr/>
        </p:nvSpPr>
        <p:spPr>
          <a:xfrm>
            <a:off x="2014425" y="3900013"/>
            <a:ext cx="3462600" cy="7428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8E4F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102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g3d13b1e3a1e_0_0"/>
          <p:cNvSpPr/>
          <p:nvPr/>
        </p:nvSpPr>
        <p:spPr>
          <a:xfrm>
            <a:off x="2014425" y="3900013"/>
            <a:ext cx="104100" cy="742800"/>
          </a:xfrm>
          <a:prstGeom prst="rect">
            <a:avLst/>
          </a:prstGeom>
          <a:solidFill>
            <a:srgbClr val="7A5230"/>
          </a:solidFill>
          <a:ln cap="flat" cmpd="sng" w="12700">
            <a:solidFill>
              <a:srgbClr val="7A52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g3d13b1e3a1e_0_0"/>
          <p:cNvSpPr/>
          <p:nvPr/>
        </p:nvSpPr>
        <p:spPr>
          <a:xfrm>
            <a:off x="2223393" y="3957192"/>
            <a:ext cx="3134700" cy="18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Based on 2025-2026 Handbook</a:t>
            </a:r>
            <a:endParaRPr b="1" sz="1000">
              <a:solidFill>
                <a:srgbClr val="0D1B2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g3d13b1e3a1e_0_0"/>
          <p:cNvSpPr/>
          <p:nvPr/>
        </p:nvSpPr>
        <p:spPr>
          <a:xfrm>
            <a:off x="2223352" y="4214444"/>
            <a:ext cx="3134700" cy="3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A6A7A"/>
              </a:buClr>
              <a:buSzPts val="950"/>
              <a:buFont typeface="Calibri"/>
              <a:buNone/>
            </a:pPr>
            <a:r>
              <a:rPr b="1" lang="en-US" sz="9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 rule changes expected for 2026-2027</a:t>
            </a:r>
            <a:endParaRPr b="1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g3d13b1e3a1e_0_0"/>
          <p:cNvSpPr/>
          <p:nvPr/>
        </p:nvSpPr>
        <p:spPr>
          <a:xfrm>
            <a:off x="5595950" y="3900013"/>
            <a:ext cx="3430500" cy="7428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8E4F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102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g3d13b1e3a1e_0_0"/>
          <p:cNvSpPr/>
          <p:nvPr/>
        </p:nvSpPr>
        <p:spPr>
          <a:xfrm>
            <a:off x="5595950" y="3900013"/>
            <a:ext cx="104100" cy="742800"/>
          </a:xfrm>
          <a:prstGeom prst="rect">
            <a:avLst/>
          </a:prstGeom>
          <a:solidFill>
            <a:srgbClr val="7A5230"/>
          </a:solidFill>
          <a:ln cap="flat" cmpd="sng" w="12700">
            <a:solidFill>
              <a:srgbClr val="7A52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g3d13b1e3a1e_0_0"/>
          <p:cNvSpPr/>
          <p:nvPr/>
        </p:nvSpPr>
        <p:spPr>
          <a:xfrm>
            <a:off x="5804918" y="3957192"/>
            <a:ext cx="3134700" cy="18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2026-2027 Program Requirements</a:t>
            </a:r>
            <a:endParaRPr b="0" i="1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g3d13b1e3a1e_0_0"/>
          <p:cNvSpPr/>
          <p:nvPr/>
        </p:nvSpPr>
        <p:spPr>
          <a:xfrm>
            <a:off x="5804877" y="4214444"/>
            <a:ext cx="3134700" cy="3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A7A"/>
              </a:buClr>
              <a:buSzPts val="950"/>
              <a:buFont typeface="Calibri"/>
              <a:buNone/>
            </a:pPr>
            <a:r>
              <a:rPr b="1" lang="en-US" sz="9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Calling clarifications from 2025-2026 Handbook</a:t>
            </a:r>
            <a:endParaRPr b="1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4B"/>
        </a:solidFill>
      </p:bgPr>
    </p:bg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ca84f39616_0_0"/>
          <p:cNvSpPr/>
          <p:nvPr/>
        </p:nvSpPr>
        <p:spPr>
          <a:xfrm>
            <a:off x="0" y="0"/>
            <a:ext cx="9144000" cy="109800"/>
          </a:xfrm>
          <a:prstGeom prst="rect">
            <a:avLst/>
          </a:prstGeom>
          <a:solidFill>
            <a:srgbClr val="C8922A"/>
          </a:solidFill>
          <a:ln cap="flat" cmpd="sng" w="12700">
            <a:solidFill>
              <a:srgbClr val="C892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g3ca84f39616_0_0"/>
          <p:cNvSpPr/>
          <p:nvPr/>
        </p:nvSpPr>
        <p:spPr>
          <a:xfrm>
            <a:off x="457200" y="164592"/>
            <a:ext cx="82296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mbria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Assessing Jumps: The 4-Phase Framework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g3ca84f39616_0_0"/>
          <p:cNvSpPr/>
          <p:nvPr/>
        </p:nvSpPr>
        <p:spPr>
          <a:xfrm>
            <a:off x="274320" y="868680"/>
            <a:ext cx="8595300" cy="804600"/>
          </a:xfrm>
          <a:prstGeom prst="rect">
            <a:avLst/>
          </a:prstGeom>
          <a:solidFill>
            <a:srgbClr val="1A6B8A">
              <a:alpha val="51270"/>
            </a:srgbClr>
          </a:solidFill>
          <a:ln cap="flat" cmpd="sng" w="12700">
            <a:solidFill>
              <a:srgbClr val="1A6B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g3ca84f39616_0_0"/>
          <p:cNvSpPr/>
          <p:nvPr/>
        </p:nvSpPr>
        <p:spPr>
          <a:xfrm>
            <a:off x="274320" y="868680"/>
            <a:ext cx="594300" cy="804600"/>
          </a:xfrm>
          <a:prstGeom prst="rect">
            <a:avLst/>
          </a:prstGeom>
          <a:solidFill>
            <a:srgbClr val="1A2E5A"/>
          </a:solidFill>
          <a:ln cap="flat" cmpd="sng" w="12700">
            <a:solidFill>
              <a:srgbClr val="1A6B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g3ca84f39616_0_0"/>
          <p:cNvSpPr/>
          <p:nvPr/>
        </p:nvSpPr>
        <p:spPr>
          <a:xfrm>
            <a:off x="274320" y="868680"/>
            <a:ext cx="594300" cy="8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mbria"/>
              <a:buNone/>
            </a:pPr>
            <a:r>
              <a:rPr b="1" i="0" lang="en-US" sz="2600" u="none" cap="none" strike="noStrike">
                <a:solidFill>
                  <a:srgbClr val="4A6FA5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endParaRPr b="0" i="0" sz="2600" u="none" cap="none" strike="noStrike">
              <a:solidFill>
                <a:srgbClr val="4A6FA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g3ca84f39616_0_0"/>
          <p:cNvSpPr/>
          <p:nvPr/>
        </p:nvSpPr>
        <p:spPr>
          <a:xfrm>
            <a:off x="1005840" y="905256"/>
            <a:ext cx="50292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Is it a jump attempt? Does it fill a box?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g3ca84f39616_0_0"/>
          <p:cNvSpPr/>
          <p:nvPr/>
        </p:nvSpPr>
        <p:spPr>
          <a:xfrm>
            <a:off x="1005840" y="1289304"/>
            <a:ext cx="75894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g3ca84f39616_0_0"/>
          <p:cNvSpPr/>
          <p:nvPr/>
        </p:nvSpPr>
        <p:spPr>
          <a:xfrm>
            <a:off x="274320" y="1828800"/>
            <a:ext cx="8595300" cy="804600"/>
          </a:xfrm>
          <a:prstGeom prst="rect">
            <a:avLst/>
          </a:prstGeom>
          <a:solidFill>
            <a:srgbClr val="1E3A6E">
              <a:alpha val="53160"/>
            </a:srgbClr>
          </a:solidFill>
          <a:ln cap="flat" cmpd="sng" w="12700">
            <a:solidFill>
              <a:srgbClr val="1E3A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g3ca84f39616_0_0"/>
          <p:cNvSpPr/>
          <p:nvPr/>
        </p:nvSpPr>
        <p:spPr>
          <a:xfrm>
            <a:off x="274320" y="1828800"/>
            <a:ext cx="594300" cy="804600"/>
          </a:xfrm>
          <a:prstGeom prst="rect">
            <a:avLst/>
          </a:prstGeom>
          <a:solidFill>
            <a:srgbClr val="1A2E5A"/>
          </a:solidFill>
          <a:ln cap="flat" cmpd="sng" w="12700">
            <a:solidFill>
              <a:srgbClr val="1E3A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g3ca84f39616_0_0"/>
          <p:cNvSpPr/>
          <p:nvPr/>
        </p:nvSpPr>
        <p:spPr>
          <a:xfrm>
            <a:off x="274320" y="1828800"/>
            <a:ext cx="594300" cy="8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mbria"/>
              <a:buNone/>
            </a:pPr>
            <a:r>
              <a:rPr b="1" i="0" lang="en-US" sz="2600" u="none" cap="none" strike="noStrike">
                <a:solidFill>
                  <a:srgbClr val="4A6FA5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endParaRPr b="0" i="0" sz="2600" u="none" cap="none" strike="noStrike">
              <a:solidFill>
                <a:srgbClr val="4A6FA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g3ca84f39616_0_0"/>
          <p:cNvSpPr/>
          <p:nvPr/>
        </p:nvSpPr>
        <p:spPr>
          <a:xfrm>
            <a:off x="1005840" y="1865376"/>
            <a:ext cx="50292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What code goes in the box?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g3ca84f39616_0_0"/>
          <p:cNvSpPr/>
          <p:nvPr/>
        </p:nvSpPr>
        <p:spPr>
          <a:xfrm>
            <a:off x="1005840" y="2249424"/>
            <a:ext cx="75894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Take-off · Revolutions · Solo Jumps / Jump Combinations / Jump Sequences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g3ca84f39616_0_0"/>
          <p:cNvSpPr/>
          <p:nvPr/>
        </p:nvSpPr>
        <p:spPr>
          <a:xfrm>
            <a:off x="274320" y="2788920"/>
            <a:ext cx="8595300" cy="804600"/>
          </a:xfrm>
          <a:prstGeom prst="rect">
            <a:avLst/>
          </a:prstGeom>
          <a:solidFill>
            <a:srgbClr val="C8922A">
              <a:alpha val="36080"/>
            </a:srgbClr>
          </a:solidFill>
          <a:ln cap="flat" cmpd="sng" w="12700">
            <a:solidFill>
              <a:srgbClr val="C892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g3ca84f39616_0_0"/>
          <p:cNvSpPr/>
          <p:nvPr/>
        </p:nvSpPr>
        <p:spPr>
          <a:xfrm>
            <a:off x="274320" y="2788920"/>
            <a:ext cx="594300" cy="804600"/>
          </a:xfrm>
          <a:prstGeom prst="rect">
            <a:avLst/>
          </a:prstGeom>
          <a:solidFill>
            <a:srgbClr val="1A2E5A"/>
          </a:solidFill>
          <a:ln cap="flat" cmpd="sng" w="12700">
            <a:solidFill>
              <a:srgbClr val="C892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g3ca84f39616_0_0"/>
          <p:cNvSpPr/>
          <p:nvPr/>
        </p:nvSpPr>
        <p:spPr>
          <a:xfrm>
            <a:off x="274320" y="2788920"/>
            <a:ext cx="594300" cy="8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mbria"/>
              <a:buNone/>
            </a:pPr>
            <a:r>
              <a:rPr b="1" i="0" lang="en-US" sz="2600" u="none" cap="none" strike="noStrike">
                <a:solidFill>
                  <a:srgbClr val="4A6FA5"/>
                </a:solidFill>
                <a:latin typeface="Cambria"/>
                <a:ea typeface="Cambria"/>
                <a:cs typeface="Cambria"/>
                <a:sym typeface="Cambria"/>
              </a:rPr>
              <a:t>3</a:t>
            </a:r>
            <a:endParaRPr b="0" i="0" sz="2600" u="none" cap="none" strike="noStrike">
              <a:solidFill>
                <a:srgbClr val="4A6FA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g3ca84f39616_0_0"/>
          <p:cNvSpPr/>
          <p:nvPr/>
        </p:nvSpPr>
        <p:spPr>
          <a:xfrm>
            <a:off x="1005840" y="2825496"/>
            <a:ext cx="50292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Does the code need an edge or rotation modifier?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g3ca84f39616_0_0"/>
          <p:cNvSpPr/>
          <p:nvPr/>
        </p:nvSpPr>
        <p:spPr>
          <a:xfrm>
            <a:off x="1005840" y="3209544"/>
            <a:ext cx="75894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Edge · Rotation · Modifier sequence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g3ca84f39616_0_0"/>
          <p:cNvSpPr/>
          <p:nvPr/>
        </p:nvSpPr>
        <p:spPr>
          <a:xfrm>
            <a:off x="274320" y="3749040"/>
            <a:ext cx="8595300" cy="804600"/>
          </a:xfrm>
          <a:prstGeom prst="rect">
            <a:avLst/>
          </a:prstGeom>
          <a:solidFill>
            <a:srgbClr val="B94040"/>
          </a:solidFill>
          <a:ln cap="flat" cmpd="sng" w="12700">
            <a:solidFill>
              <a:srgbClr val="B940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g3ca84f39616_0_0"/>
          <p:cNvSpPr/>
          <p:nvPr/>
        </p:nvSpPr>
        <p:spPr>
          <a:xfrm>
            <a:off x="274320" y="3749040"/>
            <a:ext cx="594300" cy="804600"/>
          </a:xfrm>
          <a:prstGeom prst="rect">
            <a:avLst/>
          </a:prstGeom>
          <a:solidFill>
            <a:srgbClr val="1A2E5A"/>
          </a:solidFill>
          <a:ln cap="flat" cmpd="sng" w="12700">
            <a:solidFill>
              <a:srgbClr val="B940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g3ca84f39616_0_0"/>
          <p:cNvSpPr/>
          <p:nvPr/>
        </p:nvSpPr>
        <p:spPr>
          <a:xfrm>
            <a:off x="274320" y="3749040"/>
            <a:ext cx="594300" cy="8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mbria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4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g3ca84f39616_0_0"/>
          <p:cNvSpPr/>
          <p:nvPr/>
        </p:nvSpPr>
        <p:spPr>
          <a:xfrm>
            <a:off x="1005840" y="3785616"/>
            <a:ext cx="50292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Does the element need rule vetting?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g3ca84f39616_0_0"/>
          <p:cNvSpPr/>
          <p:nvPr/>
        </p:nvSpPr>
        <p:spPr>
          <a:xfrm>
            <a:off x="1005840" y="4169664"/>
            <a:ext cx="75894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*, +REP, +COMBO, Bonus  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g3ca84f39616_0_0"/>
          <p:cNvSpPr/>
          <p:nvPr/>
        </p:nvSpPr>
        <p:spPr>
          <a:xfrm>
            <a:off x="0" y="4846320"/>
            <a:ext cx="9144000" cy="297300"/>
          </a:xfrm>
          <a:prstGeom prst="rect">
            <a:avLst/>
          </a:prstGeom>
          <a:solidFill>
            <a:srgbClr val="1E3A6E"/>
          </a:solidFill>
          <a:ln cap="flat" cmpd="sng" w="12700">
            <a:solidFill>
              <a:srgbClr val="1E3A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g3ca84f39616_0_0"/>
          <p:cNvSpPr/>
          <p:nvPr/>
        </p:nvSpPr>
        <p:spPr>
          <a:xfrm>
            <a:off x="274320" y="4846320"/>
            <a:ext cx="8595300" cy="29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6E4F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D6E4F0"/>
                </a:solidFill>
                <a:latin typeface="Calibri"/>
                <a:ea typeface="Calibri"/>
                <a:cs typeface="Calibri"/>
                <a:sym typeface="Calibri"/>
              </a:rPr>
              <a:t>U.S. Figure Skating — Technical Panel Education  |  Jump Framework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6E4F0"/>
        </a:solid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3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1B4B"/>
          </a:solidFill>
          <a:ln cap="flat" cmpd="sng" w="12700">
            <a:solidFill>
              <a:srgbClr val="0D1B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13"/>
          <p:cNvSpPr/>
          <p:nvPr/>
        </p:nvSpPr>
        <p:spPr>
          <a:xfrm>
            <a:off x="274320" y="164592"/>
            <a:ext cx="1463040" cy="329184"/>
          </a:xfrm>
          <a:prstGeom prst="rect">
            <a:avLst/>
          </a:prstGeom>
          <a:solidFill>
            <a:srgbClr val="B94040"/>
          </a:solidFill>
          <a:ln cap="flat" cmpd="sng" w="12700">
            <a:solidFill>
              <a:srgbClr val="B940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13"/>
          <p:cNvSpPr/>
          <p:nvPr/>
        </p:nvSpPr>
        <p:spPr>
          <a:xfrm>
            <a:off x="274320" y="164592"/>
            <a:ext cx="14630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PHASE 4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3"/>
          <p:cNvSpPr/>
          <p:nvPr/>
        </p:nvSpPr>
        <p:spPr>
          <a:xfrm>
            <a:off x="274320" y="548640"/>
            <a:ext cx="859536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1B4B"/>
              </a:buClr>
              <a:buSzPts val="2600"/>
              <a:buFont typeface="Cambria"/>
              <a:buNone/>
            </a:pPr>
            <a:r>
              <a:rPr b="1" i="0" lang="en-US" sz="2600" u="none" cap="none" strike="noStrike">
                <a:solidFill>
                  <a:srgbClr val="0D1B4B"/>
                </a:solidFill>
                <a:latin typeface="Cambria"/>
                <a:ea typeface="Cambria"/>
                <a:cs typeface="Cambria"/>
                <a:sym typeface="Cambria"/>
              </a:rPr>
              <a:t>Phase 4 — Rule Vetting Overview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3"/>
          <p:cNvSpPr/>
          <p:nvPr/>
        </p:nvSpPr>
        <p:spPr>
          <a:xfrm>
            <a:off x="274320" y="1188720"/>
            <a:ext cx="8595360" cy="36576"/>
          </a:xfrm>
          <a:prstGeom prst="rect">
            <a:avLst/>
          </a:prstGeom>
          <a:solidFill>
            <a:srgbClr val="1E3A6E"/>
          </a:solidFill>
          <a:ln cap="flat" cmpd="sng" w="12700">
            <a:solidFill>
              <a:srgbClr val="1E3A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1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D1B4B"/>
          </a:solidFill>
          <a:ln cap="flat" cmpd="sng" w="12700">
            <a:solidFill>
              <a:srgbClr val="0D1B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13"/>
          <p:cNvSpPr/>
          <p:nvPr/>
        </p:nvSpPr>
        <p:spPr>
          <a:xfrm>
            <a:off x="274320" y="4846320"/>
            <a:ext cx="8595360" cy="2971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6E4F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D6E4F0"/>
                </a:solidFill>
                <a:latin typeface="Calibri"/>
                <a:ea typeface="Calibri"/>
                <a:cs typeface="Calibri"/>
                <a:sym typeface="Calibri"/>
              </a:rPr>
              <a:t>U.S. Figure Skating — Technical Panel Education  |  Jump Framework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3"/>
          <p:cNvSpPr/>
          <p:nvPr/>
        </p:nvSpPr>
        <p:spPr>
          <a:xfrm>
            <a:off x="274320" y="1261872"/>
            <a:ext cx="85953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1B4B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0D1B4B"/>
                </a:solidFill>
                <a:latin typeface="Calibri"/>
                <a:ea typeface="Calibri"/>
                <a:cs typeface="Calibri"/>
                <a:sym typeface="Calibri"/>
              </a:rPr>
              <a:t>Core question: After the code and modifiers are set, does the element need any additional markers?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3"/>
          <p:cNvSpPr/>
          <p:nvPr/>
        </p:nvSpPr>
        <p:spPr>
          <a:xfrm>
            <a:off x="274325" y="1719074"/>
            <a:ext cx="4206300" cy="625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0CED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13"/>
          <p:cNvSpPr/>
          <p:nvPr/>
        </p:nvSpPr>
        <p:spPr>
          <a:xfrm>
            <a:off x="274325" y="1719074"/>
            <a:ext cx="502800" cy="625200"/>
          </a:xfrm>
          <a:prstGeom prst="rect">
            <a:avLst/>
          </a:prstGeom>
          <a:solidFill>
            <a:srgbClr val="B94040"/>
          </a:solidFill>
          <a:ln cap="flat" cmpd="sng" w="12700">
            <a:solidFill>
              <a:srgbClr val="B940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13"/>
          <p:cNvSpPr/>
          <p:nvPr/>
        </p:nvSpPr>
        <p:spPr>
          <a:xfrm>
            <a:off x="274325" y="1719075"/>
            <a:ext cx="502800" cy="62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3"/>
          <p:cNvSpPr/>
          <p:nvPr/>
        </p:nvSpPr>
        <p:spPr>
          <a:xfrm>
            <a:off x="886980" y="1673348"/>
            <a:ext cx="35205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1B4B"/>
              </a:buClr>
              <a:buSzPts val="1100"/>
              <a:buFont typeface="Cambria"/>
              <a:buNone/>
            </a:pPr>
            <a:r>
              <a:rPr b="1" i="0" lang="en-US" sz="1100" u="none" cap="none" strike="noStrike">
                <a:solidFill>
                  <a:srgbClr val="0D1B4B"/>
                </a:solidFill>
                <a:latin typeface="Cambria"/>
                <a:ea typeface="Cambria"/>
                <a:cs typeface="Cambria"/>
                <a:sym typeface="Cambria"/>
              </a:rPr>
              <a:t>Asterisk (*)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3"/>
          <p:cNvSpPr/>
          <p:nvPr/>
        </p:nvSpPr>
        <p:spPr>
          <a:xfrm>
            <a:off x="886980" y="1856229"/>
            <a:ext cx="35205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Element occupies a box but receives no base value: wrong element, extra beyond program limit, exceeds repetition limit, broken combo, or post-fall jump.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3"/>
          <p:cNvSpPr/>
          <p:nvPr/>
        </p:nvSpPr>
        <p:spPr>
          <a:xfrm>
            <a:off x="274325" y="2391150"/>
            <a:ext cx="4206300" cy="625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0CED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13"/>
          <p:cNvSpPr/>
          <p:nvPr/>
        </p:nvSpPr>
        <p:spPr>
          <a:xfrm>
            <a:off x="274325" y="2391150"/>
            <a:ext cx="502800" cy="625200"/>
          </a:xfrm>
          <a:prstGeom prst="rect">
            <a:avLst/>
          </a:prstGeom>
          <a:solidFill>
            <a:srgbClr val="C8922A"/>
          </a:solidFill>
          <a:ln cap="flat" cmpd="sng" w="12700">
            <a:solidFill>
              <a:srgbClr val="C892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13"/>
          <p:cNvSpPr/>
          <p:nvPr/>
        </p:nvSpPr>
        <p:spPr>
          <a:xfrm>
            <a:off x="274325" y="2391150"/>
            <a:ext cx="502800" cy="62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4B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3"/>
          <p:cNvSpPr/>
          <p:nvPr/>
        </p:nvSpPr>
        <p:spPr>
          <a:xfrm>
            <a:off x="886975" y="2444226"/>
            <a:ext cx="3520500" cy="19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1B4B"/>
              </a:buClr>
              <a:buSzPts val="1100"/>
              <a:buFont typeface="Cambria"/>
              <a:buNone/>
            </a:pPr>
            <a:r>
              <a:rPr b="1" i="0" lang="en-US" sz="1100" u="none" cap="none" strike="noStrike">
                <a:solidFill>
                  <a:srgbClr val="0D1B4B"/>
                </a:solidFill>
                <a:latin typeface="Cambria"/>
                <a:ea typeface="Cambria"/>
                <a:cs typeface="Cambria"/>
                <a:sym typeface="Cambria"/>
              </a:rPr>
              <a:t>+REP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3"/>
          <p:cNvSpPr/>
          <p:nvPr/>
        </p:nvSpPr>
        <p:spPr>
          <a:xfrm>
            <a:off x="886850" y="2580574"/>
            <a:ext cx="3520500" cy="39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Second triple or quad performed as solo jump: receives 70% of base value. Applies at Junior and Senior. [TPH-S §JUMP.SOLO.FS.TRIPLE.REP]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3"/>
          <p:cNvSpPr/>
          <p:nvPr/>
        </p:nvSpPr>
        <p:spPr>
          <a:xfrm>
            <a:off x="274325" y="3048477"/>
            <a:ext cx="4206300" cy="6027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0CED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13"/>
          <p:cNvSpPr/>
          <p:nvPr/>
        </p:nvSpPr>
        <p:spPr>
          <a:xfrm>
            <a:off x="269750" y="3048475"/>
            <a:ext cx="507600" cy="602700"/>
          </a:xfrm>
          <a:prstGeom prst="rect">
            <a:avLst/>
          </a:prstGeom>
          <a:solidFill>
            <a:srgbClr val="1A6B8A"/>
          </a:solidFill>
          <a:ln cap="flat" cmpd="sng" w="12700">
            <a:solidFill>
              <a:srgbClr val="1A6B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13"/>
          <p:cNvSpPr/>
          <p:nvPr/>
        </p:nvSpPr>
        <p:spPr>
          <a:xfrm>
            <a:off x="710600" y="3127125"/>
            <a:ext cx="502800" cy="60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4C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13"/>
          <p:cNvSpPr/>
          <p:nvPr/>
        </p:nvSpPr>
        <p:spPr>
          <a:xfrm>
            <a:off x="887005" y="3048133"/>
            <a:ext cx="35205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1B4B"/>
              </a:buClr>
              <a:buSzPts val="1100"/>
              <a:buFont typeface="Cambria"/>
              <a:buNone/>
            </a:pPr>
            <a:r>
              <a:rPr b="1" i="0" lang="en-US" sz="1100" u="none" cap="none" strike="noStrike">
                <a:solidFill>
                  <a:srgbClr val="0D1B4B"/>
                </a:solidFill>
                <a:latin typeface="Cambria"/>
                <a:ea typeface="Cambria"/>
                <a:cs typeface="Cambria"/>
                <a:sym typeface="Cambria"/>
              </a:rPr>
              <a:t>+COMBO (SP)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3"/>
          <p:cNvSpPr/>
          <p:nvPr/>
        </p:nvSpPr>
        <p:spPr>
          <a:xfrm>
            <a:off x="868700" y="3249948"/>
            <a:ext cx="3520500" cy="39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Skater does not include second jump in required SP combination. TP assigns which element is the combination. [TPH-S §JUMP.COMBO.SP]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3"/>
          <p:cNvSpPr/>
          <p:nvPr/>
        </p:nvSpPr>
        <p:spPr>
          <a:xfrm>
            <a:off x="269750" y="3695703"/>
            <a:ext cx="4206300" cy="6027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0CED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13"/>
          <p:cNvSpPr/>
          <p:nvPr/>
        </p:nvSpPr>
        <p:spPr>
          <a:xfrm>
            <a:off x="265175" y="3695700"/>
            <a:ext cx="502800" cy="602700"/>
          </a:xfrm>
          <a:prstGeom prst="rect">
            <a:avLst/>
          </a:prstGeom>
          <a:solidFill>
            <a:srgbClr val="1E3A6E"/>
          </a:solidFill>
          <a:ln cap="flat" cmpd="sng" w="12700">
            <a:solidFill>
              <a:srgbClr val="1E3A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13"/>
          <p:cNvSpPr/>
          <p:nvPr/>
        </p:nvSpPr>
        <p:spPr>
          <a:xfrm>
            <a:off x="274325" y="3683302"/>
            <a:ext cx="502800" cy="62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3"/>
          <p:cNvSpPr/>
          <p:nvPr/>
        </p:nvSpPr>
        <p:spPr>
          <a:xfrm>
            <a:off x="868555" y="3683300"/>
            <a:ext cx="35205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1B4B"/>
              </a:buClr>
              <a:buSzPts val="1100"/>
              <a:buFont typeface="Cambria"/>
              <a:buNone/>
            </a:pPr>
            <a:r>
              <a:rPr b="1" i="0" lang="en-US" sz="1100" u="none" cap="none" strike="noStrike">
                <a:solidFill>
                  <a:srgbClr val="0D1B4B"/>
                </a:solidFill>
                <a:latin typeface="Cambria"/>
                <a:ea typeface="Cambria"/>
                <a:cs typeface="Cambria"/>
                <a:sym typeface="Cambria"/>
              </a:rPr>
              <a:t>Extra Combos / Sequences (FS)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3"/>
          <p:cNvSpPr/>
          <p:nvPr/>
        </p:nvSpPr>
        <p:spPr>
          <a:xfrm>
            <a:off x="886850" y="3885127"/>
            <a:ext cx="3520500" cy="39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Exceeds allowed combo/sequence limit. Only first jump of extra combo/seq  counts; all following jumps get *. Combo gets a +REP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3"/>
          <p:cNvSpPr/>
          <p:nvPr/>
        </p:nvSpPr>
        <p:spPr>
          <a:xfrm>
            <a:off x="4663440" y="1719072"/>
            <a:ext cx="4206240" cy="7772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0CED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13"/>
          <p:cNvSpPr/>
          <p:nvPr/>
        </p:nvSpPr>
        <p:spPr>
          <a:xfrm>
            <a:off x="4663440" y="1719072"/>
            <a:ext cx="502920" cy="777240"/>
          </a:xfrm>
          <a:prstGeom prst="rect">
            <a:avLst/>
          </a:prstGeom>
          <a:solidFill>
            <a:srgbClr val="0D1B4B"/>
          </a:solidFill>
          <a:ln cap="flat" cmpd="sng" w="12700">
            <a:solidFill>
              <a:srgbClr val="0D1B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13"/>
          <p:cNvSpPr/>
          <p:nvPr/>
        </p:nvSpPr>
        <p:spPr>
          <a:xfrm>
            <a:off x="4663440" y="1719072"/>
            <a:ext cx="5029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3"/>
          <p:cNvSpPr/>
          <p:nvPr/>
        </p:nvSpPr>
        <p:spPr>
          <a:xfrm>
            <a:off x="5257800" y="1755648"/>
            <a:ext cx="3520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1B4B"/>
              </a:buClr>
              <a:buSzPts val="1100"/>
              <a:buFont typeface="Cambria"/>
              <a:buNone/>
            </a:pPr>
            <a:r>
              <a:rPr b="1" i="0" lang="en-US" sz="1100" u="none" cap="none" strike="noStrike">
                <a:solidFill>
                  <a:srgbClr val="0D1B4B"/>
                </a:solidFill>
                <a:latin typeface="Cambria"/>
                <a:ea typeface="Cambria"/>
                <a:cs typeface="Cambria"/>
                <a:sym typeface="Cambria"/>
              </a:rPr>
              <a:t>Juvenile 3-Jump Rule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3"/>
          <p:cNvSpPr/>
          <p:nvPr/>
        </p:nvSpPr>
        <p:spPr>
          <a:xfrm>
            <a:off x="5257800" y="1993392"/>
            <a:ext cx="35204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Three-jump combo in Juvenile FS may only have two doubles unless exception (2A or triple included). Downgraded 2A or triple loses exception.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3"/>
          <p:cNvSpPr/>
          <p:nvPr/>
        </p:nvSpPr>
        <p:spPr>
          <a:xfrm>
            <a:off x="4663440" y="2587752"/>
            <a:ext cx="4206240" cy="7772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0CED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13"/>
          <p:cNvSpPr/>
          <p:nvPr/>
        </p:nvSpPr>
        <p:spPr>
          <a:xfrm>
            <a:off x="4663440" y="2587752"/>
            <a:ext cx="502920" cy="777240"/>
          </a:xfrm>
          <a:prstGeom prst="rect">
            <a:avLst/>
          </a:prstGeom>
          <a:solidFill>
            <a:srgbClr val="1A6B8A"/>
          </a:solidFill>
          <a:ln cap="flat" cmpd="sng" w="12700">
            <a:solidFill>
              <a:srgbClr val="1A6B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13"/>
          <p:cNvSpPr/>
          <p:nvPr/>
        </p:nvSpPr>
        <p:spPr>
          <a:xfrm>
            <a:off x="4663440" y="2587752"/>
            <a:ext cx="5029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4F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3"/>
          <p:cNvSpPr/>
          <p:nvPr/>
        </p:nvSpPr>
        <p:spPr>
          <a:xfrm>
            <a:off x="5257800" y="2624328"/>
            <a:ext cx="3520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1B4B"/>
              </a:buClr>
              <a:buSzPts val="1100"/>
              <a:buFont typeface="Cambria"/>
              <a:buNone/>
            </a:pPr>
            <a:r>
              <a:rPr b="1" i="0" lang="en-US" sz="1100" u="none" cap="none" strike="noStrike">
                <a:solidFill>
                  <a:srgbClr val="0D1B4B"/>
                </a:solidFill>
                <a:latin typeface="Cambria"/>
                <a:ea typeface="Cambria"/>
                <a:cs typeface="Cambria"/>
                <a:sym typeface="Cambria"/>
              </a:rPr>
              <a:t>Second Half Bonus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3"/>
          <p:cNvSpPr/>
          <p:nvPr/>
        </p:nvSpPr>
        <p:spPr>
          <a:xfrm>
            <a:off x="5257800" y="2862072"/>
            <a:ext cx="35204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Last 1 jump (SP Jr/Sr) or last 3 jumps (FS Juv–Sr) in second half get ×1.1 factor. TC directs DO — not TS1.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3"/>
          <p:cNvSpPr/>
          <p:nvPr/>
        </p:nvSpPr>
        <p:spPr>
          <a:xfrm>
            <a:off x="4663450" y="3456424"/>
            <a:ext cx="4206300" cy="852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0CED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13"/>
          <p:cNvSpPr/>
          <p:nvPr/>
        </p:nvSpPr>
        <p:spPr>
          <a:xfrm>
            <a:off x="4663450" y="3456424"/>
            <a:ext cx="502800" cy="852000"/>
          </a:xfrm>
          <a:prstGeom prst="rect">
            <a:avLst/>
          </a:prstGeom>
          <a:solidFill>
            <a:srgbClr val="C8922A"/>
          </a:solidFill>
          <a:ln cap="flat" cmpd="sng" w="12700">
            <a:solidFill>
              <a:srgbClr val="C892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13"/>
          <p:cNvSpPr/>
          <p:nvPr/>
        </p:nvSpPr>
        <p:spPr>
          <a:xfrm>
            <a:off x="4663450" y="3456462"/>
            <a:ext cx="502800" cy="85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4G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3"/>
          <p:cNvSpPr/>
          <p:nvPr/>
        </p:nvSpPr>
        <p:spPr>
          <a:xfrm>
            <a:off x="5257800" y="3493008"/>
            <a:ext cx="35205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1B4B"/>
              </a:buClr>
              <a:buSzPts val="1100"/>
              <a:buFont typeface="Cambria"/>
              <a:buNone/>
            </a:pPr>
            <a:r>
              <a:rPr b="1" i="0" lang="en-US" sz="1100" u="none" cap="none" strike="noStrike">
                <a:solidFill>
                  <a:srgbClr val="0D1B4B"/>
                </a:solidFill>
                <a:latin typeface="Cambria"/>
                <a:ea typeface="Cambria"/>
                <a:cs typeface="Cambria"/>
                <a:sym typeface="Cambria"/>
              </a:rPr>
              <a:t>Jump Bonus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3"/>
          <p:cNvSpPr/>
          <p:nvPr/>
        </p:nvSpPr>
        <p:spPr>
          <a:xfrm>
            <a:off x="5257800" y="3730752"/>
            <a:ext cx="35204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USFS domestic only. +1.0 per qualifying element. Eligibility by level: rotation outcome gates whether bonus applies. Not used at ISU events.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3"/>
          <p:cNvSpPr/>
          <p:nvPr/>
        </p:nvSpPr>
        <p:spPr>
          <a:xfrm>
            <a:off x="274400" y="3037227"/>
            <a:ext cx="502800" cy="62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4C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6E4F0"/>
        </a:solidFill>
      </p:bgPr>
    </p:bg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4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1B4B"/>
          </a:solidFill>
          <a:ln cap="flat" cmpd="sng" w="12700">
            <a:solidFill>
              <a:srgbClr val="0D1B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14"/>
          <p:cNvSpPr/>
          <p:nvPr/>
        </p:nvSpPr>
        <p:spPr>
          <a:xfrm>
            <a:off x="274320" y="164592"/>
            <a:ext cx="1463040" cy="329184"/>
          </a:xfrm>
          <a:prstGeom prst="rect">
            <a:avLst/>
          </a:prstGeom>
          <a:solidFill>
            <a:srgbClr val="B94040"/>
          </a:solidFill>
          <a:ln cap="flat" cmpd="sng" w="12700">
            <a:solidFill>
              <a:srgbClr val="B940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14"/>
          <p:cNvSpPr/>
          <p:nvPr/>
        </p:nvSpPr>
        <p:spPr>
          <a:xfrm>
            <a:off x="274320" y="164592"/>
            <a:ext cx="14630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PHASE 4A / 4B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4"/>
          <p:cNvSpPr/>
          <p:nvPr/>
        </p:nvSpPr>
        <p:spPr>
          <a:xfrm>
            <a:off x="274320" y="548640"/>
            <a:ext cx="859536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1B4B"/>
              </a:buClr>
              <a:buSzPts val="2600"/>
              <a:buFont typeface="Cambria"/>
              <a:buNone/>
            </a:pPr>
            <a:r>
              <a:rPr b="1" i="0" lang="en-US" sz="2600" u="none" cap="none" strike="noStrike">
                <a:solidFill>
                  <a:srgbClr val="0D1B4B"/>
                </a:solidFill>
                <a:latin typeface="Cambria"/>
                <a:ea typeface="Cambria"/>
                <a:cs typeface="Cambria"/>
                <a:sym typeface="Cambria"/>
              </a:rPr>
              <a:t>Phase 4A/B — Asterisk (*) and +REP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4"/>
          <p:cNvSpPr/>
          <p:nvPr/>
        </p:nvSpPr>
        <p:spPr>
          <a:xfrm>
            <a:off x="274320" y="1188720"/>
            <a:ext cx="8595360" cy="36576"/>
          </a:xfrm>
          <a:prstGeom prst="rect">
            <a:avLst/>
          </a:prstGeom>
          <a:solidFill>
            <a:srgbClr val="1E3A6E"/>
          </a:solidFill>
          <a:ln cap="flat" cmpd="sng" w="12700">
            <a:solidFill>
              <a:srgbClr val="1E3A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1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D1B4B"/>
          </a:solidFill>
          <a:ln cap="flat" cmpd="sng" w="12700">
            <a:solidFill>
              <a:srgbClr val="0D1B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14"/>
          <p:cNvSpPr/>
          <p:nvPr/>
        </p:nvSpPr>
        <p:spPr>
          <a:xfrm>
            <a:off x="274320" y="4846320"/>
            <a:ext cx="8595360" cy="2971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6E4F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D6E4F0"/>
                </a:solidFill>
                <a:latin typeface="Calibri"/>
                <a:ea typeface="Calibri"/>
                <a:cs typeface="Calibri"/>
                <a:sym typeface="Calibri"/>
              </a:rPr>
              <a:t>U.S. Figure Skating — Technical Panel Education  |  Jump Framework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4"/>
          <p:cNvSpPr/>
          <p:nvPr/>
        </p:nvSpPr>
        <p:spPr>
          <a:xfrm>
            <a:off x="274320" y="1261872"/>
            <a:ext cx="4114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94040"/>
              </a:buClr>
              <a:buSzPts val="1300"/>
              <a:buFont typeface="Cambria"/>
              <a:buNone/>
            </a:pPr>
            <a:r>
              <a:rPr b="1" i="0" lang="en-US" sz="1300" u="none" cap="none" strike="noStrike">
                <a:solidFill>
                  <a:srgbClr val="B94040"/>
                </a:solidFill>
                <a:latin typeface="Cambria"/>
                <a:ea typeface="Cambria"/>
                <a:cs typeface="Cambria"/>
                <a:sym typeface="Cambria"/>
              </a:rPr>
              <a:t>4A — Asterisk (*) — No Value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66" name="Google Shape;166;p14"/>
          <p:cNvGraphicFramePr/>
          <p:nvPr/>
        </p:nvGraphicFramePr>
        <p:xfrm>
          <a:off x="274320" y="167335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{604FF4CF-6B6D-4D36-A94F-728953CE8EA1}</a:tableStyleId>
              </a:tblPr>
              <a:tblGrid>
                <a:gridCol w="2286000"/>
                <a:gridCol w="1828800"/>
              </a:tblGrid>
              <a:tr h="320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Situation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0CED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0CED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0CED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0CED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9404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Why *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0CED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0CED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0CED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0CED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94040"/>
                    </a:solidFill>
                  </a:tcPr>
                </a:tc>
              </a:tr>
              <a:tr h="320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34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1A234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Wrong element for program requirements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0CED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0CED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0CED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0CED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34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1A234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Element does not satisfy the required slot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0CED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0CED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0CED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0CED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20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34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1A234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Extra jumping element beyond program limit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0CED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0CED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0CED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0CED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D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34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1A234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Exceeds allowed number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0CED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0CED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0CED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0CED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DF4"/>
                    </a:solidFill>
                  </a:tcPr>
                </a:tc>
              </a:tr>
              <a:tr h="320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34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1A234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3rd or 4th attempt of same double, triple, or quad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0CED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0CED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0CED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0CED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34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1A234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Repetition limit exceeded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0CED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0CED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0CED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0CED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20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cap="none" strike="noStrike">
                          <a:solidFill>
                            <a:srgbClr val="1A234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All jumping boxes filled and no A type jump</a:t>
                      </a:r>
                      <a:endParaRPr sz="900" u="none" cap="none" strike="noStrike">
                        <a:solidFill>
                          <a:srgbClr val="1A234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0CED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0CED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0CED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0CED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D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cap="none" strike="noStrike">
                          <a:solidFill>
                            <a:srgbClr val="1A234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FS requires A type jump</a:t>
                      </a:r>
                      <a:endParaRPr sz="900" u="none" cap="none" strike="noStrike">
                        <a:solidFill>
                          <a:srgbClr val="1A234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0CED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0CED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0CED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0CED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DF4"/>
                    </a:solidFill>
                  </a:tcPr>
                </a:tc>
              </a:tr>
              <a:tr h="320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34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1A234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Jumps after broken combination (&gt;1 full rev between)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0CED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0CED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0CED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0CED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34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1A234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Combination link destroyed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0CED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0CED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0CED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0CED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20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34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1A234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Jumps attempted after a fall (post-fall)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0CED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0CED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0CED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0CED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D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34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1A234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 value by rule; still inputed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0CED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0CED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0CED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0CED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DF4"/>
                    </a:solidFill>
                  </a:tcPr>
                </a:tc>
              </a:tr>
            </a:tbl>
          </a:graphicData>
        </a:graphic>
      </p:graphicFrame>
      <p:sp>
        <p:nvSpPr>
          <p:cNvPr id="167" name="Google Shape;167;p14"/>
          <p:cNvSpPr/>
          <p:nvPr/>
        </p:nvSpPr>
        <p:spPr>
          <a:xfrm>
            <a:off x="274325" y="4043175"/>
            <a:ext cx="41148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A82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5A6A82"/>
                </a:solidFill>
                <a:latin typeface="Calibri"/>
                <a:ea typeface="Calibri"/>
                <a:cs typeface="Calibri"/>
                <a:sym typeface="Calibri"/>
              </a:rPr>
              <a:t>Elements assessed in the order performed. First occurrence assessed first.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A82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5A6A82"/>
                </a:solidFill>
                <a:latin typeface="Calibri"/>
                <a:ea typeface="Calibri"/>
                <a:cs typeface="Calibri"/>
                <a:sym typeface="Calibri"/>
              </a:rPr>
              <a:t>[TPH-S §CALL.GEN]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4"/>
          <p:cNvSpPr/>
          <p:nvPr/>
        </p:nvSpPr>
        <p:spPr>
          <a:xfrm>
            <a:off x="4572000" y="1261872"/>
            <a:ext cx="4297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8922A"/>
              </a:buClr>
              <a:buSzPts val="1300"/>
              <a:buFont typeface="Cambria"/>
              <a:buNone/>
            </a:pPr>
            <a:r>
              <a:rPr b="1" i="0" lang="en-US" sz="1300" u="none" cap="none" strike="noStrike">
                <a:solidFill>
                  <a:srgbClr val="C8922A"/>
                </a:solidFill>
                <a:latin typeface="Cambria"/>
                <a:ea typeface="Cambria"/>
                <a:cs typeface="Cambria"/>
                <a:sym typeface="Cambria"/>
              </a:rPr>
              <a:t>4B — +REP — 70% Base Value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69" name="Google Shape;169;p14"/>
          <p:cNvGraphicFramePr/>
          <p:nvPr/>
        </p:nvGraphicFramePr>
        <p:xfrm>
          <a:off x="4572000" y="167335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{604FF4CF-6B6D-4D36-A94F-728953CE8EA1}</a:tableStyleId>
              </a:tblPr>
              <a:tblGrid>
                <a:gridCol w="2286000"/>
                <a:gridCol w="2011675"/>
              </a:tblGrid>
              <a:tr h="320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Situation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0CED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0CED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0CED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0CED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892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Result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0CED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0CED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0CED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0CED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8922A"/>
                    </a:solidFill>
                  </a:tcPr>
                </a:tc>
              </a:tr>
              <a:tr h="442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34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1A234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2nd double (solo or combo)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0CED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0CED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0CED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0CED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34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1A234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Both get full value — doubles repeat freely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0CED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0CED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0CED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0CED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87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34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1A234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2nd triple/quad — BOTH as solo jumps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0CED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0CED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0CED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0CED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D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34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1A234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+REP on second → 70% base value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0CED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0CED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0CED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0CED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DF4"/>
                    </a:solidFill>
                  </a:tcPr>
                </a:tc>
              </a:tr>
              <a:tr h="387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34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1A234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2nd triple/quad — at least one in combo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0CED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0CED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0CED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0CED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34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1A234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Both full value — no +REP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0CED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0CED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0CED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0CED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87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cap="none" strike="noStrike">
                          <a:solidFill>
                            <a:srgbClr val="1A234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2nd jump sequence</a:t>
                      </a:r>
                      <a:endParaRPr sz="900" u="none" cap="none" strike="noStrike">
                        <a:solidFill>
                          <a:srgbClr val="1A234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0CED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0CED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0CED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0CED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D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cap="none" strike="noStrike">
                          <a:solidFill>
                            <a:srgbClr val="1A234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+REP on sequence, </a:t>
                      </a:r>
                      <a:r>
                        <a:rPr lang="en-US" sz="900">
                          <a:solidFill>
                            <a:srgbClr val="1A234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* on A and after</a:t>
                      </a:r>
                      <a:endParaRPr sz="900" u="none" cap="none" strike="noStrike">
                        <a:solidFill>
                          <a:srgbClr val="1A234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0CED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0CED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0CED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0CED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DF4"/>
                    </a:solidFill>
                  </a:tcPr>
                </a:tc>
              </a:tr>
              <a:tr h="454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cap="none" strike="noStrike">
                          <a:solidFill>
                            <a:srgbClr val="1A234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Exceeds jump combinations</a:t>
                      </a:r>
                      <a:endParaRPr sz="900" u="none" cap="none" strike="noStrike">
                        <a:solidFill>
                          <a:srgbClr val="1A234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0CED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0CED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0CED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0CED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cap="none" strike="noStrike">
                          <a:solidFill>
                            <a:srgbClr val="1A234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+REP on combo, </a:t>
                      </a:r>
                      <a:r>
                        <a:rPr lang="en-US" sz="900">
                          <a:solidFill>
                            <a:srgbClr val="1A234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* on violating jumps</a:t>
                      </a:r>
                      <a:endParaRPr sz="900" u="none" cap="none" strike="noStrike">
                        <a:solidFill>
                          <a:srgbClr val="1A234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0CED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0CED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0CED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0CED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170" name="Google Shape;170;p14"/>
          <p:cNvSpPr/>
          <p:nvPr/>
        </p:nvSpPr>
        <p:spPr>
          <a:xfrm>
            <a:off x="4572000" y="4074975"/>
            <a:ext cx="42978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A82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5A6A82"/>
                </a:solidFill>
                <a:latin typeface="Calibri"/>
                <a:ea typeface="Calibri"/>
                <a:cs typeface="Calibri"/>
                <a:sym typeface="Calibri"/>
              </a:rPr>
              <a:t>[TPH-S §JUMP.SOLO.FS.TRIPLE.REP]  —  Applies at Junior and Senior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A82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5A6A82"/>
                </a:solidFill>
                <a:latin typeface="Calibri"/>
                <a:ea typeface="Calibri"/>
                <a:cs typeface="Calibri"/>
                <a:sym typeface="Calibri"/>
              </a:rPr>
              <a:t>Other levels: refer to Free Skate element requirement charts for level-specific rules.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4"/>
          <p:cNvSpPr/>
          <p:nvPr/>
        </p:nvSpPr>
        <p:spPr>
          <a:xfrm>
            <a:off x="274325" y="4444876"/>
            <a:ext cx="8595300" cy="329100"/>
          </a:xfrm>
          <a:prstGeom prst="rect">
            <a:avLst/>
          </a:prstGeom>
          <a:solidFill>
            <a:srgbClr val="FFF3CD"/>
          </a:solidFill>
          <a:ln cap="flat" cmpd="sng" w="19050">
            <a:solidFill>
              <a:srgbClr val="C892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14"/>
          <p:cNvSpPr/>
          <p:nvPr/>
        </p:nvSpPr>
        <p:spPr>
          <a:xfrm>
            <a:off x="384050" y="4444746"/>
            <a:ext cx="83760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+REP does NOT block a bonus application — an element can carry both +REP and a jump achievement bonus.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6E4F0"/>
        </a:solidFill>
      </p:bgPr>
    </p:bg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5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1B4B"/>
          </a:solidFill>
          <a:ln cap="flat" cmpd="sng" w="12700">
            <a:solidFill>
              <a:srgbClr val="0D1B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15"/>
          <p:cNvSpPr/>
          <p:nvPr/>
        </p:nvSpPr>
        <p:spPr>
          <a:xfrm>
            <a:off x="274320" y="164592"/>
            <a:ext cx="1463040" cy="329184"/>
          </a:xfrm>
          <a:prstGeom prst="rect">
            <a:avLst/>
          </a:prstGeom>
          <a:solidFill>
            <a:srgbClr val="1E3A6E"/>
          </a:solidFill>
          <a:ln cap="flat" cmpd="sng" w="12700">
            <a:solidFill>
              <a:srgbClr val="1E3A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15"/>
          <p:cNvSpPr/>
          <p:nvPr/>
        </p:nvSpPr>
        <p:spPr>
          <a:xfrm>
            <a:off x="274320" y="164592"/>
            <a:ext cx="14630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PHASE 4C / 4D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5"/>
          <p:cNvSpPr/>
          <p:nvPr/>
        </p:nvSpPr>
        <p:spPr>
          <a:xfrm>
            <a:off x="274320" y="548640"/>
            <a:ext cx="859536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1B4B"/>
              </a:buClr>
              <a:buSzPts val="2600"/>
              <a:buFont typeface="Cambria"/>
              <a:buNone/>
            </a:pPr>
            <a:r>
              <a:rPr b="1" i="0" lang="en-US" sz="2600" u="none" cap="none" strike="noStrike">
                <a:solidFill>
                  <a:srgbClr val="0D1B4B"/>
                </a:solidFill>
                <a:latin typeface="Cambria"/>
                <a:ea typeface="Cambria"/>
                <a:cs typeface="Cambria"/>
                <a:sym typeface="Cambria"/>
              </a:rPr>
              <a:t>Phase 4C/D — +COMBO in SP and Extra Combos in FS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5"/>
          <p:cNvSpPr/>
          <p:nvPr/>
        </p:nvSpPr>
        <p:spPr>
          <a:xfrm>
            <a:off x="274320" y="1188720"/>
            <a:ext cx="8595360" cy="36576"/>
          </a:xfrm>
          <a:prstGeom prst="rect">
            <a:avLst/>
          </a:prstGeom>
          <a:solidFill>
            <a:srgbClr val="1E3A6E"/>
          </a:solidFill>
          <a:ln cap="flat" cmpd="sng" w="12700">
            <a:solidFill>
              <a:srgbClr val="1E3A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15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D1B4B"/>
          </a:solidFill>
          <a:ln cap="flat" cmpd="sng" w="12700">
            <a:solidFill>
              <a:srgbClr val="0D1B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15"/>
          <p:cNvSpPr/>
          <p:nvPr/>
        </p:nvSpPr>
        <p:spPr>
          <a:xfrm>
            <a:off x="274320" y="4846320"/>
            <a:ext cx="8595360" cy="2971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6E4F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D6E4F0"/>
                </a:solidFill>
                <a:latin typeface="Calibri"/>
                <a:ea typeface="Calibri"/>
                <a:cs typeface="Calibri"/>
                <a:sym typeface="Calibri"/>
              </a:rPr>
              <a:t>U.S. Figure Skating — Technical Panel Education  |  Jump Framework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5"/>
          <p:cNvSpPr/>
          <p:nvPr/>
        </p:nvSpPr>
        <p:spPr>
          <a:xfrm>
            <a:off x="274320" y="1261872"/>
            <a:ext cx="85953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1B4B"/>
              </a:buClr>
              <a:buSzPts val="1300"/>
              <a:buFont typeface="Cambria"/>
              <a:buNone/>
            </a:pPr>
            <a:r>
              <a:rPr b="1" i="0" lang="en-US" sz="1300" u="none" cap="none" strike="noStrike">
                <a:solidFill>
                  <a:srgbClr val="0D1B4B"/>
                </a:solidFill>
                <a:latin typeface="Cambria"/>
                <a:ea typeface="Cambria"/>
                <a:cs typeface="Cambria"/>
                <a:sym typeface="Cambria"/>
              </a:rPr>
              <a:t>4C — +COMBO in the Short Program  (applies Juvenile and above)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86" name="Google Shape;186;p15"/>
          <p:cNvGraphicFramePr/>
          <p:nvPr/>
        </p:nvGraphicFramePr>
        <p:xfrm>
          <a:off x="274320" y="164592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{604FF4CF-6B6D-4D36-A94F-728953CE8EA1}</a:tableStyleId>
              </a:tblPr>
              <a:tblGrid>
                <a:gridCol w="5029200"/>
                <a:gridCol w="3566150"/>
              </a:tblGrid>
              <a:tr h="297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Situation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0CED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0CED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0CED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0CED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6B8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Assignment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0CED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0CED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0CED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0CED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6B8A"/>
                    </a:solidFill>
                  </a:tcPr>
                </a:tc>
              </a:tr>
              <a:tr h="297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34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1A234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Two non-Axel jump elements, both landed or both with mistakes, no combination attempted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0CED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0CED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0CED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0CED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34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1A234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Later jump gets +COMBO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0CED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0CED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0CED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0CED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97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34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1A234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Fall or mistake after first jump; next jump landed cleanly with no combination attempt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0CED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0CED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0CED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0CED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D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34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1A234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First jump gets +COMBO — second becomes the solo jump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0CED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0CED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0CED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0CED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DF4"/>
                    </a:solidFill>
                  </a:tcPr>
                </a:tc>
              </a:tr>
              <a:tr h="297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34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1A234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 clear way to identify which is the combination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0CED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0CED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0CED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0CED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34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1A234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Later jump gets +COMBO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0CED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0CED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0CED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0CED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87" name="Google Shape;187;p15"/>
          <p:cNvSpPr/>
          <p:nvPr/>
        </p:nvSpPr>
        <p:spPr>
          <a:xfrm>
            <a:off x="274320" y="2889504"/>
            <a:ext cx="85953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A82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5A6A82"/>
                </a:solidFill>
                <a:latin typeface="Calibri"/>
                <a:ea typeface="Calibri"/>
                <a:cs typeface="Calibri"/>
                <a:sym typeface="Calibri"/>
              </a:rPr>
              <a:t>[TPH-S §JUMP.COMBO.SP]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5"/>
          <p:cNvSpPr/>
          <p:nvPr/>
        </p:nvSpPr>
        <p:spPr>
          <a:xfrm>
            <a:off x="274320" y="3182112"/>
            <a:ext cx="8595360" cy="36576"/>
          </a:xfrm>
          <a:prstGeom prst="rect">
            <a:avLst/>
          </a:prstGeom>
          <a:solidFill>
            <a:srgbClr val="1E3A6E"/>
          </a:solidFill>
          <a:ln cap="flat" cmpd="sng" w="12700">
            <a:solidFill>
              <a:srgbClr val="1E3A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15"/>
          <p:cNvSpPr/>
          <p:nvPr/>
        </p:nvSpPr>
        <p:spPr>
          <a:xfrm>
            <a:off x="274320" y="3273552"/>
            <a:ext cx="85953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1B4B"/>
              </a:buClr>
              <a:buSzPts val="1300"/>
              <a:buFont typeface="Cambria"/>
              <a:buNone/>
            </a:pPr>
            <a:r>
              <a:rPr b="1" i="0" lang="en-US" sz="1300" u="none" cap="none" strike="noStrike">
                <a:solidFill>
                  <a:srgbClr val="0D1B4B"/>
                </a:solidFill>
                <a:latin typeface="Cambria"/>
                <a:ea typeface="Cambria"/>
                <a:cs typeface="Cambria"/>
                <a:sym typeface="Cambria"/>
              </a:rPr>
              <a:t>4D — Extra Combinations/Sequences Beyond Limit (FS)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5"/>
          <p:cNvSpPr/>
          <p:nvPr/>
        </p:nvSpPr>
        <p:spPr>
          <a:xfrm>
            <a:off x="274320" y="3657600"/>
            <a:ext cx="2743200" cy="8229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0CED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15"/>
          <p:cNvSpPr/>
          <p:nvPr/>
        </p:nvSpPr>
        <p:spPr>
          <a:xfrm>
            <a:off x="411480" y="3712464"/>
            <a:ext cx="256032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3A6E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E3A6E"/>
                </a:solidFill>
                <a:latin typeface="Calibri"/>
                <a:ea typeface="Calibri"/>
                <a:cs typeface="Calibri"/>
                <a:sym typeface="Calibri"/>
              </a:rPr>
              <a:t>Sr / Jr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  <a:extLst>
                  <a:ext uri="http://customooxmlschemas.google.com/">
                    <go:slidesCustomData xmlns:go="http://customooxmlschemas.google.com/" textRoundtripDataId="0"/>
                  </a:ext>
                </a:extLst>
              </a:rPr>
              <a:t>Max 3 combos / sequences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5"/>
          <p:cNvSpPr/>
          <p:nvPr/>
        </p:nvSpPr>
        <p:spPr>
          <a:xfrm>
            <a:off x="3200400" y="3657600"/>
            <a:ext cx="2743200" cy="8229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0CED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15"/>
          <p:cNvSpPr/>
          <p:nvPr/>
        </p:nvSpPr>
        <p:spPr>
          <a:xfrm>
            <a:off x="3337560" y="3712464"/>
            <a:ext cx="256032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3A6E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E3A6E"/>
                </a:solidFill>
                <a:latin typeface="Calibri"/>
                <a:ea typeface="Calibri"/>
                <a:cs typeface="Calibri"/>
                <a:sym typeface="Calibri"/>
              </a:rPr>
              <a:t>Juvenile / Intermediate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Max 2 combos / sequences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15"/>
          <p:cNvSpPr/>
          <p:nvPr/>
        </p:nvSpPr>
        <p:spPr>
          <a:xfrm>
            <a:off x="6126480" y="3657600"/>
            <a:ext cx="2743200" cy="822960"/>
          </a:xfrm>
          <a:prstGeom prst="rect">
            <a:avLst/>
          </a:prstGeom>
          <a:solidFill>
            <a:srgbClr val="FFF3CD"/>
          </a:solidFill>
          <a:ln cap="flat" cmpd="sng" w="19050">
            <a:solidFill>
              <a:srgbClr val="C892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15"/>
          <p:cNvSpPr/>
          <p:nvPr/>
        </p:nvSpPr>
        <p:spPr>
          <a:xfrm>
            <a:off x="6263640" y="3712464"/>
            <a:ext cx="25603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1B4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D1B4B"/>
                </a:solidFill>
                <a:latin typeface="Calibri"/>
                <a:ea typeface="Calibri"/>
                <a:cs typeface="Calibri"/>
                <a:sym typeface="Calibri"/>
              </a:rPr>
              <a:t>When exceeded:</a:t>
            </a:r>
            <a:br>
              <a:rPr b="1" i="0" lang="en-US" sz="1100" u="none" cap="none" strike="noStrike">
                <a:solidFill>
                  <a:srgbClr val="0D1B4B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900" u="none" cap="none" strike="noStrike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Only the first jump of the extra combo/sequence counts. Element marked </a:t>
            </a:r>
            <a:r>
              <a:rPr b="1" i="0" lang="en-US" sz="900" u="none" cap="none" strike="noStrike">
                <a:solidFill>
                  <a:srgbClr val="C8922A"/>
                </a:solidFill>
                <a:latin typeface="Calibri"/>
                <a:ea typeface="Calibri"/>
                <a:cs typeface="Calibri"/>
                <a:sym typeface="Calibri"/>
              </a:rPr>
              <a:t>+REP</a:t>
            </a:r>
            <a:r>
              <a:rPr b="0" i="0" lang="en-US" sz="900" u="none" cap="none" strike="noStrike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. All jumps after the first get </a:t>
            </a:r>
            <a:r>
              <a:rPr b="1" i="0" lang="en-US" sz="900" u="none" cap="none" strike="noStrike">
                <a:solidFill>
                  <a:srgbClr val="B94040"/>
                </a:solidFill>
                <a:latin typeface="Calibri"/>
                <a:ea typeface="Calibri"/>
                <a:cs typeface="Calibri"/>
                <a:sym typeface="Calibri"/>
              </a:rPr>
              <a:t>*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15"/>
          <p:cNvSpPr/>
          <p:nvPr/>
        </p:nvSpPr>
        <p:spPr>
          <a:xfrm>
            <a:off x="274320" y="4503420"/>
            <a:ext cx="85953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A82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5A6A82"/>
                </a:solidFill>
                <a:latin typeface="Calibri"/>
                <a:ea typeface="Calibri"/>
                <a:cs typeface="Calibri"/>
                <a:sym typeface="Calibri"/>
              </a:rPr>
              <a:t>Examples:  3Lo+3T*+REP  (only 3Lo counts)     3Lo+1Eu*+3S*+REP  (only 3Lo counts)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6E4F0"/>
        </a:solidFill>
      </p:bgPr>
    </p:bg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6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1B4B"/>
          </a:solidFill>
          <a:ln cap="flat" cmpd="sng" w="12700">
            <a:solidFill>
              <a:srgbClr val="0D1B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16"/>
          <p:cNvSpPr/>
          <p:nvPr/>
        </p:nvSpPr>
        <p:spPr>
          <a:xfrm>
            <a:off x="274320" y="164592"/>
            <a:ext cx="1463040" cy="329184"/>
          </a:xfrm>
          <a:prstGeom prst="rect">
            <a:avLst/>
          </a:prstGeom>
          <a:solidFill>
            <a:srgbClr val="0D1B4B"/>
          </a:solidFill>
          <a:ln cap="flat" cmpd="sng" w="12700">
            <a:solidFill>
              <a:srgbClr val="0D1B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16"/>
          <p:cNvSpPr/>
          <p:nvPr/>
        </p:nvSpPr>
        <p:spPr>
          <a:xfrm>
            <a:off x="274320" y="164592"/>
            <a:ext cx="14630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PHASE 4E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6"/>
          <p:cNvSpPr/>
          <p:nvPr/>
        </p:nvSpPr>
        <p:spPr>
          <a:xfrm>
            <a:off x="274320" y="548640"/>
            <a:ext cx="859536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1B4B"/>
              </a:buClr>
              <a:buSzPts val="2600"/>
              <a:buFont typeface="Cambria"/>
              <a:buNone/>
            </a:pPr>
            <a:r>
              <a:rPr b="1" i="0" lang="en-US" sz="2600" u="none" cap="none" strike="noStrike">
                <a:solidFill>
                  <a:srgbClr val="0D1B4B"/>
                </a:solidFill>
                <a:latin typeface="Cambria"/>
                <a:ea typeface="Cambria"/>
                <a:cs typeface="Cambria"/>
                <a:sym typeface="Cambria"/>
              </a:rPr>
              <a:t>Phase 4E — Juvenile FS: Three-Jump Combination Rule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16"/>
          <p:cNvSpPr/>
          <p:nvPr/>
        </p:nvSpPr>
        <p:spPr>
          <a:xfrm>
            <a:off x="274320" y="1188720"/>
            <a:ext cx="8595360" cy="36576"/>
          </a:xfrm>
          <a:prstGeom prst="rect">
            <a:avLst/>
          </a:prstGeom>
          <a:solidFill>
            <a:srgbClr val="1E3A6E"/>
          </a:solidFill>
          <a:ln cap="flat" cmpd="sng" w="12700">
            <a:solidFill>
              <a:srgbClr val="1E3A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16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D1B4B"/>
          </a:solidFill>
          <a:ln cap="flat" cmpd="sng" w="12700">
            <a:solidFill>
              <a:srgbClr val="0D1B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16"/>
          <p:cNvSpPr/>
          <p:nvPr/>
        </p:nvSpPr>
        <p:spPr>
          <a:xfrm>
            <a:off x="274320" y="4846320"/>
            <a:ext cx="8595360" cy="2971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6E4F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D6E4F0"/>
                </a:solidFill>
                <a:latin typeface="Calibri"/>
                <a:ea typeface="Calibri"/>
                <a:cs typeface="Calibri"/>
                <a:sym typeface="Calibri"/>
              </a:rPr>
              <a:t>U.S. Figure Skating — Technical Panel Education  |  Jump Framework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16"/>
          <p:cNvSpPr/>
          <p:nvPr/>
        </p:nvSpPr>
        <p:spPr>
          <a:xfrm>
            <a:off x="274350" y="1335849"/>
            <a:ext cx="8595300" cy="329100"/>
          </a:xfrm>
          <a:prstGeom prst="rect">
            <a:avLst/>
          </a:prstGeom>
          <a:solidFill>
            <a:srgbClr val="E8F4FD"/>
          </a:solidFill>
          <a:ln cap="flat" cmpd="sng" w="19050">
            <a:solidFill>
              <a:srgbClr val="C892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16"/>
          <p:cNvSpPr/>
          <p:nvPr/>
        </p:nvSpPr>
        <p:spPr>
          <a:xfrm>
            <a:off x="384075" y="1335849"/>
            <a:ext cx="83760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1B4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0D1B4B"/>
                </a:solidFill>
                <a:latin typeface="Calibri"/>
                <a:ea typeface="Calibri"/>
                <a:cs typeface="Calibri"/>
                <a:sym typeface="Calibri"/>
              </a:rPr>
              <a:t>A three-jump combination in Juvenile FS may only contain TWO double jumps unless a specific exception applies.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11" name="Google Shape;211;p16"/>
          <p:cNvGraphicFramePr/>
          <p:nvPr/>
        </p:nvGraphicFramePr>
        <p:xfrm>
          <a:off x="274320" y="176635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{604FF4CF-6B6D-4D36-A94F-728953CE8EA1}</a:tableStyleId>
              </a:tblPr>
              <a:tblGrid>
                <a:gridCol w="3840475"/>
                <a:gridCol w="2560325"/>
                <a:gridCol w="2194550"/>
              </a:tblGrid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Situation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0CED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0CED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0CED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0CED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1B4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Result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0CED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0CED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0CED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0CED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1B4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Example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0CED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0CED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0CED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0CED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1B4B"/>
                    </a:solidFill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34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A234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Three double jumps, no 2A or triple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0CED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0CED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0CED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0CED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94040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B9404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Last jump: *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0CED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0CED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0CED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0CED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34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A234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2Lz+2Lo+2T*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0CED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0CED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0CED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0CED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34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A234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2A or triple included — exception applies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0CED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0CED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0CED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0CED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D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E7D56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2E7D5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Two other doubles permitted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0CED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0CED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0CED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0CED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D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34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A234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3S+2Lo+2T ✓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0CED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0CED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0CED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0CED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DF4"/>
                    </a:solidFill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34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A234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2A is downgraded (2A&lt;&lt;) — no longer acts as 2A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0CED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0CED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0CED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0CED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94040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B9404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Exception, last double gets *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0CED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0CED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0CED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0CED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34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A234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2A&lt;&lt;+2Lo+2T*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0CED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0CED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0CED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0CED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34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A234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Triple is downgraded (e.g. 3S&lt;&lt;)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0CED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0CED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0CED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0CED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D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94040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B9404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Acts as double; second double gets *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0CED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0CED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0CED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0CED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D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34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A234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3S&lt;&lt;+2Lo+2T*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0CED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0CED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0CED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0CED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DF4"/>
                    </a:solidFill>
                  </a:tcPr>
                </a:tc>
              </a:tr>
            </a:tbl>
          </a:graphicData>
        </a:graphic>
      </p:graphicFrame>
      <p:sp>
        <p:nvSpPr>
          <p:cNvPr id="212" name="Google Shape;212;p16"/>
          <p:cNvSpPr/>
          <p:nvPr/>
        </p:nvSpPr>
        <p:spPr>
          <a:xfrm>
            <a:off x="274325" y="3788000"/>
            <a:ext cx="8595300" cy="499500"/>
          </a:xfrm>
          <a:prstGeom prst="rect">
            <a:avLst/>
          </a:prstGeom>
          <a:solidFill>
            <a:srgbClr val="FFF8E6"/>
          </a:solidFill>
          <a:ln cap="flat" cmpd="sng" w="25400">
            <a:solidFill>
              <a:srgbClr val="C892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16"/>
          <p:cNvSpPr/>
          <p:nvPr/>
        </p:nvSpPr>
        <p:spPr>
          <a:xfrm>
            <a:off x="365675" y="3788000"/>
            <a:ext cx="8412600" cy="49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8922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C8922A"/>
                </a:solidFill>
                <a:latin typeface="Calibri"/>
                <a:ea typeface="Calibri"/>
                <a:cs typeface="Calibri"/>
                <a:sym typeface="Calibri"/>
              </a:rPr>
              <a:t>★ </a:t>
            </a:r>
            <a:r>
              <a:rPr b="0" i="0" lang="en-US" sz="1100" u="none" cap="none" strike="noStrike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Teaching trap: A downgraded 2A (2A&lt;&lt;) or a downgraded triple loses its exception status. The last double in the combination receives the asterisk.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16"/>
          <p:cNvSpPr/>
          <p:nvPr/>
        </p:nvSpPr>
        <p:spPr>
          <a:xfrm>
            <a:off x="274395" y="4361179"/>
            <a:ext cx="8595300" cy="4116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0CED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16"/>
          <p:cNvSpPr/>
          <p:nvPr/>
        </p:nvSpPr>
        <p:spPr>
          <a:xfrm>
            <a:off x="365675" y="4361174"/>
            <a:ext cx="83211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1B4B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D1B4B"/>
                </a:solidFill>
                <a:latin typeface="Calibri"/>
                <a:ea typeface="Calibri"/>
                <a:cs typeface="Calibri"/>
                <a:sym typeface="Calibri"/>
              </a:rPr>
              <a:t>Exception logic for all downgraded jumps in a 3-jump combo: </a:t>
            </a:r>
            <a:r>
              <a:rPr b="0" i="0" lang="en-US" sz="1000" u="none" cap="none" strike="noStrike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The downgraded version of the jump determines whether the exception applies. A downgraded triple acts as a double. A downgraded 2A acts as a 1A (Axel). Count accordingly.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6E4F0"/>
        </a:solidFill>
      </p:bgPr>
    </p:bg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7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1B4B"/>
          </a:solidFill>
          <a:ln cap="flat" cmpd="sng" w="12700">
            <a:solidFill>
              <a:srgbClr val="0D1B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17"/>
          <p:cNvSpPr/>
          <p:nvPr/>
        </p:nvSpPr>
        <p:spPr>
          <a:xfrm>
            <a:off x="274320" y="164592"/>
            <a:ext cx="1463040" cy="329184"/>
          </a:xfrm>
          <a:prstGeom prst="rect">
            <a:avLst/>
          </a:prstGeom>
          <a:solidFill>
            <a:srgbClr val="1A6B8A"/>
          </a:solidFill>
          <a:ln cap="flat" cmpd="sng" w="12700">
            <a:solidFill>
              <a:srgbClr val="1A6B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17"/>
          <p:cNvSpPr/>
          <p:nvPr/>
        </p:nvSpPr>
        <p:spPr>
          <a:xfrm>
            <a:off x="274320" y="164592"/>
            <a:ext cx="14630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PHASE 4F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17"/>
          <p:cNvSpPr/>
          <p:nvPr/>
        </p:nvSpPr>
        <p:spPr>
          <a:xfrm>
            <a:off x="274320" y="548640"/>
            <a:ext cx="859536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1B4B"/>
              </a:buClr>
              <a:buSzPts val="2600"/>
              <a:buFont typeface="Cambria"/>
              <a:buNone/>
            </a:pPr>
            <a:r>
              <a:rPr b="1" i="0" lang="en-US" sz="2600" u="none" cap="none" strike="noStrike">
                <a:solidFill>
                  <a:srgbClr val="0D1B4B"/>
                </a:solidFill>
                <a:latin typeface="Cambria"/>
                <a:ea typeface="Cambria"/>
                <a:cs typeface="Cambria"/>
                <a:sym typeface="Cambria"/>
              </a:rPr>
              <a:t>Phase 4F — Second Half Bonus (×1.1 Factor)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17"/>
          <p:cNvSpPr/>
          <p:nvPr/>
        </p:nvSpPr>
        <p:spPr>
          <a:xfrm>
            <a:off x="274320" y="1188720"/>
            <a:ext cx="8595360" cy="36576"/>
          </a:xfrm>
          <a:prstGeom prst="rect">
            <a:avLst/>
          </a:prstGeom>
          <a:solidFill>
            <a:srgbClr val="1E3A6E"/>
          </a:solidFill>
          <a:ln cap="flat" cmpd="sng" w="12700">
            <a:solidFill>
              <a:srgbClr val="1E3A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p17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D1B4B"/>
          </a:solidFill>
          <a:ln cap="flat" cmpd="sng" w="12700">
            <a:solidFill>
              <a:srgbClr val="0D1B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p17"/>
          <p:cNvSpPr/>
          <p:nvPr/>
        </p:nvSpPr>
        <p:spPr>
          <a:xfrm>
            <a:off x="274320" y="4846320"/>
            <a:ext cx="8595360" cy="2971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6E4F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D6E4F0"/>
                </a:solidFill>
                <a:latin typeface="Calibri"/>
                <a:ea typeface="Calibri"/>
                <a:cs typeface="Calibri"/>
                <a:sym typeface="Calibri"/>
              </a:rPr>
              <a:t>U.S. Figure Skating — Technical Panel Education  |  Jump Framework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17"/>
          <p:cNvSpPr/>
          <p:nvPr/>
        </p:nvSpPr>
        <p:spPr>
          <a:xfrm>
            <a:off x="274320" y="1261872"/>
            <a:ext cx="4114800" cy="384048"/>
          </a:xfrm>
          <a:prstGeom prst="rect">
            <a:avLst/>
          </a:prstGeom>
          <a:solidFill>
            <a:srgbClr val="1E3A6E"/>
          </a:solidFill>
          <a:ln cap="flat" cmpd="sng" w="12700">
            <a:solidFill>
              <a:srgbClr val="1E3A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p17"/>
          <p:cNvSpPr/>
          <p:nvPr/>
        </p:nvSpPr>
        <p:spPr>
          <a:xfrm>
            <a:off x="274320" y="1261872"/>
            <a:ext cx="41148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Junior &amp; Senior SP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17"/>
          <p:cNvSpPr/>
          <p:nvPr/>
        </p:nvSpPr>
        <p:spPr>
          <a:xfrm>
            <a:off x="274320" y="1645920"/>
            <a:ext cx="4114800" cy="9144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0CED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p17"/>
          <p:cNvSpPr/>
          <p:nvPr/>
        </p:nvSpPr>
        <p:spPr>
          <a:xfrm>
            <a:off x="411480" y="1719072"/>
            <a:ext cx="38404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Last 1 jump element performed in the second half of the program qualifies for the ×1.1 base value bonus.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17"/>
          <p:cNvSpPr/>
          <p:nvPr/>
        </p:nvSpPr>
        <p:spPr>
          <a:xfrm>
            <a:off x="4754880" y="1261872"/>
            <a:ext cx="4114800" cy="384048"/>
          </a:xfrm>
          <a:prstGeom prst="rect">
            <a:avLst/>
          </a:prstGeom>
          <a:solidFill>
            <a:srgbClr val="1A6B8A"/>
          </a:solidFill>
          <a:ln cap="flat" cmpd="sng" w="12700">
            <a:solidFill>
              <a:srgbClr val="1A6B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17"/>
          <p:cNvSpPr/>
          <p:nvPr/>
        </p:nvSpPr>
        <p:spPr>
          <a:xfrm>
            <a:off x="4754880" y="1261872"/>
            <a:ext cx="41148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Juvenile through Senior FS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17"/>
          <p:cNvSpPr/>
          <p:nvPr/>
        </p:nvSpPr>
        <p:spPr>
          <a:xfrm>
            <a:off x="4754880" y="1645920"/>
            <a:ext cx="4114800" cy="9144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0CED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17"/>
          <p:cNvSpPr/>
          <p:nvPr/>
        </p:nvSpPr>
        <p:spPr>
          <a:xfrm>
            <a:off x="4892040" y="1719072"/>
            <a:ext cx="38404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Last 3 jump elements performed in the second half of the program qualify for the ×1.1 base value bonus.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17"/>
          <p:cNvSpPr/>
          <p:nvPr/>
        </p:nvSpPr>
        <p:spPr>
          <a:xfrm>
            <a:off x="274345" y="2569462"/>
            <a:ext cx="85953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1B4B"/>
              </a:buClr>
              <a:buSzPts val="1400"/>
              <a:buFont typeface="Cambria"/>
              <a:buNone/>
            </a:pPr>
            <a:r>
              <a:rPr b="1" i="0" lang="en-US" sz="1400" u="none" cap="none" strike="noStrike">
                <a:solidFill>
                  <a:srgbClr val="0D1B4B"/>
                </a:solidFill>
                <a:latin typeface="Cambria"/>
                <a:ea typeface="Cambria"/>
                <a:cs typeface="Cambria"/>
                <a:sym typeface="Cambria"/>
              </a:rPr>
              <a:t>Procedure — Panel Roles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37" name="Google Shape;237;p17"/>
          <p:cNvGraphicFramePr/>
          <p:nvPr/>
        </p:nvGraphicFramePr>
        <p:xfrm>
          <a:off x="274320" y="294894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{604FF4CF-6B6D-4D36-A94F-728953CE8EA1}</a:tableStyleId>
              </a:tblPr>
              <a:tblGrid>
                <a:gridCol w="1371600"/>
                <a:gridCol w="7223750"/>
              </a:tblGrid>
              <a:tr h="301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Role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0CED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0CED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0CED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0CED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6B8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Action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0CED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0CED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0CED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0CED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6B8A"/>
                    </a:solidFill>
                  </a:tcPr>
                </a:tc>
              </a:tr>
              <a:tr h="301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34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A234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TS1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0CED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0CED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0CED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0CED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34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A234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Calls all jumps live. Does NOT say "bonus" — not the TS1's role.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0CED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0CED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0CED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0CED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01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1A234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Referee</a:t>
                      </a:r>
                      <a:endParaRPr sz="1000" u="none" cap="none" strike="noStrike">
                        <a:solidFill>
                          <a:srgbClr val="1A234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0CED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0CED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0CED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0CED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D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1A234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Upon completion of review, Referee verbalizes what the first element in the second half if</a:t>
                      </a:r>
                      <a:endParaRPr sz="1000" u="none" cap="none" strike="noStrike">
                        <a:solidFill>
                          <a:srgbClr val="1A234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0CED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0CED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0CED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0CED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DF4"/>
                    </a:solidFill>
                  </a:tcPr>
                </a:tc>
              </a:tr>
              <a:tr h="301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34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A234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TC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0CED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0CED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0CED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0CED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34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A234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Identifies eligible jumps in the second half and marks them on their notes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0CED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0CED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0CED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0CED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01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34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A234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DO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0CED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0CED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0CED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0CED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D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34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A234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Reads the halfway bonus as part of the read-back, TC checks against notes </a:t>
                      </a:r>
                      <a:r>
                        <a:rPr i="1" lang="en-US" sz="1000" u="none" cap="none" strike="noStrike">
                          <a:solidFill>
                            <a:srgbClr val="1A234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(Critical! Third bonus often gets dropped)</a:t>
                      </a:r>
                      <a:endParaRPr i="1"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0CED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0CED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0CED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0CED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DF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6E4F0"/>
        </a:solidFill>
      </p:bgPr>
    </p:bg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8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1B4B"/>
          </a:solidFill>
          <a:ln cap="flat" cmpd="sng" w="12700">
            <a:solidFill>
              <a:srgbClr val="0D1B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p18"/>
          <p:cNvSpPr/>
          <p:nvPr/>
        </p:nvSpPr>
        <p:spPr>
          <a:xfrm>
            <a:off x="274320" y="164592"/>
            <a:ext cx="1463040" cy="329184"/>
          </a:xfrm>
          <a:prstGeom prst="rect">
            <a:avLst/>
          </a:prstGeom>
          <a:solidFill>
            <a:srgbClr val="C8922A"/>
          </a:solidFill>
          <a:ln cap="flat" cmpd="sng" w="12700">
            <a:solidFill>
              <a:srgbClr val="C892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" name="Google Shape;245;p18"/>
          <p:cNvSpPr/>
          <p:nvPr/>
        </p:nvSpPr>
        <p:spPr>
          <a:xfrm>
            <a:off x="274320" y="164592"/>
            <a:ext cx="14630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PHASE 4G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18"/>
          <p:cNvSpPr/>
          <p:nvPr/>
        </p:nvSpPr>
        <p:spPr>
          <a:xfrm>
            <a:off x="274320" y="548640"/>
            <a:ext cx="859536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1B4B"/>
              </a:buClr>
              <a:buSzPts val="2600"/>
              <a:buFont typeface="Cambria"/>
              <a:buNone/>
            </a:pPr>
            <a:r>
              <a:rPr b="1" i="0" lang="en-US" sz="2600" u="none" cap="none" strike="noStrike">
                <a:solidFill>
                  <a:srgbClr val="0D1B4B"/>
                </a:solidFill>
                <a:latin typeface="Cambria"/>
                <a:ea typeface="Cambria"/>
                <a:cs typeface="Cambria"/>
                <a:sym typeface="Cambria"/>
              </a:rPr>
              <a:t>Phase 4G — Jump Bonus Eligibility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18"/>
          <p:cNvSpPr/>
          <p:nvPr/>
        </p:nvSpPr>
        <p:spPr>
          <a:xfrm>
            <a:off x="274320" y="1188720"/>
            <a:ext cx="8595360" cy="36576"/>
          </a:xfrm>
          <a:prstGeom prst="rect">
            <a:avLst/>
          </a:prstGeom>
          <a:solidFill>
            <a:srgbClr val="1E3A6E"/>
          </a:solidFill>
          <a:ln cap="flat" cmpd="sng" w="12700">
            <a:solidFill>
              <a:srgbClr val="1E3A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" name="Google Shape;248;p18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D1B4B"/>
          </a:solidFill>
          <a:ln cap="flat" cmpd="sng" w="12700">
            <a:solidFill>
              <a:srgbClr val="0D1B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p18"/>
          <p:cNvSpPr/>
          <p:nvPr/>
        </p:nvSpPr>
        <p:spPr>
          <a:xfrm>
            <a:off x="274320" y="4846320"/>
            <a:ext cx="8595360" cy="2971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6E4F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D6E4F0"/>
                </a:solidFill>
                <a:latin typeface="Calibri"/>
                <a:ea typeface="Calibri"/>
                <a:cs typeface="Calibri"/>
                <a:sym typeface="Calibri"/>
              </a:rPr>
              <a:t>U.S. Figure Skating — Technical Panel Education  |  Jump Framework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18"/>
          <p:cNvSpPr/>
          <p:nvPr/>
        </p:nvSpPr>
        <p:spPr>
          <a:xfrm>
            <a:off x="274325" y="1368602"/>
            <a:ext cx="8595300" cy="441900"/>
          </a:xfrm>
          <a:prstGeom prst="rect">
            <a:avLst/>
          </a:prstGeom>
          <a:solidFill>
            <a:srgbClr val="FFF8E6"/>
          </a:solidFill>
          <a:ln cap="flat" cmpd="sng" w="19050">
            <a:solidFill>
              <a:srgbClr val="C892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" name="Google Shape;251;p18"/>
          <p:cNvSpPr/>
          <p:nvPr/>
        </p:nvSpPr>
        <p:spPr>
          <a:xfrm>
            <a:off x="384013" y="1356400"/>
            <a:ext cx="8376000" cy="44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1B4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0D1B4B"/>
                </a:solidFill>
                <a:latin typeface="Calibri"/>
                <a:ea typeface="Calibri"/>
                <a:cs typeface="Calibri"/>
                <a:sym typeface="Calibri"/>
              </a:rPr>
              <a:t>USFS DOMESTIC RULE ONLY — does not exist at ISU international events. </a:t>
            </a:r>
            <a:br>
              <a:rPr b="0" i="0" lang="en-US" sz="1000" u="none" cap="none" strike="noStrike">
                <a:solidFill>
                  <a:srgbClr val="0D1B4B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000" u="none" cap="none" strike="noStrike">
                <a:solidFill>
                  <a:srgbClr val="0D1B4B"/>
                </a:solidFill>
                <a:latin typeface="Calibri"/>
                <a:ea typeface="Calibri"/>
                <a:cs typeface="Calibri"/>
                <a:sym typeface="Calibri"/>
              </a:rPr>
              <a:t>Purpose: incentivize skaters to attempt harder jumps during development. The +1.0 bonus intentionally exceeds fall deduction at lower levels.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52" name="Google Shape;252;p18"/>
          <p:cNvGraphicFramePr/>
          <p:nvPr/>
        </p:nvGraphicFramePr>
        <p:xfrm>
          <a:off x="274320" y="192024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{604FF4CF-6B6D-4D36-A94F-728953CE8EA1}</a:tableStyleId>
              </a:tblPr>
              <a:tblGrid>
                <a:gridCol w="1097275"/>
                <a:gridCol w="3017525"/>
                <a:gridCol w="914400"/>
                <a:gridCol w="1463050"/>
                <a:gridCol w="1005850"/>
                <a:gridCol w="1097275"/>
              </a:tblGrid>
              <a:tr h="350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Level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0CED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0CED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0CED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0CED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1B4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Qualifying jump(s)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0CED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0CED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0CED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0CED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1B4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Max bonus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0CED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0CED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0CED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0CED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1B4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Rotation eligibility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0CED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0CED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0CED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0CED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1B4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! eligible?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0CED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0CED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0CED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0CED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1B4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 / &lt;&lt; eligible?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0CED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0CED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0CED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0CED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1B4B"/>
                    </a:solidFill>
                  </a:tcPr>
                </a:tc>
              </a:tr>
              <a:tr h="350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34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1A234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Juvenile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0CED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0CED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0CED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0CED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34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1A234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Each 2A; First eligible triple (once per program)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0CED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0CED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0CED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0CED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34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1A234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+1.0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0CED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0CED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0CED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0CED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34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1A234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Fully rotated, q, &lt;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0CED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0CED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0CED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0CED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E7D56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2E7D5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YES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0CED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0CED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0CED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0CED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94040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B9404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0CED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0CED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0CED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0CED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50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34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1A234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Intermediate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0CED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0CED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0CED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0CED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D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34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1A234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Each different triple (max 2); One qualifying combo/seq (once)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0CED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0CED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0CED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0CED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D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34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1A234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+1.0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0CED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0CED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0CED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0CED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D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34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1A234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Fully rotated, q, &lt;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0CED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0CED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0CED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0CED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D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E7D56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2E7D5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YES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0CED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0CED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0CED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0CED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D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94040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B9404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0CED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0CED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0CED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0CED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DF4"/>
                    </a:solidFill>
                  </a:tcPr>
                </a:tc>
              </a:tr>
              <a:tr h="350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34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1A234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Novice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0CED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0CED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0CED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0CED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34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1A234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Each 3A; Each different triple-triple combo/seq (max 2)</a:t>
                      </a:r>
                      <a:endParaRPr sz="900" u="none" cap="none" strike="noStrike">
                        <a:solidFill>
                          <a:srgbClr val="1A234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34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>
                          <a:solidFill>
                            <a:srgbClr val="1A234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Repertoire</a:t>
                      </a:r>
                      <a:r>
                        <a:rPr lang="en-US" sz="900">
                          <a:solidFill>
                            <a:srgbClr val="1A234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bonus (at least 4 different triple jumps)</a:t>
                      </a:r>
                      <a:endParaRPr sz="900">
                        <a:solidFill>
                          <a:srgbClr val="1A234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0CED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0CED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0CED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0CED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34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1A234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+1.0</a:t>
                      </a:r>
                      <a:endParaRPr sz="900" u="none" cap="none" strike="noStrike">
                        <a:solidFill>
                          <a:srgbClr val="1A234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34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>
                          <a:solidFill>
                            <a:srgbClr val="1A234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+2.0</a:t>
                      </a:r>
                      <a:endParaRPr sz="900">
                        <a:solidFill>
                          <a:srgbClr val="1A234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0CED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0CED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0CED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0CED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34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1A234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Fully rotated, q only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0CED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0CED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0CED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0CED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E7D56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2E7D5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extLst>
                            <a:ext uri="http://customooxmlschemas.google.com/">
                              <go:slidesCustomData xmlns:go="http://customooxmlschemas.google.com/" textRoundtripDataId="1"/>
                            </a:ext>
                          </a:extLst>
                        </a:rPr>
                        <a:t>YES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0CED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0CED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0CED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0CED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94040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B9404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0CED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0CED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0CED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0CED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50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34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1A234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Junior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0CED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0CED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0CED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0CED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D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34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1A234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Each 3A; Each quad; Each different triple-triple combo/seq (max 2)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0CED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0CED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0CED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0CED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D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34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1A234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+1.0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0CED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0CED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0CED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0CED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D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34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1A234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Fully rotated, q only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0CED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0CED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0CED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0CED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D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E7D56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2E7D5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extLst>
                            <a:ext uri="http://customooxmlschemas.google.com/">
                              <go:slidesCustomData xmlns:go="http://customooxmlschemas.google.com/" textRoundtripDataId="2"/>
                            </a:ext>
                          </a:extLst>
                        </a:rPr>
                        <a:t>YES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0CED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0CED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0CED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0CED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D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94040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B9404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0CED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0CED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0CED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0CED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DF4"/>
                    </a:solidFill>
                  </a:tcPr>
                </a:tc>
              </a:tr>
              <a:tr h="350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A6A82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5A6A8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Senior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0CED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0CED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0CED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0CED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A6A82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5A6A8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 domestic jump achievement bonus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0CED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0CED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0CED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0CED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34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1A234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—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0CED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0CED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0CED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0CED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34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1A234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—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0CED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0CED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0CED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0CED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34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1A234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—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0CED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0CED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0CED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0CED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34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1A234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—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0CED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0CED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0CED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0CED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3" name="Google Shape;253;p18"/>
          <p:cNvSpPr/>
          <p:nvPr/>
        </p:nvSpPr>
        <p:spPr>
          <a:xfrm>
            <a:off x="274295" y="4053857"/>
            <a:ext cx="85953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1B4B"/>
              </a:buClr>
              <a:buSzPts val="1200"/>
              <a:buFont typeface="Cambria"/>
              <a:buNone/>
            </a:pPr>
            <a:r>
              <a:rPr b="1" i="0" lang="en-US" sz="1200" u="none" cap="none" strike="noStrike">
                <a:solidFill>
                  <a:srgbClr val="0D1B4B"/>
                </a:solidFill>
                <a:latin typeface="Cambria"/>
                <a:ea typeface="Cambria"/>
                <a:cs typeface="Cambria"/>
                <a:sym typeface="Cambria"/>
              </a:rPr>
              <a:t>Universal Bonus Rules (all levels with bonuses)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18"/>
          <p:cNvSpPr/>
          <p:nvPr/>
        </p:nvSpPr>
        <p:spPr>
          <a:xfrm>
            <a:off x="274300" y="4281625"/>
            <a:ext cx="8595300" cy="52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Maximum +1.0 per element</a:t>
            </a:r>
            <a:r>
              <a:rPr b="0" i="0" lang="en-US" sz="900" u="none" cap="none" strike="noStrike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 regardless of how many bonus criteria are met  ·  Individual jump bonuses may apply to a jump in a combo only if the entire element is </a:t>
            </a:r>
            <a:r>
              <a:rPr b="1" i="0" lang="en-US" sz="900" u="none" cap="none" strike="noStrike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not</a:t>
            </a:r>
            <a:r>
              <a:rPr b="0" i="0" lang="en-US" sz="900" u="none" cap="none" strike="noStrike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 eligible for a combo/seq bonus  ·  "Once per program" bonuses go to the first eligible element  ·  +REP does not block a bonus  ·  TC must manually verify when bonuses are applied — software repeat-rule checks may fail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6E4F0"/>
        </a:solidFill>
      </p:bgPr>
    </p:bg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19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1B4B"/>
          </a:solidFill>
          <a:ln cap="flat" cmpd="sng" w="12700">
            <a:solidFill>
              <a:srgbClr val="0D1B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" name="Google Shape;261;p19"/>
          <p:cNvSpPr/>
          <p:nvPr/>
        </p:nvSpPr>
        <p:spPr>
          <a:xfrm>
            <a:off x="274320" y="164592"/>
            <a:ext cx="1463040" cy="329184"/>
          </a:xfrm>
          <a:prstGeom prst="rect">
            <a:avLst/>
          </a:prstGeom>
          <a:solidFill>
            <a:srgbClr val="C8922A"/>
          </a:solidFill>
          <a:ln cap="flat" cmpd="sng" w="12700">
            <a:solidFill>
              <a:srgbClr val="C892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" name="Google Shape;262;p19"/>
          <p:cNvSpPr/>
          <p:nvPr/>
        </p:nvSpPr>
        <p:spPr>
          <a:xfrm>
            <a:off x="274320" y="164592"/>
            <a:ext cx="14630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PHASE 4G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19"/>
          <p:cNvSpPr/>
          <p:nvPr/>
        </p:nvSpPr>
        <p:spPr>
          <a:xfrm>
            <a:off x="274320" y="548640"/>
            <a:ext cx="859536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1B4B"/>
              </a:buClr>
              <a:buSzPts val="2600"/>
              <a:buFont typeface="Cambria"/>
              <a:buNone/>
            </a:pPr>
            <a:r>
              <a:rPr b="1" i="0" lang="en-US" sz="2600" u="none" cap="none" strike="noStrike">
                <a:solidFill>
                  <a:srgbClr val="0D1B4B"/>
                </a:solidFill>
                <a:latin typeface="Cambria"/>
                <a:ea typeface="Cambria"/>
                <a:cs typeface="Cambria"/>
                <a:sym typeface="Cambria"/>
              </a:rPr>
              <a:t>Phase 4G — Jump Achievement Bonus: Detail by Level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19"/>
          <p:cNvSpPr/>
          <p:nvPr/>
        </p:nvSpPr>
        <p:spPr>
          <a:xfrm>
            <a:off x="274320" y="1188720"/>
            <a:ext cx="8595360" cy="36576"/>
          </a:xfrm>
          <a:prstGeom prst="rect">
            <a:avLst/>
          </a:prstGeom>
          <a:solidFill>
            <a:srgbClr val="1E3A6E"/>
          </a:solidFill>
          <a:ln cap="flat" cmpd="sng" w="12700">
            <a:solidFill>
              <a:srgbClr val="1E3A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" name="Google Shape;265;p19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D1B4B"/>
          </a:solidFill>
          <a:ln cap="flat" cmpd="sng" w="12700">
            <a:solidFill>
              <a:srgbClr val="0D1B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p19"/>
          <p:cNvSpPr/>
          <p:nvPr/>
        </p:nvSpPr>
        <p:spPr>
          <a:xfrm>
            <a:off x="274320" y="4846320"/>
            <a:ext cx="8595360" cy="2971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6E4F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D6E4F0"/>
                </a:solidFill>
                <a:latin typeface="Calibri"/>
                <a:ea typeface="Calibri"/>
                <a:cs typeface="Calibri"/>
                <a:sym typeface="Calibri"/>
              </a:rPr>
              <a:t>U.S. Figure Skating — Technical Panel Education  |  Jump Framework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19"/>
          <p:cNvSpPr/>
          <p:nvPr/>
        </p:nvSpPr>
        <p:spPr>
          <a:xfrm>
            <a:off x="274320" y="1261872"/>
            <a:ext cx="4114800" cy="320040"/>
          </a:xfrm>
          <a:prstGeom prst="rect">
            <a:avLst/>
          </a:prstGeom>
          <a:solidFill>
            <a:srgbClr val="1A6B8A"/>
          </a:solidFill>
          <a:ln cap="flat" cmpd="sng" w="12700">
            <a:solidFill>
              <a:srgbClr val="1A6B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" name="Google Shape;268;p19"/>
          <p:cNvSpPr/>
          <p:nvPr/>
        </p:nvSpPr>
        <p:spPr>
          <a:xfrm>
            <a:off x="274320" y="1261872"/>
            <a:ext cx="4114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JUVENILE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19"/>
          <p:cNvSpPr/>
          <p:nvPr/>
        </p:nvSpPr>
        <p:spPr>
          <a:xfrm>
            <a:off x="274320" y="1581912"/>
            <a:ext cx="4114800" cy="9144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0CED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" name="Google Shape;270;p19"/>
          <p:cNvSpPr/>
          <p:nvPr/>
        </p:nvSpPr>
        <p:spPr>
          <a:xfrm>
            <a:off x="411480" y="1645920"/>
            <a:ext cx="3840480" cy="8046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Each double Axel (2A): +1.0 — each one earns it</a:t>
            </a:r>
            <a:br>
              <a:rPr b="0" i="0" lang="en-US" sz="900" u="none" cap="none" strike="noStrike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900" u="none" cap="none" strike="noStrike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One triple jump: +1.0 — first eligible triple only (once per program)</a:t>
            </a:r>
            <a:br>
              <a:rPr b="0" i="0" lang="en-US" sz="900" u="none" cap="none" strike="noStrike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900" u="none" cap="none" strike="noStrike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1" lang="en-US" sz="900" u="none" cap="none" strike="noStrike">
                <a:solidFill>
                  <a:srgbClr val="5A6A82"/>
                </a:solidFill>
                <a:latin typeface="Calibri"/>
                <a:ea typeface="Calibri"/>
                <a:cs typeface="Calibri"/>
                <a:sym typeface="Calibri"/>
              </a:rPr>
              <a:t>Combo/seq bonus goes to the element (not individual jump) unless element not eligible — then individual jump bonus can apply in a different element.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19"/>
          <p:cNvSpPr/>
          <p:nvPr/>
        </p:nvSpPr>
        <p:spPr>
          <a:xfrm>
            <a:off x="4754880" y="1261872"/>
            <a:ext cx="4114800" cy="320040"/>
          </a:xfrm>
          <a:prstGeom prst="rect">
            <a:avLst/>
          </a:prstGeom>
          <a:solidFill>
            <a:srgbClr val="1E3A6E"/>
          </a:solidFill>
          <a:ln cap="flat" cmpd="sng" w="12700">
            <a:solidFill>
              <a:srgbClr val="1E3A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" name="Google Shape;272;p19"/>
          <p:cNvSpPr/>
          <p:nvPr/>
        </p:nvSpPr>
        <p:spPr>
          <a:xfrm>
            <a:off x="4754880" y="1261872"/>
            <a:ext cx="4114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INTERMEDIATE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19"/>
          <p:cNvSpPr/>
          <p:nvPr/>
        </p:nvSpPr>
        <p:spPr>
          <a:xfrm>
            <a:off x="4754880" y="1581912"/>
            <a:ext cx="4114800" cy="9144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0CED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p19"/>
          <p:cNvSpPr/>
          <p:nvPr/>
        </p:nvSpPr>
        <p:spPr>
          <a:xfrm>
            <a:off x="4892040" y="1645920"/>
            <a:ext cx="3840480" cy="8046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Each different triple (max 2 different triples): +1.0 each</a:t>
            </a:r>
            <a:br>
              <a:rPr b="0" i="0" lang="en-US" sz="900" u="none" cap="none" strike="noStrike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900" u="none" cap="none" strike="noStrike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One combo/seq: double jump immediately followed by a triple (e.g. 2A+3T, 2Lz+2A+3T+SEQ): +1.0 once</a:t>
            </a:r>
            <a:br>
              <a:rPr b="0" i="0" lang="en-US" sz="900" u="none" cap="none" strike="noStrike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900" u="none" cap="none" strike="noStrike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One 2A or triple + single + triple (e.g. 2A+1Lo+3S+SEQ): +1.0 once</a:t>
            </a:r>
            <a:br>
              <a:rPr b="0" i="0" lang="en-US" sz="900" u="none" cap="none" strike="noStrike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1" lang="en-US" sz="900" u="none" cap="none" strike="noStrike">
                <a:solidFill>
                  <a:srgbClr val="5A6A82"/>
                </a:solidFill>
                <a:latin typeface="Calibri"/>
                <a:ea typeface="Calibri"/>
                <a:cs typeface="Calibri"/>
                <a:sym typeface="Calibri"/>
              </a:rPr>
              <a:t>Touch-down: one full revolution between double/triple with no weight transfer still eligible.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19"/>
          <p:cNvSpPr/>
          <p:nvPr/>
        </p:nvSpPr>
        <p:spPr>
          <a:xfrm>
            <a:off x="274320" y="2587752"/>
            <a:ext cx="4114800" cy="320040"/>
          </a:xfrm>
          <a:prstGeom prst="rect">
            <a:avLst/>
          </a:prstGeom>
          <a:solidFill>
            <a:srgbClr val="C8922A"/>
          </a:solidFill>
          <a:ln cap="flat" cmpd="sng" w="12700">
            <a:solidFill>
              <a:srgbClr val="C892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" name="Google Shape;276;p19"/>
          <p:cNvSpPr/>
          <p:nvPr/>
        </p:nvSpPr>
        <p:spPr>
          <a:xfrm>
            <a:off x="274320" y="2587752"/>
            <a:ext cx="4114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1B4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D1B4B"/>
                </a:solidFill>
                <a:latin typeface="Calibri"/>
                <a:ea typeface="Calibri"/>
                <a:cs typeface="Calibri"/>
                <a:sym typeface="Calibri"/>
              </a:rPr>
              <a:t>NOVICE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19"/>
          <p:cNvSpPr/>
          <p:nvPr/>
        </p:nvSpPr>
        <p:spPr>
          <a:xfrm>
            <a:off x="274320" y="2907792"/>
            <a:ext cx="4114800" cy="8229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0CED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" name="Google Shape;278;p19"/>
          <p:cNvSpPr/>
          <p:nvPr/>
        </p:nvSpPr>
        <p:spPr>
          <a:xfrm>
            <a:off x="411480" y="2971800"/>
            <a:ext cx="38404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Repertoire Bonus: +2.0 for 4 or more different triple jumps</a:t>
            </a:r>
            <a:endParaRPr sz="900">
              <a:solidFill>
                <a:srgbClr val="1A234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Each triple Axel (3A): +1.0 — each eligible 3A</a:t>
            </a:r>
            <a:br>
              <a:rPr b="0" i="0" lang="en-US" sz="900" u="none" cap="none" strike="noStrike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900" u="none" cap="none" strike="noStrike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Each different triple-triple combo/seq (max 2): +1.0</a:t>
            </a:r>
            <a:br>
              <a:rPr b="0" i="0" lang="en-US" sz="900" u="none" cap="none" strike="noStrike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900" u="none" cap="none" strike="noStrike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Rotation eligibility: fully rotated or q only</a:t>
            </a:r>
            <a:br>
              <a:rPr b="0" i="0" lang="en-US" sz="900" u="none" cap="none" strike="noStrike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1" lang="en-US" sz="900" u="none" cap="none" strike="noStrike">
                <a:solidFill>
                  <a:srgbClr val="5A6A82"/>
                </a:solidFill>
                <a:latin typeface="Calibri"/>
                <a:ea typeface="Calibri"/>
                <a:cs typeface="Calibri"/>
                <a:sym typeface="Calibri"/>
              </a:rPr>
              <a:t>Must be different triple-triple combinations.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19"/>
          <p:cNvSpPr/>
          <p:nvPr/>
        </p:nvSpPr>
        <p:spPr>
          <a:xfrm>
            <a:off x="4754880" y="2587752"/>
            <a:ext cx="4114800" cy="320040"/>
          </a:xfrm>
          <a:prstGeom prst="rect">
            <a:avLst/>
          </a:prstGeom>
          <a:solidFill>
            <a:srgbClr val="0D1B4B"/>
          </a:solidFill>
          <a:ln cap="flat" cmpd="sng" w="12700">
            <a:solidFill>
              <a:srgbClr val="0D1B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0" name="Google Shape;280;p19"/>
          <p:cNvSpPr/>
          <p:nvPr/>
        </p:nvSpPr>
        <p:spPr>
          <a:xfrm>
            <a:off x="4754880" y="2587752"/>
            <a:ext cx="4114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JUNIOR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19"/>
          <p:cNvSpPr/>
          <p:nvPr/>
        </p:nvSpPr>
        <p:spPr>
          <a:xfrm>
            <a:off x="4754880" y="2907792"/>
            <a:ext cx="4114800" cy="8229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0CED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2" name="Google Shape;282;p19"/>
          <p:cNvSpPr/>
          <p:nvPr/>
        </p:nvSpPr>
        <p:spPr>
          <a:xfrm>
            <a:off x="4892040" y="2971800"/>
            <a:ext cx="38404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Each triple Axel (3A): +1.0</a:t>
            </a:r>
            <a:br>
              <a:rPr b="0" i="0" lang="en-US" sz="900" u="none" cap="none" strike="noStrike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900" u="none" cap="none" strike="noStrike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Each quad jump: +1.0</a:t>
            </a:r>
            <a:br>
              <a:rPr b="0" i="0" lang="en-US" sz="900" u="none" cap="none" strike="noStrike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900" u="none" cap="none" strike="noStrike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Each different triple-triple combo/seq (max 2): +1.0</a:t>
            </a:r>
            <a:br>
              <a:rPr b="0" i="0" lang="en-US" sz="900" u="none" cap="none" strike="noStrike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1" lang="en-US" sz="900" u="none" cap="none" strike="noStrike">
                <a:solidFill>
                  <a:srgbClr val="5A6A82"/>
                </a:solidFill>
                <a:latin typeface="Calibri"/>
                <a:ea typeface="Calibri"/>
                <a:cs typeface="Calibri"/>
                <a:sym typeface="Calibri"/>
              </a:rPr>
              <a:t>Rotation eligibility: fully rotated or q only.  Same rules as Novice.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19"/>
          <p:cNvSpPr/>
          <p:nvPr/>
        </p:nvSpPr>
        <p:spPr>
          <a:xfrm>
            <a:off x="274320" y="3822192"/>
            <a:ext cx="8595360" cy="320040"/>
          </a:xfrm>
          <a:prstGeom prst="rect">
            <a:avLst/>
          </a:prstGeom>
          <a:solidFill>
            <a:srgbClr val="5A6A82"/>
          </a:solidFill>
          <a:ln cap="flat" cmpd="sng" w="12700">
            <a:solidFill>
              <a:srgbClr val="5A6A8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" name="Google Shape;284;p19"/>
          <p:cNvSpPr/>
          <p:nvPr/>
        </p:nvSpPr>
        <p:spPr>
          <a:xfrm>
            <a:off x="411480" y="3822192"/>
            <a:ext cx="8321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SENIOR — No domestic jump achievement bonus. Senior aligns with ISU rules, which have no domestic bonus structure.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19"/>
          <p:cNvSpPr/>
          <p:nvPr/>
        </p:nvSpPr>
        <p:spPr>
          <a:xfrm>
            <a:off x="274325" y="4233674"/>
            <a:ext cx="8595300" cy="445500"/>
          </a:xfrm>
          <a:prstGeom prst="rect">
            <a:avLst/>
          </a:prstGeom>
          <a:solidFill>
            <a:srgbClr val="FFF3CD"/>
          </a:solidFill>
          <a:ln cap="flat" cmpd="sng" w="19050">
            <a:solidFill>
              <a:srgbClr val="C892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Google Shape;286;p19"/>
          <p:cNvSpPr/>
          <p:nvPr/>
        </p:nvSpPr>
        <p:spPr>
          <a:xfrm>
            <a:off x="384050" y="4233675"/>
            <a:ext cx="8376000" cy="44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1B4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0D1B4B"/>
                </a:solidFill>
                <a:latin typeface="Calibri"/>
                <a:ea typeface="Calibri"/>
                <a:cs typeface="Calibri"/>
                <a:sym typeface="Calibri"/>
              </a:rPr>
              <a:t>Why is the bonus intentionally higher than the fall deduction? At lower levels, fall deductions are reduced (Juv/Int/Nov: −0.50). A +1.0 bonus on a successful harder jump outweighs the fall cost — making the attempt mathematically worth the risk. This is by design.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6E4F0"/>
        </a:solidFill>
      </p:bgPr>
    </p:bg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3d13b1e3a1e_0_54"/>
          <p:cNvSpPr/>
          <p:nvPr/>
        </p:nvSpPr>
        <p:spPr>
          <a:xfrm>
            <a:off x="0" y="0"/>
            <a:ext cx="164700" cy="5143500"/>
          </a:xfrm>
          <a:prstGeom prst="rect">
            <a:avLst/>
          </a:prstGeom>
          <a:solidFill>
            <a:srgbClr val="0D1B4B"/>
          </a:solidFill>
          <a:ln cap="flat" cmpd="sng" w="12700">
            <a:solidFill>
              <a:srgbClr val="0D1B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3" name="Google Shape;293;g3d13b1e3a1e_0_54"/>
          <p:cNvSpPr/>
          <p:nvPr/>
        </p:nvSpPr>
        <p:spPr>
          <a:xfrm>
            <a:off x="274320" y="548640"/>
            <a:ext cx="85953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1B4B"/>
              </a:buClr>
              <a:buSzPts val="2600"/>
              <a:buFont typeface="Cambria"/>
              <a:buNone/>
            </a:pPr>
            <a:r>
              <a:rPr b="1" lang="en-US" sz="2600">
                <a:solidFill>
                  <a:srgbClr val="0D1B4B"/>
                </a:solidFill>
                <a:latin typeface="Cambria"/>
                <a:ea typeface="Cambria"/>
                <a:cs typeface="Cambria"/>
                <a:sym typeface="Cambria"/>
              </a:rPr>
              <a:t>2026-2027 Rule Changes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g3d13b1e3a1e_0_54"/>
          <p:cNvSpPr/>
          <p:nvPr/>
        </p:nvSpPr>
        <p:spPr>
          <a:xfrm>
            <a:off x="274320" y="1188720"/>
            <a:ext cx="8595300" cy="36600"/>
          </a:xfrm>
          <a:prstGeom prst="rect">
            <a:avLst/>
          </a:prstGeom>
          <a:solidFill>
            <a:srgbClr val="1E3A6E"/>
          </a:solidFill>
          <a:ln cap="flat" cmpd="sng" w="12700">
            <a:solidFill>
              <a:srgbClr val="1E3A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" name="Google Shape;295;g3d13b1e3a1e_0_54"/>
          <p:cNvSpPr/>
          <p:nvPr/>
        </p:nvSpPr>
        <p:spPr>
          <a:xfrm>
            <a:off x="0" y="4846320"/>
            <a:ext cx="9144000" cy="297300"/>
          </a:xfrm>
          <a:prstGeom prst="rect">
            <a:avLst/>
          </a:prstGeom>
          <a:solidFill>
            <a:srgbClr val="0D1B4B"/>
          </a:solidFill>
          <a:ln cap="flat" cmpd="sng" w="12700">
            <a:solidFill>
              <a:srgbClr val="0D1B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" name="Google Shape;296;g3d13b1e3a1e_0_54"/>
          <p:cNvSpPr/>
          <p:nvPr/>
        </p:nvSpPr>
        <p:spPr>
          <a:xfrm>
            <a:off x="274320" y="4846320"/>
            <a:ext cx="8595300" cy="29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6E4F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D6E4F0"/>
                </a:solidFill>
                <a:latin typeface="Calibri"/>
                <a:ea typeface="Calibri"/>
                <a:cs typeface="Calibri"/>
                <a:sym typeface="Calibri"/>
              </a:rPr>
              <a:t>U.S. Figure Skating — Technical Panel Education  |  Jump Framework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g3d13b1e3a1e_0_54"/>
          <p:cNvSpPr/>
          <p:nvPr/>
        </p:nvSpPr>
        <p:spPr>
          <a:xfrm>
            <a:off x="274320" y="1261872"/>
            <a:ext cx="4114800" cy="384000"/>
          </a:xfrm>
          <a:prstGeom prst="rect">
            <a:avLst/>
          </a:prstGeom>
          <a:solidFill>
            <a:srgbClr val="1E3A6E"/>
          </a:solidFill>
          <a:ln cap="flat" cmpd="sng" w="12700">
            <a:solidFill>
              <a:srgbClr val="1E3A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8" name="Google Shape;298;g3d13b1e3a1e_0_54"/>
          <p:cNvSpPr/>
          <p:nvPr/>
        </p:nvSpPr>
        <p:spPr>
          <a:xfrm>
            <a:off x="274320" y="1261872"/>
            <a:ext cx="41148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Novice, Junior, Senior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g3d13b1e3a1e_0_54"/>
          <p:cNvSpPr/>
          <p:nvPr/>
        </p:nvSpPr>
        <p:spPr>
          <a:xfrm>
            <a:off x="274325" y="1645935"/>
            <a:ext cx="4114800" cy="26643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0CED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0" name="Google Shape;300;g3d13b1e3a1e_0_54"/>
          <p:cNvSpPr/>
          <p:nvPr/>
        </p:nvSpPr>
        <p:spPr>
          <a:xfrm>
            <a:off x="411475" y="1920625"/>
            <a:ext cx="3840600" cy="220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96850" lvl="0" marL="2286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1A2340"/>
              </a:buClr>
              <a:buSzPts val="1300"/>
              <a:buFont typeface="Calibri"/>
              <a:buChar char="●"/>
            </a:pPr>
            <a:r>
              <a:rPr lang="en-US" sz="1300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MAX 6 JUMPS - reduced from 7</a:t>
            </a:r>
            <a:endParaRPr sz="1300">
              <a:solidFill>
                <a:srgbClr val="1A234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96850" lvl="0" marL="2286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1A2340"/>
              </a:buClr>
              <a:buSzPts val="1300"/>
              <a:buFont typeface="Calibri"/>
              <a:buChar char="●"/>
            </a:pPr>
            <a:r>
              <a:rPr lang="en-US" sz="1300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Repetition Rule: The same type of jump, independent of the number of revolutions, can be included no more than 3 times in a freeskate</a:t>
            </a:r>
            <a:endParaRPr sz="1300">
              <a:solidFill>
                <a:srgbClr val="1A234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96850" lvl="1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1A2340"/>
              </a:buClr>
              <a:buSzPts val="1300"/>
              <a:buFont typeface="Calibri"/>
              <a:buChar char="○"/>
            </a:pPr>
            <a:r>
              <a:rPr lang="en-US" sz="1300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ie. One 3T plus two 2T (if an additional single Toe, double Toe or Triple Toe were included, this would be invalid ‘*’</a:t>
            </a:r>
            <a:endParaRPr sz="1100">
              <a:solidFill>
                <a:srgbClr val="1A234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g3d13b1e3a1e_0_54"/>
          <p:cNvSpPr/>
          <p:nvPr/>
        </p:nvSpPr>
        <p:spPr>
          <a:xfrm>
            <a:off x="4754880" y="1261872"/>
            <a:ext cx="4114800" cy="384000"/>
          </a:xfrm>
          <a:prstGeom prst="rect">
            <a:avLst/>
          </a:prstGeom>
          <a:solidFill>
            <a:srgbClr val="1A6B8A"/>
          </a:solidFill>
          <a:ln cap="flat" cmpd="sng" w="12700">
            <a:solidFill>
              <a:srgbClr val="1A6B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" name="Google Shape;302;g3d13b1e3a1e_0_54"/>
          <p:cNvSpPr/>
          <p:nvPr/>
        </p:nvSpPr>
        <p:spPr>
          <a:xfrm>
            <a:off x="4754880" y="1261872"/>
            <a:ext cx="41148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Jump Combinations &amp; Sequences (All Levels)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g3d13b1e3a1e_0_54"/>
          <p:cNvSpPr/>
          <p:nvPr/>
        </p:nvSpPr>
        <p:spPr>
          <a:xfrm>
            <a:off x="4754875" y="1645934"/>
            <a:ext cx="4114800" cy="26643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0CED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4" name="Google Shape;304;g3d13b1e3a1e_0_54"/>
          <p:cNvSpPr/>
          <p:nvPr/>
        </p:nvSpPr>
        <p:spPr>
          <a:xfrm>
            <a:off x="4892050" y="1920626"/>
            <a:ext cx="3840600" cy="22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111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1300"/>
              <a:buFont typeface="Calibri"/>
              <a:buChar char="●"/>
            </a:pPr>
            <a:r>
              <a:rPr lang="en-US" sz="1300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An Euler can only be executed once, in between 2 listed jumps</a:t>
            </a:r>
            <a:endParaRPr sz="1300">
              <a:solidFill>
                <a:srgbClr val="1A234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11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1300"/>
              <a:buFont typeface="Calibri"/>
              <a:buChar char="○"/>
            </a:pPr>
            <a:r>
              <a:rPr lang="en-US" sz="1300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Euler will now only be called “Euler” not “Single Euler” and will receive no base value</a:t>
            </a:r>
            <a:endParaRPr sz="1300">
              <a:solidFill>
                <a:srgbClr val="1A234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11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1300"/>
              <a:buFont typeface="Calibri"/>
              <a:buChar char="●"/>
            </a:pPr>
            <a:r>
              <a:rPr lang="en-US" sz="1300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An Euler &amp; a jump sequence can not be used in same program</a:t>
            </a:r>
            <a:endParaRPr sz="1300">
              <a:solidFill>
                <a:srgbClr val="1A234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11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1300"/>
              <a:buFont typeface="Calibri"/>
              <a:buChar char="●"/>
            </a:pPr>
            <a:r>
              <a:rPr lang="en-US" sz="1300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Max 2 jump combinations, or 1 jump combination (WITHOUT USING AN EULER) and 1 Jump Sequence</a:t>
            </a:r>
            <a:endParaRPr sz="1300">
              <a:solidFill>
                <a:srgbClr val="1A234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1100"/>
              <a:buFont typeface="Calibri"/>
              <a:buNone/>
            </a:pPr>
            <a:r>
              <a:t/>
            </a:r>
            <a:endParaRPr sz="1100">
              <a:solidFill>
                <a:srgbClr val="1A234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4B"/>
        </a:solidFill>
      </p:bgPr>
    </p:bg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2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C8922A"/>
          </a:solidFill>
          <a:ln cap="flat" cmpd="sng" w="12700">
            <a:solidFill>
              <a:srgbClr val="C892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1" name="Google Shape;311;p2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mbria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Session 3 — Debrief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20"/>
          <p:cNvSpPr/>
          <p:nvPr/>
        </p:nvSpPr>
        <p:spPr>
          <a:xfrm>
            <a:off x="274320" y="1234440"/>
            <a:ext cx="384048" cy="384048"/>
          </a:xfrm>
          <a:prstGeom prst="rect">
            <a:avLst/>
          </a:prstGeom>
          <a:solidFill>
            <a:srgbClr val="C8922A"/>
          </a:solidFill>
          <a:ln cap="flat" cmpd="sng" w="12700">
            <a:solidFill>
              <a:srgbClr val="C892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3" name="Google Shape;313;p20"/>
          <p:cNvSpPr/>
          <p:nvPr/>
        </p:nvSpPr>
        <p:spPr>
          <a:xfrm>
            <a:off x="274320" y="1234440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1B4B"/>
              </a:buClr>
              <a:buSzPts val="1300"/>
              <a:buFont typeface="Cambria"/>
              <a:buNone/>
            </a:pPr>
            <a:r>
              <a:rPr b="1" i="0" lang="en-US" sz="1300" u="none" cap="none" strike="noStrike">
                <a:solidFill>
                  <a:srgbClr val="0D1B4B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20"/>
          <p:cNvSpPr/>
          <p:nvPr/>
        </p:nvSpPr>
        <p:spPr>
          <a:xfrm>
            <a:off x="731520" y="1234440"/>
            <a:ext cx="40233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State the repeat rules for doubles, triples, and quads at Junior/Senior, including when +REP applies vs. when * applies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20"/>
          <p:cNvSpPr/>
          <p:nvPr/>
        </p:nvSpPr>
        <p:spPr>
          <a:xfrm>
            <a:off x="274320" y="1911096"/>
            <a:ext cx="384048" cy="384048"/>
          </a:xfrm>
          <a:prstGeom prst="rect">
            <a:avLst/>
          </a:prstGeom>
          <a:solidFill>
            <a:srgbClr val="C8922A"/>
          </a:solidFill>
          <a:ln cap="flat" cmpd="sng" w="12700">
            <a:solidFill>
              <a:srgbClr val="C892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6" name="Google Shape;316;p20"/>
          <p:cNvSpPr/>
          <p:nvPr/>
        </p:nvSpPr>
        <p:spPr>
          <a:xfrm>
            <a:off x="274320" y="1911096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1B4B"/>
              </a:buClr>
              <a:buSzPts val="1300"/>
              <a:buFont typeface="Cambria"/>
              <a:buNone/>
            </a:pPr>
            <a:r>
              <a:rPr b="1" i="0" lang="en-US" sz="1300" u="none" cap="none" strike="noStrike">
                <a:solidFill>
                  <a:srgbClr val="0D1B4B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20"/>
          <p:cNvSpPr/>
          <p:nvPr/>
        </p:nvSpPr>
        <p:spPr>
          <a:xfrm>
            <a:off x="731520" y="1911096"/>
            <a:ext cx="40233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Apply the +COMBO decision tree for a SP where no second jump was attempted in the required combination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20"/>
          <p:cNvSpPr/>
          <p:nvPr/>
        </p:nvSpPr>
        <p:spPr>
          <a:xfrm>
            <a:off x="274320" y="2587752"/>
            <a:ext cx="384048" cy="384048"/>
          </a:xfrm>
          <a:prstGeom prst="rect">
            <a:avLst/>
          </a:prstGeom>
          <a:solidFill>
            <a:srgbClr val="C8922A"/>
          </a:solidFill>
          <a:ln cap="flat" cmpd="sng" w="12700">
            <a:solidFill>
              <a:srgbClr val="C892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9" name="Google Shape;319;p20"/>
          <p:cNvSpPr/>
          <p:nvPr/>
        </p:nvSpPr>
        <p:spPr>
          <a:xfrm>
            <a:off x="274320" y="2587752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1B4B"/>
              </a:buClr>
              <a:buSzPts val="1300"/>
              <a:buFont typeface="Cambria"/>
              <a:buNone/>
            </a:pPr>
            <a:r>
              <a:rPr b="1" i="0" lang="en-US" sz="1300" u="none" cap="none" strike="noStrike">
                <a:solidFill>
                  <a:srgbClr val="0D1B4B"/>
                </a:solidFill>
                <a:latin typeface="Cambria"/>
                <a:ea typeface="Cambria"/>
                <a:cs typeface="Cambria"/>
                <a:sym typeface="Cambria"/>
              </a:rPr>
              <a:t>3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20"/>
          <p:cNvSpPr/>
          <p:nvPr/>
        </p:nvSpPr>
        <p:spPr>
          <a:xfrm>
            <a:off x="731520" y="2587752"/>
            <a:ext cx="40233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Correctly identify which jump gets * when a skater exceeds the allowed number of combinations/sequences in FS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20"/>
          <p:cNvSpPr/>
          <p:nvPr/>
        </p:nvSpPr>
        <p:spPr>
          <a:xfrm>
            <a:off x="274320" y="3264408"/>
            <a:ext cx="384048" cy="384048"/>
          </a:xfrm>
          <a:prstGeom prst="rect">
            <a:avLst/>
          </a:prstGeom>
          <a:solidFill>
            <a:srgbClr val="C8922A"/>
          </a:solidFill>
          <a:ln cap="flat" cmpd="sng" w="12700">
            <a:solidFill>
              <a:srgbClr val="C892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2" name="Google Shape;322;p20"/>
          <p:cNvSpPr/>
          <p:nvPr/>
        </p:nvSpPr>
        <p:spPr>
          <a:xfrm>
            <a:off x="274320" y="3264408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1B4B"/>
              </a:buClr>
              <a:buSzPts val="1300"/>
              <a:buFont typeface="Cambria"/>
              <a:buNone/>
            </a:pPr>
            <a:r>
              <a:rPr b="1" i="0" lang="en-US" sz="1300" u="none" cap="none" strike="noStrike">
                <a:solidFill>
                  <a:srgbClr val="0D1B4B"/>
                </a:solidFill>
                <a:latin typeface="Cambria"/>
                <a:ea typeface="Cambria"/>
                <a:cs typeface="Cambria"/>
                <a:sym typeface="Cambria"/>
              </a:rPr>
              <a:t>4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20"/>
          <p:cNvSpPr/>
          <p:nvPr/>
        </p:nvSpPr>
        <p:spPr>
          <a:xfrm>
            <a:off x="731520" y="3264408"/>
            <a:ext cx="40233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Apply the Juvenile three-jump combination rule including the downgrade exception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20"/>
          <p:cNvSpPr/>
          <p:nvPr/>
        </p:nvSpPr>
        <p:spPr>
          <a:xfrm>
            <a:off x="274320" y="3941064"/>
            <a:ext cx="384048" cy="384048"/>
          </a:xfrm>
          <a:prstGeom prst="rect">
            <a:avLst/>
          </a:prstGeom>
          <a:solidFill>
            <a:srgbClr val="C8922A"/>
          </a:solidFill>
          <a:ln cap="flat" cmpd="sng" w="12700">
            <a:solidFill>
              <a:srgbClr val="C892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5" name="Google Shape;325;p20"/>
          <p:cNvSpPr/>
          <p:nvPr/>
        </p:nvSpPr>
        <p:spPr>
          <a:xfrm>
            <a:off x="274320" y="3941064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1B4B"/>
              </a:buClr>
              <a:buSzPts val="1300"/>
              <a:buFont typeface="Cambria"/>
              <a:buNone/>
            </a:pPr>
            <a:r>
              <a:rPr b="1" i="0" lang="en-US" sz="1300" u="none" cap="none" strike="noStrike">
                <a:solidFill>
                  <a:srgbClr val="0D1B4B"/>
                </a:solidFill>
                <a:latin typeface="Cambria"/>
                <a:ea typeface="Cambria"/>
                <a:cs typeface="Cambria"/>
                <a:sym typeface="Cambria"/>
              </a:rPr>
              <a:t>5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20"/>
          <p:cNvSpPr/>
          <p:nvPr/>
        </p:nvSpPr>
        <p:spPr>
          <a:xfrm>
            <a:off x="731520" y="3941064"/>
            <a:ext cx="40233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State how many jump elements receive the second-half bonus in SP vs. FS, and describe the TC/DO procedure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20"/>
          <p:cNvSpPr/>
          <p:nvPr/>
        </p:nvSpPr>
        <p:spPr>
          <a:xfrm>
            <a:off x="4754880" y="1234440"/>
            <a:ext cx="384048" cy="384048"/>
          </a:xfrm>
          <a:prstGeom prst="rect">
            <a:avLst/>
          </a:prstGeom>
          <a:solidFill>
            <a:srgbClr val="C8922A"/>
          </a:solidFill>
          <a:ln cap="flat" cmpd="sng" w="12700">
            <a:solidFill>
              <a:srgbClr val="C892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8" name="Google Shape;328;p20"/>
          <p:cNvSpPr/>
          <p:nvPr/>
        </p:nvSpPr>
        <p:spPr>
          <a:xfrm>
            <a:off x="4754880" y="1234440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1B4B"/>
              </a:buClr>
              <a:buSzPts val="1300"/>
              <a:buFont typeface="Cambria"/>
              <a:buNone/>
            </a:pPr>
            <a:r>
              <a:rPr b="1" i="0" lang="en-US" sz="1300" u="none" cap="none" strike="noStrike">
                <a:solidFill>
                  <a:srgbClr val="0D1B4B"/>
                </a:solidFill>
                <a:latin typeface="Cambria"/>
                <a:ea typeface="Cambria"/>
                <a:cs typeface="Cambria"/>
                <a:sym typeface="Cambria"/>
              </a:rPr>
              <a:t>6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20"/>
          <p:cNvSpPr/>
          <p:nvPr/>
        </p:nvSpPr>
        <p:spPr>
          <a:xfrm>
            <a:off x="5212080" y="1234440"/>
            <a:ext cx="40233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Explain jump achievement bonus eligibility criteria at each level (q/&lt; eligibility, ! eligibility, e/&lt;&lt;)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20"/>
          <p:cNvSpPr/>
          <p:nvPr/>
        </p:nvSpPr>
        <p:spPr>
          <a:xfrm>
            <a:off x="4754880" y="1911096"/>
            <a:ext cx="384048" cy="384048"/>
          </a:xfrm>
          <a:prstGeom prst="rect">
            <a:avLst/>
          </a:prstGeom>
          <a:solidFill>
            <a:srgbClr val="C8922A"/>
          </a:solidFill>
          <a:ln cap="flat" cmpd="sng" w="12700">
            <a:solidFill>
              <a:srgbClr val="C892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1" name="Google Shape;331;p20"/>
          <p:cNvSpPr/>
          <p:nvPr/>
        </p:nvSpPr>
        <p:spPr>
          <a:xfrm>
            <a:off x="4754880" y="1911096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1B4B"/>
              </a:buClr>
              <a:buSzPts val="1300"/>
              <a:buFont typeface="Cambria"/>
              <a:buNone/>
            </a:pPr>
            <a:r>
              <a:rPr b="1" i="0" lang="en-US" sz="1300" u="none" cap="none" strike="noStrike">
                <a:solidFill>
                  <a:srgbClr val="0D1B4B"/>
                </a:solidFill>
                <a:latin typeface="Cambria"/>
                <a:ea typeface="Cambria"/>
                <a:cs typeface="Cambria"/>
                <a:sym typeface="Cambria"/>
              </a:rPr>
              <a:t>7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20"/>
          <p:cNvSpPr/>
          <p:nvPr/>
        </p:nvSpPr>
        <p:spPr>
          <a:xfrm>
            <a:off x="5212080" y="1911096"/>
            <a:ext cx="40233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Explain why the bonus structure at lower levels is designed to outweigh the reduced fall deductions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20"/>
          <p:cNvSpPr/>
          <p:nvPr/>
        </p:nvSpPr>
        <p:spPr>
          <a:xfrm>
            <a:off x="4754880" y="2587752"/>
            <a:ext cx="384048" cy="384048"/>
          </a:xfrm>
          <a:prstGeom prst="rect">
            <a:avLst/>
          </a:prstGeom>
          <a:solidFill>
            <a:srgbClr val="C8922A"/>
          </a:solidFill>
          <a:ln cap="flat" cmpd="sng" w="12700">
            <a:solidFill>
              <a:srgbClr val="C892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4" name="Google Shape;334;p20"/>
          <p:cNvSpPr/>
          <p:nvPr/>
        </p:nvSpPr>
        <p:spPr>
          <a:xfrm>
            <a:off x="4754880" y="2587752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1B4B"/>
              </a:buClr>
              <a:buSzPts val="1300"/>
              <a:buFont typeface="Cambria"/>
              <a:buNone/>
            </a:pPr>
            <a:r>
              <a:rPr b="1" i="0" lang="en-US" sz="1300" u="none" cap="none" strike="noStrike">
                <a:solidFill>
                  <a:srgbClr val="0D1B4B"/>
                </a:solidFill>
                <a:latin typeface="Cambria"/>
                <a:ea typeface="Cambria"/>
                <a:cs typeface="Cambria"/>
                <a:sym typeface="Cambria"/>
              </a:rPr>
              <a:t>8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20"/>
          <p:cNvSpPr/>
          <p:nvPr/>
        </p:nvSpPr>
        <p:spPr>
          <a:xfrm>
            <a:off x="5212080" y="2587752"/>
            <a:ext cx="40233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Explain that the jump achievement bonus is a USFS domestic rule and does not apply at ISU events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20"/>
          <p:cNvSpPr/>
          <p:nvPr/>
        </p:nvSpPr>
        <p:spPr>
          <a:xfrm>
            <a:off x="4754880" y="3264408"/>
            <a:ext cx="384048" cy="384048"/>
          </a:xfrm>
          <a:prstGeom prst="rect">
            <a:avLst/>
          </a:prstGeom>
          <a:solidFill>
            <a:srgbClr val="C8922A"/>
          </a:solidFill>
          <a:ln cap="flat" cmpd="sng" w="12700">
            <a:solidFill>
              <a:srgbClr val="C892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7" name="Google Shape;337;p20"/>
          <p:cNvSpPr/>
          <p:nvPr/>
        </p:nvSpPr>
        <p:spPr>
          <a:xfrm>
            <a:off x="4754880" y="3264408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1B4B"/>
              </a:buClr>
              <a:buSzPts val="1300"/>
              <a:buFont typeface="Cambria"/>
              <a:buNone/>
            </a:pPr>
            <a:r>
              <a:rPr b="1" i="0" lang="en-US" sz="1300" u="none" cap="none" strike="noStrike">
                <a:solidFill>
                  <a:srgbClr val="0D1B4B"/>
                </a:solidFill>
                <a:latin typeface="Cambria"/>
                <a:ea typeface="Cambria"/>
                <a:cs typeface="Cambria"/>
                <a:sym typeface="Cambria"/>
              </a:rPr>
              <a:t>9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20"/>
          <p:cNvSpPr/>
          <p:nvPr/>
        </p:nvSpPr>
        <p:spPr>
          <a:xfrm>
            <a:off x="5212080" y="3264408"/>
            <a:ext cx="40233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Given a full FS protocol scenario, identify any elements requiring *, +REP, or adjusted bonus status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20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E3A6E"/>
          </a:solidFill>
          <a:ln cap="flat" cmpd="sng" w="12700">
            <a:solidFill>
              <a:srgbClr val="1E3A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4B"/>
        </a:solidFill>
      </p:bgPr>
    </p:bg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g3ca84f39616_0_29"/>
          <p:cNvSpPr/>
          <p:nvPr/>
        </p:nvSpPr>
        <p:spPr>
          <a:xfrm>
            <a:off x="0" y="0"/>
            <a:ext cx="164700" cy="5143500"/>
          </a:xfrm>
          <a:prstGeom prst="rect">
            <a:avLst/>
          </a:prstGeom>
          <a:solidFill>
            <a:srgbClr val="0A1535"/>
          </a:solidFill>
          <a:ln cap="flat" cmpd="sng" w="12700">
            <a:solidFill>
              <a:srgbClr val="0A15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" name="Google Shape;346;g3ca84f39616_0_29"/>
          <p:cNvSpPr/>
          <p:nvPr/>
        </p:nvSpPr>
        <p:spPr>
          <a:xfrm>
            <a:off x="8869680" y="0"/>
            <a:ext cx="274200" cy="5143500"/>
          </a:xfrm>
          <a:prstGeom prst="rect">
            <a:avLst/>
          </a:prstGeom>
          <a:solidFill>
            <a:srgbClr val="1A6B45"/>
          </a:solidFill>
          <a:ln cap="flat" cmpd="sng" w="12700">
            <a:solidFill>
              <a:srgbClr val="1A6B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" name="Google Shape;347;g3ca84f39616_0_29"/>
          <p:cNvSpPr/>
          <p:nvPr/>
        </p:nvSpPr>
        <p:spPr>
          <a:xfrm>
            <a:off x="365760" y="274320"/>
            <a:ext cx="82296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922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C8922A"/>
                </a:solidFill>
                <a:latin typeface="Calibri"/>
                <a:ea typeface="Calibri"/>
                <a:cs typeface="Calibri"/>
                <a:sym typeface="Calibri"/>
              </a:rPr>
              <a:t>Session </a:t>
            </a:r>
            <a:r>
              <a:rPr b="1" lang="en-US" sz="1100">
                <a:solidFill>
                  <a:srgbClr val="C8922A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r>
              <a:rPr b="1" i="0" lang="en-US" sz="1100" u="none" cap="none" strike="noStrike">
                <a:solidFill>
                  <a:srgbClr val="C8922A"/>
                </a:solidFill>
                <a:latin typeface="Calibri"/>
                <a:ea typeface="Calibri"/>
                <a:cs typeface="Calibri"/>
                <a:sym typeface="Calibri"/>
              </a:rPr>
              <a:t> — Homework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g3ca84f39616_0_29"/>
          <p:cNvSpPr/>
          <p:nvPr/>
        </p:nvSpPr>
        <p:spPr>
          <a:xfrm>
            <a:off x="365760" y="731520"/>
            <a:ext cx="82296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Cambria"/>
              <a:buNone/>
            </a:pPr>
            <a:r>
              <a:rPr b="1" i="0" lang="en-US" sz="3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Study Objectives for Session </a:t>
            </a:r>
            <a:r>
              <a:rPr b="1" lang="en-US" sz="34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4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g3ca84f39616_0_29"/>
          <p:cNvSpPr/>
          <p:nvPr/>
        </p:nvSpPr>
        <p:spPr>
          <a:xfrm>
            <a:off x="365760" y="1463040"/>
            <a:ext cx="1828800" cy="36600"/>
          </a:xfrm>
          <a:prstGeom prst="rect">
            <a:avLst/>
          </a:prstGeom>
          <a:solidFill>
            <a:srgbClr val="C8922A"/>
          </a:solidFill>
          <a:ln cap="flat" cmpd="sng" w="12700">
            <a:solidFill>
              <a:srgbClr val="C892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g3ca84f39616_0_29"/>
          <p:cNvSpPr/>
          <p:nvPr/>
        </p:nvSpPr>
        <p:spPr>
          <a:xfrm>
            <a:off x="365760" y="1645920"/>
            <a:ext cx="1371600" cy="457200"/>
          </a:xfrm>
          <a:prstGeom prst="rect">
            <a:avLst/>
          </a:prstGeom>
          <a:solidFill>
            <a:srgbClr val="1E3A6E"/>
          </a:solidFill>
          <a:ln cap="flat" cmpd="sng" w="12700">
            <a:solidFill>
              <a:srgbClr val="1E3A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" name="Google Shape;351;g3ca84f39616_0_29"/>
          <p:cNvSpPr/>
          <p:nvPr/>
        </p:nvSpPr>
        <p:spPr>
          <a:xfrm>
            <a:off x="402336" y="1645920"/>
            <a:ext cx="133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922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C8922A"/>
                </a:solidFill>
                <a:latin typeface="Calibri"/>
                <a:ea typeface="Calibri"/>
                <a:cs typeface="Calibri"/>
                <a:sym typeface="Calibri"/>
              </a:rPr>
              <a:t>Feature 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g3ca84f39616_0_29"/>
          <p:cNvSpPr/>
          <p:nvPr/>
        </p:nvSpPr>
        <p:spPr>
          <a:xfrm>
            <a:off x="1847088" y="1691640"/>
            <a:ext cx="67665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6E4F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D6E4F0"/>
                </a:solidFill>
                <a:latin typeface="Calibri"/>
                <a:ea typeface="Calibri"/>
                <a:cs typeface="Calibri"/>
                <a:sym typeface="Calibri"/>
              </a:rPr>
              <a:t>Memorize the 4 variety thresholds: 5 / 7 / 9 / 11. 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g3ca84f39616_0_29"/>
          <p:cNvSpPr/>
          <p:nvPr/>
        </p:nvSpPr>
        <p:spPr>
          <a:xfrm>
            <a:off x="365760" y="2231136"/>
            <a:ext cx="1371600" cy="457200"/>
          </a:xfrm>
          <a:prstGeom prst="rect">
            <a:avLst/>
          </a:prstGeom>
          <a:solidFill>
            <a:srgbClr val="1E3A6E"/>
          </a:solidFill>
          <a:ln cap="flat" cmpd="sng" w="12700">
            <a:solidFill>
              <a:srgbClr val="1E3A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" name="Google Shape;354;g3ca84f39616_0_29"/>
          <p:cNvSpPr/>
          <p:nvPr/>
        </p:nvSpPr>
        <p:spPr>
          <a:xfrm>
            <a:off x="402336" y="2231136"/>
            <a:ext cx="133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922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C8922A"/>
                </a:solidFill>
                <a:latin typeface="Calibri"/>
                <a:ea typeface="Calibri"/>
                <a:cs typeface="Calibri"/>
                <a:sym typeface="Calibri"/>
              </a:rPr>
              <a:t>Features 2–4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g3ca84f39616_0_29"/>
          <p:cNvSpPr/>
          <p:nvPr/>
        </p:nvSpPr>
        <p:spPr>
          <a:xfrm>
            <a:off x="1847088" y="2276856"/>
            <a:ext cx="67665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6E4F0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D6E4F0"/>
                </a:solidFill>
                <a:latin typeface="Calibri"/>
                <a:ea typeface="Calibri"/>
                <a:cs typeface="Calibri"/>
                <a:sym typeface="Calibri"/>
              </a:rPr>
              <a:t>Memorize the definitions for features two (rotation), three (body), and four (difficult turn combinations)</a:t>
            </a:r>
            <a:r>
              <a:rPr b="0" i="0" lang="en-US" sz="1000" u="none" cap="none" strike="noStrike">
                <a:solidFill>
                  <a:srgbClr val="D6E4F0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g3ca84f39616_0_29"/>
          <p:cNvSpPr/>
          <p:nvPr/>
        </p:nvSpPr>
        <p:spPr>
          <a:xfrm>
            <a:off x="365760" y="2816352"/>
            <a:ext cx="1371600" cy="457200"/>
          </a:xfrm>
          <a:prstGeom prst="rect">
            <a:avLst/>
          </a:prstGeom>
          <a:solidFill>
            <a:srgbClr val="1E3A6E"/>
          </a:solidFill>
          <a:ln cap="flat" cmpd="sng" w="12700">
            <a:solidFill>
              <a:srgbClr val="1E3A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g3ca84f39616_0_29"/>
          <p:cNvSpPr/>
          <p:nvPr/>
        </p:nvSpPr>
        <p:spPr>
          <a:xfrm>
            <a:off x="402336" y="2816352"/>
            <a:ext cx="133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922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C8922A"/>
                </a:solidFill>
                <a:latin typeface="Calibri"/>
                <a:ea typeface="Calibri"/>
                <a:cs typeface="Calibri"/>
                <a:sym typeface="Calibri"/>
              </a:rPr>
              <a:t>Level caps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g3ca84f39616_0_29"/>
          <p:cNvSpPr/>
          <p:nvPr/>
        </p:nvSpPr>
        <p:spPr>
          <a:xfrm>
            <a:off x="1847088" y="2862072"/>
            <a:ext cx="67665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6E4F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D6E4F0"/>
                </a:solidFill>
                <a:latin typeface="Calibri"/>
                <a:ea typeface="Calibri"/>
                <a:cs typeface="Calibri"/>
                <a:sym typeface="Calibri"/>
              </a:rPr>
              <a:t>Know which levels are partially leveled (Juv, Inter → StSq2) and which are fully leveled (Nov, Jr, Sr → StSq4).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g3ca84f39616_0_29"/>
          <p:cNvSpPr/>
          <p:nvPr/>
        </p:nvSpPr>
        <p:spPr>
          <a:xfrm>
            <a:off x="365760" y="3401568"/>
            <a:ext cx="1371600" cy="457200"/>
          </a:xfrm>
          <a:prstGeom prst="rect">
            <a:avLst/>
          </a:prstGeom>
          <a:solidFill>
            <a:srgbClr val="1E3A6E"/>
          </a:solidFill>
          <a:ln cap="flat" cmpd="sng" w="12700">
            <a:solidFill>
              <a:srgbClr val="1E3A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g3ca84f39616_0_29"/>
          <p:cNvSpPr/>
          <p:nvPr/>
        </p:nvSpPr>
        <p:spPr>
          <a:xfrm>
            <a:off x="402336" y="3401568"/>
            <a:ext cx="133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922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C8922A"/>
                </a:solidFill>
                <a:latin typeface="Calibri"/>
                <a:ea typeface="Calibri"/>
                <a:cs typeface="Calibri"/>
                <a:sym typeface="Calibri"/>
              </a:rPr>
              <a:t>Rules &amp; Exceptions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g3ca84f39616_0_29"/>
          <p:cNvSpPr/>
          <p:nvPr/>
        </p:nvSpPr>
        <p:spPr>
          <a:xfrm>
            <a:off x="1847088" y="3447288"/>
            <a:ext cx="67665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6E4F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D6E4F0"/>
                </a:solidFill>
                <a:latin typeface="Calibri"/>
                <a:ea typeface="Calibri"/>
                <a:cs typeface="Calibri"/>
                <a:sym typeface="Calibri"/>
              </a:rPr>
              <a:t>Review the SP vs. FS rules for listed jumps in step sequences. Be ready to explain the double-count benefit for F1 + F4.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g3ca84f39616_0_29"/>
          <p:cNvSpPr/>
          <p:nvPr/>
        </p:nvSpPr>
        <p:spPr>
          <a:xfrm>
            <a:off x="365760" y="3986784"/>
            <a:ext cx="1371600" cy="457200"/>
          </a:xfrm>
          <a:prstGeom prst="rect">
            <a:avLst/>
          </a:prstGeom>
          <a:solidFill>
            <a:srgbClr val="1E3A6E"/>
          </a:solidFill>
          <a:ln cap="flat" cmpd="sng" w="12700">
            <a:solidFill>
              <a:srgbClr val="1E3A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3" name="Google Shape;363;g3ca84f39616_0_29"/>
          <p:cNvSpPr/>
          <p:nvPr/>
        </p:nvSpPr>
        <p:spPr>
          <a:xfrm>
            <a:off x="402336" y="3986784"/>
            <a:ext cx="133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922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C8922A"/>
                </a:solidFill>
                <a:latin typeface="Calibri"/>
                <a:ea typeface="Calibri"/>
                <a:cs typeface="Calibri"/>
                <a:sym typeface="Calibri"/>
              </a:rPr>
              <a:t>Turn Identification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g3ca84f39616_0_29"/>
          <p:cNvSpPr/>
          <p:nvPr/>
        </p:nvSpPr>
        <p:spPr>
          <a:xfrm>
            <a:off x="1847088" y="4032504"/>
            <a:ext cx="67665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6E4F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D6E4F0"/>
                </a:solidFill>
                <a:latin typeface="Calibri"/>
                <a:ea typeface="Calibri"/>
                <a:cs typeface="Calibri"/>
                <a:sym typeface="Calibri"/>
              </a:rPr>
              <a:t>Complete one pass through the Turns flashcard drill — all 76 edge/direction cards. Focus on Counters and Rockers.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g3ca84f39616_0_29"/>
          <p:cNvSpPr/>
          <p:nvPr/>
        </p:nvSpPr>
        <p:spPr>
          <a:xfrm>
            <a:off x="0" y="4846320"/>
            <a:ext cx="9144000" cy="301800"/>
          </a:xfrm>
          <a:prstGeom prst="rect">
            <a:avLst/>
          </a:prstGeom>
          <a:solidFill>
            <a:srgbClr val="0A1535"/>
          </a:solidFill>
          <a:ln cap="flat" cmpd="sng" w="12700">
            <a:solidFill>
              <a:srgbClr val="0A15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6" name="Google Shape;366;g3ca84f39616_0_29"/>
          <p:cNvSpPr/>
          <p:nvPr/>
        </p:nvSpPr>
        <p:spPr>
          <a:xfrm>
            <a:off x="274320" y="4846320"/>
            <a:ext cx="8595300" cy="30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6E4F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D6E4F0"/>
                </a:solidFill>
                <a:latin typeface="Calibri"/>
                <a:ea typeface="Calibri"/>
                <a:cs typeface="Calibri"/>
                <a:sym typeface="Calibri"/>
              </a:rPr>
              <a:t>U.S. Figure Skating — Technical Panel Education  |  Step Sequence Framework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67" name="Google Shape;367;g3ca84f39616_0_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91700" y="274327"/>
            <a:ext cx="1461125" cy="1461125"/>
          </a:xfrm>
          <a:prstGeom prst="rect">
            <a:avLst/>
          </a:prstGeom>
          <a:noFill/>
          <a:ln cap="flat" cmpd="sng" w="1905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2026-02-23T16:02:47Z</dcterms:created>
  <dc:creator>PptxGenJS</dc:creator>
</cp:coreProperties>
</file>