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P0I0aH32RmhtU5alb44h9c/EK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a89092f29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a89092f29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a89092f29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ca89092f29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a89092f29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ca89092f29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a89092f29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ca89092f29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ca89092f29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SESSION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82296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Step Sequence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Framework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697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Identification · Leveling · Rules &amp; Exceptions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246120"/>
            <a:ext cx="2743200" cy="36576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3383280"/>
            <a:ext cx="54864" cy="5486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21792" y="331470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Phase 1 — What counts as a StSq?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657600"/>
            <a:ext cx="54864" cy="5486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21792" y="358902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Phase 2 — Feature 1: Variety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" y="3931920"/>
            <a:ext cx="54864" cy="5486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21792" y="3879269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Phase 3 — Features 2, 3,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" y="4206240"/>
            <a:ext cx="54864" cy="5486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21792" y="4169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Phase 4 — Levels &amp; Restrictions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" y="4480560"/>
            <a:ext cx="54864" cy="5486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21792" y="44439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Phase 5 — Rules &amp; Exceptions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The StSq Framework — 5 Phases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4320" y="1170432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274320" y="1280160"/>
            <a:ext cx="1645920" cy="420624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74320" y="128016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74320" y="1700784"/>
            <a:ext cx="1645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47472" y="1792224"/>
            <a:ext cx="1499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6B8A"/>
                </a:solidFill>
                <a:latin typeface="Cambria"/>
                <a:ea typeface="Cambria"/>
                <a:cs typeface="Cambria"/>
                <a:sym typeface="Cambria"/>
              </a:rPr>
              <a:t>What Counts?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7472" y="2304288"/>
            <a:ext cx="14996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General rules, pattern requirements, what the TP looks for to confirm the element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011680" y="1280160"/>
            <a:ext cx="1645920" cy="420624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011680" y="128016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011680" y="1700784"/>
            <a:ext cx="1645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2084832" y="1792224"/>
            <a:ext cx="1499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A6B45"/>
                </a:solidFill>
                <a:latin typeface="Cambria"/>
                <a:ea typeface="Cambria"/>
                <a:cs typeface="Cambria"/>
                <a:sym typeface="Cambria"/>
              </a:rPr>
              <a:t>Feature 1 — Variety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084832" y="2304288"/>
            <a:ext cx="14996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Minimum / Simple / Variety / Complexity — the count of difficult turns and steps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749040" y="1280160"/>
            <a:ext cx="1645920" cy="420624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749040" y="128016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749040" y="1700784"/>
            <a:ext cx="1645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822192" y="1792224"/>
            <a:ext cx="1499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F8A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6B2F8A"/>
                </a:solidFill>
                <a:latin typeface="Cambria"/>
                <a:ea typeface="Cambria"/>
                <a:cs typeface="Cambria"/>
                <a:sym typeface="Cambria"/>
              </a:rPr>
              <a:t>Features 2, 3,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822192" y="2304288"/>
            <a:ext cx="14996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Full-body rotation · Body movements · Two 3-turn combinations on each foot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86400" y="1280160"/>
            <a:ext cx="1645920" cy="420624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486400" y="128016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0" y="1700784"/>
            <a:ext cx="1645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559552" y="1792224"/>
            <a:ext cx="1499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Levels &amp; Limits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559552" y="2304288"/>
            <a:ext cx="14996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Partially leveled (max StSq2) vs. fully leveled; how features stack to set the level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223760" y="1280160"/>
            <a:ext cx="1645920" cy="42062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223760" y="128016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223760" y="1700784"/>
            <a:ext cx="1645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296912" y="1792224"/>
            <a:ext cx="1499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C8922A"/>
                </a:solidFill>
                <a:latin typeface="Cambria"/>
                <a:ea typeface="Cambria"/>
                <a:cs typeface="Cambria"/>
                <a:sym typeface="Cambria"/>
              </a:rPr>
              <a:t>Rules &amp; Exceptions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296912" y="2304288"/>
            <a:ext cx="14996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Jumps in StSq · Listed jumps · Unlisted jumps · Distribution failure → 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1 — What Counts as a Step Sequence?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74320" y="1170432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274328" y="1542425"/>
            <a:ext cx="4153500" cy="3291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288020" y="1809834"/>
            <a:ext cx="274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Receive a Level 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4325" y="1871625"/>
            <a:ext cx="4153500" cy="132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65750" y="1981350"/>
            <a:ext cx="3912600" cy="1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Must FULLY UTILIZE the ice surface</a:t>
            </a:r>
            <a:endParaRPr sz="10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Failure to fully utilize ice → NO VALUE</a:t>
            </a:r>
            <a:endParaRPr sz="10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No longer a required pattern (straight line, serpentine, etc.)</a:t>
            </a:r>
            <a:endParaRPr sz="10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Pattern means the pattern actually executed by the skater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Must be VISIBLE and IDENTIFIABLE as a step sequence</a:t>
            </a:r>
            <a:endParaRPr sz="10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663622" y="1546988"/>
            <a:ext cx="4206000" cy="3291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4663625" y="1876088"/>
            <a:ext cx="4206000" cy="132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765950" y="2031463"/>
            <a:ext cx="40122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DISTRIBUTED throughout the entire sequence</a:t>
            </a:r>
            <a:endParaRPr sz="10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No long sections without turns and steps</a:t>
            </a:r>
            <a:endParaRPr sz="10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Balanced in distribution — not all clustered at start or end</a:t>
            </a:r>
            <a:endParaRPr sz="10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Failure to distribute → level capped at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663625" y="1546975"/>
            <a:ext cx="420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DIFFICULT TURNS &amp; STEPS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5" y="1537852"/>
            <a:ext cx="415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Receive a Level 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4321" y="3193225"/>
            <a:ext cx="4153500" cy="329100"/>
          </a:xfrm>
          <a:prstGeom prst="rect">
            <a:avLst/>
          </a:prstGeom>
          <a:solidFill>
            <a:srgbClr val="1A6B8A">
              <a:alpha val="39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274325" y="3193225"/>
            <a:ext cx="4153500" cy="329100"/>
          </a:xfrm>
          <a:prstGeom prst="rect">
            <a:avLst/>
          </a:prstGeom>
          <a:noFill/>
          <a:ln cap="flat" cmpd="sng" w="9525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1250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No Value if Not Achieved</a:t>
            </a:r>
            <a:endParaRPr b="0" i="0" sz="1250" u="none" cap="none" strike="noStrike">
              <a:solidFill>
                <a:srgbClr val="1A6B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663625" y="3188663"/>
            <a:ext cx="4206000" cy="329100"/>
          </a:xfrm>
          <a:prstGeom prst="rect">
            <a:avLst/>
          </a:prstGeom>
          <a:solidFill>
            <a:srgbClr val="1A6B45">
              <a:alpha val="37340"/>
            </a:srgbClr>
          </a:solidFill>
          <a:ln cap="flat" cmpd="sng" w="9525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831175" y="3188675"/>
            <a:ext cx="3912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1250">
                <a:solidFill>
                  <a:srgbClr val="1A6B45"/>
                </a:solidFill>
                <a:latin typeface="Calibri"/>
                <a:ea typeface="Calibri"/>
                <a:cs typeface="Calibri"/>
                <a:sym typeface="Calibri"/>
              </a:rPr>
              <a:t>Max Level Base</a:t>
            </a:r>
            <a:endParaRPr b="0" i="0" sz="1250" u="none" cap="none" strike="noStrike">
              <a:solidFill>
                <a:srgbClr val="1A6B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74345" y="3747607"/>
            <a:ext cx="8595300" cy="548700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84073" y="3775040"/>
            <a:ext cx="8376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★  Both of these are most likely </a:t>
            </a: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occur</a:t>
            </a: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when a skater falls during the step sequence</a:t>
            </a: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and doesn’t immediately get up and resume their pattern. </a:t>
            </a:r>
            <a:b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    These rules take </a:t>
            </a: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precedence</a:t>
            </a: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over any other levels the skater may achieve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2 — Feature 1: Variety of Difficult Turns &amp;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74320" y="1170432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74320" y="1280160"/>
            <a:ext cx="2011680" cy="36576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274320" y="12801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MINIMUM VARIETY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4320" y="1645920"/>
            <a:ext cx="20116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74320" y="1783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A6B8A"/>
                </a:solidFill>
                <a:latin typeface="Cambria"/>
                <a:ea typeface="Cambria"/>
                <a:cs typeface="Cambria"/>
                <a:sym typeface="Cambria"/>
              </a:rPr>
              <a:t>≥ 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74320" y="2468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2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292B0"/>
                </a:solidFill>
                <a:latin typeface="Calibri"/>
                <a:ea typeface="Calibri"/>
                <a:cs typeface="Calibri"/>
                <a:sym typeface="Calibri"/>
              </a:rPr>
              <a:t>difficult turns/steps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74320" y="3017520"/>
            <a:ext cx="2011680" cy="2743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287983" y="3017495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9184" y="3346704"/>
            <a:ext cx="190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Qualifies for Level 1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b="0" i="1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(Level </a:t>
            </a:r>
            <a:r>
              <a:rPr i="1" lang="en-US" sz="9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 regardless of how many other features are achieved</a:t>
            </a:r>
            <a:r>
              <a:rPr b="0" i="1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1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423160" y="1280160"/>
            <a:ext cx="2011680" cy="36576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2423160" y="12801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VARIETY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423160" y="1645920"/>
            <a:ext cx="20116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423160" y="1783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≥ 7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423160" y="2468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2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292B0"/>
                </a:solidFill>
                <a:latin typeface="Calibri"/>
                <a:ea typeface="Calibri"/>
                <a:cs typeface="Calibri"/>
                <a:sym typeface="Calibri"/>
              </a:rPr>
              <a:t>difficult turns/steps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423160" y="3017520"/>
            <a:ext cx="2011680" cy="2743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423110" y="301750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Enables up to Level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478024" y="3346704"/>
            <a:ext cx="19019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Qualifies for up to Level 2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b="0" i="1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(if skater achieves at least one other </a:t>
            </a:r>
            <a:r>
              <a:rPr i="1" lang="en-US" sz="9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1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eature)</a:t>
            </a:r>
            <a:endParaRPr b="0" i="1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0" y="1280160"/>
            <a:ext cx="2011680" cy="36576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572000" y="12801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VARIETY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0" y="1645920"/>
            <a:ext cx="20116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572000" y="1783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F8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6B2F8A"/>
                </a:solidFill>
                <a:latin typeface="Cambria"/>
                <a:ea typeface="Cambria"/>
                <a:cs typeface="Cambria"/>
                <a:sym typeface="Cambria"/>
              </a:rPr>
              <a:t>≥ 9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572000" y="2468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2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292B0"/>
                </a:solidFill>
                <a:latin typeface="Calibri"/>
                <a:ea typeface="Calibri"/>
                <a:cs typeface="Calibri"/>
                <a:sym typeface="Calibri"/>
              </a:rPr>
              <a:t>difficult turns/steps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572000" y="3017520"/>
            <a:ext cx="2011680" cy="2743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571950" y="301750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F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2F8A"/>
                </a:solidFill>
                <a:latin typeface="Calibri"/>
                <a:ea typeface="Calibri"/>
                <a:cs typeface="Calibri"/>
                <a:sym typeface="Calibri"/>
              </a:rPr>
              <a:t>Enables up to Level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626864" y="3346704"/>
            <a:ext cx="19019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Qualifies for up to Level 3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b="0" i="1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9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if skater achieves at least 2 other features</a:t>
            </a:r>
            <a:r>
              <a:rPr b="0" i="1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1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720840" y="1280160"/>
            <a:ext cx="2011680" cy="36576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720840" y="12801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720840" y="1645920"/>
            <a:ext cx="20116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720840" y="1783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A6B45"/>
                </a:solidFill>
                <a:latin typeface="Cambria"/>
                <a:ea typeface="Cambria"/>
                <a:cs typeface="Cambria"/>
                <a:sym typeface="Cambria"/>
              </a:rPr>
              <a:t>≥ 11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720840" y="2468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2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292B0"/>
                </a:solidFill>
                <a:latin typeface="Calibri"/>
                <a:ea typeface="Calibri"/>
                <a:cs typeface="Calibri"/>
                <a:sym typeface="Calibri"/>
              </a:rPr>
              <a:t>difficult turns/steps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720840" y="3017520"/>
            <a:ext cx="2011680" cy="2743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720790" y="3017495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6B45"/>
                </a:solidFill>
                <a:latin typeface="Calibri"/>
                <a:ea typeface="Calibri"/>
                <a:cs typeface="Calibri"/>
                <a:sym typeface="Calibri"/>
              </a:rPr>
              <a:t>Enables up to Level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775704" y="3346704"/>
            <a:ext cx="19019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Qualifies for up to Level 4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b="0" i="1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(if </a:t>
            </a:r>
            <a:r>
              <a:rPr i="1" lang="en-US" sz="9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achieves all other features</a:t>
            </a:r>
            <a:r>
              <a:rPr b="0" i="1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1" sz="950" u="none" cap="none" strike="noStrike">
              <a:solidFill>
                <a:srgbClr val="5A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t/>
            </a:r>
            <a:endParaRPr i="1" sz="950">
              <a:solidFill>
                <a:srgbClr val="5A64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384048" y="4187952"/>
            <a:ext cx="837590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★  KEY RULE: No single type of difficult turn or step may be counted MORE THAN TWICE toward Feature 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   If skater performs only minimum variety (5), the level CANNOT exceed Level 1 regardless of Features 2–4.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3 — Features 2, 3, and 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74320" y="1170432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274320" y="1280160"/>
            <a:ext cx="329184" cy="164592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 rot="-5400000">
            <a:off x="-396875" y="1937825"/>
            <a:ext cx="1653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03504" y="1280160"/>
            <a:ext cx="2322576" cy="34747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40080" y="1280160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Rotations in Both Directions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03504" y="1627632"/>
            <a:ext cx="2322576" cy="2651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694944" y="1737360"/>
            <a:ext cx="2139696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Skater must rotate: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CW for ≥ 1/3 of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CCW for ≥ 1/3 of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Can be continuous or non-continuous rotations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Full body rotation = one complete 360°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(half-rev back and forth does NOT count)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Counts as +1 level feature when achieved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063240" y="1280160"/>
            <a:ext cx="329184" cy="164592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3392424" y="1280160"/>
            <a:ext cx="2322576" cy="34747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429000" y="1280160"/>
            <a:ext cx="22494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of Body Movements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392424" y="1627632"/>
            <a:ext cx="2322576" cy="2651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483864" y="1737360"/>
            <a:ext cx="2139696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Any movements of arms, head, torso, hips, or legs that affect the main body core throughout at least 1/3 of the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Extended arms with intent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Hip/torso engagement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Leg extensions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Counts as +1 level feature when achieved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852160" y="1280160"/>
            <a:ext cx="329184" cy="164592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181344" y="1280160"/>
            <a:ext cx="2688336" cy="34747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217920" y="1280160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3-Turn Combinations on Each Foot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181344" y="1627632"/>
            <a:ext cx="2688336" cy="2651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6272784" y="1737360"/>
            <a:ext cx="2505456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Two different combinations of THREE difficult turns on each foot, executed with continuous 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Valid turns for combinations: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Rockers · Counters · Brackets</a:t>
            </a: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Twizzles · Loops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Rules: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Only one difficult turn type may repeat once across the two combinations</a:t>
            </a:r>
            <a:endParaRPr sz="95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Only the FIRST combination on each foot 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3-turns, change of edge, jumps/hops</a:t>
            </a: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are not permitted</a:t>
            </a:r>
            <a:endParaRPr sz="95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free foot cannot touch the ice (even incidentally)</a:t>
            </a:r>
            <a:endParaRPr sz="95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384048" y="4361688"/>
            <a:ext cx="8375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★  F4 turns for each foot: only the FIRST combination attempted on each foot is counted. A failed attempt </a:t>
            </a: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blocks</a:t>
            </a:r>
            <a:r>
              <a:rPr b="0" i="1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a second attempt. </a:t>
            </a:r>
            <a:endParaRPr i="1" sz="9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    Even if the first turn combination is not successful, it’s important to vocalize “Yes” or “No” on the second combination for the quality of the TS2 and TCs notes</a:t>
            </a:r>
            <a:endParaRPr i="1" sz="9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 rot="-5400000">
            <a:off x="2401175" y="1934063"/>
            <a:ext cx="1653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 rot="-5400000">
            <a:off x="5167238" y="1937813"/>
            <a:ext cx="1653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a89092f29_0_126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ca89092f29_0_126"/>
          <p:cNvSpPr/>
          <p:nvPr/>
        </p:nvSpPr>
        <p:spPr>
          <a:xfrm>
            <a:off x="274320" y="164592"/>
            <a:ext cx="1645800" cy="3291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ca89092f29_0_126"/>
          <p:cNvSpPr/>
          <p:nvPr/>
        </p:nvSpPr>
        <p:spPr>
          <a:xfrm>
            <a:off x="274320" y="164592"/>
            <a:ext cx="164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ca89092f29_0_126"/>
          <p:cNvSpPr/>
          <p:nvPr/>
        </p:nvSpPr>
        <p:spPr>
          <a:xfrm>
            <a:off x="274320" y="548640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4 — Leveling: Feature Thresholds &amp; Level Caps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ca89092f29_0_126"/>
          <p:cNvSpPr/>
          <p:nvPr/>
        </p:nvSpPr>
        <p:spPr>
          <a:xfrm>
            <a:off x="274320" y="1170432"/>
            <a:ext cx="8595300" cy="366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ca89092f29_0_126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ca89092f29_0_126"/>
          <p:cNvSpPr/>
          <p:nvPr/>
        </p:nvSpPr>
        <p:spPr>
          <a:xfrm>
            <a:off x="274320" y="4846320"/>
            <a:ext cx="8595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ca89092f29_0_126"/>
          <p:cNvSpPr/>
          <p:nvPr/>
        </p:nvSpPr>
        <p:spPr>
          <a:xfrm>
            <a:off x="274320" y="1280160"/>
            <a:ext cx="2194500" cy="402300"/>
          </a:xfrm>
          <a:prstGeom prst="rect">
            <a:avLst/>
          </a:pr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ca89092f29_0_126"/>
          <p:cNvSpPr/>
          <p:nvPr/>
        </p:nvSpPr>
        <p:spPr>
          <a:xfrm>
            <a:off x="365760" y="1280160"/>
            <a:ext cx="155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 not fully utilize the 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ca89092f29_0_126"/>
          <p:cNvSpPr/>
          <p:nvPr/>
        </p:nvSpPr>
        <p:spPr>
          <a:xfrm>
            <a:off x="1828800" y="1280160"/>
            <a:ext cx="62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lang="en-US" sz="1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VALUE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ca89092f29_0_126"/>
          <p:cNvSpPr/>
          <p:nvPr/>
        </p:nvSpPr>
        <p:spPr>
          <a:xfrm>
            <a:off x="274320" y="2231136"/>
            <a:ext cx="2926200" cy="475500"/>
          </a:xfrm>
          <a:prstGeom prst="rect">
            <a:avLst/>
          </a:prstGeom>
          <a:solidFill>
            <a:srgbClr val="92400E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ca89092f29_0_126"/>
          <p:cNvSpPr/>
          <p:nvPr/>
        </p:nvSpPr>
        <p:spPr>
          <a:xfrm>
            <a:off x="384048" y="2231136"/>
            <a:ext cx="2103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only — ≥ 5 difficult turns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ca89092f29_0_126"/>
          <p:cNvSpPr/>
          <p:nvPr/>
        </p:nvSpPr>
        <p:spPr>
          <a:xfrm>
            <a:off x="2468880" y="2231136"/>
            <a:ext cx="71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Level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ca89092f29_0_126"/>
          <p:cNvSpPr/>
          <p:nvPr/>
        </p:nvSpPr>
        <p:spPr>
          <a:xfrm>
            <a:off x="274320" y="2779776"/>
            <a:ext cx="3657600" cy="4755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ca89092f29_0_126"/>
          <p:cNvSpPr/>
          <p:nvPr/>
        </p:nvSpPr>
        <p:spPr>
          <a:xfrm>
            <a:off x="384048" y="2779776"/>
            <a:ext cx="2834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≥ 7 + any 1 of F2/F3/F4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ca89092f29_0_126"/>
          <p:cNvSpPr/>
          <p:nvPr/>
        </p:nvSpPr>
        <p:spPr>
          <a:xfrm>
            <a:off x="3200400" y="2779776"/>
            <a:ext cx="71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Level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ca89092f29_0_126"/>
          <p:cNvSpPr/>
          <p:nvPr/>
        </p:nvSpPr>
        <p:spPr>
          <a:xfrm>
            <a:off x="274320" y="3328416"/>
            <a:ext cx="4389000" cy="47550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ca89092f29_0_126"/>
          <p:cNvSpPr/>
          <p:nvPr/>
        </p:nvSpPr>
        <p:spPr>
          <a:xfrm>
            <a:off x="384048" y="3328416"/>
            <a:ext cx="3566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≥ 9 + any 2 of F2/F3/F4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ca89092f29_0_126"/>
          <p:cNvSpPr/>
          <p:nvPr/>
        </p:nvSpPr>
        <p:spPr>
          <a:xfrm>
            <a:off x="3931920" y="3328416"/>
            <a:ext cx="71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Level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ca89092f29_0_126"/>
          <p:cNvSpPr/>
          <p:nvPr/>
        </p:nvSpPr>
        <p:spPr>
          <a:xfrm>
            <a:off x="274320" y="3877056"/>
            <a:ext cx="5120700" cy="4755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ca89092f29_0_126"/>
          <p:cNvSpPr/>
          <p:nvPr/>
        </p:nvSpPr>
        <p:spPr>
          <a:xfrm>
            <a:off x="384048" y="3877056"/>
            <a:ext cx="4297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≥ 11 (≥5 types) + F2+F3+F4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ca89092f29_0_126"/>
          <p:cNvSpPr/>
          <p:nvPr/>
        </p:nvSpPr>
        <p:spPr>
          <a:xfrm>
            <a:off x="4663440" y="3877056"/>
            <a:ext cx="71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Level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ca89092f29_0_126"/>
          <p:cNvSpPr/>
          <p:nvPr/>
        </p:nvSpPr>
        <p:spPr>
          <a:xfrm>
            <a:off x="5532120" y="1243584"/>
            <a:ext cx="3337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2B0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292B0"/>
                </a:solidFill>
                <a:latin typeface="Calibri"/>
                <a:ea typeface="Calibri"/>
                <a:cs typeface="Calibri"/>
                <a:sym typeface="Calibri"/>
              </a:rPr>
              <a:t>LEVEL CAPS BY COMPETITION LEVEL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ca89092f29_0_126"/>
          <p:cNvSpPr/>
          <p:nvPr/>
        </p:nvSpPr>
        <p:spPr>
          <a:xfrm>
            <a:off x="5532120" y="1536192"/>
            <a:ext cx="183000" cy="8778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ca89092f29_0_126"/>
          <p:cNvSpPr/>
          <p:nvPr/>
        </p:nvSpPr>
        <p:spPr>
          <a:xfrm>
            <a:off x="5715000" y="1536192"/>
            <a:ext cx="3154800" cy="87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ca89092f29_0_126"/>
          <p:cNvSpPr/>
          <p:nvPr/>
        </p:nvSpPr>
        <p:spPr>
          <a:xfrm>
            <a:off x="5797296" y="1609344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Juvenile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ca89092f29_0_126"/>
          <p:cNvSpPr/>
          <p:nvPr/>
        </p:nvSpPr>
        <p:spPr>
          <a:xfrm>
            <a:off x="274324" y="4349500"/>
            <a:ext cx="4146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Calibri"/>
              <a:buNone/>
            </a:pPr>
            <a:r>
              <a:rPr b="1" i="1" lang="en-US" sz="8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★  No Value: ice not fully utilized  |  Base: turns not distributed  |  Base: &lt; 5 clean turns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ca89092f29_0_126"/>
          <p:cNvSpPr/>
          <p:nvPr/>
        </p:nvSpPr>
        <p:spPr>
          <a:xfrm>
            <a:off x="7223760" y="1591056"/>
            <a:ext cx="1572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A6B8A"/>
                </a:solidFill>
                <a:latin typeface="Cambria"/>
                <a:ea typeface="Cambria"/>
                <a:cs typeface="Cambria"/>
                <a:sym typeface="Cambria"/>
              </a:rPr>
              <a:t>Max StSq2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ca89092f29_0_126"/>
          <p:cNvSpPr/>
          <p:nvPr/>
        </p:nvSpPr>
        <p:spPr>
          <a:xfrm>
            <a:off x="5797296" y="1993392"/>
            <a:ext cx="299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F1 + F2 only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F3 &amp; F4 not assessed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ca89092f29_0_126"/>
          <p:cNvSpPr/>
          <p:nvPr/>
        </p:nvSpPr>
        <p:spPr>
          <a:xfrm>
            <a:off x="5532120" y="2560320"/>
            <a:ext cx="183000" cy="87780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ca89092f29_0_126"/>
          <p:cNvSpPr/>
          <p:nvPr/>
        </p:nvSpPr>
        <p:spPr>
          <a:xfrm>
            <a:off x="5715000" y="2560320"/>
            <a:ext cx="3154800" cy="87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ca89092f29_0_126"/>
          <p:cNvSpPr/>
          <p:nvPr/>
        </p:nvSpPr>
        <p:spPr>
          <a:xfrm>
            <a:off x="5797296" y="2633472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F8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B2F8A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ca89092f29_0_126"/>
          <p:cNvSpPr/>
          <p:nvPr/>
        </p:nvSpPr>
        <p:spPr>
          <a:xfrm>
            <a:off x="7223760" y="2615184"/>
            <a:ext cx="1572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2F8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6B2F8A"/>
                </a:solidFill>
                <a:latin typeface="Cambria"/>
                <a:ea typeface="Cambria"/>
                <a:cs typeface="Cambria"/>
                <a:sym typeface="Cambria"/>
              </a:rPr>
              <a:t>Max StSq3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ca89092f29_0_126"/>
          <p:cNvSpPr/>
          <p:nvPr/>
        </p:nvSpPr>
        <p:spPr>
          <a:xfrm>
            <a:off x="5797296" y="3017520"/>
            <a:ext cx="299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All 4 features assessed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Level hard-capped at 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ca89092f29_0_126"/>
          <p:cNvSpPr/>
          <p:nvPr/>
        </p:nvSpPr>
        <p:spPr>
          <a:xfrm>
            <a:off x="5532120" y="3584448"/>
            <a:ext cx="183000" cy="8778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ca89092f29_0_126"/>
          <p:cNvSpPr/>
          <p:nvPr/>
        </p:nvSpPr>
        <p:spPr>
          <a:xfrm>
            <a:off x="5715000" y="3584448"/>
            <a:ext cx="3154800" cy="87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ca89092f29_0_126"/>
          <p:cNvSpPr/>
          <p:nvPr/>
        </p:nvSpPr>
        <p:spPr>
          <a:xfrm>
            <a:off x="5797296" y="365760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6B45"/>
                </a:solidFill>
                <a:latin typeface="Calibri"/>
                <a:ea typeface="Calibri"/>
                <a:cs typeface="Calibri"/>
                <a:sym typeface="Calibri"/>
              </a:rPr>
              <a:t>Novice / Jr / Sr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ca89092f29_0_126"/>
          <p:cNvSpPr/>
          <p:nvPr/>
        </p:nvSpPr>
        <p:spPr>
          <a:xfrm>
            <a:off x="7223760" y="3639312"/>
            <a:ext cx="1572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A6B45"/>
                </a:solidFill>
                <a:latin typeface="Cambria"/>
                <a:ea typeface="Cambria"/>
                <a:cs typeface="Cambria"/>
                <a:sym typeface="Cambria"/>
              </a:rPr>
              <a:t>Max StSq4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ca89092f29_0_126"/>
          <p:cNvSpPr/>
          <p:nvPr/>
        </p:nvSpPr>
        <p:spPr>
          <a:xfrm>
            <a:off x="5797296" y="4041648"/>
            <a:ext cx="299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All 4 features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Full leveling applies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ca89092f29_0_126"/>
          <p:cNvSpPr/>
          <p:nvPr/>
        </p:nvSpPr>
        <p:spPr>
          <a:xfrm>
            <a:off x="274325" y="1730500"/>
            <a:ext cx="2407500" cy="45180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ca89092f29_0_126"/>
          <p:cNvSpPr txBox="1"/>
          <p:nvPr/>
        </p:nvSpPr>
        <p:spPr>
          <a:xfrm>
            <a:off x="310900" y="1764775"/>
            <a:ext cx="14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Turns not distributed  OR  </a:t>
            </a:r>
            <a:br>
              <a:rPr b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5 clean difficult turns</a:t>
            </a:r>
            <a:endParaRPr/>
          </a:p>
        </p:txBody>
      </p:sp>
      <p:sp>
        <p:nvSpPr>
          <p:cNvPr id="221" name="Google Shape;221;g3ca89092f29_0_126"/>
          <p:cNvSpPr txBox="1"/>
          <p:nvPr/>
        </p:nvSpPr>
        <p:spPr>
          <a:xfrm>
            <a:off x="2056050" y="1818364"/>
            <a:ext cx="65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5 — Rules &amp; Exceptions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74320" y="1170432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274320" y="1280160"/>
            <a:ext cx="274320" cy="146304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548640" y="1280160"/>
            <a:ext cx="3931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03504" y="137160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Unlisted Jumps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(any revolutions)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769550" y="1580800"/>
            <a:ext cx="2546400" cy="1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May be included in the StSq in BOTH SP and FS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No deduction, no GOE reduction by judges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Does NOT count as a jump element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Can be used freely as connecting steps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617720" y="1280160"/>
            <a:ext cx="274320" cy="1463040"/>
          </a:xfrm>
          <a:prstGeom prst="rect">
            <a:avLst/>
          </a:pr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892040" y="1280160"/>
            <a:ext cx="3931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946904" y="137160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Listed Jump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&gt; ½ revolution — SP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281925" y="1628000"/>
            <a:ext cx="23775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IGNORED as a jump element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Judges will reduce GOE by one grade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Does NOT block a jumping 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TP does not call it as a jump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74320" y="2834640"/>
            <a:ext cx="274320" cy="146304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48640" y="2834640"/>
            <a:ext cx="3931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03504" y="292608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Listed Jump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&gt; ½ revolution — FS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938525" y="3135248"/>
            <a:ext cx="2377500" cy="1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CAN be included — will be identified as a jump element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Counts toward jump repetition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SP rules do NOT apply in FS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Judges may reduce GOE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617720" y="2834640"/>
            <a:ext cx="274320" cy="146304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4892040" y="2834640"/>
            <a:ext cx="39319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946904" y="292608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6B45"/>
                </a:solidFill>
                <a:latin typeface="Calibri"/>
                <a:ea typeface="Calibri"/>
                <a:cs typeface="Calibri"/>
                <a:sym typeface="Calibri"/>
              </a:rPr>
              <a:t>Feature 1 &amp; Feature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6B45"/>
                </a:solidFill>
                <a:latin typeface="Calibri"/>
                <a:ea typeface="Calibri"/>
                <a:cs typeface="Calibri"/>
                <a:sym typeface="Calibri"/>
              </a:rPr>
              <a:t>Double 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281925" y="3040361"/>
            <a:ext cx="23775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Turns counted for Feature 1 ALSO count toward Feature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This is not a restriction — it is a benefit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True or False: turns cannot count for both → FALSE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TP credits the same turn for both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274325" y="4407424"/>
            <a:ext cx="8595300" cy="365700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384050" y="4425700"/>
            <a:ext cx="83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★  Common misconception: many trainees think listed jumps in the SP StSq block a jump box. They do NOT — the jump is simply ignored with a GOE reduction.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274320" y="16459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Quick Reference — StSq Leveling Decision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74320" y="1170432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274320" y="1298448"/>
            <a:ext cx="219456" cy="475488"/>
          </a:xfrm>
          <a:prstGeom prst="rect">
            <a:avLst/>
          </a:prstGeom>
          <a:solidFill>
            <a:srgbClr val="8292B0"/>
          </a:solidFill>
          <a:ln cap="flat" cmpd="sng" w="12700">
            <a:solidFill>
              <a:srgbClr val="829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265120" y="1287461"/>
            <a:ext cx="21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93776" y="1298448"/>
            <a:ext cx="5303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85216" y="1353312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Does the StSq fully utilize the ice AND are turns/steps distributed?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888736" y="1298448"/>
            <a:ext cx="1444752" cy="475488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943600" y="1353312"/>
            <a:ext cx="1335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✓  Continue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7424928" y="1298448"/>
            <a:ext cx="1444752" cy="475488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7479792" y="1353312"/>
            <a:ext cx="1335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→ </a:t>
            </a:r>
            <a:r>
              <a:rPr b="1" lang="en-US" sz="8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NO 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74320" y="2388428"/>
            <a:ext cx="219600" cy="4755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274320" y="2388428"/>
            <a:ext cx="21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93776" y="2388428"/>
            <a:ext cx="53034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585216" y="2443292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How many difficult turns/steps? (max 2 per type)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888736" y="2388428"/>
            <a:ext cx="1444800" cy="47550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943600" y="2443292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✓  ≥5 = Level 1 floor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424928" y="2388428"/>
            <a:ext cx="1444800" cy="4755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7479792" y="2443292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&lt; 5 → 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274295" y="2935232"/>
            <a:ext cx="219600" cy="47550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274295" y="2935232"/>
            <a:ext cx="21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93751" y="2935232"/>
            <a:ext cx="53034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585191" y="2990096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Feature 2: Rotations in both directions (CW + CCW, ≥1/3 each)?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888711" y="2935232"/>
            <a:ext cx="1444800" cy="47550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5943575" y="2990096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2F8A"/>
                </a:solidFill>
                <a:latin typeface="Calibri"/>
                <a:ea typeface="Calibri"/>
                <a:cs typeface="Calibri"/>
                <a:sym typeface="Calibri"/>
              </a:rPr>
              <a:t>✓  +1 level feature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7424903" y="2935232"/>
            <a:ext cx="1444800" cy="4755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7479767" y="2990096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Not counted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74320" y="3478424"/>
            <a:ext cx="219600" cy="4755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274320" y="3478424"/>
            <a:ext cx="21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93776" y="3478424"/>
            <a:ext cx="53034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585216" y="353328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Feature 3: Body movements for ≥1/3 of pattern?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888736" y="3478424"/>
            <a:ext cx="1444800" cy="47550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5943600" y="3533288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6B45"/>
                </a:solidFill>
                <a:latin typeface="Calibri"/>
                <a:ea typeface="Calibri"/>
                <a:cs typeface="Calibri"/>
                <a:sym typeface="Calibri"/>
              </a:rPr>
              <a:t>✓  +1 level feature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74320" y="4005066"/>
            <a:ext cx="219600" cy="4755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274320" y="4005066"/>
            <a:ext cx="21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93776" y="4005066"/>
            <a:ext cx="53034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585216" y="405993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Feature 4: Two 3-turn combos on each foot with continuous flow?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888736" y="4005066"/>
            <a:ext cx="1444800" cy="47550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5943600" y="4059930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✓  +1 level feature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424928" y="4005066"/>
            <a:ext cx="1444800" cy="4755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7479767" y="4133155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Not counted</a:t>
            </a:r>
            <a:br>
              <a:rPr b="1" i="0" lang="en-US" sz="8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8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Turns can contribute to F1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7424928" y="3478424"/>
            <a:ext cx="1444800" cy="4755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7479792" y="3533288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Not counted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365760" y="457200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cap: Juvenile → max StSq2  | 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Intermediate 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max StSq3  |</a:t>
            </a: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Novice, Junior, Senior → max StSq4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274295" y="1843423"/>
            <a:ext cx="219600" cy="4755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274295" y="1843423"/>
            <a:ext cx="21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93751" y="1843423"/>
            <a:ext cx="53034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585191" y="1898287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Does the StSq fully utilize the ice AND are turns/steps distributed?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888711" y="1843423"/>
            <a:ext cx="1444800" cy="475500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E8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5943575" y="1898287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6B8A"/>
                </a:solidFill>
                <a:latin typeface="Calibri"/>
                <a:ea typeface="Calibri"/>
                <a:cs typeface="Calibri"/>
                <a:sym typeface="Calibri"/>
              </a:rPr>
              <a:t>✓  Continue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7424903" y="1843423"/>
            <a:ext cx="1444800" cy="4755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7479767" y="1898287"/>
            <a:ext cx="133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→ 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a89092f29_0_17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ca89092f29_0_17"/>
          <p:cNvSpPr/>
          <p:nvPr/>
        </p:nvSpPr>
        <p:spPr>
          <a:xfrm>
            <a:off x="274320" y="164592"/>
            <a:ext cx="1645800" cy="3291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ca89092f29_0_17"/>
          <p:cNvSpPr/>
          <p:nvPr/>
        </p:nvSpPr>
        <p:spPr>
          <a:xfrm>
            <a:off x="274320" y="164592"/>
            <a:ext cx="164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ca89092f29_0_17"/>
          <p:cNvSpPr/>
          <p:nvPr/>
        </p:nvSpPr>
        <p:spPr>
          <a:xfrm>
            <a:off x="274320" y="548640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Panel Roles — StSq Assessment &amp; Verbalizations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ca89092f29_0_17"/>
          <p:cNvSpPr/>
          <p:nvPr/>
        </p:nvSpPr>
        <p:spPr>
          <a:xfrm>
            <a:off x="274320" y="1170432"/>
            <a:ext cx="8595300" cy="366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ca89092f29_0_17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ca89092f29_0_17"/>
          <p:cNvSpPr/>
          <p:nvPr/>
        </p:nvSpPr>
        <p:spPr>
          <a:xfrm>
            <a:off x="274320" y="4846320"/>
            <a:ext cx="8595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ca89092f29_0_17"/>
          <p:cNvSpPr/>
          <p:nvPr/>
        </p:nvSpPr>
        <p:spPr>
          <a:xfrm>
            <a:off x="274320" y="1280160"/>
            <a:ext cx="2011800" cy="3291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ca89092f29_0_17"/>
          <p:cNvSpPr/>
          <p:nvPr/>
        </p:nvSpPr>
        <p:spPr>
          <a:xfrm>
            <a:off x="274320" y="1280160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TS2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ca89092f29_0_17"/>
          <p:cNvSpPr/>
          <p:nvPr/>
        </p:nvSpPr>
        <p:spPr>
          <a:xfrm>
            <a:off x="274320" y="1609344"/>
            <a:ext cx="2011800" cy="2013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ca89092f29_0_17"/>
          <p:cNvSpPr/>
          <p:nvPr/>
        </p:nvSpPr>
        <p:spPr>
          <a:xfrm>
            <a:off x="329184" y="1609344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850"/>
              <a:buFont typeface="Calibri"/>
              <a:buNone/>
            </a:pPr>
            <a:r>
              <a:rPr b="1"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Pre-call &amp; Feature 2</a:t>
            </a:r>
            <a:endParaRPr sz="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ca89092f29_0_17"/>
          <p:cNvSpPr/>
          <p:nvPr/>
        </p:nvSpPr>
        <p:spPr>
          <a:xfrm>
            <a:off x="274325" y="1810500"/>
            <a:ext cx="2011800" cy="17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a89092f29_0_17"/>
          <p:cNvSpPr/>
          <p:nvPr/>
        </p:nvSpPr>
        <p:spPr>
          <a:xfrm>
            <a:off x="347472" y="1865376"/>
            <a:ext cx="18654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Pre-calls: "Next: steps"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Verbally confirms F2 (rotation): yes / no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Chimes in before end of sequence so TS1 can finalize level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ca89092f29_0_17"/>
          <p:cNvSpPr/>
          <p:nvPr/>
        </p:nvSpPr>
        <p:spPr>
          <a:xfrm>
            <a:off x="2395728" y="1280160"/>
            <a:ext cx="2011800" cy="32910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ca89092f29_0_17"/>
          <p:cNvSpPr/>
          <p:nvPr/>
        </p:nvSpPr>
        <p:spPr>
          <a:xfrm>
            <a:off x="2395728" y="1280160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ca89092f29_0_17"/>
          <p:cNvSpPr/>
          <p:nvPr/>
        </p:nvSpPr>
        <p:spPr>
          <a:xfrm>
            <a:off x="2395728" y="1609344"/>
            <a:ext cx="2011800" cy="2013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ca89092f29_0_17"/>
          <p:cNvSpPr/>
          <p:nvPr/>
        </p:nvSpPr>
        <p:spPr>
          <a:xfrm>
            <a:off x="2450592" y="1609344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F8A"/>
              </a:buClr>
              <a:buSzPts val="850"/>
              <a:buFont typeface="Calibri"/>
              <a:buNone/>
            </a:pPr>
            <a:r>
              <a:rPr b="1"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 3</a:t>
            </a:r>
            <a:endParaRPr sz="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ca89092f29_0_17"/>
          <p:cNvSpPr/>
          <p:nvPr/>
        </p:nvSpPr>
        <p:spPr>
          <a:xfrm>
            <a:off x="2395725" y="1810500"/>
            <a:ext cx="2011800" cy="17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ca89092f29_0_17"/>
          <p:cNvSpPr/>
          <p:nvPr/>
        </p:nvSpPr>
        <p:spPr>
          <a:xfrm>
            <a:off x="2468880" y="1865376"/>
            <a:ext cx="18654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Assesses body movements throughout sequence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Verbally confirms F3 (body): yes / no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Must chime in before sequence ends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ca89092f29_0_17"/>
          <p:cNvSpPr/>
          <p:nvPr/>
        </p:nvSpPr>
        <p:spPr>
          <a:xfrm>
            <a:off x="4517136" y="1280160"/>
            <a:ext cx="2688300" cy="3291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ca89092f29_0_17"/>
          <p:cNvSpPr/>
          <p:nvPr/>
        </p:nvSpPr>
        <p:spPr>
          <a:xfrm>
            <a:off x="4517136" y="1280160"/>
            <a:ext cx="268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TS1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ca89092f29_0_17"/>
          <p:cNvSpPr/>
          <p:nvPr/>
        </p:nvSpPr>
        <p:spPr>
          <a:xfrm>
            <a:off x="4517136" y="1609344"/>
            <a:ext cx="2688300" cy="2013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ca89092f29_0_17"/>
          <p:cNvSpPr/>
          <p:nvPr/>
        </p:nvSpPr>
        <p:spPr>
          <a:xfrm>
            <a:off x="4572000" y="1609344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850"/>
              <a:buFont typeface="Calibri"/>
              <a:buNone/>
            </a:pPr>
            <a:r>
              <a:rPr b="1"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 count · F4 combos · Final call</a:t>
            </a:r>
            <a:endParaRPr sz="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ca89092f29_0_17"/>
          <p:cNvSpPr/>
          <p:nvPr/>
        </p:nvSpPr>
        <p:spPr>
          <a:xfrm>
            <a:off x="4517125" y="1810500"/>
            <a:ext cx="2688300" cy="17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ca89092f29_0_17"/>
          <p:cNvSpPr/>
          <p:nvPr/>
        </p:nvSpPr>
        <p:spPr>
          <a:xfrm>
            <a:off x="4590288" y="1865376"/>
            <a:ext cx="25419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Tracks total difficult turns (F1)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Assesses F4 (turn combinations on each foot)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Waits for TS2 &amp; TC input, then verbalizes: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ca89092f29_0_17"/>
          <p:cNvSpPr/>
          <p:nvPr/>
        </p:nvSpPr>
        <p:spPr>
          <a:xfrm>
            <a:off x="4590275" y="2386565"/>
            <a:ext cx="2541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750"/>
              <a:buFont typeface="Calibri"/>
              <a:buNone/>
            </a:pPr>
            <a:r>
              <a:rPr b="1" lang="en-US" sz="850">
                <a:solidFill>
                  <a:srgbClr val="1A6B45"/>
                </a:solidFill>
                <a:latin typeface="Calibri"/>
                <a:ea typeface="Calibri"/>
                <a:cs typeface="Calibri"/>
                <a:sym typeface="Calibri"/>
              </a:rPr>
              <a:t>Verbalization sequence: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ca89092f29_0_17"/>
          <p:cNvSpPr/>
          <p:nvPr/>
        </p:nvSpPr>
        <p:spPr>
          <a:xfrm>
            <a:off x="4590276" y="2624321"/>
            <a:ext cx="128100" cy="1188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a89092f29_0_17"/>
          <p:cNvSpPr/>
          <p:nvPr/>
        </p:nvSpPr>
        <p:spPr>
          <a:xfrm>
            <a:off x="4754868" y="2606033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1A2340"/>
                </a:solidFill>
                <a:latin typeface="Courier New"/>
                <a:ea typeface="Courier New"/>
                <a:cs typeface="Courier New"/>
                <a:sym typeface="Courier New"/>
              </a:rPr>
              <a:t>"Step sequence"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ca89092f29_0_17"/>
          <p:cNvSpPr/>
          <p:nvPr/>
        </p:nvSpPr>
        <p:spPr>
          <a:xfrm>
            <a:off x="4754868" y="2848374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1A2340"/>
                </a:solidFill>
                <a:latin typeface="Courier New"/>
                <a:ea typeface="Courier New"/>
                <a:cs typeface="Courier New"/>
                <a:sym typeface="Courier New"/>
              </a:rPr>
              <a:t>"Right" (or "Left") — "no" (or “yes”)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ca89092f29_0_17"/>
          <p:cNvSpPr/>
          <p:nvPr/>
        </p:nvSpPr>
        <p:spPr>
          <a:xfrm>
            <a:off x="4590288" y="3419856"/>
            <a:ext cx="128100" cy="1188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ca89092f29_0_17"/>
          <p:cNvSpPr/>
          <p:nvPr/>
        </p:nvSpPr>
        <p:spPr>
          <a:xfrm>
            <a:off x="4754880" y="3401568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1A2340"/>
                </a:solidFill>
                <a:latin typeface="Courier New"/>
                <a:ea typeface="Courier New"/>
                <a:cs typeface="Courier New"/>
                <a:sym typeface="Courier New"/>
              </a:rPr>
              <a:t>"Level 3, 9 turns"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ca89092f29_0_17"/>
          <p:cNvSpPr/>
          <p:nvPr/>
        </p:nvSpPr>
        <p:spPr>
          <a:xfrm>
            <a:off x="7315200" y="1280160"/>
            <a:ext cx="1554600" cy="3291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ca89092f29_0_17"/>
          <p:cNvSpPr/>
          <p:nvPr/>
        </p:nvSpPr>
        <p:spPr>
          <a:xfrm>
            <a:off x="7315200" y="1280160"/>
            <a:ext cx="1554600" cy="329100"/>
          </a:xfrm>
          <a:prstGeom prst="rect">
            <a:avLst/>
          </a:prstGeom>
          <a:solidFill>
            <a:srgbClr val="2C3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ca89092f29_0_17"/>
          <p:cNvSpPr/>
          <p:nvPr/>
        </p:nvSpPr>
        <p:spPr>
          <a:xfrm>
            <a:off x="7315200" y="1609344"/>
            <a:ext cx="1554600" cy="2013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a89092f29_0_17"/>
          <p:cNvSpPr/>
          <p:nvPr/>
        </p:nvSpPr>
        <p:spPr>
          <a:xfrm>
            <a:off x="7370064" y="1609344"/>
            <a:ext cx="144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850"/>
              <a:buFont typeface="Calibri"/>
              <a:buNone/>
            </a:pPr>
            <a:r>
              <a:rPr b="1"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entry</a:t>
            </a:r>
            <a:endParaRPr sz="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ca89092f29_0_17"/>
          <p:cNvSpPr/>
          <p:nvPr/>
        </p:nvSpPr>
        <p:spPr>
          <a:xfrm>
            <a:off x="7315200" y="1810500"/>
            <a:ext cx="1554600" cy="17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ca89092f29_0_17"/>
          <p:cNvSpPr/>
          <p:nvPr/>
        </p:nvSpPr>
        <p:spPr>
          <a:xfrm>
            <a:off x="7388352" y="1865376"/>
            <a:ext cx="14082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Enters keypoints based on TS2, TC, TS1 verbalizations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Keypoint order: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1. Rotation (F2)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2. Body (F3)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3. Turn combos (F4)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Format: +YYY or +YNY etc.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ca89092f29_0_17"/>
          <p:cNvSpPr/>
          <p:nvPr/>
        </p:nvSpPr>
        <p:spPr>
          <a:xfrm>
            <a:off x="274320" y="3913632"/>
            <a:ext cx="8595300" cy="8229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ca89092f29_0_17"/>
          <p:cNvSpPr/>
          <p:nvPr/>
        </p:nvSpPr>
        <p:spPr>
          <a:xfrm>
            <a:off x="274323" y="3922770"/>
            <a:ext cx="837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SAMPLE VERBALIZATION SEQUENCE (during &amp; immediately after sequence)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ca89092f29_0_17"/>
          <p:cNvSpPr/>
          <p:nvPr/>
        </p:nvSpPr>
        <p:spPr>
          <a:xfrm>
            <a:off x="349900" y="4155975"/>
            <a:ext cx="999000" cy="2013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ca89092f29_0_17"/>
          <p:cNvSpPr/>
          <p:nvPr/>
        </p:nvSpPr>
        <p:spPr>
          <a:xfrm>
            <a:off x="349900" y="4157150"/>
            <a:ext cx="99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ca89092f29_0_17"/>
          <p:cNvSpPr/>
          <p:nvPr/>
        </p:nvSpPr>
        <p:spPr>
          <a:xfrm>
            <a:off x="329175" y="4389743"/>
            <a:ext cx="99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"Next: steps"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ca89092f29_0_17"/>
          <p:cNvSpPr/>
          <p:nvPr/>
        </p:nvSpPr>
        <p:spPr>
          <a:xfrm>
            <a:off x="4512250" y="4390900"/>
            <a:ext cx="1007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“Body, no”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ca89092f29_0_17"/>
          <p:cNvSpPr/>
          <p:nvPr/>
        </p:nvSpPr>
        <p:spPr>
          <a:xfrm>
            <a:off x="2432325" y="4371427"/>
            <a:ext cx="9990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“Right, yes”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ca89092f29_0_17"/>
          <p:cNvSpPr/>
          <p:nvPr/>
        </p:nvSpPr>
        <p:spPr>
          <a:xfrm>
            <a:off x="6601950" y="4352750"/>
            <a:ext cx="9990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“Level 3, 10 turns”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ca89092f29_0_17"/>
          <p:cNvSpPr/>
          <p:nvPr/>
        </p:nvSpPr>
        <p:spPr>
          <a:xfrm>
            <a:off x="7651325" y="4351925"/>
            <a:ext cx="9807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StSq3+YNY</a:t>
            </a:r>
            <a:endParaRPr sz="750">
              <a:solidFill>
                <a:srgbClr val="D6E4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entered</a:t>
            </a:r>
            <a:endParaRPr sz="750">
              <a:solidFill>
                <a:srgbClr val="D6E4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4" name="Google Shape;364;g3ca89092f29_0_17"/>
          <p:cNvSpPr/>
          <p:nvPr/>
        </p:nvSpPr>
        <p:spPr>
          <a:xfrm>
            <a:off x="274325" y="3659495"/>
            <a:ext cx="8595300" cy="201300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ca89092f29_0_17"/>
          <p:cNvSpPr/>
          <p:nvPr/>
        </p:nvSpPr>
        <p:spPr>
          <a:xfrm>
            <a:off x="365750" y="3674797"/>
            <a:ext cx="8412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750"/>
              <a:buFont typeface="Calibri"/>
              <a:buNone/>
            </a:pPr>
            <a:r>
              <a:rPr lang="en-US" sz="8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DO keypoint order: Rotation (F2) → Body (F3) → Turn Combos (F4)  |  +YYY = all three achieved  |  Juvenile: one keypoint only (F2)  |  Intermediate: three keypoints, level capped at 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ca89092f29_0_17"/>
          <p:cNvSpPr/>
          <p:nvPr/>
        </p:nvSpPr>
        <p:spPr>
          <a:xfrm>
            <a:off x="4754843" y="3129549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1A2340"/>
                </a:solidFill>
                <a:latin typeface="Courier New"/>
                <a:ea typeface="Courier New"/>
                <a:cs typeface="Courier New"/>
                <a:sym typeface="Courier New"/>
              </a:rPr>
              <a:t>"Left" (or "Right") — "yes" (or "no")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ca89092f29_0_17"/>
          <p:cNvSpPr/>
          <p:nvPr/>
        </p:nvSpPr>
        <p:spPr>
          <a:xfrm>
            <a:off x="4590263" y="2862169"/>
            <a:ext cx="128100" cy="1188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ca89092f29_0_17"/>
          <p:cNvSpPr/>
          <p:nvPr/>
        </p:nvSpPr>
        <p:spPr>
          <a:xfrm>
            <a:off x="4590263" y="3141019"/>
            <a:ext cx="128100" cy="1188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ca89092f29_0_17"/>
          <p:cNvSpPr/>
          <p:nvPr/>
        </p:nvSpPr>
        <p:spPr>
          <a:xfrm>
            <a:off x="1388745" y="4155975"/>
            <a:ext cx="999000" cy="2013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ca89092f29_0_17"/>
          <p:cNvSpPr/>
          <p:nvPr/>
        </p:nvSpPr>
        <p:spPr>
          <a:xfrm>
            <a:off x="1385640" y="4155975"/>
            <a:ext cx="100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ca89092f29_0_17"/>
          <p:cNvSpPr/>
          <p:nvPr/>
        </p:nvSpPr>
        <p:spPr>
          <a:xfrm>
            <a:off x="2432308" y="4155975"/>
            <a:ext cx="999000" cy="2013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ca89092f29_0_17"/>
          <p:cNvSpPr/>
          <p:nvPr/>
        </p:nvSpPr>
        <p:spPr>
          <a:xfrm>
            <a:off x="2432319" y="4155975"/>
            <a:ext cx="99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ca89092f29_0_17"/>
          <p:cNvSpPr/>
          <p:nvPr/>
        </p:nvSpPr>
        <p:spPr>
          <a:xfrm>
            <a:off x="3471964" y="4155975"/>
            <a:ext cx="999000" cy="2013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ca89092f29_0_17"/>
          <p:cNvSpPr/>
          <p:nvPr/>
        </p:nvSpPr>
        <p:spPr>
          <a:xfrm>
            <a:off x="3471964" y="4155962"/>
            <a:ext cx="99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ca89092f29_0_17"/>
          <p:cNvSpPr/>
          <p:nvPr/>
        </p:nvSpPr>
        <p:spPr>
          <a:xfrm>
            <a:off x="4512259" y="4155975"/>
            <a:ext cx="999000" cy="20130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ca89092f29_0_17"/>
          <p:cNvSpPr/>
          <p:nvPr/>
        </p:nvSpPr>
        <p:spPr>
          <a:xfrm>
            <a:off x="4512259" y="4155975"/>
            <a:ext cx="99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ca89092f29_0_17"/>
          <p:cNvSpPr/>
          <p:nvPr/>
        </p:nvSpPr>
        <p:spPr>
          <a:xfrm>
            <a:off x="5552554" y="4155975"/>
            <a:ext cx="999000" cy="2013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ca89092f29_0_17"/>
          <p:cNvSpPr/>
          <p:nvPr/>
        </p:nvSpPr>
        <p:spPr>
          <a:xfrm>
            <a:off x="5552554" y="4155975"/>
            <a:ext cx="99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ca89092f29_0_17"/>
          <p:cNvSpPr/>
          <p:nvPr/>
        </p:nvSpPr>
        <p:spPr>
          <a:xfrm>
            <a:off x="6592849" y="4155962"/>
            <a:ext cx="999000" cy="2013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ca89092f29_0_17"/>
          <p:cNvSpPr/>
          <p:nvPr/>
        </p:nvSpPr>
        <p:spPr>
          <a:xfrm>
            <a:off x="7633149" y="4155950"/>
            <a:ext cx="999000" cy="2013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ca89092f29_0_17"/>
          <p:cNvSpPr/>
          <p:nvPr/>
        </p:nvSpPr>
        <p:spPr>
          <a:xfrm>
            <a:off x="7651330" y="4155950"/>
            <a:ext cx="99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ca89092f29_0_17"/>
          <p:cNvSpPr/>
          <p:nvPr/>
        </p:nvSpPr>
        <p:spPr>
          <a:xfrm>
            <a:off x="6601927" y="4151462"/>
            <a:ext cx="99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ca89092f29_0_17"/>
          <p:cNvSpPr/>
          <p:nvPr/>
        </p:nvSpPr>
        <p:spPr>
          <a:xfrm>
            <a:off x="1388750" y="4357250"/>
            <a:ext cx="1007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“Step Sequence”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ca89092f29_0_17"/>
          <p:cNvSpPr/>
          <p:nvPr/>
        </p:nvSpPr>
        <p:spPr>
          <a:xfrm>
            <a:off x="5560750" y="4370257"/>
            <a:ext cx="100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“Rotation, no”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ca89092f29_0_17"/>
          <p:cNvSpPr/>
          <p:nvPr/>
        </p:nvSpPr>
        <p:spPr>
          <a:xfrm>
            <a:off x="3474750" y="4369071"/>
            <a:ext cx="9990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750"/>
              <a:buFont typeface="Courier New"/>
              <a:buNone/>
            </a:pPr>
            <a:r>
              <a:rPr lang="en-US" sz="750">
                <a:solidFill>
                  <a:srgbClr val="D6E4F0"/>
                </a:solidFill>
                <a:latin typeface="Courier New"/>
                <a:ea typeface="Courier New"/>
                <a:cs typeface="Courier New"/>
                <a:sym typeface="Courier New"/>
              </a:rPr>
              <a:t>“Left, yes”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a89092f29_0_88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ca89092f29_0_88"/>
          <p:cNvSpPr/>
          <p:nvPr/>
        </p:nvSpPr>
        <p:spPr>
          <a:xfrm>
            <a:off x="274320" y="164592"/>
            <a:ext cx="1645800" cy="3291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ca89092f29_0_88"/>
          <p:cNvSpPr/>
          <p:nvPr/>
        </p:nvSpPr>
        <p:spPr>
          <a:xfrm>
            <a:off x="274320" y="164592"/>
            <a:ext cx="164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ca89092f29_0_88"/>
          <p:cNvSpPr/>
          <p:nvPr/>
        </p:nvSpPr>
        <p:spPr>
          <a:xfrm>
            <a:off x="274320" y="548640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Seminar Evaluation — What to Expect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ca89092f29_0_88"/>
          <p:cNvSpPr/>
          <p:nvPr/>
        </p:nvSpPr>
        <p:spPr>
          <a:xfrm>
            <a:off x="274320" y="1170432"/>
            <a:ext cx="8595300" cy="366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ca89092f29_0_88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ca89092f29_0_88"/>
          <p:cNvSpPr/>
          <p:nvPr/>
        </p:nvSpPr>
        <p:spPr>
          <a:xfrm>
            <a:off x="274320" y="4846320"/>
            <a:ext cx="8595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ca89092f29_0_88"/>
          <p:cNvSpPr/>
          <p:nvPr/>
        </p:nvSpPr>
        <p:spPr>
          <a:xfrm>
            <a:off x="274320" y="1280160"/>
            <a:ext cx="2743200" cy="3657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ca89092f29_0_88"/>
          <p:cNvSpPr/>
          <p:nvPr/>
        </p:nvSpPr>
        <p:spPr>
          <a:xfrm>
            <a:off x="2596896" y="1280160"/>
            <a:ext cx="402300" cy="3657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ca89092f29_0_88"/>
          <p:cNvSpPr/>
          <p:nvPr/>
        </p:nvSpPr>
        <p:spPr>
          <a:xfrm>
            <a:off x="2615184" y="1280160"/>
            <a:ext cx="38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ca89092f29_0_88"/>
          <p:cNvSpPr/>
          <p:nvPr/>
        </p:nvSpPr>
        <p:spPr>
          <a:xfrm>
            <a:off x="365760" y="1280160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Live Verbal Call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ca89092f29_0_88"/>
          <p:cNvSpPr/>
          <p:nvPr/>
        </p:nvSpPr>
        <p:spPr>
          <a:xfrm>
            <a:off x="274325" y="1645924"/>
            <a:ext cx="2743200" cy="225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ca89092f29_0_88"/>
          <p:cNvSpPr/>
          <p:nvPr/>
        </p:nvSpPr>
        <p:spPr>
          <a:xfrm>
            <a:off x="384050" y="1737352"/>
            <a:ext cx="25239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During the seminar you will verbally call a step sequence in real time.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You must state: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All difficult turns and steps identified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Rotation direction of each turn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Which foot each difficult turn combination is performed 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Format mirrors TS1 verbalization: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Element → Foot/combo result (×2) → Level → Turn count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ca89092f29_0_88"/>
          <p:cNvSpPr/>
          <p:nvPr/>
        </p:nvSpPr>
        <p:spPr>
          <a:xfrm>
            <a:off x="3138413" y="1280150"/>
            <a:ext cx="2976900" cy="36570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ca89092f29_0_88"/>
          <p:cNvSpPr/>
          <p:nvPr/>
        </p:nvSpPr>
        <p:spPr>
          <a:xfrm>
            <a:off x="5712915" y="1284423"/>
            <a:ext cx="402300" cy="365700"/>
          </a:xfrm>
          <a:prstGeom prst="rect">
            <a:avLst/>
          </a:prstGeom>
          <a:solidFill>
            <a:srgbClr val="6B2F8A"/>
          </a:solidFill>
          <a:ln cap="flat" cmpd="sng" w="12700">
            <a:solidFill>
              <a:srgbClr val="6B2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ca89092f29_0_88"/>
          <p:cNvSpPr/>
          <p:nvPr/>
        </p:nvSpPr>
        <p:spPr>
          <a:xfrm>
            <a:off x="5731253" y="1284423"/>
            <a:ext cx="38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ca89092f29_0_88"/>
          <p:cNvSpPr/>
          <p:nvPr/>
        </p:nvSpPr>
        <p:spPr>
          <a:xfrm>
            <a:off x="3236963" y="1280150"/>
            <a:ext cx="2615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Two Video Sequences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ca89092f29_0_88"/>
          <p:cNvSpPr/>
          <p:nvPr/>
        </p:nvSpPr>
        <p:spPr>
          <a:xfrm>
            <a:off x="3138400" y="1648913"/>
            <a:ext cx="2976900" cy="225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ca89092f29_0_88"/>
          <p:cNvSpPr/>
          <p:nvPr/>
        </p:nvSpPr>
        <p:spPr>
          <a:xfrm>
            <a:off x="3236950" y="1727600"/>
            <a:ext cx="2779800" cy="2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Two step sequences will be played on video.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For each sequence you must write: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All difficult turns and steps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Rotation direction of each turn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Which foot each turn combination is performed 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Playback format: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3 plays at real speed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30 seconds between each play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Written response is evaluated for completeness and accuracy.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ca89092f29_0_88"/>
          <p:cNvSpPr/>
          <p:nvPr/>
        </p:nvSpPr>
        <p:spPr>
          <a:xfrm>
            <a:off x="6254575" y="1280150"/>
            <a:ext cx="2615100" cy="3657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ca89092f29_0_88"/>
          <p:cNvSpPr/>
          <p:nvPr/>
        </p:nvSpPr>
        <p:spPr>
          <a:xfrm>
            <a:off x="8449056" y="1280160"/>
            <a:ext cx="402300" cy="3657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ca89092f29_0_88"/>
          <p:cNvSpPr/>
          <p:nvPr/>
        </p:nvSpPr>
        <p:spPr>
          <a:xfrm>
            <a:off x="8467344" y="1280160"/>
            <a:ext cx="38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ca89092f29_0_88"/>
          <p:cNvSpPr/>
          <p:nvPr/>
        </p:nvSpPr>
        <p:spPr>
          <a:xfrm>
            <a:off x="6345775" y="1280150"/>
            <a:ext cx="210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Written Exam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ca89092f29_0_88"/>
          <p:cNvSpPr/>
          <p:nvPr/>
        </p:nvSpPr>
        <p:spPr>
          <a:xfrm>
            <a:off x="6254600" y="1645925"/>
            <a:ext cx="2615100" cy="225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ca89092f29_0_88"/>
          <p:cNvSpPr/>
          <p:nvPr/>
        </p:nvSpPr>
        <p:spPr>
          <a:xfrm>
            <a:off x="6345775" y="1737350"/>
            <a:ext cx="2414100" cy="2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 written exam covering straightforward application examples.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Expect questions 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Feature identification and leveling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Rule application (No Value conditions, listed jumps, level caps)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Keypoint format and DO inputs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Panel role responsibilities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ca89092f29_0_88"/>
          <p:cNvSpPr/>
          <p:nvPr/>
        </p:nvSpPr>
        <p:spPr>
          <a:xfrm>
            <a:off x="274345" y="4027472"/>
            <a:ext cx="8595300" cy="6948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ca89092f29_0_88"/>
          <p:cNvSpPr/>
          <p:nvPr/>
        </p:nvSpPr>
        <p:spPr>
          <a:xfrm>
            <a:off x="384073" y="4045760"/>
            <a:ext cx="837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KEY EXPECTATIONS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ca89092f29_0_88"/>
          <p:cNvSpPr/>
          <p:nvPr/>
        </p:nvSpPr>
        <p:spPr>
          <a:xfrm>
            <a:off x="384073" y="4265216"/>
            <a:ext cx="73200" cy="732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ca89092f29_0_88"/>
          <p:cNvSpPr/>
          <p:nvPr/>
        </p:nvSpPr>
        <p:spPr>
          <a:xfrm>
            <a:off x="512089" y="4246928"/>
            <a:ext cx="822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You are expected to identify turns and direction — not just count them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ca89092f29_0_88"/>
          <p:cNvSpPr/>
          <p:nvPr/>
        </p:nvSpPr>
        <p:spPr>
          <a:xfrm>
            <a:off x="384073" y="4411520"/>
            <a:ext cx="73200" cy="732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ca89092f29_0_88"/>
          <p:cNvSpPr/>
          <p:nvPr/>
        </p:nvSpPr>
        <p:spPr>
          <a:xfrm>
            <a:off x="512089" y="4393232"/>
            <a:ext cx="822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Turn combination foot identification is assessed on both video and verbal components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ca89092f29_0_88"/>
          <p:cNvSpPr/>
          <p:nvPr/>
        </p:nvSpPr>
        <p:spPr>
          <a:xfrm>
            <a:off x="384073" y="4557824"/>
            <a:ext cx="73200" cy="732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ca89092f29_0_88"/>
          <p:cNvSpPr/>
          <p:nvPr/>
        </p:nvSpPr>
        <p:spPr>
          <a:xfrm>
            <a:off x="512089" y="4539536"/>
            <a:ext cx="822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Leveling accuracy (correct feature count and level assignment) is evaluated throughout rotations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a89092f29_0_173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ca89092f29_0_173"/>
          <p:cNvSpPr/>
          <p:nvPr/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</a:t>
            </a: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— Debrief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ca89092f29_0_173"/>
          <p:cNvSpPr/>
          <p:nvPr/>
        </p:nvSpPr>
        <p:spPr>
          <a:xfrm>
            <a:off x="274320" y="1234440"/>
            <a:ext cx="384000" cy="3840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ca89092f29_0_173"/>
          <p:cNvSpPr/>
          <p:nvPr/>
        </p:nvSpPr>
        <p:spPr>
          <a:xfrm>
            <a:off x="274320" y="123444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ca89092f29_0_173"/>
          <p:cNvSpPr/>
          <p:nvPr/>
        </p:nvSpPr>
        <p:spPr>
          <a:xfrm>
            <a:off x="731530" y="1234450"/>
            <a:ext cx="795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 the basic requirements for a step sequence to have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ca89092f29_0_173"/>
          <p:cNvSpPr/>
          <p:nvPr/>
        </p:nvSpPr>
        <p:spPr>
          <a:xfrm>
            <a:off x="274320" y="1911096"/>
            <a:ext cx="384000" cy="3840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ca89092f29_0_173"/>
          <p:cNvSpPr/>
          <p:nvPr/>
        </p:nvSpPr>
        <p:spPr>
          <a:xfrm>
            <a:off x="274320" y="19110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ca89092f29_0_173"/>
          <p:cNvSpPr/>
          <p:nvPr/>
        </p:nvSpPr>
        <p:spPr>
          <a:xfrm>
            <a:off x="731530" y="1911100"/>
            <a:ext cx="8138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 the requirements for Feature 1 and how it impacts the overall level of the step sequence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ca89092f29_0_173"/>
          <p:cNvSpPr/>
          <p:nvPr/>
        </p:nvSpPr>
        <p:spPr>
          <a:xfrm>
            <a:off x="274320" y="2587752"/>
            <a:ext cx="384000" cy="3840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ca89092f29_0_173"/>
          <p:cNvSpPr/>
          <p:nvPr/>
        </p:nvSpPr>
        <p:spPr>
          <a:xfrm>
            <a:off x="274320" y="258775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ca89092f29_0_173"/>
          <p:cNvSpPr/>
          <p:nvPr/>
        </p:nvSpPr>
        <p:spPr>
          <a:xfrm>
            <a:off x="731530" y="258775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 the criteria for step level features 2 (rotation) , 3 (body), and 4 (difficult turn combinations)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ca89092f29_0_173"/>
          <p:cNvSpPr/>
          <p:nvPr/>
        </p:nvSpPr>
        <p:spPr>
          <a:xfrm>
            <a:off x="274320" y="3264408"/>
            <a:ext cx="384000" cy="3840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ca89092f29_0_173"/>
          <p:cNvSpPr/>
          <p:nvPr/>
        </p:nvSpPr>
        <p:spPr>
          <a:xfrm>
            <a:off x="274320" y="326440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ca89092f29_0_173"/>
          <p:cNvSpPr/>
          <p:nvPr/>
        </p:nvSpPr>
        <p:spPr>
          <a:xfrm>
            <a:off x="731530" y="326440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 treatment of unlisted and listed jumps (1 or less revolutions, more than 1 revolution) executed in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ca89092f29_0_173"/>
          <p:cNvSpPr/>
          <p:nvPr/>
        </p:nvSpPr>
        <p:spPr>
          <a:xfrm>
            <a:off x="274320" y="3941064"/>
            <a:ext cx="384000" cy="3840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ca89092f29_0_173"/>
          <p:cNvSpPr/>
          <p:nvPr/>
        </p:nvSpPr>
        <p:spPr>
          <a:xfrm>
            <a:off x="274320" y="394106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ca89092f29_0_173"/>
          <p:cNvSpPr/>
          <p:nvPr/>
        </p:nvSpPr>
        <p:spPr>
          <a:xfrm>
            <a:off x="731529" y="3941075"/>
            <a:ext cx="716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 how the whole panel contributes to the evaluation of the step sequence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ca89092f29_0_173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3ca89092f29_0_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9000" y="3698022"/>
            <a:ext cx="972900" cy="972900"/>
          </a:xfrm>
          <a:prstGeom prst="rect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Session 4 — Homework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36576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Study Objectives for Session 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365760" y="1463040"/>
            <a:ext cx="1828800" cy="36576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365760" y="1645920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402336" y="1645920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Feature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1847088" y="1691640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Memorize the 4 variety thresholds: 5 / 7 / 9 / 11.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365760" y="2231136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402336" y="2231136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Features 2–4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1847088" y="2276856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Memorize the definitions for features two (rotation), three (body), and four (difficult turn combinations)</a:t>
            </a: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365760" y="2816352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402336" y="2816352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Level caps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1847088" y="2862072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Know which levels are partially leveled (Juv, Inter → StSq2) and which are fully leveled (Nov, Jr, Sr → StSq4).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365760" y="3401568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402336" y="3401568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Rules &amp; Exceptions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1847088" y="3447288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Review the SP vs. FS rules for listed jumps in step sequences. Be ready to explain the double-count benefit for F1 + F4.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365760" y="3986784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402336" y="3986784"/>
            <a:ext cx="1335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Turn Identification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1847088" y="4032504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Complete one pass through the Turns flashcard drill — all 76 edge/direction cards. Focus on Counters and Rockers.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9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2026-02-23T20:55:39Z</dcterms:created>
  <dc:creator>PptxGenJS</dc:creator>
</cp:coreProperties>
</file>