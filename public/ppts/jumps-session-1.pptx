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ie46AUes6JFMzxd6g74KmCW30h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F2FE4AE-095E-4761-ADC3-5515640C2EEA}">
  <a:tblStyle styleId="{BF2FE4AE-095E-4761-ADC3-5515640C2EE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ca8315568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g3ca8315568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ca60d3ef69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g3ca60d3ef69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g3ca60d3ef69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4B"/>
        </a:solidFill>
      </p:bgPr>
    </p:bg>
    <p:spTree>
      <p:nvGrpSpPr>
        <p:cNvPr id="15" name="Shape 15"/>
        <p:cNvGrpSpPr/>
        <p:nvPr/>
      </p:nvGrpSpPr>
      <p:grpSpPr>
        <a:xfrm>
          <a:off x="0" y="0"/>
          <a:ext cx="0" cy="0"/>
          <a:chOff x="0" y="0"/>
          <a:chExt cx="0" cy="0"/>
        </a:xfrm>
      </p:grpSpPr>
      <p:sp>
        <p:nvSpPr>
          <p:cNvPr id="16" name="Google Shape;16;p1"/>
          <p:cNvSpPr/>
          <p:nvPr/>
        </p:nvSpPr>
        <p:spPr>
          <a:xfrm>
            <a:off x="0" y="0"/>
            <a:ext cx="9144000" cy="109800"/>
          </a:xfrm>
          <a:prstGeom prst="rect">
            <a:avLst/>
          </a:prstGeom>
          <a:solidFill>
            <a:srgbClr val="C8922A"/>
          </a:solidFill>
          <a:ln cap="flat" cmpd="sng" w="1270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457200" y="320040"/>
            <a:ext cx="2011680" cy="347472"/>
          </a:xfrm>
          <a:prstGeom prst="rect">
            <a:avLst/>
          </a:prstGeom>
          <a:solidFill>
            <a:srgbClr val="C8922A"/>
          </a:solidFill>
          <a:ln cap="flat" cmpd="sng" w="1270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457200" y="320040"/>
            <a:ext cx="20118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SESSION 2</a:t>
            </a:r>
            <a:endParaRPr b="0" i="0" sz="1100" u="none" cap="none" strike="noStrike">
              <a:solidFill>
                <a:schemeClr val="dk1"/>
              </a:solidFill>
              <a:latin typeface="Calibri"/>
              <a:ea typeface="Calibri"/>
              <a:cs typeface="Calibri"/>
              <a:sym typeface="Calibri"/>
            </a:endParaRPr>
          </a:p>
        </p:txBody>
      </p:sp>
      <p:sp>
        <p:nvSpPr>
          <p:cNvPr id="19" name="Google Shape;19;p1"/>
          <p:cNvSpPr/>
          <p:nvPr/>
        </p:nvSpPr>
        <p:spPr>
          <a:xfrm>
            <a:off x="457200" y="1463040"/>
            <a:ext cx="8229600" cy="1645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Jump Framework Overview</a:t>
            </a:r>
            <a:endParaRPr b="0" i="0" sz="4000" u="none" cap="none" strike="noStrike">
              <a:solidFill>
                <a:schemeClr val="dk1"/>
              </a:solidFill>
              <a:latin typeface="Calibri"/>
              <a:ea typeface="Calibri"/>
              <a:cs typeface="Calibri"/>
              <a:sym typeface="Calibri"/>
            </a:endParaRPr>
          </a:p>
        </p:txBody>
      </p:sp>
      <p:sp>
        <p:nvSpPr>
          <p:cNvPr id="20" name="Google Shape;20;p1"/>
          <p:cNvSpPr/>
          <p:nvPr/>
        </p:nvSpPr>
        <p:spPr>
          <a:xfrm>
            <a:off x="457200" y="3200400"/>
            <a:ext cx="8229600" cy="7315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6E4F0"/>
              </a:buClr>
              <a:buSzPts val="1800"/>
              <a:buFont typeface="Calibri"/>
              <a:buNone/>
            </a:pPr>
            <a:r>
              <a:rPr b="0" i="1" lang="en-US" sz="1800" u="none" cap="none" strike="noStrike">
                <a:solidFill>
                  <a:srgbClr val="D6E4F0"/>
                </a:solidFill>
                <a:latin typeface="Calibri"/>
                <a:ea typeface="Calibri"/>
                <a:cs typeface="Calibri"/>
                <a:sym typeface="Calibri"/>
              </a:rPr>
              <a:t>The 4-Phase Decision Map</a:t>
            </a:r>
            <a:endParaRPr b="0" i="0" sz="1800" u="none" cap="none" strike="noStrike">
              <a:solidFill>
                <a:schemeClr val="dk1"/>
              </a:solidFill>
              <a:latin typeface="Calibri"/>
              <a:ea typeface="Calibri"/>
              <a:cs typeface="Calibri"/>
              <a:sym typeface="Calibri"/>
            </a:endParaRPr>
          </a:p>
        </p:txBody>
      </p:sp>
      <p:sp>
        <p:nvSpPr>
          <p:cNvPr id="21" name="Google Shape;21;p1"/>
          <p:cNvSpPr/>
          <p:nvPr/>
        </p:nvSpPr>
        <p:spPr>
          <a:xfrm>
            <a:off x="0" y="4846320"/>
            <a:ext cx="9144000" cy="297180"/>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274320" y="4846320"/>
            <a:ext cx="8595360" cy="2971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4F0"/>
              </a:buClr>
              <a:buSzPts val="1000"/>
              <a:buFont typeface="Calibri"/>
              <a:buNone/>
            </a:pPr>
            <a:r>
              <a:rPr b="0" i="0" lang="en-US" sz="1000" u="none" cap="none" strike="noStrike">
                <a:solidFill>
                  <a:srgbClr val="D6E4F0"/>
                </a:solidFill>
                <a:latin typeface="Calibri"/>
                <a:ea typeface="Calibri"/>
                <a:cs typeface="Calibri"/>
                <a:sym typeface="Calibri"/>
              </a:rPr>
              <a:t>U.S. Figure Skating — Technical Panel Education  |  Singles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4B"/>
        </a:solidFill>
      </p:bgPr>
    </p:bg>
    <p:spTree>
      <p:nvGrpSpPr>
        <p:cNvPr id="27" name="Shape 27"/>
        <p:cNvGrpSpPr/>
        <p:nvPr/>
      </p:nvGrpSpPr>
      <p:grpSpPr>
        <a:xfrm>
          <a:off x="0" y="0"/>
          <a:ext cx="0" cy="0"/>
          <a:chOff x="0" y="0"/>
          <a:chExt cx="0" cy="0"/>
        </a:xfrm>
      </p:grpSpPr>
      <p:sp>
        <p:nvSpPr>
          <p:cNvPr id="28" name="Google Shape;28;p2"/>
          <p:cNvSpPr/>
          <p:nvPr/>
        </p:nvSpPr>
        <p:spPr>
          <a:xfrm>
            <a:off x="0" y="0"/>
            <a:ext cx="9144000" cy="109728"/>
          </a:xfrm>
          <a:prstGeom prst="rect">
            <a:avLst/>
          </a:prstGeom>
          <a:solidFill>
            <a:srgbClr val="C8922A"/>
          </a:solidFill>
          <a:ln cap="flat" cmpd="sng" w="1270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457200" y="164592"/>
            <a:ext cx="822960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200"/>
              <a:buFont typeface="Cambria"/>
              <a:buNone/>
            </a:pPr>
            <a:r>
              <a:rPr b="1" lang="en-US" sz="2200">
                <a:solidFill>
                  <a:srgbClr val="FFFFFF"/>
                </a:solidFill>
                <a:latin typeface="Cambria"/>
                <a:ea typeface="Cambria"/>
                <a:cs typeface="Cambria"/>
                <a:sym typeface="Cambria"/>
              </a:rPr>
              <a:t>Assessing Jumps: </a:t>
            </a:r>
            <a:r>
              <a:rPr b="1" i="0" lang="en-US" sz="2200" u="none" cap="none" strike="noStrike">
                <a:solidFill>
                  <a:srgbClr val="FFFFFF"/>
                </a:solidFill>
                <a:latin typeface="Cambria"/>
                <a:ea typeface="Cambria"/>
                <a:cs typeface="Cambria"/>
                <a:sym typeface="Cambria"/>
              </a:rPr>
              <a:t>The 4-Phase Framework</a:t>
            </a:r>
            <a:endParaRPr b="0" i="0" sz="2200" u="none" cap="none" strike="noStrike">
              <a:solidFill>
                <a:schemeClr val="dk1"/>
              </a:solidFill>
              <a:latin typeface="Calibri"/>
              <a:ea typeface="Calibri"/>
              <a:cs typeface="Calibri"/>
              <a:sym typeface="Calibri"/>
            </a:endParaRPr>
          </a:p>
        </p:txBody>
      </p:sp>
      <p:sp>
        <p:nvSpPr>
          <p:cNvPr id="30" name="Google Shape;30;p2"/>
          <p:cNvSpPr/>
          <p:nvPr/>
        </p:nvSpPr>
        <p:spPr>
          <a:xfrm>
            <a:off x="274320" y="868680"/>
            <a:ext cx="8595360" cy="804672"/>
          </a:xfrm>
          <a:prstGeom prst="rect">
            <a:avLst/>
          </a:prstGeom>
          <a:solidFill>
            <a:srgbClr val="1A6B8A"/>
          </a:solidFill>
          <a:ln cap="flat" cmpd="sng" w="12700">
            <a:solidFill>
              <a:srgbClr val="1A6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274320" y="868680"/>
            <a:ext cx="594360" cy="804672"/>
          </a:xfrm>
          <a:prstGeom prst="rect">
            <a:avLst/>
          </a:prstGeom>
          <a:solidFill>
            <a:srgbClr val="1A2E5A"/>
          </a:solidFill>
          <a:ln cap="flat" cmpd="sng" w="12700">
            <a:solidFill>
              <a:srgbClr val="1A6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274320" y="868680"/>
            <a:ext cx="594360" cy="8046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1</a:t>
            </a:r>
            <a:endParaRPr b="0" i="0" sz="2600" u="none" cap="none" strike="noStrike">
              <a:solidFill>
                <a:schemeClr val="dk1"/>
              </a:solidFill>
              <a:latin typeface="Calibri"/>
              <a:ea typeface="Calibri"/>
              <a:cs typeface="Calibri"/>
              <a:sym typeface="Calibri"/>
            </a:endParaRPr>
          </a:p>
        </p:txBody>
      </p:sp>
      <p:sp>
        <p:nvSpPr>
          <p:cNvPr id="33" name="Google Shape;33;p2"/>
          <p:cNvSpPr/>
          <p:nvPr/>
        </p:nvSpPr>
        <p:spPr>
          <a:xfrm>
            <a:off x="1005840" y="905256"/>
            <a:ext cx="5029200" cy="41148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Is it a jump attempt? Does it fill a box?</a:t>
            </a:r>
            <a:endParaRPr b="0" i="0" sz="1500" u="none" cap="none" strike="noStrike">
              <a:solidFill>
                <a:schemeClr val="dk1"/>
              </a:solidFill>
              <a:latin typeface="Calibri"/>
              <a:ea typeface="Calibri"/>
              <a:cs typeface="Calibri"/>
              <a:sym typeface="Calibri"/>
            </a:endParaRPr>
          </a:p>
        </p:txBody>
      </p:sp>
      <p:sp>
        <p:nvSpPr>
          <p:cNvPr id="34" name="Google Shape;34;p2"/>
          <p:cNvSpPr/>
          <p:nvPr/>
        </p:nvSpPr>
        <p:spPr>
          <a:xfrm>
            <a:off x="1005840" y="1289304"/>
            <a:ext cx="758952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35" name="Google Shape;35;p2"/>
          <p:cNvSpPr/>
          <p:nvPr/>
        </p:nvSpPr>
        <p:spPr>
          <a:xfrm>
            <a:off x="274320" y="1828800"/>
            <a:ext cx="8595360" cy="804672"/>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274320" y="1828800"/>
            <a:ext cx="594360" cy="804672"/>
          </a:xfrm>
          <a:prstGeom prst="rect">
            <a:avLst/>
          </a:prstGeom>
          <a:solidFill>
            <a:srgbClr val="1A2E5A"/>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274320" y="1828800"/>
            <a:ext cx="594360" cy="8046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2</a:t>
            </a:r>
            <a:endParaRPr b="0" i="0" sz="2600" u="none" cap="none" strike="noStrike">
              <a:solidFill>
                <a:schemeClr val="dk1"/>
              </a:solidFill>
              <a:latin typeface="Calibri"/>
              <a:ea typeface="Calibri"/>
              <a:cs typeface="Calibri"/>
              <a:sym typeface="Calibri"/>
            </a:endParaRPr>
          </a:p>
        </p:txBody>
      </p:sp>
      <p:sp>
        <p:nvSpPr>
          <p:cNvPr id="38" name="Google Shape;38;p2"/>
          <p:cNvSpPr/>
          <p:nvPr/>
        </p:nvSpPr>
        <p:spPr>
          <a:xfrm>
            <a:off x="1005840" y="1865376"/>
            <a:ext cx="5029200" cy="41148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What code goes in the box?</a:t>
            </a:r>
            <a:endParaRPr b="0" i="0" sz="1500" u="none" cap="none" strike="noStrike">
              <a:solidFill>
                <a:schemeClr val="dk1"/>
              </a:solidFill>
              <a:latin typeface="Calibri"/>
              <a:ea typeface="Calibri"/>
              <a:cs typeface="Calibri"/>
              <a:sym typeface="Calibri"/>
            </a:endParaRPr>
          </a:p>
        </p:txBody>
      </p:sp>
      <p:sp>
        <p:nvSpPr>
          <p:cNvPr id="39" name="Google Shape;39;p2"/>
          <p:cNvSpPr/>
          <p:nvPr/>
        </p:nvSpPr>
        <p:spPr>
          <a:xfrm>
            <a:off x="1005840" y="2249424"/>
            <a:ext cx="758952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Take-off · Revolutions · </a:t>
            </a:r>
            <a:r>
              <a:rPr i="1" lang="en-US" sz="1000">
                <a:solidFill>
                  <a:srgbClr val="FFFFFF"/>
                </a:solidFill>
                <a:latin typeface="Calibri"/>
                <a:ea typeface="Calibri"/>
                <a:cs typeface="Calibri"/>
                <a:sym typeface="Calibri"/>
              </a:rPr>
              <a:t>Solo Jumps / Jump Combinations / Jump Sequences</a:t>
            </a:r>
            <a:endParaRPr b="0" i="0" sz="1000" u="none" cap="none" strike="noStrike">
              <a:solidFill>
                <a:schemeClr val="dk1"/>
              </a:solidFill>
              <a:latin typeface="Calibri"/>
              <a:ea typeface="Calibri"/>
              <a:cs typeface="Calibri"/>
              <a:sym typeface="Calibri"/>
            </a:endParaRPr>
          </a:p>
        </p:txBody>
      </p:sp>
      <p:sp>
        <p:nvSpPr>
          <p:cNvPr id="40" name="Google Shape;40;p2"/>
          <p:cNvSpPr/>
          <p:nvPr/>
        </p:nvSpPr>
        <p:spPr>
          <a:xfrm>
            <a:off x="274320" y="2788920"/>
            <a:ext cx="8595360" cy="804672"/>
          </a:xfrm>
          <a:prstGeom prst="rect">
            <a:avLst/>
          </a:prstGeom>
          <a:solidFill>
            <a:srgbClr val="C8922A"/>
          </a:solidFill>
          <a:ln cap="flat" cmpd="sng" w="1270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274320" y="2788920"/>
            <a:ext cx="594360" cy="804672"/>
          </a:xfrm>
          <a:prstGeom prst="rect">
            <a:avLst/>
          </a:prstGeom>
          <a:solidFill>
            <a:srgbClr val="1A2E5A"/>
          </a:solidFill>
          <a:ln cap="flat" cmpd="sng" w="1270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274320" y="2788920"/>
            <a:ext cx="594360" cy="8046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3</a:t>
            </a:r>
            <a:endParaRPr b="0" i="0" sz="2600" u="none" cap="none" strike="noStrike">
              <a:solidFill>
                <a:schemeClr val="dk1"/>
              </a:solidFill>
              <a:latin typeface="Calibri"/>
              <a:ea typeface="Calibri"/>
              <a:cs typeface="Calibri"/>
              <a:sym typeface="Calibri"/>
            </a:endParaRPr>
          </a:p>
        </p:txBody>
      </p:sp>
      <p:sp>
        <p:nvSpPr>
          <p:cNvPr id="43" name="Google Shape;43;p2"/>
          <p:cNvSpPr/>
          <p:nvPr/>
        </p:nvSpPr>
        <p:spPr>
          <a:xfrm>
            <a:off x="1005840" y="2825496"/>
            <a:ext cx="5029200" cy="41148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Does the code need an edge or rotation modifier?</a:t>
            </a:r>
            <a:endParaRPr b="0" i="0" sz="1500" u="none" cap="none" strike="noStrike">
              <a:solidFill>
                <a:schemeClr val="dk1"/>
              </a:solidFill>
              <a:latin typeface="Calibri"/>
              <a:ea typeface="Calibri"/>
              <a:cs typeface="Calibri"/>
              <a:sym typeface="Calibri"/>
            </a:endParaRPr>
          </a:p>
        </p:txBody>
      </p:sp>
      <p:sp>
        <p:nvSpPr>
          <p:cNvPr id="44" name="Google Shape;44;p2"/>
          <p:cNvSpPr/>
          <p:nvPr/>
        </p:nvSpPr>
        <p:spPr>
          <a:xfrm>
            <a:off x="1005840" y="3209544"/>
            <a:ext cx="758952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Edge · Rotation · </a:t>
            </a:r>
            <a:r>
              <a:rPr i="1" lang="en-US" sz="1000">
                <a:solidFill>
                  <a:srgbClr val="FFFFFF"/>
                </a:solidFill>
                <a:latin typeface="Calibri"/>
                <a:ea typeface="Calibri"/>
                <a:cs typeface="Calibri"/>
                <a:sym typeface="Calibri"/>
              </a:rPr>
              <a:t>Modifier</a:t>
            </a:r>
            <a:r>
              <a:rPr b="0" i="1" lang="en-US" sz="1000" u="none" cap="none" strike="noStrike">
                <a:solidFill>
                  <a:srgbClr val="FFFFFF"/>
                </a:solidFill>
                <a:latin typeface="Calibri"/>
                <a:ea typeface="Calibri"/>
                <a:cs typeface="Calibri"/>
                <a:sym typeface="Calibri"/>
              </a:rPr>
              <a:t> sequence</a:t>
            </a:r>
            <a:endParaRPr b="0" i="0" sz="1000" u="none" cap="none" strike="noStrike">
              <a:solidFill>
                <a:schemeClr val="dk1"/>
              </a:solidFill>
              <a:latin typeface="Calibri"/>
              <a:ea typeface="Calibri"/>
              <a:cs typeface="Calibri"/>
              <a:sym typeface="Calibri"/>
            </a:endParaRPr>
          </a:p>
        </p:txBody>
      </p:sp>
      <p:sp>
        <p:nvSpPr>
          <p:cNvPr id="45" name="Google Shape;45;p2"/>
          <p:cNvSpPr/>
          <p:nvPr/>
        </p:nvSpPr>
        <p:spPr>
          <a:xfrm>
            <a:off x="274320" y="3749040"/>
            <a:ext cx="8595360" cy="804672"/>
          </a:xfrm>
          <a:prstGeom prst="rect">
            <a:avLst/>
          </a:prstGeom>
          <a:solidFill>
            <a:srgbClr val="B94040"/>
          </a:solidFill>
          <a:ln cap="flat" cmpd="sng" w="12700">
            <a:solidFill>
              <a:srgbClr val="B940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274320" y="3749040"/>
            <a:ext cx="594360" cy="804672"/>
          </a:xfrm>
          <a:prstGeom prst="rect">
            <a:avLst/>
          </a:prstGeom>
          <a:solidFill>
            <a:srgbClr val="1A2E5A"/>
          </a:solidFill>
          <a:ln cap="flat" cmpd="sng" w="12700">
            <a:solidFill>
              <a:srgbClr val="B940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274320" y="3749040"/>
            <a:ext cx="594360" cy="8046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4</a:t>
            </a:r>
            <a:endParaRPr b="0" i="0" sz="2600" u="none" cap="none" strike="noStrike">
              <a:solidFill>
                <a:schemeClr val="dk1"/>
              </a:solidFill>
              <a:latin typeface="Calibri"/>
              <a:ea typeface="Calibri"/>
              <a:cs typeface="Calibri"/>
              <a:sym typeface="Calibri"/>
            </a:endParaRPr>
          </a:p>
        </p:txBody>
      </p:sp>
      <p:sp>
        <p:nvSpPr>
          <p:cNvPr id="48" name="Google Shape;48;p2"/>
          <p:cNvSpPr/>
          <p:nvPr/>
        </p:nvSpPr>
        <p:spPr>
          <a:xfrm>
            <a:off x="1005840" y="3785616"/>
            <a:ext cx="5029200" cy="41148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Does the element need rule vetting?</a:t>
            </a:r>
            <a:endParaRPr b="0" i="0" sz="1500" u="none" cap="none" strike="noStrike">
              <a:solidFill>
                <a:schemeClr val="dk1"/>
              </a:solidFill>
              <a:latin typeface="Calibri"/>
              <a:ea typeface="Calibri"/>
              <a:cs typeface="Calibri"/>
              <a:sym typeface="Calibri"/>
            </a:endParaRPr>
          </a:p>
        </p:txBody>
      </p:sp>
      <p:sp>
        <p:nvSpPr>
          <p:cNvPr id="49" name="Google Shape;49;p2"/>
          <p:cNvSpPr/>
          <p:nvPr/>
        </p:nvSpPr>
        <p:spPr>
          <a:xfrm>
            <a:off x="1005840" y="4169664"/>
            <a:ext cx="758952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1" lang="en-US" sz="1000" u="none" cap="none" strike="noStrike">
                <a:solidFill>
                  <a:srgbClr val="FFFFFF"/>
                </a:solidFill>
                <a:latin typeface="Calibri"/>
                <a:ea typeface="Calibri"/>
                <a:cs typeface="Calibri"/>
                <a:sym typeface="Calibri"/>
              </a:rPr>
              <a:t>*, +REP, +COMBO, Bonus  </a:t>
            </a:r>
            <a:endParaRPr b="0" i="0" sz="1000" u="none" cap="none" strike="noStrike">
              <a:solidFill>
                <a:schemeClr val="dk1"/>
              </a:solidFill>
              <a:latin typeface="Calibri"/>
              <a:ea typeface="Calibri"/>
              <a:cs typeface="Calibri"/>
              <a:sym typeface="Calibri"/>
            </a:endParaRPr>
          </a:p>
        </p:txBody>
      </p:sp>
      <p:sp>
        <p:nvSpPr>
          <p:cNvPr id="50" name="Google Shape;50;p2"/>
          <p:cNvSpPr/>
          <p:nvPr/>
        </p:nvSpPr>
        <p:spPr>
          <a:xfrm>
            <a:off x="0" y="4846320"/>
            <a:ext cx="9144000" cy="297180"/>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274320" y="4846320"/>
            <a:ext cx="8595360" cy="2971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4F0"/>
              </a:buClr>
              <a:buSzPts val="900"/>
              <a:buFont typeface="Calibri"/>
              <a:buNone/>
            </a:pPr>
            <a:r>
              <a:rPr b="0" i="0" lang="en-US" sz="900" u="none" cap="none" strike="noStrike">
                <a:solidFill>
                  <a:srgbClr val="D6E4F0"/>
                </a:solidFill>
                <a:latin typeface="Calibri"/>
                <a:ea typeface="Calibri"/>
                <a:cs typeface="Calibri"/>
                <a:sym typeface="Calibri"/>
              </a:rPr>
              <a:t>U.S. Figure Skating — Technical Panel Education  |  Jump Framework</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6E4F0"/>
        </a:solidFill>
      </p:bgPr>
    </p:bg>
    <p:spTree>
      <p:nvGrpSpPr>
        <p:cNvPr id="56" name="Shape 56"/>
        <p:cNvGrpSpPr/>
        <p:nvPr/>
      </p:nvGrpSpPr>
      <p:grpSpPr>
        <a:xfrm>
          <a:off x="0" y="0"/>
          <a:ext cx="0" cy="0"/>
          <a:chOff x="0" y="0"/>
          <a:chExt cx="0" cy="0"/>
        </a:xfrm>
      </p:grpSpPr>
      <p:sp>
        <p:nvSpPr>
          <p:cNvPr id="57" name="Google Shape;57;p5"/>
          <p:cNvSpPr/>
          <p:nvPr/>
        </p:nvSpPr>
        <p:spPr>
          <a:xfrm>
            <a:off x="0" y="0"/>
            <a:ext cx="164592" cy="5143500"/>
          </a:xfrm>
          <a:prstGeom prst="rect">
            <a:avLst/>
          </a:prstGeom>
          <a:solidFill>
            <a:srgbClr val="0D1B4B"/>
          </a:solidFill>
          <a:ln cap="flat" cmpd="sng" w="12700">
            <a:solidFill>
              <a:srgbClr val="0D1B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274320" y="164592"/>
            <a:ext cx="1463040" cy="329184"/>
          </a:xfrm>
          <a:prstGeom prst="rect">
            <a:avLst/>
          </a:prstGeom>
          <a:solidFill>
            <a:srgbClr val="1A6B8A"/>
          </a:solidFill>
          <a:ln cap="flat" cmpd="sng" w="12700">
            <a:solidFill>
              <a:srgbClr val="1A6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74320" y="164592"/>
            <a:ext cx="14630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PHASE 1</a:t>
            </a:r>
            <a:endParaRPr b="0" i="0" sz="1000" u="none" cap="none" strike="noStrike">
              <a:solidFill>
                <a:schemeClr val="dk1"/>
              </a:solidFill>
              <a:latin typeface="Calibri"/>
              <a:ea typeface="Calibri"/>
              <a:cs typeface="Calibri"/>
              <a:sym typeface="Calibri"/>
            </a:endParaRPr>
          </a:p>
        </p:txBody>
      </p:sp>
      <p:sp>
        <p:nvSpPr>
          <p:cNvPr id="60" name="Google Shape;60;p5"/>
          <p:cNvSpPr/>
          <p:nvPr/>
        </p:nvSpPr>
        <p:spPr>
          <a:xfrm>
            <a:off x="274320" y="548640"/>
            <a:ext cx="85953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4B"/>
              </a:buClr>
              <a:buSzPts val="2600"/>
              <a:buFont typeface="Cambria"/>
              <a:buNone/>
            </a:pPr>
            <a:r>
              <a:rPr b="1" i="0" lang="en-US" sz="2600" u="none" cap="none" strike="noStrike">
                <a:solidFill>
                  <a:srgbClr val="0D1B4B"/>
                </a:solidFill>
                <a:latin typeface="Cambria"/>
                <a:ea typeface="Cambria"/>
                <a:cs typeface="Cambria"/>
                <a:sym typeface="Cambria"/>
              </a:rPr>
              <a:t>When Does a Jump NOT Fill a Box?</a:t>
            </a:r>
            <a:endParaRPr b="0" i="0" sz="2600" u="none" cap="none" strike="noStrike">
              <a:solidFill>
                <a:schemeClr val="dk1"/>
              </a:solidFill>
              <a:latin typeface="Calibri"/>
              <a:ea typeface="Calibri"/>
              <a:cs typeface="Calibri"/>
              <a:sym typeface="Calibri"/>
            </a:endParaRPr>
          </a:p>
        </p:txBody>
      </p:sp>
      <p:sp>
        <p:nvSpPr>
          <p:cNvPr id="61" name="Google Shape;61;p5"/>
          <p:cNvSpPr/>
          <p:nvPr/>
        </p:nvSpPr>
        <p:spPr>
          <a:xfrm>
            <a:off x="274320" y="1188720"/>
            <a:ext cx="8595360" cy="36576"/>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0" y="4846320"/>
            <a:ext cx="9144000" cy="297180"/>
          </a:xfrm>
          <a:prstGeom prst="rect">
            <a:avLst/>
          </a:prstGeom>
          <a:solidFill>
            <a:srgbClr val="0D1B4B"/>
          </a:solidFill>
          <a:ln cap="flat" cmpd="sng" w="12700">
            <a:solidFill>
              <a:srgbClr val="0D1B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274320" y="4846320"/>
            <a:ext cx="8595360" cy="2971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4F0"/>
              </a:buClr>
              <a:buSzPts val="900"/>
              <a:buFont typeface="Calibri"/>
              <a:buNone/>
            </a:pPr>
            <a:r>
              <a:rPr b="0" i="0" lang="en-US" sz="900" u="none" cap="none" strike="noStrike">
                <a:solidFill>
                  <a:srgbClr val="D6E4F0"/>
                </a:solidFill>
                <a:latin typeface="Calibri"/>
                <a:ea typeface="Calibri"/>
                <a:cs typeface="Calibri"/>
                <a:sym typeface="Calibri"/>
              </a:rPr>
              <a:t>U.S. Figure Skating — Technical Panel Education  |  Jump Framework</a:t>
            </a:r>
            <a:endParaRPr b="0" i="0" sz="900" u="none" cap="none" strike="noStrike">
              <a:solidFill>
                <a:schemeClr val="dk1"/>
              </a:solidFill>
              <a:latin typeface="Calibri"/>
              <a:ea typeface="Calibri"/>
              <a:cs typeface="Calibri"/>
              <a:sym typeface="Calibri"/>
            </a:endParaRPr>
          </a:p>
        </p:txBody>
      </p:sp>
      <p:graphicFrame>
        <p:nvGraphicFramePr>
          <p:cNvPr id="64" name="Google Shape;64;p5"/>
          <p:cNvGraphicFramePr/>
          <p:nvPr/>
        </p:nvGraphicFramePr>
        <p:xfrm>
          <a:off x="274320" y="1261872"/>
          <a:ext cx="3000000" cy="3000000"/>
        </p:xfrm>
        <a:graphic>
          <a:graphicData uri="http://schemas.openxmlformats.org/drawingml/2006/table">
            <a:tbl>
              <a:tblPr>
                <a:noFill/>
                <a:tableStyleId>{BF2FE4AE-095E-4761-ADC3-5515640C2EEA}</a:tableStyleId>
              </a:tblPr>
              <a:tblGrid>
                <a:gridCol w="3657600"/>
                <a:gridCol w="2926075"/>
                <a:gridCol w="2011675"/>
              </a:tblGrid>
              <a:tr h="36575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Situation</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0D1B4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Rule</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0D1B4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Citation</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0D1B4B"/>
                    </a:solidFill>
                  </a:tcPr>
                </a:tc>
              </a:tr>
              <a:tr h="365750">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Any jump inside a ChSq with ≤2 revolutions</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Not called, not a box</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§CHOREO.CL.JUMPS1</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Euler performed solo or not between two listed jumps</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Not a listed jump in that context</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§JUMP.COMBO.EULER</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r>
              <a:tr h="365750">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Unlisted jumps (ballet, split, walley, falling leaf, etc.)</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Not listed — never a box</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r>
              <a:tr h="365750">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Any listed jump ≤1 revolution inside a step sequence</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Not called, no box</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§STEPS.JUMP.1REV</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bl>
          </a:graphicData>
        </a:graphic>
      </p:graphicFrame>
      <p:sp>
        <p:nvSpPr>
          <p:cNvPr id="65" name="Google Shape;65;p5"/>
          <p:cNvSpPr/>
          <p:nvPr/>
        </p:nvSpPr>
        <p:spPr>
          <a:xfrm>
            <a:off x="274325" y="3593596"/>
            <a:ext cx="8595300" cy="897000"/>
          </a:xfrm>
          <a:prstGeom prst="rect">
            <a:avLst/>
          </a:prstGeom>
          <a:solidFill>
            <a:srgbClr val="FFF8E6"/>
          </a:solidFill>
          <a:ln cap="flat" cmpd="sng" w="1905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p:nvPr/>
        </p:nvSpPr>
        <p:spPr>
          <a:xfrm>
            <a:off x="457200" y="3657600"/>
            <a:ext cx="8321100" cy="74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4B"/>
              </a:buClr>
              <a:buSzPts val="1200"/>
              <a:buFont typeface="Calibri"/>
              <a:buNone/>
            </a:pPr>
            <a:r>
              <a:rPr b="1" i="0" lang="en-US" sz="1200" u="none" cap="none" strike="noStrike">
                <a:solidFill>
                  <a:srgbClr val="0D1B4B"/>
                </a:solidFill>
                <a:latin typeface="Calibri"/>
                <a:ea typeface="Calibri"/>
                <a:cs typeface="Calibri"/>
                <a:sym typeface="Calibri"/>
              </a:rPr>
              <a:t>★ Teaching note — Euler / half-loop: the same jump</a:t>
            </a:r>
            <a:br>
              <a:rPr b="1" i="0" lang="en-US" sz="1200" u="none" cap="none" strike="noStrike">
                <a:solidFill>
                  <a:srgbClr val="0D1B4B"/>
                </a:solidFill>
                <a:latin typeface="Calibri"/>
                <a:ea typeface="Calibri"/>
                <a:cs typeface="Calibri"/>
                <a:sym typeface="Calibri"/>
              </a:rPr>
            </a:br>
            <a:r>
              <a:rPr b="0" i="0" lang="en-US" sz="1000" u="none" cap="none" strike="noStrike">
                <a:solidFill>
                  <a:srgbClr val="1A2340"/>
                </a:solidFill>
                <a:latin typeface="Calibri"/>
                <a:ea typeface="Calibri"/>
                <a:cs typeface="Calibri"/>
                <a:sym typeface="Calibri"/>
              </a:rPr>
              <a:t>Between two listed jumps in a combination → </a:t>
            </a:r>
            <a:r>
              <a:rPr b="1" lang="en-US" sz="1000">
                <a:solidFill>
                  <a:srgbClr val="2E7D56"/>
                </a:solidFill>
                <a:latin typeface="Calibri"/>
                <a:ea typeface="Calibri"/>
                <a:cs typeface="Calibri"/>
                <a:sym typeface="Calibri"/>
              </a:rPr>
              <a:t>Single</a:t>
            </a:r>
            <a:r>
              <a:rPr b="0" i="0" lang="en-US" sz="1000" u="none" cap="none" strike="noStrike">
                <a:solidFill>
                  <a:srgbClr val="1A2340"/>
                </a:solidFill>
                <a:latin typeface="Calibri"/>
                <a:ea typeface="Calibri"/>
                <a:cs typeface="Calibri"/>
                <a:sym typeface="Calibri"/>
              </a:rPr>
              <a:t> </a:t>
            </a:r>
            <a:r>
              <a:rPr b="1" i="0" lang="en-US" sz="1000" u="none" cap="none" strike="noStrike">
                <a:solidFill>
                  <a:srgbClr val="2E7D56"/>
                </a:solidFill>
                <a:latin typeface="Calibri"/>
                <a:ea typeface="Calibri"/>
                <a:cs typeface="Calibri"/>
                <a:sym typeface="Calibri"/>
              </a:rPr>
              <a:t>Euler (</a:t>
            </a:r>
            <a:r>
              <a:rPr b="1" lang="en-US" sz="1000">
                <a:solidFill>
                  <a:srgbClr val="2E7D56"/>
                </a:solidFill>
                <a:latin typeface="Calibri"/>
                <a:ea typeface="Calibri"/>
                <a:cs typeface="Calibri"/>
                <a:sym typeface="Calibri"/>
              </a:rPr>
              <a:t>1</a:t>
            </a:r>
            <a:r>
              <a:rPr b="1" i="0" lang="en-US" sz="1000" u="none" cap="none" strike="noStrike">
                <a:solidFill>
                  <a:srgbClr val="2E7D56"/>
                </a:solidFill>
                <a:latin typeface="Calibri"/>
                <a:ea typeface="Calibri"/>
                <a:cs typeface="Calibri"/>
                <a:sym typeface="Calibri"/>
              </a:rPr>
              <a:t>Eu)</a:t>
            </a:r>
            <a:r>
              <a:rPr b="0" i="0" lang="en-US" sz="1000" u="none" cap="none" strike="noStrike">
                <a:solidFill>
                  <a:srgbClr val="1A2340"/>
                </a:solidFill>
                <a:latin typeface="Calibri"/>
                <a:ea typeface="Calibri"/>
                <a:cs typeface="Calibri"/>
                <a:sym typeface="Calibri"/>
              </a:rPr>
              <a:t> — Listed — Fills a box</a:t>
            </a:r>
            <a:br>
              <a:rPr b="0" i="0" lang="en-US" sz="1000" u="none" cap="none" strike="noStrike">
                <a:solidFill>
                  <a:srgbClr val="1A2340"/>
                </a:solidFill>
                <a:latin typeface="Calibri"/>
                <a:ea typeface="Calibri"/>
                <a:cs typeface="Calibri"/>
                <a:sym typeface="Calibri"/>
              </a:rPr>
            </a:br>
            <a:r>
              <a:rPr b="0" i="0" lang="en-US" sz="1000" u="none" cap="none" strike="noStrike">
                <a:solidFill>
                  <a:srgbClr val="1A2340"/>
                </a:solidFill>
                <a:latin typeface="Calibri"/>
                <a:ea typeface="Calibri"/>
                <a:cs typeface="Calibri"/>
                <a:sym typeface="Calibri"/>
              </a:rPr>
              <a:t>Solo, start of combo, or in a sequence → </a:t>
            </a:r>
            <a:r>
              <a:rPr b="1" lang="en-US" sz="1000">
                <a:solidFill>
                  <a:srgbClr val="B94040"/>
                </a:solidFill>
                <a:latin typeface="Calibri"/>
                <a:ea typeface="Calibri"/>
                <a:cs typeface="Calibri"/>
                <a:sym typeface="Calibri"/>
              </a:rPr>
              <a:t>Euler</a:t>
            </a:r>
            <a:r>
              <a:rPr b="0" i="0" lang="en-US" sz="1000" u="none" cap="none" strike="noStrike">
                <a:solidFill>
                  <a:srgbClr val="1A2340"/>
                </a:solidFill>
                <a:latin typeface="Calibri"/>
                <a:ea typeface="Calibri"/>
                <a:cs typeface="Calibri"/>
                <a:sym typeface="Calibri"/>
              </a:rPr>
              <a:t> — Not listed — No box</a:t>
            </a:r>
            <a:br>
              <a:rPr b="0" i="0" lang="en-US" sz="1000" u="none" cap="none" strike="noStrike">
                <a:solidFill>
                  <a:srgbClr val="1A2340"/>
                </a:solidFill>
                <a:latin typeface="Calibri"/>
                <a:ea typeface="Calibri"/>
                <a:cs typeface="Calibri"/>
                <a:sym typeface="Calibri"/>
              </a:rPr>
            </a:br>
            <a:r>
              <a:rPr b="0" i="1" lang="en-US" sz="1000" u="none" cap="none" strike="noStrike">
                <a:solidFill>
                  <a:srgbClr val="5A6A82"/>
                </a:solidFill>
                <a:latin typeface="Calibri"/>
                <a:ea typeface="Calibri"/>
                <a:cs typeface="Calibri"/>
                <a:sym typeface="Calibri"/>
              </a:rPr>
              <a:t>Example: </a:t>
            </a:r>
            <a:r>
              <a:rPr b="1" i="1" lang="en-US" sz="1000" u="none" cap="none" strike="noStrike">
                <a:solidFill>
                  <a:srgbClr val="2E7D56"/>
                </a:solidFill>
                <a:latin typeface="Calibri"/>
                <a:ea typeface="Calibri"/>
                <a:cs typeface="Calibri"/>
                <a:sym typeface="Calibri"/>
              </a:rPr>
              <a:t>3T+1Eu+3S</a:t>
            </a:r>
            <a:r>
              <a:rPr b="0" i="1" lang="en-US" sz="1000" u="none" cap="none" strike="noStrike">
                <a:solidFill>
                  <a:srgbClr val="1A2340"/>
                </a:solidFill>
                <a:latin typeface="Calibri"/>
                <a:ea typeface="Calibri"/>
                <a:cs typeface="Calibri"/>
                <a:sym typeface="Calibri"/>
              </a:rPr>
              <a:t> — Eu is listed ✓          </a:t>
            </a:r>
            <a:r>
              <a:rPr b="1" i="1" lang="en-US" sz="1000" u="none" cap="none" strike="noStrike">
                <a:solidFill>
                  <a:srgbClr val="B94040"/>
                </a:solidFill>
                <a:latin typeface="Calibri"/>
                <a:ea typeface="Calibri"/>
                <a:cs typeface="Calibri"/>
                <a:sym typeface="Calibri"/>
              </a:rPr>
              <a:t>Eu+3S+3T</a:t>
            </a:r>
            <a:r>
              <a:rPr b="0" i="1" lang="en-US" sz="1000" u="none" cap="none" strike="noStrike">
                <a:solidFill>
                  <a:srgbClr val="1A2340"/>
                </a:solidFill>
                <a:latin typeface="Calibri"/>
                <a:ea typeface="Calibri"/>
                <a:cs typeface="Calibri"/>
                <a:sym typeface="Calibri"/>
              </a:rPr>
              <a:t> — Eu not between two listed jumps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6E4F0"/>
        </a:solidFill>
      </p:bgPr>
    </p:bg>
    <p:spTree>
      <p:nvGrpSpPr>
        <p:cNvPr id="71" name="Shape 71"/>
        <p:cNvGrpSpPr/>
        <p:nvPr/>
      </p:nvGrpSpPr>
      <p:grpSpPr>
        <a:xfrm>
          <a:off x="0" y="0"/>
          <a:ext cx="0" cy="0"/>
          <a:chOff x="0" y="0"/>
          <a:chExt cx="0" cy="0"/>
        </a:xfrm>
      </p:grpSpPr>
      <p:sp>
        <p:nvSpPr>
          <p:cNvPr id="72" name="Google Shape;72;p4"/>
          <p:cNvSpPr/>
          <p:nvPr/>
        </p:nvSpPr>
        <p:spPr>
          <a:xfrm>
            <a:off x="0" y="0"/>
            <a:ext cx="164592" cy="5143500"/>
          </a:xfrm>
          <a:prstGeom prst="rect">
            <a:avLst/>
          </a:prstGeom>
          <a:solidFill>
            <a:srgbClr val="0D1B4B"/>
          </a:solidFill>
          <a:ln cap="flat" cmpd="sng" w="12700">
            <a:solidFill>
              <a:srgbClr val="0D1B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274320" y="164592"/>
            <a:ext cx="1463040" cy="329184"/>
          </a:xfrm>
          <a:prstGeom prst="rect">
            <a:avLst/>
          </a:prstGeom>
          <a:solidFill>
            <a:srgbClr val="1A6B8A"/>
          </a:solidFill>
          <a:ln cap="flat" cmpd="sng" w="12700">
            <a:solidFill>
              <a:srgbClr val="1A6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274320" y="164592"/>
            <a:ext cx="14630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PHASE 1</a:t>
            </a:r>
            <a:endParaRPr b="0" i="0" sz="1000" u="none" cap="none" strike="noStrike">
              <a:solidFill>
                <a:schemeClr val="dk1"/>
              </a:solidFill>
              <a:latin typeface="Calibri"/>
              <a:ea typeface="Calibri"/>
              <a:cs typeface="Calibri"/>
              <a:sym typeface="Calibri"/>
            </a:endParaRPr>
          </a:p>
        </p:txBody>
      </p:sp>
      <p:sp>
        <p:nvSpPr>
          <p:cNvPr id="75" name="Google Shape;75;p4"/>
          <p:cNvSpPr/>
          <p:nvPr/>
        </p:nvSpPr>
        <p:spPr>
          <a:xfrm>
            <a:off x="274320" y="548640"/>
            <a:ext cx="85953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4B"/>
              </a:buClr>
              <a:buSzPts val="2600"/>
              <a:buFont typeface="Cambria"/>
              <a:buNone/>
            </a:pPr>
            <a:r>
              <a:rPr b="1" i="0" lang="en-US" sz="2600" u="none" cap="none" strike="noStrike">
                <a:solidFill>
                  <a:srgbClr val="0D1B4B"/>
                </a:solidFill>
                <a:latin typeface="Cambria"/>
                <a:ea typeface="Cambria"/>
                <a:cs typeface="Cambria"/>
                <a:sym typeface="Cambria"/>
              </a:rPr>
              <a:t>What Counts as a Jump Attempt?</a:t>
            </a:r>
            <a:endParaRPr b="0" i="0" sz="2600" u="none" cap="none" strike="noStrike">
              <a:solidFill>
                <a:schemeClr val="dk1"/>
              </a:solidFill>
              <a:latin typeface="Calibri"/>
              <a:ea typeface="Calibri"/>
              <a:cs typeface="Calibri"/>
              <a:sym typeface="Calibri"/>
            </a:endParaRPr>
          </a:p>
        </p:txBody>
      </p:sp>
      <p:sp>
        <p:nvSpPr>
          <p:cNvPr id="76" name="Google Shape;76;p4"/>
          <p:cNvSpPr/>
          <p:nvPr/>
        </p:nvSpPr>
        <p:spPr>
          <a:xfrm>
            <a:off x="274320" y="1188720"/>
            <a:ext cx="8595360" cy="36576"/>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0" y="4846320"/>
            <a:ext cx="9144000" cy="297180"/>
          </a:xfrm>
          <a:prstGeom prst="rect">
            <a:avLst/>
          </a:prstGeom>
          <a:solidFill>
            <a:srgbClr val="0D1B4B"/>
          </a:solidFill>
          <a:ln cap="flat" cmpd="sng" w="12700">
            <a:solidFill>
              <a:srgbClr val="0D1B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4"/>
          <p:cNvSpPr/>
          <p:nvPr/>
        </p:nvSpPr>
        <p:spPr>
          <a:xfrm>
            <a:off x="274320" y="4846320"/>
            <a:ext cx="8595360" cy="2971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4F0"/>
              </a:buClr>
              <a:buSzPts val="900"/>
              <a:buFont typeface="Calibri"/>
              <a:buNone/>
            </a:pPr>
            <a:r>
              <a:rPr b="0" i="0" lang="en-US" sz="900" u="none" cap="none" strike="noStrike">
                <a:solidFill>
                  <a:srgbClr val="D6E4F0"/>
                </a:solidFill>
                <a:latin typeface="Calibri"/>
                <a:ea typeface="Calibri"/>
                <a:cs typeface="Calibri"/>
                <a:sym typeface="Calibri"/>
              </a:rPr>
              <a:t>U.S. Figure Skating — Technical Panel Education  |  Jump Framework</a:t>
            </a:r>
            <a:endParaRPr b="0" i="0" sz="900" u="none" cap="none" strike="noStrike">
              <a:solidFill>
                <a:schemeClr val="dk1"/>
              </a:solidFill>
              <a:latin typeface="Calibri"/>
              <a:ea typeface="Calibri"/>
              <a:cs typeface="Calibri"/>
              <a:sym typeface="Calibri"/>
            </a:endParaRPr>
          </a:p>
        </p:txBody>
      </p:sp>
      <p:graphicFrame>
        <p:nvGraphicFramePr>
          <p:cNvPr id="79" name="Google Shape;79;p4"/>
          <p:cNvGraphicFramePr/>
          <p:nvPr/>
        </p:nvGraphicFramePr>
        <p:xfrm>
          <a:off x="274320" y="1261872"/>
          <a:ext cx="3000000" cy="3000000"/>
        </p:xfrm>
        <a:graphic>
          <a:graphicData uri="http://schemas.openxmlformats.org/drawingml/2006/table">
            <a:tbl>
              <a:tblPr>
                <a:noFill/>
                <a:tableStyleId>{BF2FE4AE-095E-4761-ADC3-5515640C2EEA}</a:tableStyleId>
              </a:tblPr>
              <a:tblGrid>
                <a:gridCol w="2743200"/>
                <a:gridCol w="3200400"/>
                <a:gridCol w="2651750"/>
              </a:tblGrid>
              <a:tr h="411475">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Situation</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0D1B4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What happened</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0D1B4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Call</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0D1B4B"/>
                    </a:solidFill>
                  </a:tcPr>
                </a:tc>
              </a:tr>
              <a:tr h="411475">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Clear preparation, no take-off</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Stepped to entry edge or placed toe pick; no take-off</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Attempted jump code, No Value</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r h="411475">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Took off, no rotation (pop)</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Left the ice, no rotation</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Attempted jump code, No Value</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r>
              <a:tr h="411475">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Took off and rotated</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Left the ice and rotated</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Jump code + revolution count + modifiers</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bl>
          </a:graphicData>
        </a:graphic>
      </p:graphicFrame>
      <p:sp>
        <p:nvSpPr>
          <p:cNvPr id="80" name="Google Shape;80;p4"/>
          <p:cNvSpPr/>
          <p:nvPr/>
        </p:nvSpPr>
        <p:spPr>
          <a:xfrm>
            <a:off x="274320" y="3044952"/>
            <a:ext cx="8595360" cy="868680"/>
          </a:xfrm>
          <a:prstGeom prst="rect">
            <a:avLst/>
          </a:prstGeom>
          <a:solidFill>
            <a:srgbClr val="E8F4FD"/>
          </a:solidFill>
          <a:ln cap="flat" cmpd="sng" w="1905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384048" y="3044952"/>
            <a:ext cx="8375904"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4B"/>
              </a:buClr>
              <a:buSzPts val="1100"/>
              <a:buFont typeface="Calibri"/>
              <a:buNone/>
            </a:pPr>
            <a:r>
              <a:rPr b="0" i="0" lang="en-US" sz="1100" u="none" cap="none" strike="noStrike">
                <a:solidFill>
                  <a:srgbClr val="0D1B4B"/>
                </a:solidFill>
                <a:latin typeface="Calibri"/>
                <a:ea typeface="Calibri"/>
                <a:cs typeface="Calibri"/>
                <a:sym typeface="Calibri"/>
              </a:rPr>
              <a:t>Key principle: Any clear preparation for a listed jump occupies a box. Once a box is filled it counts toward program requirements — regardless of what was actually achieved.</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1B4B"/>
              </a:buClr>
              <a:buSzPts val="1100"/>
              <a:buFont typeface="Calibri"/>
              <a:buNone/>
            </a:pPr>
            <a:r>
              <a:rPr b="0" i="0" lang="en-US" sz="1100" u="none" cap="none" strike="noStrike">
                <a:solidFill>
                  <a:srgbClr val="0D1B4B"/>
                </a:solidFill>
                <a:latin typeface="Calibri"/>
                <a:ea typeface="Calibri"/>
                <a:cs typeface="Calibri"/>
                <a:sym typeface="Calibri"/>
              </a:rPr>
              <a:t>[TPH-S §JUMP.CL.ATTEMPT]</a:t>
            </a:r>
            <a:endParaRPr b="0" i="0" sz="1100" u="none" cap="none" strike="noStrike">
              <a:solidFill>
                <a:schemeClr val="dk1"/>
              </a:solidFill>
              <a:latin typeface="Calibri"/>
              <a:ea typeface="Calibri"/>
              <a:cs typeface="Calibri"/>
              <a:sym typeface="Calibri"/>
            </a:endParaRPr>
          </a:p>
        </p:txBody>
      </p:sp>
      <p:sp>
        <p:nvSpPr>
          <p:cNvPr id="82" name="Google Shape;82;p4"/>
          <p:cNvSpPr/>
          <p:nvPr/>
        </p:nvSpPr>
        <p:spPr>
          <a:xfrm>
            <a:off x="274320" y="4050792"/>
            <a:ext cx="8595360" cy="685800"/>
          </a:xfrm>
          <a:prstGeom prst="rect">
            <a:avLst/>
          </a:prstGeom>
          <a:solidFill>
            <a:srgbClr val="FFF8E6"/>
          </a:solidFill>
          <a:ln cap="flat" cmpd="sng" w="2540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a:off x="365760" y="4050792"/>
            <a:ext cx="841248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22A"/>
              </a:buClr>
              <a:buSzPts val="1300"/>
              <a:buFont typeface="Calibri"/>
              <a:buNone/>
            </a:pPr>
            <a:r>
              <a:rPr b="1" i="0" lang="en-US" sz="1300" u="none" cap="none" strike="noStrike">
                <a:solidFill>
                  <a:srgbClr val="C8922A"/>
                </a:solidFill>
                <a:latin typeface="Calibri"/>
                <a:ea typeface="Calibri"/>
                <a:cs typeface="Calibri"/>
                <a:sym typeface="Calibri"/>
              </a:rPr>
              <a:t>★ </a:t>
            </a:r>
            <a:r>
              <a:rPr b="0" i="0" lang="en-US" sz="1100" u="none" cap="none" strike="noStrike">
                <a:solidFill>
                  <a:srgbClr val="1A2340"/>
                </a:solidFill>
                <a:latin typeface="Calibri"/>
                <a:ea typeface="Calibri"/>
                <a:cs typeface="Calibri"/>
                <a:sym typeface="Calibri"/>
              </a:rPr>
              <a:t>A fully popped jump (skater leaves ice and immediately lands with no rotation) still fills a box. The take-off alone determines the code.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6E4F0"/>
        </a:solidFill>
      </p:bgPr>
    </p:bg>
    <p:spTree>
      <p:nvGrpSpPr>
        <p:cNvPr id="88" name="Shape 88"/>
        <p:cNvGrpSpPr/>
        <p:nvPr/>
      </p:nvGrpSpPr>
      <p:grpSpPr>
        <a:xfrm>
          <a:off x="0" y="0"/>
          <a:ext cx="0" cy="0"/>
          <a:chOff x="0" y="0"/>
          <a:chExt cx="0" cy="0"/>
        </a:xfrm>
      </p:grpSpPr>
      <p:sp>
        <p:nvSpPr>
          <p:cNvPr id="89" name="Google Shape;89;p3"/>
          <p:cNvSpPr/>
          <p:nvPr/>
        </p:nvSpPr>
        <p:spPr>
          <a:xfrm>
            <a:off x="0" y="0"/>
            <a:ext cx="164592" cy="5143500"/>
          </a:xfrm>
          <a:prstGeom prst="rect">
            <a:avLst/>
          </a:prstGeom>
          <a:solidFill>
            <a:srgbClr val="0D1B4B"/>
          </a:solidFill>
          <a:ln cap="flat" cmpd="sng" w="12700">
            <a:solidFill>
              <a:srgbClr val="0D1B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274320" y="164592"/>
            <a:ext cx="1463040" cy="329184"/>
          </a:xfrm>
          <a:prstGeom prst="rect">
            <a:avLst/>
          </a:prstGeom>
          <a:solidFill>
            <a:srgbClr val="1A6B8A"/>
          </a:solidFill>
          <a:ln cap="flat" cmpd="sng" w="12700">
            <a:solidFill>
              <a:srgbClr val="1A6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a:off x="274320" y="164592"/>
            <a:ext cx="14630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PHASE 1</a:t>
            </a:r>
            <a:endParaRPr b="0" i="0" sz="1000" u="none" cap="none" strike="noStrike">
              <a:solidFill>
                <a:schemeClr val="dk1"/>
              </a:solidFill>
              <a:latin typeface="Calibri"/>
              <a:ea typeface="Calibri"/>
              <a:cs typeface="Calibri"/>
              <a:sym typeface="Calibri"/>
            </a:endParaRPr>
          </a:p>
        </p:txBody>
      </p:sp>
      <p:sp>
        <p:nvSpPr>
          <p:cNvPr id="92" name="Google Shape;92;p3"/>
          <p:cNvSpPr/>
          <p:nvPr/>
        </p:nvSpPr>
        <p:spPr>
          <a:xfrm>
            <a:off x="274320" y="548640"/>
            <a:ext cx="85953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4B"/>
              </a:buClr>
              <a:buSzPts val="2600"/>
              <a:buFont typeface="Cambria"/>
              <a:buNone/>
            </a:pPr>
            <a:r>
              <a:rPr b="1" i="0" lang="en-US" sz="2600" u="none" cap="none" strike="noStrike">
                <a:solidFill>
                  <a:srgbClr val="0D1B4B"/>
                </a:solidFill>
                <a:latin typeface="Cambria"/>
                <a:ea typeface="Cambria"/>
                <a:cs typeface="Cambria"/>
                <a:sym typeface="Cambria"/>
              </a:rPr>
              <a:t>The 7 Listed Jumps</a:t>
            </a:r>
            <a:endParaRPr b="0" i="0" sz="2600" u="none" cap="none" strike="noStrike">
              <a:solidFill>
                <a:schemeClr val="dk1"/>
              </a:solidFill>
              <a:latin typeface="Calibri"/>
              <a:ea typeface="Calibri"/>
              <a:cs typeface="Calibri"/>
              <a:sym typeface="Calibri"/>
            </a:endParaRPr>
          </a:p>
        </p:txBody>
      </p:sp>
      <p:sp>
        <p:nvSpPr>
          <p:cNvPr id="93" name="Google Shape;93;p3"/>
          <p:cNvSpPr/>
          <p:nvPr/>
        </p:nvSpPr>
        <p:spPr>
          <a:xfrm>
            <a:off x="274320" y="1188720"/>
            <a:ext cx="8595360" cy="36576"/>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0" y="4846320"/>
            <a:ext cx="9144000" cy="297180"/>
          </a:xfrm>
          <a:prstGeom prst="rect">
            <a:avLst/>
          </a:prstGeom>
          <a:solidFill>
            <a:srgbClr val="0D1B4B"/>
          </a:solidFill>
          <a:ln cap="flat" cmpd="sng" w="12700">
            <a:solidFill>
              <a:srgbClr val="0D1B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274320" y="4846320"/>
            <a:ext cx="8595360" cy="2971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4F0"/>
              </a:buClr>
              <a:buSzPts val="900"/>
              <a:buFont typeface="Calibri"/>
              <a:buNone/>
            </a:pPr>
            <a:r>
              <a:rPr b="0" i="0" lang="en-US" sz="900" u="none" cap="none" strike="noStrike">
                <a:solidFill>
                  <a:srgbClr val="D6E4F0"/>
                </a:solidFill>
                <a:latin typeface="Calibri"/>
                <a:ea typeface="Calibri"/>
                <a:cs typeface="Calibri"/>
                <a:sym typeface="Calibri"/>
              </a:rPr>
              <a:t>U.S. Figure Skating — Technical Panel Education  |  Jump Framework</a:t>
            </a:r>
            <a:endParaRPr b="0" i="0" sz="900" u="none" cap="none" strike="noStrike">
              <a:solidFill>
                <a:schemeClr val="dk1"/>
              </a:solidFill>
              <a:latin typeface="Calibri"/>
              <a:ea typeface="Calibri"/>
              <a:cs typeface="Calibri"/>
              <a:sym typeface="Calibri"/>
            </a:endParaRPr>
          </a:p>
        </p:txBody>
      </p:sp>
      <p:graphicFrame>
        <p:nvGraphicFramePr>
          <p:cNvPr id="96" name="Google Shape;96;p3"/>
          <p:cNvGraphicFramePr/>
          <p:nvPr/>
        </p:nvGraphicFramePr>
        <p:xfrm>
          <a:off x="274320" y="1261872"/>
          <a:ext cx="3000000" cy="3000000"/>
        </p:xfrm>
        <a:graphic>
          <a:graphicData uri="http://schemas.openxmlformats.org/drawingml/2006/table">
            <a:tbl>
              <a:tblPr>
                <a:noFill/>
                <a:tableStyleId>{BF2FE4AE-095E-4761-ADC3-5515640C2EEA}</a:tableStyleId>
              </a:tblPr>
              <a:tblGrid>
                <a:gridCol w="1097275"/>
                <a:gridCol w="2560325"/>
                <a:gridCol w="4937750"/>
              </a:tblGrid>
              <a:tr h="388625">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Code</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1E3A6E"/>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Jump</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1E3A6E"/>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Take-off</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1E3A6E"/>
                    </a:solidFill>
                  </a:tcPr>
                </a:tc>
              </a:tr>
              <a:tr h="388625">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T</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Toe Loop</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Back outside edge + toe pick</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r h="388625">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S</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Salchow</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Back inside edge</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r>
              <a:tr h="388625">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Lo</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Loop</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Back outside edge</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r h="388625">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F</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Flip</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Back inside edge + toe pick</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r>
              <a:tr h="388625">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Lz</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Lutz</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Back outside edge + toe pick</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r h="388625">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A</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Axel</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Forward outside edge</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r>
              <a:tr h="388625">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Eu*</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Euler</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Back outside edge — no toe pick — special rules apply</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bl>
          </a:graphicData>
        </a:graphic>
      </p:graphicFrame>
      <p:sp>
        <p:nvSpPr>
          <p:cNvPr id="97" name="Google Shape;97;p3"/>
          <p:cNvSpPr/>
          <p:nvPr/>
        </p:nvSpPr>
        <p:spPr>
          <a:xfrm>
            <a:off x="274320" y="4407408"/>
            <a:ext cx="85953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82"/>
              </a:buClr>
              <a:buSzPts val="1000"/>
              <a:buFont typeface="Calibri"/>
              <a:buNone/>
            </a:pPr>
            <a:r>
              <a:rPr b="0" i="1" lang="en-US" sz="1000" u="none" cap="none" strike="noStrike">
                <a:solidFill>
                  <a:srgbClr val="5A6A82"/>
                </a:solidFill>
                <a:latin typeface="Calibri"/>
                <a:ea typeface="Calibri"/>
                <a:cs typeface="Calibri"/>
                <a:sym typeface="Calibri"/>
              </a:rPr>
              <a:t>The number of rotations precedes the code:  2F = double flip  ·  3Lz = triple Lutz  ·  4T = quad toe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6E4F0"/>
        </a:solidFill>
      </p:bgPr>
    </p:bg>
    <p:spTree>
      <p:nvGrpSpPr>
        <p:cNvPr id="102" name="Shape 102"/>
        <p:cNvGrpSpPr/>
        <p:nvPr/>
      </p:nvGrpSpPr>
      <p:grpSpPr>
        <a:xfrm>
          <a:off x="0" y="0"/>
          <a:ext cx="0" cy="0"/>
          <a:chOff x="0" y="0"/>
          <a:chExt cx="0" cy="0"/>
        </a:xfrm>
      </p:grpSpPr>
      <p:sp>
        <p:nvSpPr>
          <p:cNvPr id="103" name="Google Shape;103;p6"/>
          <p:cNvSpPr/>
          <p:nvPr/>
        </p:nvSpPr>
        <p:spPr>
          <a:xfrm>
            <a:off x="0" y="0"/>
            <a:ext cx="164592" cy="5143500"/>
          </a:xfrm>
          <a:prstGeom prst="rect">
            <a:avLst/>
          </a:prstGeom>
          <a:solidFill>
            <a:srgbClr val="0D1B4B"/>
          </a:solidFill>
          <a:ln cap="flat" cmpd="sng" w="12700">
            <a:solidFill>
              <a:srgbClr val="0D1B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274320" y="164592"/>
            <a:ext cx="1463040" cy="329184"/>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a:off x="274320" y="164592"/>
            <a:ext cx="14630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PHASE 2A</a:t>
            </a:r>
            <a:endParaRPr b="0" i="0" sz="1000" u="none" cap="none" strike="noStrike">
              <a:solidFill>
                <a:schemeClr val="dk1"/>
              </a:solidFill>
              <a:latin typeface="Calibri"/>
              <a:ea typeface="Calibri"/>
              <a:cs typeface="Calibri"/>
              <a:sym typeface="Calibri"/>
            </a:endParaRPr>
          </a:p>
        </p:txBody>
      </p:sp>
      <p:sp>
        <p:nvSpPr>
          <p:cNvPr id="106" name="Google Shape;106;p6"/>
          <p:cNvSpPr/>
          <p:nvPr/>
        </p:nvSpPr>
        <p:spPr>
          <a:xfrm>
            <a:off x="274320" y="548640"/>
            <a:ext cx="85953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4B"/>
              </a:buClr>
              <a:buSzPts val="2600"/>
              <a:buFont typeface="Cambria"/>
              <a:buNone/>
            </a:pPr>
            <a:r>
              <a:rPr b="1" i="0" lang="en-US" sz="2600" u="none" cap="none" strike="noStrike">
                <a:solidFill>
                  <a:srgbClr val="0D1B4B"/>
                </a:solidFill>
                <a:latin typeface="Cambria"/>
                <a:ea typeface="Cambria"/>
                <a:cs typeface="Cambria"/>
                <a:sym typeface="Cambria"/>
              </a:rPr>
              <a:t>Phase 2A — Identifying the Take-Off</a:t>
            </a:r>
            <a:endParaRPr b="0" i="0" sz="2600" u="none" cap="none" strike="noStrike">
              <a:solidFill>
                <a:schemeClr val="dk1"/>
              </a:solidFill>
              <a:latin typeface="Calibri"/>
              <a:ea typeface="Calibri"/>
              <a:cs typeface="Calibri"/>
              <a:sym typeface="Calibri"/>
            </a:endParaRPr>
          </a:p>
        </p:txBody>
      </p:sp>
      <p:sp>
        <p:nvSpPr>
          <p:cNvPr id="107" name="Google Shape;107;p6"/>
          <p:cNvSpPr/>
          <p:nvPr/>
        </p:nvSpPr>
        <p:spPr>
          <a:xfrm>
            <a:off x="274320" y="1188720"/>
            <a:ext cx="8595360" cy="36576"/>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
          <p:cNvSpPr/>
          <p:nvPr/>
        </p:nvSpPr>
        <p:spPr>
          <a:xfrm>
            <a:off x="0" y="4846320"/>
            <a:ext cx="9144000" cy="297180"/>
          </a:xfrm>
          <a:prstGeom prst="rect">
            <a:avLst/>
          </a:prstGeom>
          <a:solidFill>
            <a:srgbClr val="0D1B4B"/>
          </a:solidFill>
          <a:ln cap="flat" cmpd="sng" w="12700">
            <a:solidFill>
              <a:srgbClr val="0D1B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274320" y="4846320"/>
            <a:ext cx="8595360" cy="2971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4F0"/>
              </a:buClr>
              <a:buSzPts val="900"/>
              <a:buFont typeface="Calibri"/>
              <a:buNone/>
            </a:pPr>
            <a:r>
              <a:rPr b="0" i="0" lang="en-US" sz="900" u="none" cap="none" strike="noStrike">
                <a:solidFill>
                  <a:srgbClr val="D6E4F0"/>
                </a:solidFill>
                <a:latin typeface="Calibri"/>
                <a:ea typeface="Calibri"/>
                <a:cs typeface="Calibri"/>
                <a:sym typeface="Calibri"/>
              </a:rPr>
              <a:t>U.S. Figure Skating — Technical Panel Education  |  Jump Framework</a:t>
            </a:r>
            <a:endParaRPr b="0" i="0" sz="900" u="none" cap="none" strike="noStrike">
              <a:solidFill>
                <a:schemeClr val="dk1"/>
              </a:solidFill>
              <a:latin typeface="Calibri"/>
              <a:ea typeface="Calibri"/>
              <a:cs typeface="Calibri"/>
              <a:sym typeface="Calibri"/>
            </a:endParaRPr>
          </a:p>
        </p:txBody>
      </p:sp>
      <p:sp>
        <p:nvSpPr>
          <p:cNvPr id="110" name="Google Shape;110;p6"/>
          <p:cNvSpPr/>
          <p:nvPr/>
        </p:nvSpPr>
        <p:spPr>
          <a:xfrm>
            <a:off x="274325" y="1261874"/>
            <a:ext cx="4114800" cy="1341300"/>
          </a:xfrm>
          <a:prstGeom prst="rect">
            <a:avLst/>
          </a:prstGeom>
          <a:solidFill>
            <a:srgbClr val="FFFFFF"/>
          </a:solidFill>
          <a:ln cap="flat" cmpd="sng" w="9525">
            <a:solidFill>
              <a:srgbClr val="C0C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
          <p:cNvSpPr/>
          <p:nvPr/>
        </p:nvSpPr>
        <p:spPr>
          <a:xfrm>
            <a:off x="457200" y="1353312"/>
            <a:ext cx="3749040" cy="1508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4B"/>
              </a:buClr>
              <a:buSzPts val="1200"/>
              <a:buFont typeface="Calibri"/>
              <a:buNone/>
            </a:pPr>
            <a:r>
              <a:rPr b="1" i="0" lang="en-US" sz="1200" u="none" cap="none" strike="noStrike">
                <a:solidFill>
                  <a:srgbClr val="0D1B4B"/>
                </a:solidFill>
                <a:latin typeface="Calibri"/>
                <a:ea typeface="Calibri"/>
                <a:cs typeface="Calibri"/>
                <a:sym typeface="Calibri"/>
              </a:rPr>
              <a:t>Intended take-off principle</a:t>
            </a:r>
            <a:br>
              <a:rPr b="1" i="0" lang="en-US" sz="1200" u="none" cap="none" strike="noStrike">
                <a:solidFill>
                  <a:srgbClr val="0D1B4B"/>
                </a:solidFill>
                <a:latin typeface="Calibri"/>
                <a:ea typeface="Calibri"/>
                <a:cs typeface="Calibri"/>
                <a:sym typeface="Calibri"/>
              </a:rPr>
            </a:br>
            <a:r>
              <a:rPr b="0" i="0" lang="en-US" sz="1000" u="none" cap="none" strike="noStrike">
                <a:solidFill>
                  <a:srgbClr val="1A2340"/>
                </a:solidFill>
                <a:latin typeface="Calibri"/>
                <a:ea typeface="Calibri"/>
                <a:cs typeface="Calibri"/>
                <a:sym typeface="Calibri"/>
              </a:rPr>
              <a:t>Identify the jump by intended take-off, then apply modifiers after review. The identity of the jump is established at take-off — before rotation or landing quality is known.</a:t>
            </a:r>
            <a:br>
              <a:rPr b="0" i="0" lang="en-US" sz="1000" u="none" cap="none" strike="noStrike">
                <a:solidFill>
                  <a:srgbClr val="1A2340"/>
                </a:solidFill>
                <a:latin typeface="Calibri"/>
                <a:ea typeface="Calibri"/>
                <a:cs typeface="Calibri"/>
                <a:sym typeface="Calibri"/>
              </a:rPr>
            </a:br>
            <a:br>
              <a:rPr b="0" i="0" lang="en-US" sz="1000" u="none" cap="none" strike="noStrike">
                <a:solidFill>
                  <a:srgbClr val="1A2340"/>
                </a:solidFill>
                <a:latin typeface="Calibri"/>
                <a:ea typeface="Calibri"/>
                <a:cs typeface="Calibri"/>
                <a:sym typeface="Calibri"/>
              </a:rPr>
            </a:br>
            <a:r>
              <a:rPr b="1" i="0" lang="en-US" sz="1000" u="none" cap="none" strike="noStrike">
                <a:solidFill>
                  <a:srgbClr val="0D1B4B"/>
                </a:solidFill>
                <a:latin typeface="Calibri"/>
                <a:ea typeface="Calibri"/>
                <a:cs typeface="Calibri"/>
                <a:sym typeface="Calibri"/>
              </a:rPr>
              <a:t>TS1 calls live: </a:t>
            </a:r>
            <a:r>
              <a:rPr b="0" i="0" lang="en-US" sz="1000" u="none" cap="none" strike="noStrike">
                <a:solidFill>
                  <a:srgbClr val="1A2340"/>
                </a:solidFill>
                <a:latin typeface="Calibri"/>
                <a:ea typeface="Calibri"/>
                <a:cs typeface="Calibri"/>
                <a:sym typeface="Calibri"/>
              </a:rPr>
              <a:t>"double Lutz, review edge" — not the modifier live.</a:t>
            </a:r>
            <a:endParaRPr b="0" i="0" sz="1200" u="none" cap="none" strike="noStrike">
              <a:solidFill>
                <a:schemeClr val="dk1"/>
              </a:solidFill>
              <a:latin typeface="Calibri"/>
              <a:ea typeface="Calibri"/>
              <a:cs typeface="Calibri"/>
              <a:sym typeface="Calibri"/>
            </a:endParaRPr>
          </a:p>
        </p:txBody>
      </p:sp>
      <p:sp>
        <p:nvSpPr>
          <p:cNvPr id="112" name="Google Shape;112;p6"/>
          <p:cNvSpPr/>
          <p:nvPr/>
        </p:nvSpPr>
        <p:spPr>
          <a:xfrm>
            <a:off x="4572000" y="1261874"/>
            <a:ext cx="4297800" cy="1341300"/>
          </a:xfrm>
          <a:prstGeom prst="rect">
            <a:avLst/>
          </a:prstGeom>
          <a:solidFill>
            <a:srgbClr val="FFFFFF"/>
          </a:solidFill>
          <a:ln cap="flat" cmpd="sng" w="9525">
            <a:solidFill>
              <a:srgbClr val="C0C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
          <p:cNvSpPr/>
          <p:nvPr/>
        </p:nvSpPr>
        <p:spPr>
          <a:xfrm>
            <a:off x="4709160" y="1353312"/>
            <a:ext cx="4023360" cy="1508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D1B4B"/>
              </a:buClr>
              <a:buSzPts val="1200"/>
              <a:buFont typeface="Calibri"/>
              <a:buNone/>
            </a:pPr>
            <a:r>
              <a:rPr b="1" i="0" lang="en-US" sz="1200" u="none" cap="none" strike="noStrike">
                <a:solidFill>
                  <a:srgbClr val="0D1B4B"/>
                </a:solidFill>
                <a:latin typeface="Calibri"/>
                <a:ea typeface="Calibri"/>
                <a:cs typeface="Calibri"/>
                <a:sym typeface="Calibri"/>
              </a:rPr>
              <a:t>Landing foot does NOT determine identity</a:t>
            </a:r>
            <a:br>
              <a:rPr b="1" i="0" lang="en-US" sz="1200" u="none" cap="none" strike="noStrike">
                <a:solidFill>
                  <a:srgbClr val="0D1B4B"/>
                </a:solidFill>
                <a:latin typeface="Calibri"/>
                <a:ea typeface="Calibri"/>
                <a:cs typeface="Calibri"/>
                <a:sym typeface="Calibri"/>
              </a:rPr>
            </a:br>
            <a:r>
              <a:rPr b="0" i="0" lang="en-US" sz="1000" u="none" cap="none" strike="noStrike">
                <a:solidFill>
                  <a:srgbClr val="1A2340"/>
                </a:solidFill>
                <a:latin typeface="Calibri"/>
                <a:ea typeface="Calibri"/>
                <a:cs typeface="Calibri"/>
                <a:sym typeface="Calibri"/>
              </a:rPr>
              <a:t>A landing on the wrong foot does not change the jump code and does not change what occupies the box. Landing foot only matters in Phase </a:t>
            </a:r>
            <a:r>
              <a:rPr lang="en-US" sz="1000">
                <a:solidFill>
                  <a:srgbClr val="1A2340"/>
                </a:solidFill>
                <a:latin typeface="Calibri"/>
                <a:ea typeface="Calibri"/>
                <a:cs typeface="Calibri"/>
                <a:sym typeface="Calibri"/>
              </a:rPr>
              <a:t>3</a:t>
            </a:r>
            <a:r>
              <a:rPr b="0" i="0" lang="en-US" sz="1000" u="none" cap="none" strike="noStrike">
                <a:solidFill>
                  <a:srgbClr val="1A2340"/>
                </a:solidFill>
                <a:latin typeface="Calibri"/>
                <a:ea typeface="Calibri"/>
                <a:cs typeface="Calibri"/>
                <a:sym typeface="Calibri"/>
              </a:rPr>
              <a:t> when assessing completed rotations.</a:t>
            </a:r>
            <a:br>
              <a:rPr b="0" i="0" lang="en-US" sz="1000" u="none" cap="none" strike="noStrike">
                <a:solidFill>
                  <a:srgbClr val="1A2340"/>
                </a:solidFill>
                <a:latin typeface="Calibri"/>
                <a:ea typeface="Calibri"/>
                <a:cs typeface="Calibri"/>
                <a:sym typeface="Calibri"/>
              </a:rPr>
            </a:br>
            <a:br>
              <a:rPr b="0" i="0" lang="en-US" sz="1000" u="none" cap="none" strike="noStrike">
                <a:solidFill>
                  <a:srgbClr val="1A2340"/>
                </a:solidFill>
                <a:latin typeface="Calibri"/>
                <a:ea typeface="Calibri"/>
                <a:cs typeface="Calibri"/>
                <a:sym typeface="Calibri"/>
              </a:rPr>
            </a:br>
            <a:r>
              <a:rPr b="0" i="1" lang="en-US" sz="900" u="none" cap="none" strike="noStrike">
                <a:solidFill>
                  <a:srgbClr val="5A6A82"/>
                </a:solidFill>
                <a:latin typeface="Calibri"/>
                <a:ea typeface="Calibri"/>
                <a:cs typeface="Calibri"/>
                <a:sym typeface="Calibri"/>
              </a:rPr>
              <a:t>[TPH-S §JUMP.CL.CHEATED]  [TPH-S §JUMP.CL.ATTEMPT]</a:t>
            </a:r>
            <a:endParaRPr b="0" i="0" sz="1200" u="none" cap="none" strike="noStrike">
              <a:solidFill>
                <a:schemeClr val="dk1"/>
              </a:solidFill>
              <a:latin typeface="Calibri"/>
              <a:ea typeface="Calibri"/>
              <a:cs typeface="Calibri"/>
              <a:sym typeface="Calibri"/>
            </a:endParaRPr>
          </a:p>
        </p:txBody>
      </p:sp>
      <p:graphicFrame>
        <p:nvGraphicFramePr>
          <p:cNvPr id="114" name="Google Shape;114;p6"/>
          <p:cNvGraphicFramePr/>
          <p:nvPr/>
        </p:nvGraphicFramePr>
        <p:xfrm>
          <a:off x="274320" y="2697447"/>
          <a:ext cx="3000000" cy="3000000"/>
        </p:xfrm>
        <a:graphic>
          <a:graphicData uri="http://schemas.openxmlformats.org/drawingml/2006/table">
            <a:tbl>
              <a:tblPr>
                <a:noFill/>
                <a:tableStyleId>{BF2FE4AE-095E-4761-ADC3-5515640C2EEA}</a:tableStyleId>
              </a:tblPr>
              <a:tblGrid>
                <a:gridCol w="3200400"/>
                <a:gridCol w="5394950"/>
              </a:tblGrid>
              <a:tr h="37720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Ambiguous situation</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0D1B4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How to handle</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0D1B4B"/>
                    </a:solidFill>
                  </a:tcPr>
                </a:tc>
              </a:tr>
              <a:tr h="377200">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Lutz on strong inside edge</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Call Lutz, say "review edge" → panel reviews for e or !</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r h="377200">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Toe loop with half-rev on ice before take-off</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Call toe loop, say "review" → panel reviews take-off, will downgrade</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r>
              <a:tr h="377200">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Lutz approach but steps to full blade (could be Loop)</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If approach reads Lutz → call Lutz, review edge. If running edge clearly Loop → call Loop. If genuinely unclear → best real-time call + review</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bl>
          </a:graphicData>
        </a:graphic>
      </p:graphicFrame>
      <p:sp>
        <p:nvSpPr>
          <p:cNvPr id="115" name="Google Shape;115;p6"/>
          <p:cNvSpPr/>
          <p:nvPr/>
        </p:nvSpPr>
        <p:spPr>
          <a:xfrm>
            <a:off x="274320" y="4307190"/>
            <a:ext cx="8595300" cy="457200"/>
          </a:xfrm>
          <a:prstGeom prst="rect">
            <a:avLst/>
          </a:prstGeom>
          <a:solidFill>
            <a:srgbClr val="E8F4FD"/>
          </a:solidFill>
          <a:ln cap="flat" cmpd="sng" w="1905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
          <p:cNvSpPr/>
          <p:nvPr/>
        </p:nvSpPr>
        <p:spPr>
          <a:xfrm>
            <a:off x="384048" y="4307190"/>
            <a:ext cx="8376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4B"/>
              </a:buClr>
              <a:buSzPts val="1000"/>
              <a:buFont typeface="Calibri"/>
              <a:buNone/>
            </a:pPr>
            <a:r>
              <a:rPr b="0" i="0" lang="en-US" sz="1000" u="none" cap="none" strike="noStrike">
                <a:solidFill>
                  <a:srgbClr val="0D1B4B"/>
                </a:solidFill>
                <a:latin typeface="Calibri"/>
                <a:ea typeface="Calibri"/>
                <a:cs typeface="Calibri"/>
                <a:sym typeface="Calibri"/>
              </a:rPr>
              <a:t>Never freeze on an unclear jump. Make the best call available in real time, call for review, and resolve at the end of the program.</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6E4F0"/>
        </a:solidFill>
      </p:bgPr>
    </p:bg>
    <p:spTree>
      <p:nvGrpSpPr>
        <p:cNvPr id="121" name="Shape 121"/>
        <p:cNvGrpSpPr/>
        <p:nvPr/>
      </p:nvGrpSpPr>
      <p:grpSpPr>
        <a:xfrm>
          <a:off x="0" y="0"/>
          <a:ext cx="0" cy="0"/>
          <a:chOff x="0" y="0"/>
          <a:chExt cx="0" cy="0"/>
        </a:xfrm>
      </p:grpSpPr>
      <p:sp>
        <p:nvSpPr>
          <p:cNvPr id="122" name="Google Shape;122;p7"/>
          <p:cNvSpPr/>
          <p:nvPr/>
        </p:nvSpPr>
        <p:spPr>
          <a:xfrm>
            <a:off x="0" y="0"/>
            <a:ext cx="164592" cy="5143500"/>
          </a:xfrm>
          <a:prstGeom prst="rect">
            <a:avLst/>
          </a:prstGeom>
          <a:solidFill>
            <a:srgbClr val="0D1B4B"/>
          </a:solidFill>
          <a:ln cap="flat" cmpd="sng" w="12700">
            <a:solidFill>
              <a:srgbClr val="0D1B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
          <p:cNvSpPr/>
          <p:nvPr/>
        </p:nvSpPr>
        <p:spPr>
          <a:xfrm>
            <a:off x="274320" y="164592"/>
            <a:ext cx="1463040" cy="329184"/>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
          <p:cNvSpPr/>
          <p:nvPr/>
        </p:nvSpPr>
        <p:spPr>
          <a:xfrm>
            <a:off x="274320" y="164592"/>
            <a:ext cx="14630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PHASE 2</a:t>
            </a:r>
            <a:r>
              <a:rPr b="1" lang="en-US" sz="1000">
                <a:solidFill>
                  <a:srgbClr val="FFFFFF"/>
                </a:solidFill>
                <a:latin typeface="Calibri"/>
                <a:ea typeface="Calibri"/>
                <a:cs typeface="Calibri"/>
                <a:sym typeface="Calibri"/>
              </a:rPr>
              <a:t>B</a:t>
            </a:r>
            <a:endParaRPr b="0" i="0" sz="1000" u="none" cap="none" strike="noStrike">
              <a:solidFill>
                <a:schemeClr val="dk1"/>
              </a:solidFill>
              <a:latin typeface="Calibri"/>
              <a:ea typeface="Calibri"/>
              <a:cs typeface="Calibri"/>
              <a:sym typeface="Calibri"/>
            </a:endParaRPr>
          </a:p>
        </p:txBody>
      </p:sp>
      <p:sp>
        <p:nvSpPr>
          <p:cNvPr id="125" name="Google Shape;125;p7"/>
          <p:cNvSpPr/>
          <p:nvPr/>
        </p:nvSpPr>
        <p:spPr>
          <a:xfrm>
            <a:off x="274320" y="548640"/>
            <a:ext cx="85953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4B"/>
              </a:buClr>
              <a:buSzPts val="2600"/>
              <a:buFont typeface="Cambria"/>
              <a:buNone/>
            </a:pPr>
            <a:r>
              <a:rPr b="1" i="0" lang="en-US" sz="2600" u="none" cap="none" strike="noStrike">
                <a:solidFill>
                  <a:srgbClr val="0D1B4B"/>
                </a:solidFill>
                <a:latin typeface="Cambria"/>
                <a:ea typeface="Cambria"/>
                <a:cs typeface="Cambria"/>
                <a:sym typeface="Cambria"/>
              </a:rPr>
              <a:t>Phase 2</a:t>
            </a:r>
            <a:r>
              <a:rPr b="1" lang="en-US" sz="2600">
                <a:solidFill>
                  <a:srgbClr val="0D1B4B"/>
                </a:solidFill>
                <a:latin typeface="Cambria"/>
                <a:ea typeface="Cambria"/>
                <a:cs typeface="Cambria"/>
                <a:sym typeface="Cambria"/>
              </a:rPr>
              <a:t>B</a:t>
            </a:r>
            <a:r>
              <a:rPr b="1" i="0" lang="en-US" sz="2600" u="none" cap="none" strike="noStrike">
                <a:solidFill>
                  <a:srgbClr val="0D1B4B"/>
                </a:solidFill>
                <a:latin typeface="Cambria"/>
                <a:ea typeface="Cambria"/>
                <a:cs typeface="Cambria"/>
                <a:sym typeface="Cambria"/>
              </a:rPr>
              <a:t> — Assessing Revolutions</a:t>
            </a:r>
            <a:endParaRPr b="0" i="0" sz="2600" u="none" cap="none" strike="noStrike">
              <a:solidFill>
                <a:schemeClr val="dk1"/>
              </a:solidFill>
              <a:latin typeface="Calibri"/>
              <a:ea typeface="Calibri"/>
              <a:cs typeface="Calibri"/>
              <a:sym typeface="Calibri"/>
            </a:endParaRPr>
          </a:p>
        </p:txBody>
      </p:sp>
      <p:sp>
        <p:nvSpPr>
          <p:cNvPr id="126" name="Google Shape;126;p7"/>
          <p:cNvSpPr/>
          <p:nvPr/>
        </p:nvSpPr>
        <p:spPr>
          <a:xfrm>
            <a:off x="274320" y="1188720"/>
            <a:ext cx="8595360" cy="36576"/>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0" y="4846320"/>
            <a:ext cx="9144000" cy="297180"/>
          </a:xfrm>
          <a:prstGeom prst="rect">
            <a:avLst/>
          </a:prstGeom>
          <a:solidFill>
            <a:srgbClr val="0D1B4B"/>
          </a:solidFill>
          <a:ln cap="flat" cmpd="sng" w="12700">
            <a:solidFill>
              <a:srgbClr val="0D1B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
          <p:cNvSpPr/>
          <p:nvPr/>
        </p:nvSpPr>
        <p:spPr>
          <a:xfrm>
            <a:off x="274320" y="4846320"/>
            <a:ext cx="8595360" cy="2971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4F0"/>
              </a:buClr>
              <a:buSzPts val="900"/>
              <a:buFont typeface="Calibri"/>
              <a:buNone/>
            </a:pPr>
            <a:r>
              <a:rPr b="0" i="0" lang="en-US" sz="900" u="none" cap="none" strike="noStrike">
                <a:solidFill>
                  <a:srgbClr val="D6E4F0"/>
                </a:solidFill>
                <a:latin typeface="Calibri"/>
                <a:ea typeface="Calibri"/>
                <a:cs typeface="Calibri"/>
                <a:sym typeface="Calibri"/>
              </a:rPr>
              <a:t>U.S. Figure Skating — Technical Panel Education  |  Jump Framework</a:t>
            </a:r>
            <a:endParaRPr b="0" i="0" sz="900" u="none" cap="none" strike="noStrike">
              <a:solidFill>
                <a:schemeClr val="dk1"/>
              </a:solidFill>
              <a:latin typeface="Calibri"/>
              <a:ea typeface="Calibri"/>
              <a:cs typeface="Calibri"/>
              <a:sym typeface="Calibri"/>
            </a:endParaRPr>
          </a:p>
        </p:txBody>
      </p:sp>
      <p:graphicFrame>
        <p:nvGraphicFramePr>
          <p:cNvPr id="129" name="Google Shape;129;p7"/>
          <p:cNvGraphicFramePr/>
          <p:nvPr/>
        </p:nvGraphicFramePr>
        <p:xfrm>
          <a:off x="274320" y="1261872"/>
          <a:ext cx="3000000" cy="3000000"/>
        </p:xfrm>
        <a:graphic>
          <a:graphicData uri="http://schemas.openxmlformats.org/drawingml/2006/table">
            <a:tbl>
              <a:tblPr>
                <a:noFill/>
                <a:tableStyleId>{BF2FE4AE-095E-4761-ADC3-5515640C2EEA}</a:tableStyleId>
              </a:tblPr>
              <a:tblGrid>
                <a:gridCol w="914400"/>
                <a:gridCol w="1645925"/>
                <a:gridCol w="3474725"/>
                <a:gridCol w="2560325"/>
              </a:tblGrid>
              <a:tr h="347475">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Symbol</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0D1B4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Name</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0D1B4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Definition</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0D1B4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Base value effect</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0D1B4B"/>
                    </a:solidFill>
                  </a:tcPr>
                </a:tc>
              </a:tr>
              <a:tr h="347475">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(none)</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Fully rotated</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Missing &lt; ¼ revolution</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E7D56"/>
                        </a:buClr>
                        <a:buSzPts val="1000"/>
                        <a:buFont typeface="Calibri"/>
                        <a:buNone/>
                      </a:pPr>
                      <a:r>
                        <a:rPr b="1" lang="en-US" sz="1000" u="none" cap="none" strike="noStrike">
                          <a:solidFill>
                            <a:srgbClr val="2E7D56"/>
                          </a:solidFill>
                          <a:latin typeface="Calibri"/>
                          <a:ea typeface="Calibri"/>
                          <a:cs typeface="Calibri"/>
                          <a:sym typeface="Calibri"/>
                        </a:rPr>
                        <a:t>Full</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A2340"/>
                        </a:buClr>
                        <a:buSzPts val="1000"/>
                        <a:buFont typeface="Calibri"/>
                        <a:buNone/>
                      </a:pPr>
                      <a:r>
                        <a:rPr b="1" lang="en-US" sz="1000" u="none" cap="none" strike="noStrike">
                          <a:solidFill>
                            <a:srgbClr val="1A2340"/>
                          </a:solidFill>
                          <a:latin typeface="Calibri"/>
                          <a:ea typeface="Calibri"/>
                          <a:cs typeface="Calibri"/>
                          <a:sym typeface="Calibri"/>
                        </a:rPr>
                        <a:t>q</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Quarter</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Missing exactly ¼ revolution</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Reduced GOE only</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r>
              <a:tr h="347475">
                <a:tc>
                  <a:txBody>
                    <a:bodyPr/>
                    <a:lstStyle/>
                    <a:p>
                      <a:pPr indent="0" lvl="0" marL="0" marR="0" rtl="0" algn="l">
                        <a:spcBef>
                          <a:spcPts val="0"/>
                        </a:spcBef>
                        <a:spcAft>
                          <a:spcPts val="0"/>
                        </a:spcAft>
                        <a:buClr>
                          <a:srgbClr val="1A2340"/>
                        </a:buClr>
                        <a:buSzPts val="1000"/>
                        <a:buFont typeface="Calibri"/>
                        <a:buNone/>
                      </a:pPr>
                      <a:r>
                        <a:rPr b="1" lang="en-US" sz="1000" u="none" cap="none" strike="noStrike">
                          <a:solidFill>
                            <a:srgbClr val="1A2340"/>
                          </a:solidFill>
                          <a:latin typeface="Calibri"/>
                          <a:ea typeface="Calibri"/>
                          <a:cs typeface="Calibri"/>
                          <a:sym typeface="Calibri"/>
                        </a:rPr>
                        <a:t>&lt;</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Under-rotated</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Missing &gt; ¼ but &lt; ½ revolution</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C8922A"/>
                        </a:buClr>
                        <a:buSzPts val="1000"/>
                        <a:buFont typeface="Calibri"/>
                        <a:buNone/>
                      </a:pPr>
                      <a:r>
                        <a:rPr b="1" lang="en-US" sz="1000" u="none" cap="none" strike="noStrike">
                          <a:solidFill>
                            <a:srgbClr val="C8922A"/>
                          </a:solidFill>
                          <a:latin typeface="Calibri"/>
                          <a:ea typeface="Calibri"/>
                          <a:cs typeface="Calibri"/>
                          <a:sym typeface="Calibri"/>
                        </a:rPr>
                        <a:t>Reduced</a:t>
                      </a:r>
                      <a:endParaRPr b="1"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r h="347475">
                <a:tc>
                  <a:txBody>
                    <a:bodyPr/>
                    <a:lstStyle/>
                    <a:p>
                      <a:pPr indent="0" lvl="0" marL="0" marR="0" rtl="0" algn="l">
                        <a:spcBef>
                          <a:spcPts val="0"/>
                        </a:spcBef>
                        <a:spcAft>
                          <a:spcPts val="0"/>
                        </a:spcAft>
                        <a:buClr>
                          <a:srgbClr val="1A2340"/>
                        </a:buClr>
                        <a:buSzPts val="1000"/>
                        <a:buFont typeface="Calibri"/>
                        <a:buNone/>
                      </a:pPr>
                      <a:r>
                        <a:rPr b="1" lang="en-US" sz="1000" u="none" cap="none" strike="noStrike">
                          <a:solidFill>
                            <a:srgbClr val="1A2340"/>
                          </a:solidFill>
                          <a:latin typeface="Calibri"/>
                          <a:ea typeface="Calibri"/>
                          <a:cs typeface="Calibri"/>
                          <a:sym typeface="Calibri"/>
                        </a:rPr>
                        <a:t>&lt;&lt;</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Downgraded</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Missing ½ revolution or more</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B94040"/>
                        </a:buClr>
                        <a:buSzPts val="1000"/>
                        <a:buFont typeface="Calibri"/>
                        <a:buNone/>
                      </a:pPr>
                      <a:r>
                        <a:rPr b="1" lang="en-US" sz="1000" u="none" cap="none" strike="noStrike">
                          <a:solidFill>
                            <a:srgbClr val="B94040"/>
                          </a:solidFill>
                          <a:latin typeface="Calibri"/>
                          <a:ea typeface="Calibri"/>
                          <a:cs typeface="Calibri"/>
                          <a:sym typeface="Calibri"/>
                        </a:rPr>
                        <a:t>Evaluated one rotation less</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r>
            </a:tbl>
          </a:graphicData>
        </a:graphic>
      </p:graphicFrame>
      <p:sp>
        <p:nvSpPr>
          <p:cNvPr id="130" name="Google Shape;130;p7"/>
          <p:cNvSpPr/>
          <p:nvPr/>
        </p:nvSpPr>
        <p:spPr>
          <a:xfrm>
            <a:off x="274320" y="3136392"/>
            <a:ext cx="4114800" cy="1005840"/>
          </a:xfrm>
          <a:prstGeom prst="rect">
            <a:avLst/>
          </a:prstGeom>
          <a:solidFill>
            <a:srgbClr val="FFFFFF"/>
          </a:solidFill>
          <a:ln cap="flat" cmpd="sng" w="9525">
            <a:solidFill>
              <a:srgbClr val="C0C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a:off x="411480" y="3182112"/>
            <a:ext cx="393192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4B"/>
              </a:buClr>
              <a:buSzPts val="1200"/>
              <a:buFont typeface="Calibri"/>
              <a:buNone/>
            </a:pPr>
            <a:r>
              <a:rPr b="1" i="0" lang="en-US" sz="1200" u="none" cap="none" strike="noStrike">
                <a:solidFill>
                  <a:srgbClr val="0D1B4B"/>
                </a:solidFill>
                <a:latin typeface="Calibri"/>
                <a:ea typeface="Calibri"/>
                <a:cs typeface="Calibri"/>
                <a:sym typeface="Calibri"/>
              </a:rPr>
              <a:t>Over-rotation</a:t>
            </a:r>
            <a:br>
              <a:rPr b="1" i="0" lang="en-US" sz="1200" u="none" cap="none" strike="noStrike">
                <a:solidFill>
                  <a:srgbClr val="0D1B4B"/>
                </a:solidFill>
                <a:latin typeface="Calibri"/>
                <a:ea typeface="Calibri"/>
                <a:cs typeface="Calibri"/>
                <a:sym typeface="Calibri"/>
              </a:rPr>
            </a:br>
            <a:r>
              <a:rPr b="0" i="0" lang="en-US" sz="1000" u="none" cap="none" strike="noStrike">
                <a:solidFill>
                  <a:srgbClr val="1A2340"/>
                </a:solidFill>
                <a:latin typeface="Calibri"/>
                <a:ea typeface="Calibri"/>
                <a:cs typeface="Calibri"/>
                <a:sym typeface="Calibri"/>
              </a:rPr>
              <a:t>If a skater over-rotates by more than ¼ revolution, the jump is called at the next higher revolution count then downgraded.</a:t>
            </a:r>
            <a:br>
              <a:rPr b="0" i="0" lang="en-US" sz="1000" u="none" cap="none" strike="noStrike">
                <a:solidFill>
                  <a:srgbClr val="1A2340"/>
                </a:solidFill>
                <a:latin typeface="Calibri"/>
                <a:ea typeface="Calibri"/>
                <a:cs typeface="Calibri"/>
                <a:sym typeface="Calibri"/>
              </a:rPr>
            </a:br>
            <a:r>
              <a:rPr b="0" i="1" lang="en-US" sz="900" u="none" cap="none" strike="noStrike">
                <a:solidFill>
                  <a:srgbClr val="5A6A82"/>
                </a:solidFill>
                <a:latin typeface="Calibri"/>
                <a:ea typeface="Calibri"/>
                <a:cs typeface="Calibri"/>
                <a:sym typeface="Calibri"/>
              </a:rPr>
              <a:t>Example: 2T with &gt;¼ over → called as 3T&lt;&lt;   [TPH-S §JUMP.CL.OVERROT]</a:t>
            </a:r>
            <a:endParaRPr b="0" i="0" sz="1200" u="none" cap="none" strike="noStrike">
              <a:solidFill>
                <a:schemeClr val="dk1"/>
              </a:solidFill>
              <a:latin typeface="Calibri"/>
              <a:ea typeface="Calibri"/>
              <a:cs typeface="Calibri"/>
              <a:sym typeface="Calibri"/>
            </a:endParaRPr>
          </a:p>
        </p:txBody>
      </p:sp>
      <p:sp>
        <p:nvSpPr>
          <p:cNvPr id="132" name="Google Shape;132;p7"/>
          <p:cNvSpPr/>
          <p:nvPr/>
        </p:nvSpPr>
        <p:spPr>
          <a:xfrm>
            <a:off x="4572000" y="3136392"/>
            <a:ext cx="4297680" cy="1005840"/>
          </a:xfrm>
          <a:prstGeom prst="rect">
            <a:avLst/>
          </a:prstGeom>
          <a:solidFill>
            <a:srgbClr val="FFFFFF"/>
          </a:solidFill>
          <a:ln cap="flat" cmpd="sng" w="9525">
            <a:solidFill>
              <a:srgbClr val="C0C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7"/>
          <p:cNvSpPr/>
          <p:nvPr/>
        </p:nvSpPr>
        <p:spPr>
          <a:xfrm>
            <a:off x="4709160" y="3182112"/>
            <a:ext cx="41148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4B"/>
              </a:buClr>
              <a:buSzPts val="1200"/>
              <a:buFont typeface="Calibri"/>
              <a:buNone/>
            </a:pPr>
            <a:r>
              <a:rPr b="1" i="0" lang="en-US" sz="1200" u="none" cap="none" strike="noStrike">
                <a:solidFill>
                  <a:srgbClr val="0D1B4B"/>
                </a:solidFill>
                <a:latin typeface="Calibri"/>
                <a:ea typeface="Calibri"/>
                <a:cs typeface="Calibri"/>
                <a:sym typeface="Calibri"/>
              </a:rPr>
              <a:t>Cheated take-off → Downgrade</a:t>
            </a:r>
            <a:br>
              <a:rPr b="1" i="0" lang="en-US" sz="1200" u="none" cap="none" strike="noStrike">
                <a:solidFill>
                  <a:srgbClr val="0D1B4B"/>
                </a:solidFill>
                <a:latin typeface="Calibri"/>
                <a:ea typeface="Calibri"/>
                <a:cs typeface="Calibri"/>
                <a:sym typeface="Calibri"/>
              </a:rPr>
            </a:br>
            <a:r>
              <a:rPr b="0" i="0" lang="en-US" sz="1000" u="none" cap="none" strike="noStrike">
                <a:solidFill>
                  <a:srgbClr val="1A2340"/>
                </a:solidFill>
                <a:latin typeface="Calibri"/>
                <a:ea typeface="Calibri"/>
                <a:cs typeface="Calibri"/>
                <a:sym typeface="Calibri"/>
              </a:rPr>
              <a:t>A clear forward take-off on a jump that should be backward (or backward for Axel) = downgrade. Toe loop is the most common. Panel watches regular speed only.</a:t>
            </a:r>
            <a:br>
              <a:rPr b="0" i="0" lang="en-US" sz="1000" u="none" cap="none" strike="noStrike">
                <a:solidFill>
                  <a:srgbClr val="1A2340"/>
                </a:solidFill>
                <a:latin typeface="Calibri"/>
                <a:ea typeface="Calibri"/>
                <a:cs typeface="Calibri"/>
                <a:sym typeface="Calibri"/>
              </a:rPr>
            </a:br>
            <a:r>
              <a:rPr b="0" i="1" lang="en-US" sz="900" u="none" cap="none" strike="noStrike">
                <a:solidFill>
                  <a:srgbClr val="5A6A82"/>
                </a:solidFill>
                <a:latin typeface="Calibri"/>
                <a:ea typeface="Calibri"/>
                <a:cs typeface="Calibri"/>
                <a:sym typeface="Calibri"/>
              </a:rPr>
              <a:t>[TPH-S §JUMP.CL.CHEATED]</a:t>
            </a:r>
            <a:endParaRPr b="0" i="0" sz="1200" u="none" cap="none" strike="noStrike">
              <a:solidFill>
                <a:schemeClr val="dk1"/>
              </a:solidFill>
              <a:latin typeface="Calibri"/>
              <a:ea typeface="Calibri"/>
              <a:cs typeface="Calibri"/>
              <a:sym typeface="Calibri"/>
            </a:endParaRPr>
          </a:p>
        </p:txBody>
      </p:sp>
      <p:sp>
        <p:nvSpPr>
          <p:cNvPr id="134" name="Google Shape;134;p7"/>
          <p:cNvSpPr/>
          <p:nvPr/>
        </p:nvSpPr>
        <p:spPr>
          <a:xfrm>
            <a:off x="274325" y="4279399"/>
            <a:ext cx="8595300" cy="458100"/>
          </a:xfrm>
          <a:prstGeom prst="rect">
            <a:avLst/>
          </a:prstGeom>
          <a:solidFill>
            <a:srgbClr val="FFF3CD"/>
          </a:solidFill>
          <a:ln cap="flat" cmpd="sng" w="1905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p:nvPr/>
        </p:nvSpPr>
        <p:spPr>
          <a:xfrm>
            <a:off x="384050" y="4279398"/>
            <a:ext cx="8376000" cy="44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40"/>
              </a:buClr>
              <a:buSzPts val="1100"/>
              <a:buFont typeface="Calibri"/>
              <a:buNone/>
            </a:pPr>
            <a:r>
              <a:rPr b="0" i="0" lang="en-US" sz="1100" u="none" cap="none" strike="noStrike">
                <a:solidFill>
                  <a:srgbClr val="1A2340"/>
                </a:solidFill>
                <a:latin typeface="Calibri"/>
                <a:ea typeface="Calibri"/>
                <a:cs typeface="Calibri"/>
                <a:sym typeface="Calibri"/>
              </a:rPr>
              <a:t>Live calling: TS1 calls the intended revolution count and says "review." Modifiers (q, &lt;, &lt;&lt;) are applied after replay — </a:t>
            </a:r>
            <a:r>
              <a:rPr lang="en-US" sz="1100">
                <a:solidFill>
                  <a:srgbClr val="1A2340"/>
                </a:solidFill>
                <a:latin typeface="Calibri"/>
                <a:ea typeface="Calibri"/>
                <a:cs typeface="Calibri"/>
                <a:sym typeface="Calibri"/>
              </a:rPr>
              <a:t>not </a:t>
            </a:r>
            <a:r>
              <a:rPr b="0" i="0" lang="en-US" sz="1100" u="none" cap="none" strike="noStrike">
                <a:solidFill>
                  <a:srgbClr val="1A2340"/>
                </a:solidFill>
                <a:latin typeface="Calibri"/>
                <a:ea typeface="Calibri"/>
                <a:cs typeface="Calibri"/>
                <a:sym typeface="Calibri"/>
              </a:rPr>
              <a:t>during the live pass </a:t>
            </a:r>
            <a:r>
              <a:rPr lang="en-US" sz="1100">
                <a:solidFill>
                  <a:srgbClr val="1A2340"/>
                </a:solidFill>
                <a:latin typeface="Calibri"/>
                <a:ea typeface="Calibri"/>
                <a:cs typeface="Calibri"/>
                <a:sym typeface="Calibri"/>
              </a:rPr>
              <a:t>(unless operating with paper and pencil procedure)</a:t>
            </a:r>
            <a:r>
              <a:rPr b="0" i="0" lang="en-US" sz="1100" u="none" cap="none" strike="noStrike">
                <a:solidFill>
                  <a:srgbClr val="1A2340"/>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6E4F0"/>
        </a:solidFill>
      </p:bgPr>
    </p:bg>
    <p:spTree>
      <p:nvGrpSpPr>
        <p:cNvPr id="140" name="Shape 140"/>
        <p:cNvGrpSpPr/>
        <p:nvPr/>
      </p:nvGrpSpPr>
      <p:grpSpPr>
        <a:xfrm>
          <a:off x="0" y="0"/>
          <a:ext cx="0" cy="0"/>
          <a:chOff x="0" y="0"/>
          <a:chExt cx="0" cy="0"/>
        </a:xfrm>
      </p:grpSpPr>
      <p:sp>
        <p:nvSpPr>
          <p:cNvPr id="141" name="Google Shape;141;p8"/>
          <p:cNvSpPr/>
          <p:nvPr/>
        </p:nvSpPr>
        <p:spPr>
          <a:xfrm>
            <a:off x="0" y="0"/>
            <a:ext cx="164592" cy="5143500"/>
          </a:xfrm>
          <a:prstGeom prst="rect">
            <a:avLst/>
          </a:prstGeom>
          <a:solidFill>
            <a:srgbClr val="0D1B4B"/>
          </a:solidFill>
          <a:ln cap="flat" cmpd="sng" w="12700">
            <a:solidFill>
              <a:srgbClr val="0D1B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274320" y="164592"/>
            <a:ext cx="1463040" cy="329184"/>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274320" y="164592"/>
            <a:ext cx="14630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PHASE 2</a:t>
            </a:r>
            <a:r>
              <a:rPr b="1" lang="en-US" sz="1000">
                <a:solidFill>
                  <a:srgbClr val="FFFFFF"/>
                </a:solidFill>
                <a:latin typeface="Calibri"/>
                <a:ea typeface="Calibri"/>
                <a:cs typeface="Calibri"/>
                <a:sym typeface="Calibri"/>
              </a:rPr>
              <a:t>C</a:t>
            </a:r>
            <a:endParaRPr b="0" i="0" sz="1000" u="none" cap="none" strike="noStrike">
              <a:solidFill>
                <a:schemeClr val="dk1"/>
              </a:solidFill>
              <a:latin typeface="Calibri"/>
              <a:ea typeface="Calibri"/>
              <a:cs typeface="Calibri"/>
              <a:sym typeface="Calibri"/>
            </a:endParaRPr>
          </a:p>
        </p:txBody>
      </p:sp>
      <p:sp>
        <p:nvSpPr>
          <p:cNvPr id="144" name="Google Shape;144;p8"/>
          <p:cNvSpPr/>
          <p:nvPr/>
        </p:nvSpPr>
        <p:spPr>
          <a:xfrm>
            <a:off x="274320" y="548640"/>
            <a:ext cx="85953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4B"/>
              </a:buClr>
              <a:buSzPts val="2600"/>
              <a:buFont typeface="Cambria"/>
              <a:buNone/>
            </a:pPr>
            <a:r>
              <a:rPr b="1" i="0" lang="en-US" sz="2600" u="none" cap="none" strike="noStrike">
                <a:solidFill>
                  <a:srgbClr val="0D1B4B"/>
                </a:solidFill>
                <a:latin typeface="Cambria"/>
                <a:ea typeface="Cambria"/>
                <a:cs typeface="Cambria"/>
                <a:sym typeface="Cambria"/>
              </a:rPr>
              <a:t>Phase 2</a:t>
            </a:r>
            <a:r>
              <a:rPr b="1" lang="en-US" sz="2600">
                <a:solidFill>
                  <a:srgbClr val="0D1B4B"/>
                </a:solidFill>
                <a:latin typeface="Cambria"/>
                <a:ea typeface="Cambria"/>
                <a:cs typeface="Cambria"/>
                <a:sym typeface="Cambria"/>
              </a:rPr>
              <a:t>C</a:t>
            </a:r>
            <a:r>
              <a:rPr b="1" i="0" lang="en-US" sz="2600" u="none" cap="none" strike="noStrike">
                <a:solidFill>
                  <a:srgbClr val="0D1B4B"/>
                </a:solidFill>
                <a:latin typeface="Cambria"/>
                <a:ea typeface="Cambria"/>
                <a:cs typeface="Cambria"/>
                <a:sym typeface="Cambria"/>
              </a:rPr>
              <a:t> — Solo, Combination, or Sequence?</a:t>
            </a:r>
            <a:endParaRPr b="0" i="0" sz="2600" u="none" cap="none" strike="noStrike">
              <a:solidFill>
                <a:schemeClr val="dk1"/>
              </a:solidFill>
              <a:latin typeface="Calibri"/>
              <a:ea typeface="Calibri"/>
              <a:cs typeface="Calibri"/>
              <a:sym typeface="Calibri"/>
            </a:endParaRPr>
          </a:p>
        </p:txBody>
      </p:sp>
      <p:sp>
        <p:nvSpPr>
          <p:cNvPr id="145" name="Google Shape;145;p8"/>
          <p:cNvSpPr/>
          <p:nvPr/>
        </p:nvSpPr>
        <p:spPr>
          <a:xfrm>
            <a:off x="274320" y="1188720"/>
            <a:ext cx="8595360" cy="36576"/>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0" y="4846320"/>
            <a:ext cx="9144000" cy="297180"/>
          </a:xfrm>
          <a:prstGeom prst="rect">
            <a:avLst/>
          </a:prstGeom>
          <a:solidFill>
            <a:srgbClr val="0D1B4B"/>
          </a:solidFill>
          <a:ln cap="flat" cmpd="sng" w="12700">
            <a:solidFill>
              <a:srgbClr val="0D1B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274320" y="4846320"/>
            <a:ext cx="8595360" cy="2971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4F0"/>
              </a:buClr>
              <a:buSzPts val="900"/>
              <a:buFont typeface="Calibri"/>
              <a:buNone/>
            </a:pPr>
            <a:r>
              <a:rPr b="0" i="0" lang="en-US" sz="900" u="none" cap="none" strike="noStrike">
                <a:solidFill>
                  <a:srgbClr val="D6E4F0"/>
                </a:solidFill>
                <a:latin typeface="Calibri"/>
                <a:ea typeface="Calibri"/>
                <a:cs typeface="Calibri"/>
                <a:sym typeface="Calibri"/>
              </a:rPr>
              <a:t>U.S. Figure Skating — Technical Panel Education  |  Jump Framework</a:t>
            </a:r>
            <a:endParaRPr b="0" i="0" sz="900" u="none" cap="none" strike="noStrike">
              <a:solidFill>
                <a:schemeClr val="dk1"/>
              </a:solidFill>
              <a:latin typeface="Calibri"/>
              <a:ea typeface="Calibri"/>
              <a:cs typeface="Calibri"/>
              <a:sym typeface="Calibri"/>
            </a:endParaRPr>
          </a:p>
        </p:txBody>
      </p:sp>
      <p:sp>
        <p:nvSpPr>
          <p:cNvPr id="148" name="Google Shape;148;p8"/>
          <p:cNvSpPr/>
          <p:nvPr/>
        </p:nvSpPr>
        <p:spPr>
          <a:xfrm>
            <a:off x="291408" y="1341022"/>
            <a:ext cx="2697600" cy="365700"/>
          </a:xfrm>
          <a:prstGeom prst="rect">
            <a:avLst/>
          </a:prstGeom>
          <a:solidFill>
            <a:srgbClr val="1A6B8A"/>
          </a:solidFill>
          <a:ln cap="flat" cmpd="sng" w="12700">
            <a:solidFill>
              <a:srgbClr val="1A6B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
          <p:cNvSpPr/>
          <p:nvPr/>
        </p:nvSpPr>
        <p:spPr>
          <a:xfrm>
            <a:off x="287975" y="1720450"/>
            <a:ext cx="2697600" cy="1229100"/>
          </a:xfrm>
          <a:prstGeom prst="rect">
            <a:avLst/>
          </a:prstGeom>
          <a:solidFill>
            <a:srgbClr val="FFFFFF"/>
          </a:solidFill>
          <a:ln cap="flat" cmpd="sng" w="9525">
            <a:solidFill>
              <a:srgbClr val="C0C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a:off x="379475" y="1796075"/>
            <a:ext cx="2514600" cy="1066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40"/>
              </a:buClr>
              <a:buSzPts val="1000"/>
              <a:buFont typeface="Calibri"/>
              <a:buNone/>
            </a:pPr>
            <a:r>
              <a:rPr b="0" i="0" lang="en-US" sz="1000" u="none" cap="none" strike="noStrike">
                <a:solidFill>
                  <a:srgbClr val="1A2340"/>
                </a:solidFill>
                <a:latin typeface="Calibri"/>
                <a:ea typeface="Calibri"/>
                <a:cs typeface="Calibri"/>
                <a:sym typeface="Calibri"/>
              </a:rPr>
              <a:t>A single jump. Stands alone.</a:t>
            </a:r>
            <a:br>
              <a:rPr b="0" i="0" lang="en-US" sz="1000" u="none" cap="none" strike="noStrike">
                <a:solidFill>
                  <a:srgbClr val="1A2340"/>
                </a:solidFill>
                <a:latin typeface="Calibri"/>
                <a:ea typeface="Calibri"/>
                <a:cs typeface="Calibri"/>
                <a:sym typeface="Calibri"/>
              </a:rPr>
            </a:br>
            <a:br>
              <a:rPr b="0" i="0" lang="en-US" sz="1000" u="none" cap="none" strike="noStrike">
                <a:solidFill>
                  <a:srgbClr val="1A2340"/>
                </a:solidFill>
                <a:latin typeface="Calibri"/>
                <a:ea typeface="Calibri"/>
                <a:cs typeface="Calibri"/>
                <a:sym typeface="Calibri"/>
              </a:rPr>
            </a:br>
            <a:r>
              <a:rPr b="0" i="0" lang="en-US" sz="1000" u="none" cap="none" strike="noStrike">
                <a:solidFill>
                  <a:srgbClr val="1A2340"/>
                </a:solidFill>
                <a:latin typeface="Calibri"/>
                <a:ea typeface="Calibri"/>
                <a:cs typeface="Calibri"/>
                <a:sym typeface="Calibri"/>
              </a:rPr>
              <a:t>Notation: 3F, 2A, 4T</a:t>
            </a:r>
            <a:br>
              <a:rPr b="0" i="0" lang="en-US" sz="1000" u="none" cap="none" strike="noStrike">
                <a:solidFill>
                  <a:srgbClr val="1A2340"/>
                </a:solidFill>
                <a:latin typeface="Calibri"/>
                <a:ea typeface="Calibri"/>
                <a:cs typeface="Calibri"/>
                <a:sym typeface="Calibri"/>
              </a:rPr>
            </a:br>
            <a:r>
              <a:rPr b="0" i="1" lang="en-US" sz="900" u="none" cap="none" strike="noStrike">
                <a:solidFill>
                  <a:srgbClr val="5A6A82"/>
                </a:solidFill>
                <a:latin typeface="Calibri"/>
                <a:ea typeface="Calibri"/>
                <a:cs typeface="Calibri"/>
                <a:sym typeface="Calibri"/>
              </a:rPr>
              <a:t>[TPH-S §JUMP.SOLO.FS]</a:t>
            </a:r>
            <a:endParaRPr b="0" i="0" sz="1000" u="none" cap="none" strike="noStrike">
              <a:solidFill>
                <a:schemeClr val="dk1"/>
              </a:solidFill>
              <a:latin typeface="Calibri"/>
              <a:ea typeface="Calibri"/>
              <a:cs typeface="Calibri"/>
              <a:sym typeface="Calibri"/>
            </a:endParaRPr>
          </a:p>
        </p:txBody>
      </p:sp>
      <p:sp>
        <p:nvSpPr>
          <p:cNvPr id="151" name="Google Shape;151;p8"/>
          <p:cNvSpPr/>
          <p:nvPr/>
        </p:nvSpPr>
        <p:spPr>
          <a:xfrm>
            <a:off x="3117523" y="1340934"/>
            <a:ext cx="2697600" cy="365700"/>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8"/>
          <p:cNvSpPr/>
          <p:nvPr/>
        </p:nvSpPr>
        <p:spPr>
          <a:xfrm>
            <a:off x="3115798" y="1345659"/>
            <a:ext cx="26976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COMBINATION</a:t>
            </a:r>
            <a:endParaRPr b="0" i="0" sz="1200" u="none" cap="none" strike="noStrike">
              <a:solidFill>
                <a:schemeClr val="dk1"/>
              </a:solidFill>
              <a:latin typeface="Calibri"/>
              <a:ea typeface="Calibri"/>
              <a:cs typeface="Calibri"/>
              <a:sym typeface="Calibri"/>
            </a:endParaRPr>
          </a:p>
        </p:txBody>
      </p:sp>
      <p:sp>
        <p:nvSpPr>
          <p:cNvPr id="153" name="Google Shape;153;p8"/>
          <p:cNvSpPr/>
          <p:nvPr/>
        </p:nvSpPr>
        <p:spPr>
          <a:xfrm>
            <a:off x="3117488" y="1714925"/>
            <a:ext cx="2697600" cy="1229100"/>
          </a:xfrm>
          <a:prstGeom prst="rect">
            <a:avLst/>
          </a:prstGeom>
          <a:solidFill>
            <a:srgbClr val="FFFFFF"/>
          </a:solidFill>
          <a:ln cap="flat" cmpd="sng" w="9525">
            <a:solidFill>
              <a:srgbClr val="C0C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8"/>
          <p:cNvSpPr/>
          <p:nvPr/>
        </p:nvSpPr>
        <p:spPr>
          <a:xfrm>
            <a:off x="3207275" y="1796075"/>
            <a:ext cx="2514600" cy="1113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40"/>
              </a:buClr>
              <a:buSzPts val="1000"/>
              <a:buFont typeface="Calibri"/>
              <a:buNone/>
            </a:pPr>
            <a:r>
              <a:rPr b="0" i="0" lang="en-US" sz="1000" u="none" cap="none" strike="noStrike">
                <a:solidFill>
                  <a:srgbClr val="1A2340"/>
                </a:solidFill>
                <a:latin typeface="Calibri"/>
                <a:ea typeface="Calibri"/>
                <a:cs typeface="Calibri"/>
                <a:sym typeface="Calibri"/>
              </a:rPr>
              <a:t>Landing foot of one jump = take-off foot of next, immediately. One full revolution on ice with free foot touching but no weight transfer is still a combo.</a:t>
            </a:r>
            <a:br>
              <a:rPr b="0" i="0" lang="en-US" sz="1000" u="none" cap="none" strike="noStrike">
                <a:solidFill>
                  <a:srgbClr val="1A2340"/>
                </a:solidFill>
                <a:latin typeface="Calibri"/>
                <a:ea typeface="Calibri"/>
                <a:cs typeface="Calibri"/>
                <a:sym typeface="Calibri"/>
              </a:rPr>
            </a:br>
            <a:br>
              <a:rPr b="0" i="0" lang="en-US" sz="1000" u="none" cap="none" strike="noStrike">
                <a:solidFill>
                  <a:srgbClr val="1A2340"/>
                </a:solidFill>
                <a:latin typeface="Calibri"/>
                <a:ea typeface="Calibri"/>
                <a:cs typeface="Calibri"/>
                <a:sym typeface="Calibri"/>
              </a:rPr>
            </a:br>
            <a:r>
              <a:rPr b="0" i="0" lang="en-US" sz="1000" u="none" cap="none" strike="noStrike">
                <a:solidFill>
                  <a:srgbClr val="1A2340"/>
                </a:solidFill>
                <a:latin typeface="Calibri"/>
                <a:ea typeface="Calibri"/>
                <a:cs typeface="Calibri"/>
                <a:sym typeface="Calibri"/>
              </a:rPr>
              <a:t>Notation: 3F+3T, 3Lz+2T+2Lo</a:t>
            </a:r>
            <a:br>
              <a:rPr b="0" i="0" lang="en-US" sz="1000" u="none" cap="none" strike="noStrike">
                <a:solidFill>
                  <a:srgbClr val="1A2340"/>
                </a:solidFill>
                <a:latin typeface="Calibri"/>
                <a:ea typeface="Calibri"/>
                <a:cs typeface="Calibri"/>
                <a:sym typeface="Calibri"/>
              </a:rPr>
            </a:br>
            <a:r>
              <a:rPr b="0" i="1" lang="en-US" sz="900" u="none" cap="none" strike="noStrike">
                <a:solidFill>
                  <a:srgbClr val="5A6A82"/>
                </a:solidFill>
                <a:latin typeface="Calibri"/>
                <a:ea typeface="Calibri"/>
                <a:cs typeface="Calibri"/>
                <a:sym typeface="Calibri"/>
              </a:rPr>
              <a:t>[TPH-S §JUMP.COMBO.GEN]</a:t>
            </a:r>
            <a:endParaRPr b="0" i="0" sz="1000" u="none" cap="none" strike="noStrike">
              <a:solidFill>
                <a:schemeClr val="dk1"/>
              </a:solidFill>
              <a:latin typeface="Calibri"/>
              <a:ea typeface="Calibri"/>
              <a:cs typeface="Calibri"/>
              <a:sym typeface="Calibri"/>
            </a:endParaRPr>
          </a:p>
        </p:txBody>
      </p:sp>
      <p:sp>
        <p:nvSpPr>
          <p:cNvPr id="155" name="Google Shape;155;p8"/>
          <p:cNvSpPr/>
          <p:nvPr/>
        </p:nvSpPr>
        <p:spPr>
          <a:xfrm>
            <a:off x="291400" y="1345600"/>
            <a:ext cx="26976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SOLO</a:t>
            </a:r>
            <a:endParaRPr b="0" i="0" sz="1200" u="none" cap="none" strike="noStrike">
              <a:solidFill>
                <a:schemeClr val="dk1"/>
              </a:solidFill>
              <a:latin typeface="Calibri"/>
              <a:ea typeface="Calibri"/>
              <a:cs typeface="Calibri"/>
              <a:sym typeface="Calibri"/>
            </a:endParaRPr>
          </a:p>
        </p:txBody>
      </p:sp>
      <p:sp>
        <p:nvSpPr>
          <p:cNvPr id="156" name="Google Shape;156;p8"/>
          <p:cNvSpPr/>
          <p:nvPr/>
        </p:nvSpPr>
        <p:spPr>
          <a:xfrm>
            <a:off x="5898425" y="1354747"/>
            <a:ext cx="2697600" cy="365700"/>
          </a:xfrm>
          <a:prstGeom prst="rect">
            <a:avLst/>
          </a:prstGeom>
          <a:solidFill>
            <a:srgbClr val="C8922A"/>
          </a:solidFill>
          <a:ln cap="flat" cmpd="sng" w="1270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8"/>
          <p:cNvSpPr/>
          <p:nvPr/>
        </p:nvSpPr>
        <p:spPr>
          <a:xfrm>
            <a:off x="5898425" y="1350175"/>
            <a:ext cx="26976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SEQUENCE</a:t>
            </a:r>
            <a:endParaRPr b="0" i="0" sz="1200" u="none" cap="none" strike="noStrike">
              <a:solidFill>
                <a:schemeClr val="dk1"/>
              </a:solidFill>
              <a:latin typeface="Calibri"/>
              <a:ea typeface="Calibri"/>
              <a:cs typeface="Calibri"/>
              <a:sym typeface="Calibri"/>
            </a:endParaRPr>
          </a:p>
        </p:txBody>
      </p:sp>
      <p:sp>
        <p:nvSpPr>
          <p:cNvPr id="158" name="Google Shape;158;p8"/>
          <p:cNvSpPr/>
          <p:nvPr/>
        </p:nvSpPr>
        <p:spPr>
          <a:xfrm>
            <a:off x="5898425" y="1714925"/>
            <a:ext cx="2697600" cy="1229100"/>
          </a:xfrm>
          <a:prstGeom prst="rect">
            <a:avLst/>
          </a:prstGeom>
          <a:solidFill>
            <a:srgbClr val="FFFFFF"/>
          </a:solidFill>
          <a:ln cap="flat" cmpd="sng" w="9525">
            <a:solidFill>
              <a:srgbClr val="C0C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8"/>
          <p:cNvSpPr/>
          <p:nvPr/>
        </p:nvSpPr>
        <p:spPr>
          <a:xfrm>
            <a:off x="5989925" y="1803525"/>
            <a:ext cx="2514600" cy="1066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2340"/>
              </a:buClr>
              <a:buSzPts val="1000"/>
              <a:buFont typeface="Calibri"/>
              <a:buNone/>
            </a:pPr>
            <a:r>
              <a:rPr b="0" i="0" lang="en-US" sz="1000" u="none" cap="none" strike="noStrike">
                <a:solidFill>
                  <a:srgbClr val="1A2340"/>
                </a:solidFill>
                <a:latin typeface="Calibri"/>
                <a:ea typeface="Calibri"/>
                <a:cs typeface="Calibri"/>
                <a:sym typeface="Calibri"/>
              </a:rPr>
              <a:t>2–3 jumps where the second/third must be an Axel-type jump. Entered with direct step from landing curve.</a:t>
            </a:r>
            <a:br>
              <a:rPr b="0" i="0" lang="en-US" sz="1000" u="none" cap="none" strike="noStrike">
                <a:solidFill>
                  <a:srgbClr val="1A2340"/>
                </a:solidFill>
                <a:latin typeface="Calibri"/>
                <a:ea typeface="Calibri"/>
                <a:cs typeface="Calibri"/>
                <a:sym typeface="Calibri"/>
              </a:rPr>
            </a:br>
            <a:br>
              <a:rPr b="0" i="0" lang="en-US" sz="1000" u="none" cap="none" strike="noStrike">
                <a:solidFill>
                  <a:srgbClr val="1A2340"/>
                </a:solidFill>
                <a:latin typeface="Calibri"/>
                <a:ea typeface="Calibri"/>
                <a:cs typeface="Calibri"/>
                <a:sym typeface="Calibri"/>
              </a:rPr>
            </a:br>
            <a:r>
              <a:rPr b="0" i="0" lang="en-US" sz="1000" u="none" cap="none" strike="noStrike">
                <a:solidFill>
                  <a:srgbClr val="1A2340"/>
                </a:solidFill>
                <a:latin typeface="Calibri"/>
                <a:ea typeface="Calibri"/>
                <a:cs typeface="Calibri"/>
                <a:sym typeface="Calibri"/>
              </a:rPr>
              <a:t>Notation: 3A+SEQ+1A</a:t>
            </a:r>
            <a:br>
              <a:rPr b="0" i="0" lang="en-US" sz="1000" u="none" cap="none" strike="noStrike">
                <a:solidFill>
                  <a:srgbClr val="1A2340"/>
                </a:solidFill>
                <a:latin typeface="Calibri"/>
                <a:ea typeface="Calibri"/>
                <a:cs typeface="Calibri"/>
                <a:sym typeface="Calibri"/>
              </a:rPr>
            </a:br>
            <a:r>
              <a:rPr b="0" i="1" lang="en-US" sz="900" u="none" cap="none" strike="noStrike">
                <a:solidFill>
                  <a:srgbClr val="5A6A82"/>
                </a:solidFill>
                <a:latin typeface="Calibri"/>
                <a:ea typeface="Calibri"/>
                <a:cs typeface="Calibri"/>
                <a:sym typeface="Calibri"/>
              </a:rPr>
              <a:t>[TPH-S §JUMP.SEQ.FS]</a:t>
            </a:r>
            <a:endParaRPr b="0" i="0" sz="1000" u="none" cap="none" strike="noStrike">
              <a:solidFill>
                <a:schemeClr val="dk1"/>
              </a:solidFill>
              <a:latin typeface="Calibri"/>
              <a:ea typeface="Calibri"/>
              <a:cs typeface="Calibri"/>
              <a:sym typeface="Calibri"/>
            </a:endParaRPr>
          </a:p>
        </p:txBody>
      </p:sp>
      <p:graphicFrame>
        <p:nvGraphicFramePr>
          <p:cNvPr id="160" name="Google Shape;160;p8"/>
          <p:cNvGraphicFramePr/>
          <p:nvPr/>
        </p:nvGraphicFramePr>
        <p:xfrm>
          <a:off x="274320" y="3642647"/>
          <a:ext cx="3000000" cy="3000000"/>
        </p:xfrm>
        <a:graphic>
          <a:graphicData uri="http://schemas.openxmlformats.org/drawingml/2006/table">
            <a:tbl>
              <a:tblPr>
                <a:noFill/>
                <a:tableStyleId>{BF2FE4AE-095E-4761-ADC3-5515640C2EEA}</a:tableStyleId>
              </a:tblPr>
              <a:tblGrid>
                <a:gridCol w="3560325"/>
                <a:gridCol w="4806425"/>
              </a:tblGrid>
              <a:tr h="335275">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Touch-down situation</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0D1B4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Result</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0D1B4B"/>
                    </a:solidFill>
                  </a:tcPr>
                </a:tc>
              </a:tr>
              <a:tr h="335275">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Free foot </a:t>
                      </a:r>
                      <a:r>
                        <a:rPr lang="en-US" sz="1000">
                          <a:solidFill>
                            <a:srgbClr val="1A2340"/>
                          </a:solidFill>
                          <a:latin typeface="Calibri"/>
                          <a:ea typeface="Calibri"/>
                          <a:cs typeface="Calibri"/>
                          <a:sym typeface="Calibri"/>
                        </a:rPr>
                        <a:t>barely touches </a:t>
                      </a:r>
                      <a:r>
                        <a:rPr lang="en-US" sz="1000" u="none" cap="none" strike="noStrike">
                          <a:solidFill>
                            <a:srgbClr val="1A2340"/>
                          </a:solidFill>
                          <a:latin typeface="Calibri"/>
                          <a:ea typeface="Calibri"/>
                          <a:cs typeface="Calibri"/>
                          <a:sym typeface="Calibri"/>
                        </a:rPr>
                        <a:t>ice, ≤2 three-turns (or no</a:t>
                      </a:r>
                      <a:r>
                        <a:rPr lang="en-US" sz="1000">
                          <a:solidFill>
                            <a:srgbClr val="1A2340"/>
                          </a:solidFill>
                          <a:latin typeface="Calibri"/>
                          <a:ea typeface="Calibri"/>
                          <a:cs typeface="Calibri"/>
                          <a:sym typeface="Calibri"/>
                        </a:rPr>
                        <a:t>ne) </a:t>
                      </a:r>
                      <a:r>
                        <a:rPr lang="en-US" sz="1000" u="none" cap="none" strike="noStrike">
                          <a:solidFill>
                            <a:srgbClr val="1A2340"/>
                          </a:solidFill>
                          <a:latin typeface="Calibri"/>
                          <a:ea typeface="Calibri"/>
                          <a:cs typeface="Calibri"/>
                          <a:sym typeface="Calibri"/>
                        </a:rPr>
                        <a:t>between jumps</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Still a combination/sequence. Full value. GOE reduction by judges.</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r h="335275">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&gt;1 full revolution on ice between jumps</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Combination broken. Jumps after the break get * (no value).  [TPH-S §JUMP.CL.TOUCHDOWN]</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r>
            </a:tbl>
          </a:graphicData>
        </a:graphic>
      </p:graphicFrame>
      <p:sp>
        <p:nvSpPr>
          <p:cNvPr id="161" name="Google Shape;161;p8"/>
          <p:cNvSpPr/>
          <p:nvPr/>
        </p:nvSpPr>
        <p:spPr>
          <a:xfrm>
            <a:off x="274350" y="3047713"/>
            <a:ext cx="8366700" cy="457200"/>
          </a:xfrm>
          <a:prstGeom prst="rect">
            <a:avLst/>
          </a:prstGeom>
          <a:solidFill>
            <a:srgbClr val="FFF8E6"/>
          </a:solidFill>
          <a:ln cap="flat" cmpd="sng" w="2540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
          <p:cNvSpPr/>
          <p:nvPr/>
        </p:nvSpPr>
        <p:spPr>
          <a:xfrm>
            <a:off x="274325" y="3047713"/>
            <a:ext cx="83217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922A"/>
              </a:buClr>
              <a:buSzPts val="1300"/>
              <a:buFont typeface="Calibri"/>
              <a:buNone/>
            </a:pPr>
            <a:r>
              <a:rPr b="1" i="0" lang="en-US" sz="1300" u="none" cap="none" strike="noStrike">
                <a:solidFill>
                  <a:srgbClr val="C8922A"/>
                </a:solidFill>
                <a:latin typeface="Calibri"/>
                <a:ea typeface="Calibri"/>
                <a:cs typeface="Calibri"/>
                <a:sym typeface="Calibri"/>
              </a:rPr>
              <a:t>★ </a:t>
            </a:r>
            <a:r>
              <a:rPr b="0" i="0" lang="en-US" sz="1100" u="none" cap="none" strike="noStrike">
                <a:solidFill>
                  <a:srgbClr val="1A2340"/>
                </a:solidFill>
                <a:latin typeface="Calibri"/>
                <a:ea typeface="Calibri"/>
                <a:cs typeface="Calibri"/>
                <a:sym typeface="Calibri"/>
              </a:rPr>
              <a:t>Inadvertent hop at end of a solo jump: Panel decision. TS1 says "review" if uncertain. Key question: does the hop look intentional and have the characteristics of a listed jump take-off?</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66" name="Shape 166"/>
        <p:cNvGrpSpPr/>
        <p:nvPr/>
      </p:nvGrpSpPr>
      <p:grpSpPr>
        <a:xfrm>
          <a:off x="0" y="0"/>
          <a:ext cx="0" cy="0"/>
          <a:chOff x="0" y="0"/>
          <a:chExt cx="0" cy="0"/>
        </a:xfrm>
      </p:grpSpPr>
      <p:sp>
        <p:nvSpPr>
          <p:cNvPr id="167" name="Google Shape;167;g3ca8315568a_0_0"/>
          <p:cNvSpPr/>
          <p:nvPr/>
        </p:nvSpPr>
        <p:spPr>
          <a:xfrm>
            <a:off x="0" y="0"/>
            <a:ext cx="164700" cy="5143500"/>
          </a:xfrm>
          <a:prstGeom prst="rect">
            <a:avLst/>
          </a:prstGeom>
          <a:solidFill>
            <a:srgbClr val="0D1B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g3ca8315568a_0_0"/>
          <p:cNvSpPr/>
          <p:nvPr/>
        </p:nvSpPr>
        <p:spPr>
          <a:xfrm>
            <a:off x="274320" y="164592"/>
            <a:ext cx="1463100" cy="329100"/>
          </a:xfrm>
          <a:prstGeom prst="rect">
            <a:avLst/>
          </a:prstGeom>
          <a:solidFill>
            <a:srgbClr val="1E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g3ca8315568a_0_0"/>
          <p:cNvSpPr txBox="1"/>
          <p:nvPr/>
        </p:nvSpPr>
        <p:spPr>
          <a:xfrm>
            <a:off x="274320" y="237967"/>
            <a:ext cx="1463100" cy="181500"/>
          </a:xfrm>
          <a:prstGeom prst="rect">
            <a:avLst/>
          </a:prstGeom>
          <a:noFill/>
          <a:ln>
            <a:noFill/>
          </a:ln>
        </p:spPr>
        <p:txBody>
          <a:bodyPr anchorCtr="0" anchor="t" bIns="13700" lIns="27425" spcFirstLastPara="1" rIns="27425" wrap="square" tIns="13700">
            <a:spAutoFit/>
          </a:bodyPr>
          <a:lstStyle/>
          <a:p>
            <a:pPr indent="0" lvl="0" marL="0" marR="0" rtl="0" algn="ctr">
              <a:spcBef>
                <a:spcPts val="0"/>
              </a:spcBef>
              <a:spcAft>
                <a:spcPts val="0"/>
              </a:spcAft>
              <a:buNone/>
            </a:pPr>
            <a:r>
              <a:rPr b="1" i="0" lang="en-US" sz="1000">
                <a:solidFill>
                  <a:srgbClr val="FFFFFF"/>
                </a:solidFill>
                <a:latin typeface="Calibri"/>
                <a:ea typeface="Calibri"/>
                <a:cs typeface="Calibri"/>
                <a:sym typeface="Calibri"/>
              </a:rPr>
              <a:t>PHASE 2</a:t>
            </a:r>
            <a:r>
              <a:rPr b="1" lang="en-US" sz="1000">
                <a:solidFill>
                  <a:srgbClr val="FFFFFF"/>
                </a:solidFill>
                <a:latin typeface="Calibri"/>
                <a:ea typeface="Calibri"/>
                <a:cs typeface="Calibri"/>
                <a:sym typeface="Calibri"/>
              </a:rPr>
              <a:t>C</a:t>
            </a:r>
            <a:endParaRPr/>
          </a:p>
        </p:txBody>
      </p:sp>
      <p:sp>
        <p:nvSpPr>
          <p:cNvPr id="170" name="Google Shape;170;g3ca8315568a_0_0"/>
          <p:cNvSpPr txBox="1"/>
          <p:nvPr/>
        </p:nvSpPr>
        <p:spPr>
          <a:xfrm>
            <a:off x="274320" y="548640"/>
            <a:ext cx="8595300" cy="49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a:solidFill>
                  <a:srgbClr val="0D1B4B"/>
                </a:solidFill>
                <a:latin typeface="Cambria"/>
                <a:ea typeface="Cambria"/>
                <a:cs typeface="Cambria"/>
                <a:sym typeface="Cambria"/>
              </a:rPr>
              <a:t>Jump Combination — Definition &amp; Special Cases</a:t>
            </a:r>
            <a:endParaRPr/>
          </a:p>
        </p:txBody>
      </p:sp>
      <p:sp>
        <p:nvSpPr>
          <p:cNvPr id="171" name="Google Shape;171;g3ca8315568a_0_0"/>
          <p:cNvSpPr/>
          <p:nvPr/>
        </p:nvSpPr>
        <p:spPr>
          <a:xfrm>
            <a:off x="274320" y="1170432"/>
            <a:ext cx="8595300" cy="36600"/>
          </a:xfrm>
          <a:prstGeom prst="rect">
            <a:avLst/>
          </a:prstGeom>
          <a:solidFill>
            <a:srgbClr val="1E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g3ca8315568a_0_0"/>
          <p:cNvSpPr/>
          <p:nvPr/>
        </p:nvSpPr>
        <p:spPr>
          <a:xfrm>
            <a:off x="0" y="4846320"/>
            <a:ext cx="9144000" cy="301800"/>
          </a:xfrm>
          <a:prstGeom prst="rect">
            <a:avLst/>
          </a:prstGeom>
          <a:solidFill>
            <a:srgbClr val="0D1B4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g3ca8315568a_0_0"/>
          <p:cNvSpPr txBox="1"/>
          <p:nvPr/>
        </p:nvSpPr>
        <p:spPr>
          <a:xfrm>
            <a:off x="274320" y="4846320"/>
            <a:ext cx="8595300" cy="1755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900">
                <a:solidFill>
                  <a:srgbClr val="D6E4F0"/>
                </a:solidFill>
                <a:latin typeface="Calibri"/>
                <a:ea typeface="Calibri"/>
                <a:cs typeface="Calibri"/>
                <a:sym typeface="Calibri"/>
              </a:rPr>
              <a:t>U.S. Figure Skating — Technical Panel Education  |  §JUMP.COMBO.GEN  §JUMP.COMBO.EULER  §JUMP.COMBO.EDGE</a:t>
            </a:r>
            <a:endParaRPr/>
          </a:p>
        </p:txBody>
      </p:sp>
      <p:sp>
        <p:nvSpPr>
          <p:cNvPr id="174" name="Google Shape;174;g3ca8315568a_0_0"/>
          <p:cNvSpPr/>
          <p:nvPr/>
        </p:nvSpPr>
        <p:spPr>
          <a:xfrm>
            <a:off x="274320" y="1243584"/>
            <a:ext cx="3492900" cy="329100"/>
          </a:xfrm>
          <a:prstGeom prst="rect">
            <a:avLst/>
          </a:prstGeom>
          <a:solidFill>
            <a:srgbClr val="1A6B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g3ca8315568a_0_0"/>
          <p:cNvSpPr txBox="1"/>
          <p:nvPr/>
        </p:nvSpPr>
        <p:spPr>
          <a:xfrm>
            <a:off x="274320" y="1243584"/>
            <a:ext cx="3492900" cy="181500"/>
          </a:xfrm>
          <a:prstGeom prst="rect">
            <a:avLst/>
          </a:prstGeom>
          <a:noFill/>
          <a:ln>
            <a:noFill/>
          </a:ln>
        </p:spPr>
        <p:txBody>
          <a:bodyPr anchorCtr="0" anchor="t" bIns="13700" lIns="27425" spcFirstLastPara="1" rIns="27425" wrap="square" tIns="13700">
            <a:spAutoFit/>
          </a:bodyPr>
          <a:lstStyle/>
          <a:p>
            <a:pPr indent="0" lvl="0" marL="0" marR="0" rtl="0" algn="ctr">
              <a:spcBef>
                <a:spcPts val="0"/>
              </a:spcBef>
              <a:spcAft>
                <a:spcPts val="0"/>
              </a:spcAft>
              <a:buNone/>
            </a:pPr>
            <a:r>
              <a:rPr b="1" i="0" lang="en-US" sz="1000">
                <a:solidFill>
                  <a:srgbClr val="FFFFFF"/>
                </a:solidFill>
                <a:latin typeface="Calibri"/>
                <a:ea typeface="Calibri"/>
                <a:cs typeface="Calibri"/>
                <a:sym typeface="Calibri"/>
              </a:rPr>
              <a:t>GENERAL RULE</a:t>
            </a:r>
            <a:endParaRPr/>
          </a:p>
        </p:txBody>
      </p:sp>
      <p:sp>
        <p:nvSpPr>
          <p:cNvPr id="176" name="Google Shape;176;g3ca8315568a_0_0"/>
          <p:cNvSpPr/>
          <p:nvPr/>
        </p:nvSpPr>
        <p:spPr>
          <a:xfrm>
            <a:off x="274325" y="1572774"/>
            <a:ext cx="3492900" cy="2596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7" name="Google Shape;177;g3ca8315568a_0_0"/>
          <p:cNvSpPr txBox="1"/>
          <p:nvPr/>
        </p:nvSpPr>
        <p:spPr>
          <a:xfrm>
            <a:off x="365760" y="1682496"/>
            <a:ext cx="3310200" cy="178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a:solidFill>
                  <a:srgbClr val="1A2340"/>
                </a:solidFill>
                <a:latin typeface="Calibri"/>
                <a:ea typeface="Calibri"/>
                <a:cs typeface="Calibri"/>
                <a:sym typeface="Calibri"/>
              </a:rPr>
              <a:t>Landing foot = take-off foot of next jump</a:t>
            </a:r>
            <a:endParaRPr/>
          </a:p>
          <a:p>
            <a:pPr indent="0" lvl="0" marL="0" marR="0" rtl="0" algn="l">
              <a:spcBef>
                <a:spcPts val="0"/>
              </a:spcBef>
              <a:spcAft>
                <a:spcPts val="0"/>
              </a:spcAft>
              <a:buNone/>
            </a:pPr>
            <a:r>
              <a:t/>
            </a:r>
            <a:endParaRPr b="0" i="0" sz="1000">
              <a:solidFill>
                <a:srgbClr val="1A2340"/>
              </a:solidFill>
              <a:latin typeface="Calibri"/>
              <a:ea typeface="Calibri"/>
              <a:cs typeface="Calibri"/>
              <a:sym typeface="Calibri"/>
            </a:endParaRPr>
          </a:p>
          <a:p>
            <a:pPr indent="0" lvl="0" marL="0" marR="0" rtl="0" algn="l">
              <a:spcBef>
                <a:spcPts val="0"/>
              </a:spcBef>
              <a:spcAft>
                <a:spcPts val="0"/>
              </a:spcAft>
              <a:buNone/>
            </a:pPr>
            <a:r>
              <a:rPr b="0" i="0" lang="en-US" sz="1000">
                <a:solidFill>
                  <a:srgbClr val="1A2340"/>
                </a:solidFill>
                <a:latin typeface="Calibri"/>
                <a:ea typeface="Calibri"/>
                <a:cs typeface="Calibri"/>
                <a:sym typeface="Calibri"/>
              </a:rPr>
              <a:t>Up to 1 full revolution on ice between jumps is permitted (free foot may touch the ice, but no weight transfer)</a:t>
            </a:r>
            <a:endParaRPr/>
          </a:p>
          <a:p>
            <a:pPr indent="0" lvl="0" marL="0" marR="0" rtl="0" algn="l">
              <a:spcBef>
                <a:spcPts val="0"/>
              </a:spcBef>
              <a:spcAft>
                <a:spcPts val="0"/>
              </a:spcAft>
              <a:buNone/>
            </a:pPr>
            <a:r>
              <a:t/>
            </a:r>
            <a:endParaRPr b="0" i="0" sz="1000">
              <a:solidFill>
                <a:srgbClr val="1A2340"/>
              </a:solidFill>
              <a:latin typeface="Calibri"/>
              <a:ea typeface="Calibri"/>
              <a:cs typeface="Calibri"/>
              <a:sym typeface="Calibri"/>
            </a:endParaRPr>
          </a:p>
          <a:p>
            <a:pPr indent="0" lvl="0" marL="0" marR="0" rtl="0" algn="l">
              <a:spcBef>
                <a:spcPts val="0"/>
              </a:spcBef>
              <a:spcAft>
                <a:spcPts val="0"/>
              </a:spcAft>
              <a:buNone/>
            </a:pPr>
            <a:r>
              <a:rPr b="0" i="0" lang="en-US" sz="1000">
                <a:solidFill>
                  <a:srgbClr val="1A2340"/>
                </a:solidFill>
                <a:latin typeface="Calibri"/>
                <a:ea typeface="Calibri"/>
                <a:cs typeface="Calibri"/>
                <a:sym typeface="Calibri"/>
              </a:rPr>
              <a:t>One intended turn, rocker, counter, or bracket between jumps keeps the element within the combination frame — no GOE reduction</a:t>
            </a:r>
            <a:endParaRPr/>
          </a:p>
          <a:p>
            <a:pPr indent="0" lvl="0" marL="0" marR="0" rtl="0" algn="l">
              <a:spcBef>
                <a:spcPts val="0"/>
              </a:spcBef>
              <a:spcAft>
                <a:spcPts val="0"/>
              </a:spcAft>
              <a:buNone/>
            </a:pPr>
            <a:r>
              <a:t/>
            </a:r>
            <a:endParaRPr b="0" i="0" sz="1000">
              <a:solidFill>
                <a:srgbClr val="1A2340"/>
              </a:solidFill>
              <a:latin typeface="Calibri"/>
              <a:ea typeface="Calibri"/>
              <a:cs typeface="Calibri"/>
              <a:sym typeface="Calibri"/>
            </a:endParaRPr>
          </a:p>
          <a:p>
            <a:pPr indent="0" lvl="0" marL="0" marR="0" rtl="0" algn="l">
              <a:spcBef>
                <a:spcPts val="0"/>
              </a:spcBef>
              <a:spcAft>
                <a:spcPts val="0"/>
              </a:spcAft>
              <a:buNone/>
            </a:pPr>
            <a:r>
              <a:rPr b="0" i="0" lang="en-US" sz="1000">
                <a:solidFill>
                  <a:srgbClr val="1A2340"/>
                </a:solidFill>
                <a:latin typeface="Calibri"/>
                <a:ea typeface="Calibri"/>
                <a:cs typeface="Calibri"/>
                <a:sym typeface="Calibri"/>
              </a:rPr>
              <a:t>One intended change of edge between jumps in opposite rotational directions is permitted — no GOE reduction</a:t>
            </a:r>
            <a:endParaRPr/>
          </a:p>
        </p:txBody>
      </p:sp>
      <p:sp>
        <p:nvSpPr>
          <p:cNvPr id="178" name="Google Shape;178;g3ca8315568a_0_0"/>
          <p:cNvSpPr/>
          <p:nvPr/>
        </p:nvSpPr>
        <p:spPr>
          <a:xfrm>
            <a:off x="3904487" y="1243584"/>
            <a:ext cx="2395800" cy="329100"/>
          </a:xfrm>
          <a:prstGeom prst="rect">
            <a:avLst/>
          </a:prstGeom>
          <a:solidFill>
            <a:srgbClr val="1E3A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g3ca8315568a_0_0"/>
          <p:cNvSpPr txBox="1"/>
          <p:nvPr/>
        </p:nvSpPr>
        <p:spPr>
          <a:xfrm>
            <a:off x="3904487" y="1243584"/>
            <a:ext cx="2395800" cy="166200"/>
          </a:xfrm>
          <a:prstGeom prst="rect">
            <a:avLst/>
          </a:prstGeom>
          <a:noFill/>
          <a:ln>
            <a:noFill/>
          </a:ln>
        </p:spPr>
        <p:txBody>
          <a:bodyPr anchorCtr="0" anchor="t" bIns="13700" lIns="27425" spcFirstLastPara="1" rIns="27425" wrap="square" tIns="13700">
            <a:spAutoFit/>
          </a:bodyPr>
          <a:lstStyle/>
          <a:p>
            <a:pPr indent="0" lvl="0" marL="0" marR="0" rtl="0" algn="ctr">
              <a:spcBef>
                <a:spcPts val="0"/>
              </a:spcBef>
              <a:spcAft>
                <a:spcPts val="0"/>
              </a:spcAft>
              <a:buNone/>
            </a:pPr>
            <a:r>
              <a:rPr b="1" i="0" lang="en-US" sz="900">
                <a:solidFill>
                  <a:srgbClr val="FFFFFF"/>
                </a:solidFill>
                <a:latin typeface="Calibri"/>
                <a:ea typeface="Calibri"/>
                <a:cs typeface="Calibri"/>
                <a:sym typeface="Calibri"/>
              </a:rPr>
              <a:t>1Eu + THREE-TURN CASE</a:t>
            </a:r>
            <a:endParaRPr/>
          </a:p>
        </p:txBody>
      </p:sp>
      <p:sp>
        <p:nvSpPr>
          <p:cNvPr id="180" name="Google Shape;180;g3ca8315568a_0_0"/>
          <p:cNvSpPr/>
          <p:nvPr/>
        </p:nvSpPr>
        <p:spPr>
          <a:xfrm>
            <a:off x="3904475" y="1572774"/>
            <a:ext cx="2395800" cy="2596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g3ca8315568a_0_0"/>
          <p:cNvSpPr txBox="1"/>
          <p:nvPr/>
        </p:nvSpPr>
        <p:spPr>
          <a:xfrm>
            <a:off x="3995927" y="1682496"/>
            <a:ext cx="2212800" cy="193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a:solidFill>
                  <a:srgbClr val="1A2340"/>
                </a:solidFill>
                <a:latin typeface="Calibri"/>
                <a:ea typeface="Calibri"/>
                <a:cs typeface="Calibri"/>
                <a:sym typeface="Calibri"/>
              </a:rPr>
              <a:t>Listed jump + 1Eu + three-turn on same foot + Axel type jump</a:t>
            </a:r>
            <a:endParaRPr/>
          </a:p>
          <a:p>
            <a:pPr indent="0" lvl="0" marL="0" marR="0" rtl="0" algn="l">
              <a:spcBef>
                <a:spcPts val="0"/>
              </a:spcBef>
              <a:spcAft>
                <a:spcPts val="0"/>
              </a:spcAft>
              <a:buNone/>
            </a:pPr>
            <a:r>
              <a:t/>
            </a:r>
            <a:endParaRPr b="0" i="0" sz="1000">
              <a:solidFill>
                <a:srgbClr val="1A2340"/>
              </a:solidFill>
              <a:latin typeface="Calibri"/>
              <a:ea typeface="Calibri"/>
              <a:cs typeface="Calibri"/>
              <a:sym typeface="Calibri"/>
            </a:endParaRPr>
          </a:p>
          <a:p>
            <a:pPr indent="0" lvl="0" marL="0" marR="0" rtl="0" algn="l">
              <a:spcBef>
                <a:spcPts val="0"/>
              </a:spcBef>
              <a:spcAft>
                <a:spcPts val="0"/>
              </a:spcAft>
              <a:buNone/>
            </a:pPr>
            <a:r>
              <a:rPr b="0" i="0" lang="en-US" sz="1000">
                <a:solidFill>
                  <a:srgbClr val="1A2340"/>
                </a:solidFill>
                <a:latin typeface="Calibri"/>
                <a:ea typeface="Calibri"/>
                <a:cs typeface="Calibri"/>
                <a:sym typeface="Calibri"/>
              </a:rPr>
              <a:t>→ Called as a jump combination:</a:t>
            </a:r>
            <a:endParaRPr/>
          </a:p>
          <a:p>
            <a:pPr indent="0" lvl="0" marL="0" marR="0" rtl="0" algn="l">
              <a:spcBef>
                <a:spcPts val="0"/>
              </a:spcBef>
              <a:spcAft>
                <a:spcPts val="0"/>
              </a:spcAft>
              <a:buNone/>
            </a:pPr>
            <a:r>
              <a:rPr b="0" i="0" lang="en-US" sz="1000">
                <a:solidFill>
                  <a:srgbClr val="1A2340"/>
                </a:solidFill>
                <a:latin typeface="Calibri"/>
                <a:ea typeface="Calibri"/>
                <a:cs typeface="Calibri"/>
                <a:sym typeface="Calibri"/>
              </a:rPr>
              <a:t>"Listed jump + 1Eu + Axel type jump"</a:t>
            </a:r>
            <a:endParaRPr/>
          </a:p>
          <a:p>
            <a:pPr indent="0" lvl="0" marL="0" marR="0" rtl="0" algn="l">
              <a:spcBef>
                <a:spcPts val="0"/>
              </a:spcBef>
              <a:spcAft>
                <a:spcPts val="0"/>
              </a:spcAft>
              <a:buNone/>
            </a:pPr>
            <a:r>
              <a:t/>
            </a:r>
            <a:endParaRPr b="0" i="0" sz="1000">
              <a:solidFill>
                <a:srgbClr val="1A2340"/>
              </a:solidFill>
              <a:latin typeface="Calibri"/>
              <a:ea typeface="Calibri"/>
              <a:cs typeface="Calibri"/>
              <a:sym typeface="Calibri"/>
            </a:endParaRPr>
          </a:p>
          <a:p>
            <a:pPr indent="0" lvl="0" marL="0" marR="0" rtl="0" algn="l">
              <a:spcBef>
                <a:spcPts val="0"/>
              </a:spcBef>
              <a:spcAft>
                <a:spcPts val="0"/>
              </a:spcAft>
              <a:buNone/>
            </a:pPr>
            <a:r>
              <a:rPr b="0" i="0" lang="en-US" sz="1000">
                <a:solidFill>
                  <a:srgbClr val="1A2340"/>
                </a:solidFill>
                <a:latin typeface="Calibri"/>
                <a:ea typeface="Calibri"/>
                <a:cs typeface="Calibri"/>
                <a:sym typeface="Calibri"/>
              </a:rPr>
              <a:t>Example:</a:t>
            </a:r>
            <a:endParaRPr/>
          </a:p>
          <a:p>
            <a:pPr indent="0" lvl="0" marL="0" marR="0" rtl="0" algn="l">
              <a:spcBef>
                <a:spcPts val="0"/>
              </a:spcBef>
              <a:spcAft>
                <a:spcPts val="0"/>
              </a:spcAft>
              <a:buNone/>
            </a:pPr>
            <a:r>
              <a:rPr b="0" i="0" lang="en-US" sz="1000">
                <a:solidFill>
                  <a:srgbClr val="1A2340"/>
                </a:solidFill>
                <a:latin typeface="Calibri"/>
                <a:ea typeface="Calibri"/>
                <a:cs typeface="Calibri"/>
                <a:sym typeface="Calibri"/>
              </a:rPr>
              <a:t>3F + 1Eu + three-turn + 2A</a:t>
            </a:r>
            <a:endParaRPr/>
          </a:p>
          <a:p>
            <a:pPr indent="0" lvl="0" marL="0" marR="0" rtl="0" algn="l">
              <a:spcBef>
                <a:spcPts val="0"/>
              </a:spcBef>
              <a:spcAft>
                <a:spcPts val="0"/>
              </a:spcAft>
              <a:buNone/>
            </a:pPr>
            <a:r>
              <a:rPr b="0" i="0" lang="en-US" sz="1000">
                <a:solidFill>
                  <a:srgbClr val="1A2340"/>
                </a:solidFill>
                <a:latin typeface="Calibri"/>
                <a:ea typeface="Calibri"/>
                <a:cs typeface="Calibri"/>
                <a:sym typeface="Calibri"/>
              </a:rPr>
              <a:t>= 3F+1Eu+2A</a:t>
            </a:r>
            <a:endParaRPr/>
          </a:p>
          <a:p>
            <a:pPr indent="0" lvl="0" marL="0" marR="0" rtl="0" algn="l">
              <a:spcBef>
                <a:spcPts val="0"/>
              </a:spcBef>
              <a:spcAft>
                <a:spcPts val="0"/>
              </a:spcAft>
              <a:buNone/>
            </a:pPr>
            <a:r>
              <a:t/>
            </a:r>
            <a:endParaRPr b="0" i="0" sz="1000">
              <a:solidFill>
                <a:srgbClr val="1A2340"/>
              </a:solidFill>
              <a:latin typeface="Calibri"/>
              <a:ea typeface="Calibri"/>
              <a:cs typeface="Calibri"/>
              <a:sym typeface="Calibri"/>
            </a:endParaRPr>
          </a:p>
          <a:p>
            <a:pPr indent="0" lvl="0" marL="0" marR="0" rtl="0" algn="l">
              <a:spcBef>
                <a:spcPts val="0"/>
              </a:spcBef>
              <a:spcAft>
                <a:spcPts val="0"/>
              </a:spcAft>
              <a:buNone/>
            </a:pPr>
            <a:r>
              <a:rPr b="0" i="0" lang="en-US" sz="1000">
                <a:solidFill>
                  <a:srgbClr val="1A2340"/>
                </a:solidFill>
                <a:latin typeface="Calibri"/>
                <a:ea typeface="Calibri"/>
                <a:cs typeface="Calibri"/>
                <a:sym typeface="Calibri"/>
              </a:rPr>
              <a:t>No GOE reduction for the intended three-turn</a:t>
            </a:r>
            <a:endParaRPr/>
          </a:p>
        </p:txBody>
      </p:sp>
      <p:sp>
        <p:nvSpPr>
          <p:cNvPr id="182" name="Google Shape;182;g3ca8315568a_0_0"/>
          <p:cNvSpPr/>
          <p:nvPr/>
        </p:nvSpPr>
        <p:spPr>
          <a:xfrm>
            <a:off x="6437376" y="1243584"/>
            <a:ext cx="2432400" cy="329100"/>
          </a:xfrm>
          <a:prstGeom prst="rect">
            <a:avLst/>
          </a:prstGeom>
          <a:solidFill>
            <a:srgbClr val="C892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g3ca8315568a_0_0"/>
          <p:cNvSpPr txBox="1"/>
          <p:nvPr/>
        </p:nvSpPr>
        <p:spPr>
          <a:xfrm>
            <a:off x="6437376" y="1243584"/>
            <a:ext cx="2432400" cy="166200"/>
          </a:xfrm>
          <a:prstGeom prst="rect">
            <a:avLst/>
          </a:prstGeom>
          <a:noFill/>
          <a:ln>
            <a:noFill/>
          </a:ln>
        </p:spPr>
        <p:txBody>
          <a:bodyPr anchorCtr="0" anchor="t" bIns="13700" lIns="27425" spcFirstLastPara="1" rIns="27425" wrap="square" tIns="13700">
            <a:spAutoFit/>
          </a:bodyPr>
          <a:lstStyle/>
          <a:p>
            <a:pPr indent="0" lvl="0" marL="0" marR="0" rtl="0" algn="ctr">
              <a:spcBef>
                <a:spcPts val="0"/>
              </a:spcBef>
              <a:spcAft>
                <a:spcPts val="0"/>
              </a:spcAft>
              <a:buNone/>
            </a:pPr>
            <a:r>
              <a:rPr b="1" i="0" lang="en-US" sz="900">
                <a:solidFill>
                  <a:srgbClr val="FFFFFF"/>
                </a:solidFill>
                <a:latin typeface="Calibri"/>
                <a:ea typeface="Calibri"/>
                <a:cs typeface="Calibri"/>
                <a:sym typeface="Calibri"/>
              </a:rPr>
              <a:t>CHANGE OF EDGE CASE</a:t>
            </a:r>
            <a:endParaRPr/>
          </a:p>
        </p:txBody>
      </p:sp>
      <p:sp>
        <p:nvSpPr>
          <p:cNvPr id="184" name="Google Shape;184;g3ca8315568a_0_0"/>
          <p:cNvSpPr/>
          <p:nvPr/>
        </p:nvSpPr>
        <p:spPr>
          <a:xfrm>
            <a:off x="6437375" y="1572774"/>
            <a:ext cx="2432400" cy="25968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g3ca8315568a_0_0"/>
          <p:cNvSpPr txBox="1"/>
          <p:nvPr/>
        </p:nvSpPr>
        <p:spPr>
          <a:xfrm>
            <a:off x="6528816" y="1682496"/>
            <a:ext cx="2249400" cy="209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a:solidFill>
                  <a:srgbClr val="1A2340"/>
                </a:solidFill>
                <a:latin typeface="Calibri"/>
                <a:ea typeface="Calibri"/>
                <a:cs typeface="Calibri"/>
                <a:sym typeface="Calibri"/>
              </a:rPr>
              <a:t>Listed jump + one intended change of edge + Listed jump in the opposite rotational direction</a:t>
            </a:r>
            <a:endParaRPr/>
          </a:p>
          <a:p>
            <a:pPr indent="0" lvl="0" marL="0" marR="0" rtl="0" algn="l">
              <a:spcBef>
                <a:spcPts val="0"/>
              </a:spcBef>
              <a:spcAft>
                <a:spcPts val="0"/>
              </a:spcAft>
              <a:buNone/>
            </a:pPr>
            <a:r>
              <a:t/>
            </a:r>
            <a:endParaRPr b="0" i="0" sz="1000">
              <a:solidFill>
                <a:srgbClr val="1A2340"/>
              </a:solidFill>
              <a:latin typeface="Calibri"/>
              <a:ea typeface="Calibri"/>
              <a:cs typeface="Calibri"/>
              <a:sym typeface="Calibri"/>
            </a:endParaRPr>
          </a:p>
          <a:p>
            <a:pPr indent="0" lvl="0" marL="0" marR="0" rtl="0" algn="l">
              <a:spcBef>
                <a:spcPts val="0"/>
              </a:spcBef>
              <a:spcAft>
                <a:spcPts val="0"/>
              </a:spcAft>
              <a:buNone/>
            </a:pPr>
            <a:r>
              <a:rPr b="0" i="0" lang="en-US" sz="1000">
                <a:solidFill>
                  <a:srgbClr val="1A2340"/>
                </a:solidFill>
                <a:latin typeface="Calibri"/>
                <a:ea typeface="Calibri"/>
                <a:cs typeface="Calibri"/>
                <a:sym typeface="Calibri"/>
              </a:rPr>
              <a:t>→ Called as a jump combination</a:t>
            </a:r>
            <a:endParaRPr/>
          </a:p>
          <a:p>
            <a:pPr indent="0" lvl="0" marL="0" marR="0" rtl="0" algn="l">
              <a:spcBef>
                <a:spcPts val="0"/>
              </a:spcBef>
              <a:spcAft>
                <a:spcPts val="0"/>
              </a:spcAft>
              <a:buNone/>
            </a:pPr>
            <a:r>
              <a:t/>
            </a:r>
            <a:endParaRPr b="0" i="0" sz="1000">
              <a:solidFill>
                <a:srgbClr val="1A2340"/>
              </a:solidFill>
              <a:latin typeface="Calibri"/>
              <a:ea typeface="Calibri"/>
              <a:cs typeface="Calibri"/>
              <a:sym typeface="Calibri"/>
            </a:endParaRPr>
          </a:p>
          <a:p>
            <a:pPr indent="0" lvl="0" marL="0" marR="0" rtl="0" algn="l">
              <a:spcBef>
                <a:spcPts val="0"/>
              </a:spcBef>
              <a:spcAft>
                <a:spcPts val="0"/>
              </a:spcAft>
              <a:buNone/>
            </a:pPr>
            <a:r>
              <a:rPr b="0" i="0" lang="en-US" sz="1000">
                <a:solidFill>
                  <a:srgbClr val="1A2340"/>
                </a:solidFill>
                <a:latin typeface="Calibri"/>
                <a:ea typeface="Calibri"/>
                <a:cs typeface="Calibri"/>
                <a:sym typeface="Calibri"/>
              </a:rPr>
              <a:t>Example:</a:t>
            </a:r>
            <a:endParaRPr/>
          </a:p>
          <a:p>
            <a:pPr indent="0" lvl="0" marL="0" marR="0" rtl="0" algn="l">
              <a:spcBef>
                <a:spcPts val="0"/>
              </a:spcBef>
              <a:spcAft>
                <a:spcPts val="0"/>
              </a:spcAft>
              <a:buNone/>
            </a:pPr>
            <a:r>
              <a:rPr b="0" i="0" lang="en-US" sz="1000">
                <a:solidFill>
                  <a:srgbClr val="1A2340"/>
                </a:solidFill>
                <a:latin typeface="Calibri"/>
                <a:ea typeface="Calibri"/>
                <a:cs typeface="Calibri"/>
                <a:sym typeface="Calibri"/>
              </a:rPr>
              <a:t>3S + change of edge + 2S (opposite direction)</a:t>
            </a:r>
            <a:endParaRPr/>
          </a:p>
          <a:p>
            <a:pPr indent="0" lvl="0" marL="0" marR="0" rtl="0" algn="l">
              <a:spcBef>
                <a:spcPts val="0"/>
              </a:spcBef>
              <a:spcAft>
                <a:spcPts val="0"/>
              </a:spcAft>
              <a:buNone/>
            </a:pPr>
            <a:r>
              <a:rPr b="0" i="0" lang="en-US" sz="1000">
                <a:solidFill>
                  <a:srgbClr val="1A2340"/>
                </a:solidFill>
                <a:latin typeface="Calibri"/>
                <a:ea typeface="Calibri"/>
                <a:cs typeface="Calibri"/>
                <a:sym typeface="Calibri"/>
              </a:rPr>
              <a:t>= 3S+2S</a:t>
            </a:r>
            <a:endParaRPr/>
          </a:p>
          <a:p>
            <a:pPr indent="0" lvl="0" marL="0" marR="0" rtl="0" algn="l">
              <a:spcBef>
                <a:spcPts val="0"/>
              </a:spcBef>
              <a:spcAft>
                <a:spcPts val="0"/>
              </a:spcAft>
              <a:buNone/>
            </a:pPr>
            <a:r>
              <a:t/>
            </a:r>
            <a:endParaRPr b="0" i="0" sz="1000">
              <a:solidFill>
                <a:srgbClr val="1A2340"/>
              </a:solidFill>
              <a:latin typeface="Calibri"/>
              <a:ea typeface="Calibri"/>
              <a:cs typeface="Calibri"/>
              <a:sym typeface="Calibri"/>
            </a:endParaRPr>
          </a:p>
          <a:p>
            <a:pPr indent="0" lvl="0" marL="0" marR="0" rtl="0" algn="l">
              <a:spcBef>
                <a:spcPts val="0"/>
              </a:spcBef>
              <a:spcAft>
                <a:spcPts val="0"/>
              </a:spcAft>
              <a:buNone/>
            </a:pPr>
            <a:r>
              <a:rPr b="0" i="0" lang="en-US" sz="1000">
                <a:solidFill>
                  <a:srgbClr val="1A2340"/>
                </a:solidFill>
                <a:latin typeface="Calibri"/>
                <a:ea typeface="Calibri"/>
                <a:cs typeface="Calibri"/>
                <a:sym typeface="Calibri"/>
              </a:rPr>
              <a:t>No GOE reduction for the intended change of edge</a:t>
            </a:r>
            <a:endParaRPr/>
          </a:p>
        </p:txBody>
      </p:sp>
      <p:sp>
        <p:nvSpPr>
          <p:cNvPr id="186" name="Google Shape;186;g3ca8315568a_0_0"/>
          <p:cNvSpPr/>
          <p:nvPr/>
        </p:nvSpPr>
        <p:spPr>
          <a:xfrm>
            <a:off x="274320" y="4317268"/>
            <a:ext cx="8595300" cy="246900"/>
          </a:xfrm>
          <a:prstGeom prst="rect">
            <a:avLst/>
          </a:prstGeom>
          <a:solidFill>
            <a:srgbClr val="FFF8E8"/>
          </a:solidFill>
          <a:ln cap="flat" cmpd="sng" w="9525">
            <a:solidFill>
              <a:srgbClr val="C8922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g3ca8315568a_0_0"/>
          <p:cNvSpPr txBox="1"/>
          <p:nvPr/>
        </p:nvSpPr>
        <p:spPr>
          <a:xfrm>
            <a:off x="383973" y="4317263"/>
            <a:ext cx="8376000" cy="2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850">
                <a:solidFill>
                  <a:srgbClr val="1A2340"/>
                </a:solidFill>
                <a:latin typeface="Calibri"/>
                <a:ea typeface="Calibri"/>
                <a:cs typeface="Calibri"/>
                <a:sym typeface="Calibri"/>
              </a:rPr>
              <a:t>★  Key: if execution breaks the combination definition (e.g. weight transfer, &gt;1 full revolution on ice), the element is called as +COMBO or +SEQ with asterisks — per Phase 4 vetting rules.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6E4F0"/>
        </a:solidFill>
      </p:bgPr>
    </p:bg>
    <p:spTree>
      <p:nvGrpSpPr>
        <p:cNvPr id="192" name="Shape 192"/>
        <p:cNvGrpSpPr/>
        <p:nvPr/>
      </p:nvGrpSpPr>
      <p:grpSpPr>
        <a:xfrm>
          <a:off x="0" y="0"/>
          <a:ext cx="0" cy="0"/>
          <a:chOff x="0" y="0"/>
          <a:chExt cx="0" cy="0"/>
        </a:xfrm>
      </p:grpSpPr>
      <p:sp>
        <p:nvSpPr>
          <p:cNvPr id="193" name="Google Shape;193;p9"/>
          <p:cNvSpPr/>
          <p:nvPr/>
        </p:nvSpPr>
        <p:spPr>
          <a:xfrm>
            <a:off x="0" y="0"/>
            <a:ext cx="164592" cy="5143500"/>
          </a:xfrm>
          <a:prstGeom prst="rect">
            <a:avLst/>
          </a:prstGeom>
          <a:solidFill>
            <a:srgbClr val="0D1B4B"/>
          </a:solidFill>
          <a:ln cap="flat" cmpd="sng" w="12700">
            <a:solidFill>
              <a:srgbClr val="0D1B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
          <p:cNvSpPr/>
          <p:nvPr/>
        </p:nvSpPr>
        <p:spPr>
          <a:xfrm>
            <a:off x="274320" y="164592"/>
            <a:ext cx="1463040" cy="329184"/>
          </a:xfrm>
          <a:prstGeom prst="rect">
            <a:avLst/>
          </a:prstGeom>
          <a:solidFill>
            <a:srgbClr val="C8922A"/>
          </a:solidFill>
          <a:ln cap="flat" cmpd="sng" w="1270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274320" y="164592"/>
            <a:ext cx="14630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PHASE 3</a:t>
            </a:r>
            <a:endParaRPr b="0" i="0" sz="1000" u="none" cap="none" strike="noStrike">
              <a:solidFill>
                <a:schemeClr val="dk1"/>
              </a:solidFill>
              <a:latin typeface="Calibri"/>
              <a:ea typeface="Calibri"/>
              <a:cs typeface="Calibri"/>
              <a:sym typeface="Calibri"/>
            </a:endParaRPr>
          </a:p>
        </p:txBody>
      </p:sp>
      <p:sp>
        <p:nvSpPr>
          <p:cNvPr id="196" name="Google Shape;196;p9"/>
          <p:cNvSpPr/>
          <p:nvPr/>
        </p:nvSpPr>
        <p:spPr>
          <a:xfrm>
            <a:off x="274320" y="548640"/>
            <a:ext cx="85953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4B"/>
              </a:buClr>
              <a:buSzPts val="2600"/>
              <a:buFont typeface="Cambria"/>
              <a:buNone/>
            </a:pPr>
            <a:r>
              <a:rPr b="1" i="0" lang="en-US" sz="2600" u="none" cap="none" strike="noStrike">
                <a:solidFill>
                  <a:srgbClr val="0D1B4B"/>
                </a:solidFill>
                <a:latin typeface="Cambria"/>
                <a:ea typeface="Cambria"/>
                <a:cs typeface="Cambria"/>
                <a:sym typeface="Cambria"/>
              </a:rPr>
              <a:t>Phase 3A/B — Edge and Rotation Modifiers</a:t>
            </a:r>
            <a:endParaRPr b="0" i="0" sz="2600" u="none" cap="none" strike="noStrike">
              <a:solidFill>
                <a:schemeClr val="dk1"/>
              </a:solidFill>
              <a:latin typeface="Calibri"/>
              <a:ea typeface="Calibri"/>
              <a:cs typeface="Calibri"/>
              <a:sym typeface="Calibri"/>
            </a:endParaRPr>
          </a:p>
        </p:txBody>
      </p:sp>
      <p:sp>
        <p:nvSpPr>
          <p:cNvPr id="197" name="Google Shape;197;p9"/>
          <p:cNvSpPr/>
          <p:nvPr/>
        </p:nvSpPr>
        <p:spPr>
          <a:xfrm>
            <a:off x="274320" y="1188720"/>
            <a:ext cx="8595360" cy="36576"/>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
          <p:cNvSpPr/>
          <p:nvPr/>
        </p:nvSpPr>
        <p:spPr>
          <a:xfrm>
            <a:off x="0" y="4846320"/>
            <a:ext cx="9144000" cy="297180"/>
          </a:xfrm>
          <a:prstGeom prst="rect">
            <a:avLst/>
          </a:prstGeom>
          <a:solidFill>
            <a:srgbClr val="0D1B4B"/>
          </a:solidFill>
          <a:ln cap="flat" cmpd="sng" w="12700">
            <a:solidFill>
              <a:srgbClr val="0D1B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9"/>
          <p:cNvSpPr/>
          <p:nvPr/>
        </p:nvSpPr>
        <p:spPr>
          <a:xfrm>
            <a:off x="274320" y="4846320"/>
            <a:ext cx="8595360" cy="2971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4F0"/>
              </a:buClr>
              <a:buSzPts val="900"/>
              <a:buFont typeface="Calibri"/>
              <a:buNone/>
            </a:pPr>
            <a:r>
              <a:rPr b="0" i="0" lang="en-US" sz="900" u="none" cap="none" strike="noStrike">
                <a:solidFill>
                  <a:srgbClr val="D6E4F0"/>
                </a:solidFill>
                <a:latin typeface="Calibri"/>
                <a:ea typeface="Calibri"/>
                <a:cs typeface="Calibri"/>
                <a:sym typeface="Calibri"/>
              </a:rPr>
              <a:t>U.S. Figure Skating — Technical Panel Education  |  Jump Framework</a:t>
            </a:r>
            <a:endParaRPr b="0" i="0" sz="900" u="none" cap="none" strike="noStrike">
              <a:solidFill>
                <a:schemeClr val="dk1"/>
              </a:solidFill>
              <a:latin typeface="Calibri"/>
              <a:ea typeface="Calibri"/>
              <a:cs typeface="Calibri"/>
              <a:sym typeface="Calibri"/>
            </a:endParaRPr>
          </a:p>
        </p:txBody>
      </p:sp>
      <p:sp>
        <p:nvSpPr>
          <p:cNvPr id="200" name="Google Shape;200;p9"/>
          <p:cNvSpPr/>
          <p:nvPr/>
        </p:nvSpPr>
        <p:spPr>
          <a:xfrm>
            <a:off x="274320" y="1307592"/>
            <a:ext cx="4114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4B"/>
              </a:buClr>
              <a:buSzPts val="1300"/>
              <a:buFont typeface="Cambria"/>
              <a:buNone/>
            </a:pPr>
            <a:r>
              <a:rPr b="1" i="0" lang="en-US" sz="1300" u="none" cap="none" strike="noStrike">
                <a:solidFill>
                  <a:srgbClr val="0D1B4B"/>
                </a:solidFill>
                <a:latin typeface="Cambria"/>
                <a:ea typeface="Cambria"/>
                <a:cs typeface="Cambria"/>
                <a:sym typeface="Cambria"/>
              </a:rPr>
              <a:t>Edge Modifiers — Flip and Lutz only</a:t>
            </a:r>
            <a:endParaRPr b="0" i="0" sz="1300" u="none" cap="none" strike="noStrike">
              <a:solidFill>
                <a:schemeClr val="dk1"/>
              </a:solidFill>
              <a:latin typeface="Calibri"/>
              <a:ea typeface="Calibri"/>
              <a:cs typeface="Calibri"/>
              <a:sym typeface="Calibri"/>
            </a:endParaRPr>
          </a:p>
        </p:txBody>
      </p:sp>
      <p:graphicFrame>
        <p:nvGraphicFramePr>
          <p:cNvPr id="201" name="Google Shape;201;p9"/>
          <p:cNvGraphicFramePr/>
          <p:nvPr/>
        </p:nvGraphicFramePr>
        <p:xfrm>
          <a:off x="274320" y="1673352"/>
          <a:ext cx="3000000" cy="3000000"/>
        </p:xfrm>
        <a:graphic>
          <a:graphicData uri="http://schemas.openxmlformats.org/drawingml/2006/table">
            <a:tbl>
              <a:tblPr>
                <a:noFill/>
                <a:tableStyleId>{BF2FE4AE-095E-4761-ADC3-5515640C2EEA}</a:tableStyleId>
              </a:tblPr>
              <a:tblGrid>
                <a:gridCol w="640075"/>
                <a:gridCol w="1463050"/>
                <a:gridCol w="2011675"/>
              </a:tblGrid>
              <a:tr h="274325">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Symbol</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1A6B8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Name</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1A6B8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Definition</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1A6B8A"/>
                    </a:solidFill>
                  </a:tcPr>
                </a:tc>
              </a:tr>
              <a:tr h="274325">
                <a:tc>
                  <a:txBody>
                    <a:bodyPr/>
                    <a:lstStyle/>
                    <a:p>
                      <a:pPr indent="0" lvl="0" marL="0" marR="0" rtl="0" algn="l">
                        <a:spcBef>
                          <a:spcPts val="0"/>
                        </a:spcBef>
                        <a:spcAft>
                          <a:spcPts val="0"/>
                        </a:spcAft>
                        <a:buClr>
                          <a:srgbClr val="1A2340"/>
                        </a:buClr>
                        <a:buSzPts val="1000"/>
                        <a:buFont typeface="Calibri"/>
                        <a:buNone/>
                      </a:pPr>
                      <a:r>
                        <a:rPr b="1" lang="en-US" sz="1000" u="none" cap="none" strike="noStrike">
                          <a:solidFill>
                            <a:srgbClr val="1A2340"/>
                          </a:solidFill>
                          <a:latin typeface="Calibri"/>
                          <a:ea typeface="Calibri"/>
                          <a:cs typeface="Calibri"/>
                          <a:sym typeface="Calibri"/>
                        </a:rPr>
                        <a:t>e</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Wrong edge</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Take-off edge is definitely wrong → reduced base value</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1A2340"/>
                        </a:buClr>
                        <a:buSzPts val="1000"/>
                        <a:buFont typeface="Calibri"/>
                        <a:buNone/>
                      </a:pPr>
                      <a:r>
                        <a:rPr b="1" lang="en-US" sz="1000" u="none" cap="none" strike="noStrike">
                          <a:solidFill>
                            <a:srgbClr val="1A2340"/>
                          </a:solidFill>
                          <a:latin typeface="Calibri"/>
                          <a:ea typeface="Calibri"/>
                          <a:cs typeface="Calibri"/>
                          <a:sym typeface="Calibri"/>
                        </a:rPr>
                        <a:t>!</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Edge attention</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Take-off edge is not clear → no base value reduction</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r>
            </a:tbl>
          </a:graphicData>
        </a:graphic>
      </p:graphicFrame>
      <p:sp>
        <p:nvSpPr>
          <p:cNvPr id="202" name="Google Shape;202;p9"/>
          <p:cNvSpPr/>
          <p:nvPr/>
        </p:nvSpPr>
        <p:spPr>
          <a:xfrm>
            <a:off x="274320" y="2702052"/>
            <a:ext cx="41148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82"/>
              </a:buClr>
              <a:buSzPts val="900"/>
              <a:buFont typeface="Calibri"/>
              <a:buNone/>
            </a:pPr>
            <a:r>
              <a:rPr b="0" i="1" lang="en-US" sz="900" u="none" cap="none" strike="noStrike">
                <a:solidFill>
                  <a:srgbClr val="5A6A82"/>
                </a:solidFill>
                <a:latin typeface="Calibri"/>
                <a:ea typeface="Calibri"/>
                <a:cs typeface="Calibri"/>
                <a:sym typeface="Calibri"/>
              </a:rPr>
              <a:t>Flip (F): Back inside edge (BI)   |   Lutz (Lz): Back outside edge (BO)</a:t>
            </a:r>
            <a:endParaRPr b="0" i="0" sz="900" u="none" cap="none" strike="noStrike">
              <a:solidFill>
                <a:schemeClr val="dk1"/>
              </a:solidFill>
              <a:latin typeface="Calibri"/>
              <a:ea typeface="Calibri"/>
              <a:cs typeface="Calibri"/>
              <a:sym typeface="Calibri"/>
            </a:endParaRPr>
          </a:p>
        </p:txBody>
      </p:sp>
      <p:sp>
        <p:nvSpPr>
          <p:cNvPr id="203" name="Google Shape;203;p9"/>
          <p:cNvSpPr/>
          <p:nvPr/>
        </p:nvSpPr>
        <p:spPr>
          <a:xfrm>
            <a:off x="4572000" y="1307592"/>
            <a:ext cx="42976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4B"/>
              </a:buClr>
              <a:buSzPts val="1300"/>
              <a:buFont typeface="Cambria"/>
              <a:buNone/>
            </a:pPr>
            <a:r>
              <a:rPr b="1" i="0" lang="en-US" sz="1300" u="none" cap="none" strike="noStrike">
                <a:solidFill>
                  <a:srgbClr val="0D1B4B"/>
                </a:solidFill>
                <a:latin typeface="Cambria"/>
                <a:ea typeface="Cambria"/>
                <a:cs typeface="Cambria"/>
                <a:sym typeface="Cambria"/>
              </a:rPr>
              <a:t>Rotation Modifiers</a:t>
            </a:r>
            <a:endParaRPr b="0" i="0" sz="1300" u="none" cap="none" strike="noStrike">
              <a:solidFill>
                <a:schemeClr val="dk1"/>
              </a:solidFill>
              <a:latin typeface="Calibri"/>
              <a:ea typeface="Calibri"/>
              <a:cs typeface="Calibri"/>
              <a:sym typeface="Calibri"/>
            </a:endParaRPr>
          </a:p>
        </p:txBody>
      </p:sp>
      <p:graphicFrame>
        <p:nvGraphicFramePr>
          <p:cNvPr id="204" name="Google Shape;204;p9"/>
          <p:cNvGraphicFramePr/>
          <p:nvPr/>
        </p:nvGraphicFramePr>
        <p:xfrm>
          <a:off x="4572000" y="1673352"/>
          <a:ext cx="3000000" cy="3000000"/>
        </p:xfrm>
        <a:graphic>
          <a:graphicData uri="http://schemas.openxmlformats.org/drawingml/2006/table">
            <a:tbl>
              <a:tblPr>
                <a:noFill/>
                <a:tableStyleId>{BF2FE4AE-095E-4761-ADC3-5515640C2EEA}</a:tableStyleId>
              </a:tblPr>
              <a:tblGrid>
                <a:gridCol w="777250"/>
                <a:gridCol w="1600200"/>
                <a:gridCol w="1920250"/>
              </a:tblGrid>
              <a:tr h="24690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Symbol</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1E3A6E"/>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Name</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1E3A6E"/>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Missing</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1E3A6E"/>
                    </a:solidFill>
                  </a:tcPr>
                </a:tc>
              </a:tr>
              <a:tr h="246900">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(none)</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Fully rotated</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&lt; ¼ revolution</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r h="246900">
                <a:tc>
                  <a:txBody>
                    <a:bodyPr/>
                    <a:lstStyle/>
                    <a:p>
                      <a:pPr indent="0" lvl="0" marL="0" marR="0" rtl="0" algn="l">
                        <a:spcBef>
                          <a:spcPts val="0"/>
                        </a:spcBef>
                        <a:spcAft>
                          <a:spcPts val="0"/>
                        </a:spcAft>
                        <a:buClr>
                          <a:srgbClr val="1A2340"/>
                        </a:buClr>
                        <a:buSzPts val="1000"/>
                        <a:buFont typeface="Calibri"/>
                        <a:buNone/>
                      </a:pPr>
                      <a:r>
                        <a:rPr b="1" lang="en-US" sz="1000" u="none" cap="none" strike="noStrike">
                          <a:solidFill>
                            <a:srgbClr val="1A2340"/>
                          </a:solidFill>
                          <a:latin typeface="Calibri"/>
                          <a:ea typeface="Calibri"/>
                          <a:cs typeface="Calibri"/>
                          <a:sym typeface="Calibri"/>
                        </a:rPr>
                        <a:t>q</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Quarter</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Exactly ¼ revolution</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r>
              <a:tr h="246900">
                <a:tc>
                  <a:txBody>
                    <a:bodyPr/>
                    <a:lstStyle/>
                    <a:p>
                      <a:pPr indent="0" lvl="0" marL="0" marR="0" rtl="0" algn="l">
                        <a:spcBef>
                          <a:spcPts val="0"/>
                        </a:spcBef>
                        <a:spcAft>
                          <a:spcPts val="0"/>
                        </a:spcAft>
                        <a:buClr>
                          <a:srgbClr val="1A2340"/>
                        </a:buClr>
                        <a:buSzPts val="1000"/>
                        <a:buFont typeface="Calibri"/>
                        <a:buNone/>
                      </a:pPr>
                      <a:r>
                        <a:rPr b="1" lang="en-US" sz="1000" u="none" cap="none" strike="noStrike">
                          <a:solidFill>
                            <a:srgbClr val="1A2340"/>
                          </a:solidFill>
                          <a:latin typeface="Calibri"/>
                          <a:ea typeface="Calibri"/>
                          <a:cs typeface="Calibri"/>
                          <a:sym typeface="Calibri"/>
                        </a:rPr>
                        <a:t>&lt;</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Under-rotated</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&gt; ¼ but &lt; ½ revolution</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r h="246900">
                <a:tc>
                  <a:txBody>
                    <a:bodyPr/>
                    <a:lstStyle/>
                    <a:p>
                      <a:pPr indent="0" lvl="0" marL="0" marR="0" rtl="0" algn="l">
                        <a:spcBef>
                          <a:spcPts val="0"/>
                        </a:spcBef>
                        <a:spcAft>
                          <a:spcPts val="0"/>
                        </a:spcAft>
                        <a:buClr>
                          <a:srgbClr val="1A2340"/>
                        </a:buClr>
                        <a:buSzPts val="1000"/>
                        <a:buFont typeface="Calibri"/>
                        <a:buNone/>
                      </a:pPr>
                      <a:r>
                        <a:rPr b="1" lang="en-US" sz="1000" u="none" cap="none" strike="noStrike">
                          <a:solidFill>
                            <a:srgbClr val="1A2340"/>
                          </a:solidFill>
                          <a:latin typeface="Calibri"/>
                          <a:ea typeface="Calibri"/>
                          <a:cs typeface="Calibri"/>
                          <a:sym typeface="Calibri"/>
                        </a:rPr>
                        <a:t>&lt;&lt;</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Downgraded</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1000"/>
                        <a:buFont typeface="Calibri"/>
                        <a:buNone/>
                      </a:pPr>
                      <a:r>
                        <a:rPr lang="en-US" sz="1000" u="none" cap="none" strike="noStrike">
                          <a:solidFill>
                            <a:srgbClr val="1A2340"/>
                          </a:solidFill>
                          <a:latin typeface="Calibri"/>
                          <a:ea typeface="Calibri"/>
                          <a:cs typeface="Calibri"/>
                          <a:sym typeface="Calibri"/>
                        </a:rPr>
                        <a:t>½ revolution or more</a:t>
                      </a:r>
                      <a:endParaRPr sz="10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r>
            </a:tbl>
          </a:graphicData>
        </a:graphic>
      </p:graphicFrame>
      <p:sp>
        <p:nvSpPr>
          <p:cNvPr id="205" name="Google Shape;205;p9"/>
          <p:cNvSpPr/>
          <p:nvPr/>
        </p:nvSpPr>
        <p:spPr>
          <a:xfrm>
            <a:off x="274320" y="2980944"/>
            <a:ext cx="8595360" cy="960120"/>
          </a:xfrm>
          <a:prstGeom prst="rect">
            <a:avLst/>
          </a:prstGeom>
          <a:solidFill>
            <a:srgbClr val="FFFFFF"/>
          </a:solidFill>
          <a:ln cap="flat" cmpd="sng" w="12700">
            <a:solidFill>
              <a:srgbClr val="C0CE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
          <p:cNvSpPr/>
          <p:nvPr/>
        </p:nvSpPr>
        <p:spPr>
          <a:xfrm>
            <a:off x="411480" y="3035808"/>
            <a:ext cx="8321040" cy="8503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4B"/>
              </a:buClr>
              <a:buSzPts val="1200"/>
              <a:buFont typeface="Calibri"/>
              <a:buNone/>
            </a:pPr>
            <a:r>
              <a:rPr b="1" i="0" lang="en-US" sz="1200" u="none" cap="none" strike="noStrike">
                <a:solidFill>
                  <a:srgbClr val="0D1B4B"/>
                </a:solidFill>
                <a:latin typeface="Calibri"/>
                <a:ea typeface="Calibri"/>
                <a:cs typeface="Calibri"/>
                <a:sym typeface="Calibri"/>
              </a:rPr>
              <a:t>Review procedure  </a:t>
            </a:r>
            <a:r>
              <a:rPr b="0" i="1" lang="en-US" sz="1000" u="none" cap="none" strike="noStrike">
                <a:solidFill>
                  <a:srgbClr val="5A6A82"/>
                </a:solidFill>
                <a:latin typeface="Calibri"/>
                <a:ea typeface="Calibri"/>
                <a:cs typeface="Calibri"/>
                <a:sym typeface="Calibri"/>
              </a:rPr>
              <a:t>(assessed in review — NOT verbalized live)</a:t>
            </a:r>
            <a:br>
              <a:rPr b="0" i="1" lang="en-US" sz="1000" u="none" cap="none" strike="noStrike">
                <a:solidFill>
                  <a:srgbClr val="5A6A82"/>
                </a:solidFill>
                <a:latin typeface="Calibri"/>
                <a:ea typeface="Calibri"/>
                <a:cs typeface="Calibri"/>
                <a:sym typeface="Calibri"/>
              </a:rPr>
            </a:br>
            <a:r>
              <a:rPr b="1" i="0" lang="en-US" sz="1000" u="none" cap="none" strike="noStrike">
                <a:solidFill>
                  <a:srgbClr val="1A6B8A"/>
                </a:solidFill>
                <a:latin typeface="Calibri"/>
                <a:ea typeface="Calibri"/>
                <a:cs typeface="Calibri"/>
                <a:sym typeface="Calibri"/>
              </a:rPr>
              <a:t>Edge review (e / !): </a:t>
            </a:r>
            <a:r>
              <a:rPr b="0" i="0" lang="en-US" sz="1000" u="none" cap="none" strike="noStrike">
                <a:solidFill>
                  <a:srgbClr val="1A2340"/>
                </a:solidFill>
                <a:latin typeface="Calibri"/>
                <a:ea typeface="Calibri"/>
                <a:cs typeface="Calibri"/>
                <a:sym typeface="Calibri"/>
              </a:rPr>
              <a:t>Panel watches continuous slow motion — the one case where slow motion is correct and required.</a:t>
            </a:r>
            <a:br>
              <a:rPr b="0" i="0" lang="en-US" sz="1000" u="none" cap="none" strike="noStrike">
                <a:solidFill>
                  <a:srgbClr val="1A2340"/>
                </a:solidFill>
                <a:latin typeface="Calibri"/>
                <a:ea typeface="Calibri"/>
                <a:cs typeface="Calibri"/>
                <a:sym typeface="Calibri"/>
              </a:rPr>
            </a:br>
            <a:r>
              <a:rPr b="1" i="0" lang="en-US" sz="1000" u="none" cap="none" strike="noStrike">
                <a:solidFill>
                  <a:srgbClr val="1E3A6E"/>
                </a:solidFill>
                <a:latin typeface="Calibri"/>
                <a:ea typeface="Calibri"/>
                <a:cs typeface="Calibri"/>
                <a:sym typeface="Calibri"/>
              </a:rPr>
              <a:t>Rotation review: </a:t>
            </a:r>
            <a:r>
              <a:rPr b="0" i="0" lang="en-US" sz="1000" u="none" cap="none" strike="noStrike">
                <a:solidFill>
                  <a:srgbClr val="1A2340"/>
                </a:solidFill>
                <a:latin typeface="Calibri"/>
                <a:ea typeface="Calibri"/>
                <a:cs typeface="Calibri"/>
                <a:sym typeface="Calibri"/>
              </a:rPr>
              <a:t>Take-off rotation — regular speed only. Landing rotation — slow motion permitted.</a:t>
            </a:r>
            <a:br>
              <a:rPr b="0" i="0" lang="en-US" sz="1000" u="none" cap="none" strike="noStrike">
                <a:solidFill>
                  <a:srgbClr val="1A2340"/>
                </a:solidFill>
                <a:latin typeface="Calibri"/>
                <a:ea typeface="Calibri"/>
                <a:cs typeface="Calibri"/>
                <a:sym typeface="Calibri"/>
              </a:rPr>
            </a:br>
            <a:r>
              <a:rPr b="0" i="1" lang="en-US" sz="900" u="none" cap="none" strike="noStrike">
                <a:solidFill>
                  <a:srgbClr val="5A6A82"/>
                </a:solidFill>
                <a:latin typeface="Calibri"/>
                <a:ea typeface="Calibri"/>
                <a:cs typeface="Calibri"/>
                <a:sym typeface="Calibri"/>
              </a:rPr>
              <a:t>[TPH-S §JUMP.CL.EDGE.FL]  [TPH-S §JUMP.CL.QUARTER]  [TPH-S §JUMP.CL.UNDERROT]  [TPH-S §JUMP.CL.DOWNGRADED]</a:t>
            </a:r>
            <a:endParaRPr b="0" i="0" sz="1200" u="none" cap="none" strike="noStrike">
              <a:solidFill>
                <a:schemeClr val="dk1"/>
              </a:solidFill>
              <a:latin typeface="Calibri"/>
              <a:ea typeface="Calibri"/>
              <a:cs typeface="Calibri"/>
              <a:sym typeface="Calibri"/>
            </a:endParaRPr>
          </a:p>
        </p:txBody>
      </p:sp>
      <p:sp>
        <p:nvSpPr>
          <p:cNvPr id="207" name="Google Shape;207;p9"/>
          <p:cNvSpPr/>
          <p:nvPr/>
        </p:nvSpPr>
        <p:spPr>
          <a:xfrm>
            <a:off x="274320" y="4050792"/>
            <a:ext cx="8595360" cy="594360"/>
          </a:xfrm>
          <a:prstGeom prst="rect">
            <a:avLst/>
          </a:prstGeom>
          <a:solidFill>
            <a:srgbClr val="E8F4FD"/>
          </a:solidFill>
          <a:ln cap="flat" cmpd="sng" w="1905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9"/>
          <p:cNvSpPr/>
          <p:nvPr/>
        </p:nvSpPr>
        <p:spPr>
          <a:xfrm>
            <a:off x="384048" y="4050792"/>
            <a:ext cx="8375904"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4B"/>
              </a:buClr>
              <a:buSzPts val="1100"/>
              <a:buFont typeface="Calibri"/>
              <a:buNone/>
            </a:pPr>
            <a:r>
              <a:rPr b="0" i="0" lang="en-US" sz="1100" u="none" cap="none" strike="noStrike">
                <a:solidFill>
                  <a:srgbClr val="0D1B4B"/>
                </a:solidFill>
                <a:latin typeface="Calibri"/>
                <a:ea typeface="Calibri"/>
                <a:cs typeface="Calibri"/>
                <a:sym typeface="Calibri"/>
              </a:rPr>
              <a:t>Modifier order in the final code:   [Revs] [Jump] [Edge modifier] [Rotation modifier]</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1B4B"/>
              </a:buClr>
              <a:buSzPts val="1100"/>
              <a:buFont typeface="Calibri"/>
              <a:buNone/>
            </a:pPr>
            <a:r>
              <a:rPr b="0" i="0" lang="en-US" sz="1100" u="none" cap="none" strike="noStrike">
                <a:solidFill>
                  <a:srgbClr val="0D1B4B"/>
                </a:solidFill>
                <a:latin typeface="Calibri"/>
                <a:ea typeface="Calibri"/>
                <a:cs typeface="Calibri"/>
                <a:sym typeface="Calibri"/>
              </a:rPr>
              <a:t>Example: 3Fe&lt; = triple flip, wrong edge, under-rotated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6E4F0"/>
        </a:solidFill>
      </p:bgPr>
    </p:bg>
    <p:spTree>
      <p:nvGrpSpPr>
        <p:cNvPr id="213" name="Shape 213"/>
        <p:cNvGrpSpPr/>
        <p:nvPr/>
      </p:nvGrpSpPr>
      <p:grpSpPr>
        <a:xfrm>
          <a:off x="0" y="0"/>
          <a:ext cx="0" cy="0"/>
          <a:chOff x="0" y="0"/>
          <a:chExt cx="0" cy="0"/>
        </a:xfrm>
      </p:grpSpPr>
      <p:sp>
        <p:nvSpPr>
          <p:cNvPr id="214" name="Google Shape;214;p10"/>
          <p:cNvSpPr/>
          <p:nvPr/>
        </p:nvSpPr>
        <p:spPr>
          <a:xfrm>
            <a:off x="0" y="0"/>
            <a:ext cx="164592" cy="5143500"/>
          </a:xfrm>
          <a:prstGeom prst="rect">
            <a:avLst/>
          </a:prstGeom>
          <a:solidFill>
            <a:srgbClr val="0D1B4B"/>
          </a:solidFill>
          <a:ln cap="flat" cmpd="sng" w="12700">
            <a:solidFill>
              <a:srgbClr val="0D1B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0"/>
          <p:cNvSpPr/>
          <p:nvPr/>
        </p:nvSpPr>
        <p:spPr>
          <a:xfrm>
            <a:off x="274320" y="164592"/>
            <a:ext cx="1463040" cy="329184"/>
          </a:xfrm>
          <a:prstGeom prst="rect">
            <a:avLst/>
          </a:prstGeom>
          <a:solidFill>
            <a:srgbClr val="C8922A"/>
          </a:solidFill>
          <a:ln cap="flat" cmpd="sng" w="1270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
          <p:cNvSpPr/>
          <p:nvPr/>
        </p:nvSpPr>
        <p:spPr>
          <a:xfrm>
            <a:off x="274320" y="164592"/>
            <a:ext cx="146304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PHASE 3</a:t>
            </a:r>
            <a:endParaRPr b="0" i="0" sz="1000" u="none" cap="none" strike="noStrike">
              <a:solidFill>
                <a:schemeClr val="dk1"/>
              </a:solidFill>
              <a:latin typeface="Calibri"/>
              <a:ea typeface="Calibri"/>
              <a:cs typeface="Calibri"/>
              <a:sym typeface="Calibri"/>
            </a:endParaRPr>
          </a:p>
        </p:txBody>
      </p:sp>
      <p:sp>
        <p:nvSpPr>
          <p:cNvPr id="217" name="Google Shape;217;p10"/>
          <p:cNvSpPr/>
          <p:nvPr/>
        </p:nvSpPr>
        <p:spPr>
          <a:xfrm>
            <a:off x="274320" y="548640"/>
            <a:ext cx="85953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4B"/>
              </a:buClr>
              <a:buSzPts val="2600"/>
              <a:buFont typeface="Cambria"/>
              <a:buNone/>
            </a:pPr>
            <a:r>
              <a:rPr b="1" i="0" lang="en-US" sz="2600" u="none" cap="none" strike="noStrike">
                <a:solidFill>
                  <a:srgbClr val="0D1B4B"/>
                </a:solidFill>
                <a:latin typeface="Cambria"/>
                <a:ea typeface="Cambria"/>
                <a:cs typeface="Cambria"/>
                <a:sym typeface="Cambria"/>
              </a:rPr>
              <a:t>Phase 3C — ERB Examples and Modifier Code Table</a:t>
            </a:r>
            <a:endParaRPr b="0" i="0" sz="2600" u="none" cap="none" strike="noStrike">
              <a:solidFill>
                <a:schemeClr val="dk1"/>
              </a:solidFill>
              <a:latin typeface="Calibri"/>
              <a:ea typeface="Calibri"/>
              <a:cs typeface="Calibri"/>
              <a:sym typeface="Calibri"/>
            </a:endParaRPr>
          </a:p>
        </p:txBody>
      </p:sp>
      <p:sp>
        <p:nvSpPr>
          <p:cNvPr id="218" name="Google Shape;218;p10"/>
          <p:cNvSpPr/>
          <p:nvPr/>
        </p:nvSpPr>
        <p:spPr>
          <a:xfrm>
            <a:off x="274320" y="1188720"/>
            <a:ext cx="8595360" cy="36576"/>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0"/>
          <p:cNvSpPr/>
          <p:nvPr/>
        </p:nvSpPr>
        <p:spPr>
          <a:xfrm>
            <a:off x="0" y="4846320"/>
            <a:ext cx="9144000" cy="297180"/>
          </a:xfrm>
          <a:prstGeom prst="rect">
            <a:avLst/>
          </a:prstGeom>
          <a:solidFill>
            <a:srgbClr val="0D1B4B"/>
          </a:solidFill>
          <a:ln cap="flat" cmpd="sng" w="12700">
            <a:solidFill>
              <a:srgbClr val="0D1B4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
          <p:cNvSpPr/>
          <p:nvPr/>
        </p:nvSpPr>
        <p:spPr>
          <a:xfrm>
            <a:off x="274320" y="4846320"/>
            <a:ext cx="8595360" cy="2971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4F0"/>
              </a:buClr>
              <a:buSzPts val="900"/>
              <a:buFont typeface="Calibri"/>
              <a:buNone/>
            </a:pPr>
            <a:r>
              <a:rPr b="0" i="0" lang="en-US" sz="900" u="none" cap="none" strike="noStrike">
                <a:solidFill>
                  <a:srgbClr val="D6E4F0"/>
                </a:solidFill>
                <a:latin typeface="Calibri"/>
                <a:ea typeface="Calibri"/>
                <a:cs typeface="Calibri"/>
                <a:sym typeface="Calibri"/>
              </a:rPr>
              <a:t>U.S. Figure Skating — Technical Panel Education  |  Jump Framework</a:t>
            </a:r>
            <a:endParaRPr b="0" i="0" sz="900" u="none" cap="none" strike="noStrike">
              <a:solidFill>
                <a:schemeClr val="dk1"/>
              </a:solidFill>
              <a:latin typeface="Calibri"/>
              <a:ea typeface="Calibri"/>
              <a:cs typeface="Calibri"/>
              <a:sym typeface="Calibri"/>
            </a:endParaRPr>
          </a:p>
        </p:txBody>
      </p:sp>
      <p:graphicFrame>
        <p:nvGraphicFramePr>
          <p:cNvPr id="221" name="Google Shape;221;p10"/>
          <p:cNvGraphicFramePr/>
          <p:nvPr/>
        </p:nvGraphicFramePr>
        <p:xfrm>
          <a:off x="274320" y="1261872"/>
          <a:ext cx="3000000" cy="3000000"/>
        </p:xfrm>
        <a:graphic>
          <a:graphicData uri="http://schemas.openxmlformats.org/drawingml/2006/table">
            <a:tbl>
              <a:tblPr>
                <a:noFill/>
                <a:tableStyleId>{BF2FE4AE-095E-4761-ADC3-5515640C2EEA}</a:tableStyleId>
              </a:tblPr>
              <a:tblGrid>
                <a:gridCol w="2743200"/>
                <a:gridCol w="1371600"/>
              </a:tblGrid>
              <a:tr h="29095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Scenario</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1E3A6E"/>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Code</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1E3A6E"/>
                    </a:solidFill>
                  </a:tcPr>
                </a:tc>
              </a:tr>
              <a:tr h="290950">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Triple flip, clean</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3F</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r h="290950">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Triple flip, quarter</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3Fq</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r>
              <a:tr h="290950">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Triple flip, under-rotated</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3F&lt;</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r h="290950">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Triple flip, wrong edge</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3Fe</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r>
              <a:tr h="290950">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Triple flip, wrong edge + under-rotated</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3Fe&lt;</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r h="290950">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Triple flip, edge attention</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3F!</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r>
              <a:tr h="290950">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Triple flip, edge attention + quarter</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3F!q</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r h="290950">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Triple Lutz, downgraded (called as quad first)</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4Lz&lt;&lt;</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r>
              <a:tr h="290950">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Euler, downgraded</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Eu&lt;&lt;</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r h="290950">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Euler with quarter error (no modifier — not applicable)</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Eu (full value)</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r>
            </a:tbl>
          </a:graphicData>
        </a:graphic>
      </p:graphicFrame>
      <p:sp>
        <p:nvSpPr>
          <p:cNvPr id="222" name="Google Shape;222;p10"/>
          <p:cNvSpPr/>
          <p:nvPr/>
        </p:nvSpPr>
        <p:spPr>
          <a:xfrm>
            <a:off x="4572000" y="1307592"/>
            <a:ext cx="42976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4B"/>
              </a:buClr>
              <a:buSzPts val="1200"/>
              <a:buFont typeface="Cambria"/>
              <a:buNone/>
            </a:pPr>
            <a:r>
              <a:rPr b="1" i="0" lang="en-US" sz="1200" u="none" cap="none" strike="noStrike">
                <a:solidFill>
                  <a:srgbClr val="0D1B4B"/>
                </a:solidFill>
                <a:latin typeface="Cambria"/>
                <a:ea typeface="Cambria"/>
                <a:cs typeface="Cambria"/>
                <a:sym typeface="Cambria"/>
              </a:rPr>
              <a:t>ERB — "Edge → Rotation → Bonus"</a:t>
            </a:r>
            <a:endParaRPr b="0" i="0" sz="1200" u="none" cap="none" strike="noStrike">
              <a:solidFill>
                <a:schemeClr val="dk1"/>
              </a:solidFill>
              <a:latin typeface="Calibri"/>
              <a:ea typeface="Calibri"/>
              <a:cs typeface="Calibri"/>
              <a:sym typeface="Calibri"/>
            </a:endParaRPr>
          </a:p>
        </p:txBody>
      </p:sp>
      <p:graphicFrame>
        <p:nvGraphicFramePr>
          <p:cNvPr id="223" name="Google Shape;223;p10"/>
          <p:cNvGraphicFramePr/>
          <p:nvPr/>
        </p:nvGraphicFramePr>
        <p:xfrm>
          <a:off x="4572000" y="1673352"/>
          <a:ext cx="3000000" cy="3000000"/>
        </p:xfrm>
        <a:graphic>
          <a:graphicData uri="http://schemas.openxmlformats.org/drawingml/2006/table">
            <a:tbl>
              <a:tblPr>
                <a:noFill/>
                <a:tableStyleId>{BF2FE4AE-095E-4761-ADC3-5515640C2EEA}</a:tableStyleId>
              </a:tblPr>
              <a:tblGrid>
                <a:gridCol w="2286000"/>
                <a:gridCol w="914400"/>
                <a:gridCol w="1097275"/>
              </a:tblGrid>
              <a:tr h="348625">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Panel finding</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1A6B8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ERB result</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1A6B8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Bonus step?</a:t>
                      </a:r>
                      <a:endParaRPr sz="11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1A6B8A"/>
                    </a:solidFill>
                  </a:tcPr>
                </a:tc>
              </a:tr>
              <a:tr h="348625">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No edge, no rotation issue</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E7D56"/>
                        </a:buClr>
                        <a:buSzPts val="900"/>
                        <a:buFont typeface="Calibri"/>
                        <a:buNone/>
                      </a:pPr>
                      <a:r>
                        <a:rPr b="1" lang="en-US" sz="900" u="none" cap="none" strike="noStrike">
                          <a:solidFill>
                            <a:srgbClr val="2E7D56"/>
                          </a:solidFill>
                          <a:latin typeface="Calibri"/>
                          <a:ea typeface="Calibri"/>
                          <a:cs typeface="Calibri"/>
                          <a:sym typeface="Calibri"/>
                        </a:rPr>
                        <a:t>Proceed to B</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r h="348625">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Quarter, no edge issue</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q</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2E7D56"/>
                        </a:buClr>
                        <a:buSzPts val="900"/>
                        <a:buFont typeface="Calibri"/>
                        <a:buNone/>
                      </a:pPr>
                      <a:r>
                        <a:rPr b="1" lang="en-US" sz="900" u="none" cap="none" strike="noStrike">
                          <a:solidFill>
                            <a:srgbClr val="2E7D56"/>
                          </a:solidFill>
                          <a:latin typeface="Calibri"/>
                          <a:ea typeface="Calibri"/>
                          <a:cs typeface="Calibri"/>
                          <a:sym typeface="Calibri"/>
                        </a:rPr>
                        <a:t>Proceed to B</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r>
              <a:tr h="348625">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Under-rotated, no edge issue</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&lt;</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Proceed to B (level-dependent)</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r h="348625">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Edge attention, no rotation</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1A2340"/>
                        </a:buClr>
                        <a:buSzPts val="900"/>
                        <a:buFont typeface="Calibri"/>
                        <a:buNone/>
                      </a:pPr>
                      <a:r>
                        <a:rPr lang="en-US" sz="900" u="none" cap="none" strike="noStrike">
                          <a:solidFill>
                            <a:srgbClr val="1A2340"/>
                          </a:solidFill>
                          <a:latin typeface="Calibri"/>
                          <a:ea typeface="Calibri"/>
                          <a:cs typeface="Calibri"/>
                          <a:sym typeface="Calibri"/>
                        </a:rPr>
                        <a:t>Proceed to B (level-dependent)</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r>
              <a:tr h="348625">
                <a:tc>
                  <a:txBody>
                    <a:bodyPr/>
                    <a:lstStyle/>
                    <a:p>
                      <a:pPr indent="0" lvl="0" marL="0" marR="0" rtl="0" algn="l">
                        <a:spcBef>
                          <a:spcPts val="0"/>
                        </a:spcBef>
                        <a:spcAft>
                          <a:spcPts val="0"/>
                        </a:spcAft>
                        <a:buClr>
                          <a:srgbClr val="B94040"/>
                        </a:buClr>
                        <a:buSzPts val="900"/>
                        <a:buFont typeface="Calibri"/>
                        <a:buNone/>
                      </a:pPr>
                      <a:r>
                        <a:rPr lang="en-US" sz="900" u="none" cap="none" strike="noStrike">
                          <a:solidFill>
                            <a:srgbClr val="B94040"/>
                          </a:solidFill>
                          <a:latin typeface="Calibri"/>
                          <a:ea typeface="Calibri"/>
                          <a:cs typeface="Calibri"/>
                          <a:sym typeface="Calibri"/>
                        </a:rPr>
                        <a:t>Wrong edge, no rotation</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94040"/>
                        </a:buClr>
                        <a:buSzPts val="900"/>
                        <a:buFont typeface="Calibri"/>
                        <a:buNone/>
                      </a:pPr>
                      <a:r>
                        <a:rPr b="1" lang="en-US" sz="900" u="none" cap="none" strike="noStrike">
                          <a:solidFill>
                            <a:srgbClr val="B94040"/>
                          </a:solidFill>
                          <a:latin typeface="Calibri"/>
                          <a:ea typeface="Calibri"/>
                          <a:cs typeface="Calibri"/>
                          <a:sym typeface="Calibri"/>
                        </a:rPr>
                        <a:t>e</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94040"/>
                        </a:buClr>
                        <a:buSzPts val="900"/>
                        <a:buFont typeface="Calibri"/>
                        <a:buNone/>
                      </a:pPr>
                      <a:r>
                        <a:rPr b="1" lang="en-US" sz="900" u="none" cap="none" strike="noStrike">
                          <a:solidFill>
                            <a:srgbClr val="B94040"/>
                          </a:solidFill>
                          <a:latin typeface="Calibri"/>
                          <a:ea typeface="Calibri"/>
                          <a:cs typeface="Calibri"/>
                          <a:sym typeface="Calibri"/>
                        </a:rPr>
                        <a:t>STOP — no bonus</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r h="348625">
                <a:tc>
                  <a:txBody>
                    <a:bodyPr/>
                    <a:lstStyle/>
                    <a:p>
                      <a:pPr indent="0" lvl="0" marL="0" marR="0" rtl="0" algn="l">
                        <a:spcBef>
                          <a:spcPts val="0"/>
                        </a:spcBef>
                        <a:spcAft>
                          <a:spcPts val="0"/>
                        </a:spcAft>
                        <a:buClr>
                          <a:srgbClr val="B94040"/>
                        </a:buClr>
                        <a:buSzPts val="900"/>
                        <a:buFont typeface="Calibri"/>
                        <a:buNone/>
                      </a:pPr>
                      <a:r>
                        <a:rPr lang="en-US" sz="900" u="none" cap="none" strike="noStrike">
                          <a:solidFill>
                            <a:srgbClr val="B94040"/>
                          </a:solidFill>
                          <a:latin typeface="Calibri"/>
                          <a:ea typeface="Calibri"/>
                          <a:cs typeface="Calibri"/>
                          <a:sym typeface="Calibri"/>
                        </a:rPr>
                        <a:t>Downgraded, no edge</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B94040"/>
                        </a:buClr>
                        <a:buSzPts val="900"/>
                        <a:buFont typeface="Calibri"/>
                        <a:buNone/>
                      </a:pPr>
                      <a:r>
                        <a:rPr b="1" lang="en-US" sz="900" u="none" cap="none" strike="noStrike">
                          <a:solidFill>
                            <a:srgbClr val="B94040"/>
                          </a:solidFill>
                          <a:latin typeface="Calibri"/>
                          <a:ea typeface="Calibri"/>
                          <a:cs typeface="Calibri"/>
                          <a:sym typeface="Calibri"/>
                        </a:rPr>
                        <a:t>&lt;&lt;</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c>
                  <a:txBody>
                    <a:bodyPr/>
                    <a:lstStyle/>
                    <a:p>
                      <a:pPr indent="0" lvl="0" marL="0" marR="0" rtl="0" algn="l">
                        <a:spcBef>
                          <a:spcPts val="0"/>
                        </a:spcBef>
                        <a:spcAft>
                          <a:spcPts val="0"/>
                        </a:spcAft>
                        <a:buClr>
                          <a:srgbClr val="B94040"/>
                        </a:buClr>
                        <a:buSzPts val="900"/>
                        <a:buFont typeface="Calibri"/>
                        <a:buNone/>
                      </a:pPr>
                      <a:r>
                        <a:rPr b="1" lang="en-US" sz="900" u="none" cap="none" strike="noStrike">
                          <a:solidFill>
                            <a:srgbClr val="B94040"/>
                          </a:solidFill>
                          <a:latin typeface="Calibri"/>
                          <a:ea typeface="Calibri"/>
                          <a:cs typeface="Calibri"/>
                          <a:sym typeface="Calibri"/>
                        </a:rPr>
                        <a:t>STOP — no bonus</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E8EDF4"/>
                    </a:solidFill>
                  </a:tcPr>
                </a:tc>
              </a:tr>
              <a:tr h="348625">
                <a:tc>
                  <a:txBody>
                    <a:bodyPr/>
                    <a:lstStyle/>
                    <a:p>
                      <a:pPr indent="0" lvl="0" marL="0" marR="0" rtl="0" algn="l">
                        <a:spcBef>
                          <a:spcPts val="0"/>
                        </a:spcBef>
                        <a:spcAft>
                          <a:spcPts val="0"/>
                        </a:spcAft>
                        <a:buClr>
                          <a:srgbClr val="B94040"/>
                        </a:buClr>
                        <a:buSzPts val="900"/>
                        <a:buFont typeface="Calibri"/>
                        <a:buNone/>
                      </a:pPr>
                      <a:r>
                        <a:rPr lang="en-US" sz="900" u="none" cap="none" strike="noStrike">
                          <a:solidFill>
                            <a:srgbClr val="B94040"/>
                          </a:solidFill>
                          <a:latin typeface="Calibri"/>
                          <a:ea typeface="Calibri"/>
                          <a:cs typeface="Calibri"/>
                          <a:sym typeface="Calibri"/>
                        </a:rPr>
                        <a:t>Wrong edge + downgraded</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94040"/>
                        </a:buClr>
                        <a:buSzPts val="900"/>
                        <a:buFont typeface="Calibri"/>
                        <a:buNone/>
                      </a:pPr>
                      <a:r>
                        <a:rPr b="1" lang="en-US" sz="900" u="none" cap="none" strike="noStrike">
                          <a:solidFill>
                            <a:srgbClr val="B94040"/>
                          </a:solidFill>
                          <a:latin typeface="Calibri"/>
                          <a:ea typeface="Calibri"/>
                          <a:cs typeface="Calibri"/>
                          <a:sym typeface="Calibri"/>
                        </a:rPr>
                        <a:t>e&lt;&lt;</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94040"/>
                        </a:buClr>
                        <a:buSzPts val="900"/>
                        <a:buFont typeface="Calibri"/>
                        <a:buNone/>
                      </a:pPr>
                      <a:r>
                        <a:rPr b="1" lang="en-US" sz="900" u="none" cap="none" strike="noStrike">
                          <a:solidFill>
                            <a:srgbClr val="B94040"/>
                          </a:solidFill>
                          <a:latin typeface="Calibri"/>
                          <a:ea typeface="Calibri"/>
                          <a:cs typeface="Calibri"/>
                          <a:sym typeface="Calibri"/>
                        </a:rPr>
                        <a:t>STOP — no bonus</a:t>
                      </a:r>
                      <a:endParaRPr sz="900" u="none" cap="none" strike="noStrike">
                        <a:latin typeface="Calibri"/>
                        <a:ea typeface="Calibri"/>
                        <a:cs typeface="Calibri"/>
                        <a:sym typeface="Calibri"/>
                      </a:endParaRPr>
                    </a:p>
                  </a:txBody>
                  <a:tcPr marT="45725" marB="45725" marR="91450" marL="91450" anchor="ctr">
                    <a:lnL cap="flat" cmpd="sng" w="9525">
                      <a:solidFill>
                        <a:srgbClr val="C0CEDA"/>
                      </a:solidFill>
                      <a:prstDash val="solid"/>
                      <a:round/>
                      <a:headEnd len="sm" w="sm" type="none"/>
                      <a:tailEnd len="sm" w="sm" type="none"/>
                    </a:lnL>
                    <a:lnR cap="flat" cmpd="sng" w="9525">
                      <a:solidFill>
                        <a:srgbClr val="C0CEDA"/>
                      </a:solidFill>
                      <a:prstDash val="solid"/>
                      <a:round/>
                      <a:headEnd len="sm" w="sm" type="none"/>
                      <a:tailEnd len="sm" w="sm" type="none"/>
                    </a:lnR>
                    <a:lnT cap="flat" cmpd="sng" w="9525">
                      <a:solidFill>
                        <a:srgbClr val="C0CEDA"/>
                      </a:solidFill>
                      <a:prstDash val="solid"/>
                      <a:round/>
                      <a:headEnd len="sm" w="sm" type="none"/>
                      <a:tailEnd len="sm" w="sm" type="none"/>
                    </a:lnT>
                    <a:lnB cap="flat" cmpd="sng" w="9525">
                      <a:solidFill>
                        <a:srgbClr val="C0CEDA"/>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4B"/>
        </a:solidFill>
      </p:bgPr>
    </p:bg>
    <p:spTree>
      <p:nvGrpSpPr>
        <p:cNvPr id="228" name="Shape 228"/>
        <p:cNvGrpSpPr/>
        <p:nvPr/>
      </p:nvGrpSpPr>
      <p:grpSpPr>
        <a:xfrm>
          <a:off x="0" y="0"/>
          <a:ext cx="0" cy="0"/>
          <a:chOff x="0" y="0"/>
          <a:chExt cx="0" cy="0"/>
        </a:xfrm>
      </p:grpSpPr>
      <p:sp>
        <p:nvSpPr>
          <p:cNvPr id="229" name="Google Shape;229;p11"/>
          <p:cNvSpPr/>
          <p:nvPr/>
        </p:nvSpPr>
        <p:spPr>
          <a:xfrm>
            <a:off x="0" y="0"/>
            <a:ext cx="9144000" cy="109728"/>
          </a:xfrm>
          <a:prstGeom prst="rect">
            <a:avLst/>
          </a:prstGeom>
          <a:solidFill>
            <a:srgbClr val="C8922A"/>
          </a:solidFill>
          <a:ln cap="flat" cmpd="sng" w="1270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a:off x="457200" y="228600"/>
            <a:ext cx="8229600" cy="5943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Session 2 — </a:t>
            </a:r>
            <a:r>
              <a:rPr b="1" lang="en-US" sz="2800">
                <a:solidFill>
                  <a:srgbClr val="FFFFFF"/>
                </a:solidFill>
                <a:latin typeface="Cambria"/>
                <a:ea typeface="Cambria"/>
                <a:cs typeface="Cambria"/>
                <a:sym typeface="Cambria"/>
              </a:rPr>
              <a:t>Debrief</a:t>
            </a:r>
            <a:endParaRPr b="0" i="0" sz="2800" u="none" cap="none" strike="noStrike">
              <a:solidFill>
                <a:schemeClr val="dk1"/>
              </a:solidFill>
              <a:latin typeface="Calibri"/>
              <a:ea typeface="Calibri"/>
              <a:cs typeface="Calibri"/>
              <a:sym typeface="Calibri"/>
            </a:endParaRPr>
          </a:p>
        </p:txBody>
      </p:sp>
      <p:sp>
        <p:nvSpPr>
          <p:cNvPr id="231" name="Google Shape;231;p11"/>
          <p:cNvSpPr/>
          <p:nvPr/>
        </p:nvSpPr>
        <p:spPr>
          <a:xfrm>
            <a:off x="274320" y="1234440"/>
            <a:ext cx="384048" cy="384048"/>
          </a:xfrm>
          <a:prstGeom prst="rect">
            <a:avLst/>
          </a:prstGeom>
          <a:solidFill>
            <a:srgbClr val="C8922A"/>
          </a:solidFill>
          <a:ln cap="flat" cmpd="sng" w="1270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a:off x="274320" y="123444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4B"/>
              </a:buClr>
              <a:buSzPts val="1300"/>
              <a:buFont typeface="Cambria"/>
              <a:buNone/>
            </a:pPr>
            <a:r>
              <a:rPr b="1" i="0" lang="en-US" sz="1300" u="none" cap="none" strike="noStrike">
                <a:solidFill>
                  <a:srgbClr val="0D1B4B"/>
                </a:solidFill>
                <a:latin typeface="Cambria"/>
                <a:ea typeface="Cambria"/>
                <a:cs typeface="Cambria"/>
                <a:sym typeface="Cambria"/>
              </a:rPr>
              <a:t>1</a:t>
            </a:r>
            <a:endParaRPr b="0" i="0" sz="1300" u="none" cap="none" strike="noStrike">
              <a:solidFill>
                <a:schemeClr val="dk1"/>
              </a:solidFill>
              <a:latin typeface="Calibri"/>
              <a:ea typeface="Calibri"/>
              <a:cs typeface="Calibri"/>
              <a:sym typeface="Calibri"/>
            </a:endParaRPr>
          </a:p>
        </p:txBody>
      </p:sp>
      <p:sp>
        <p:nvSpPr>
          <p:cNvPr id="233" name="Google Shape;233;p11"/>
          <p:cNvSpPr/>
          <p:nvPr/>
        </p:nvSpPr>
        <p:spPr>
          <a:xfrm>
            <a:off x="731520" y="1234440"/>
            <a:ext cx="40233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Name the 7 listed jumps, their codes, and their take-off edges</a:t>
            </a:r>
            <a:endParaRPr b="0" i="0" sz="1000" u="none" cap="none" strike="noStrike">
              <a:solidFill>
                <a:schemeClr val="dk1"/>
              </a:solidFill>
              <a:latin typeface="Calibri"/>
              <a:ea typeface="Calibri"/>
              <a:cs typeface="Calibri"/>
              <a:sym typeface="Calibri"/>
            </a:endParaRPr>
          </a:p>
        </p:txBody>
      </p:sp>
      <p:sp>
        <p:nvSpPr>
          <p:cNvPr id="234" name="Google Shape;234;p11"/>
          <p:cNvSpPr/>
          <p:nvPr/>
        </p:nvSpPr>
        <p:spPr>
          <a:xfrm>
            <a:off x="274320" y="1911096"/>
            <a:ext cx="384048" cy="384048"/>
          </a:xfrm>
          <a:prstGeom prst="rect">
            <a:avLst/>
          </a:prstGeom>
          <a:solidFill>
            <a:srgbClr val="C8922A"/>
          </a:solidFill>
          <a:ln cap="flat" cmpd="sng" w="1270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1"/>
          <p:cNvSpPr/>
          <p:nvPr/>
        </p:nvSpPr>
        <p:spPr>
          <a:xfrm>
            <a:off x="274320" y="191109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4B"/>
              </a:buClr>
              <a:buSzPts val="1300"/>
              <a:buFont typeface="Cambria"/>
              <a:buNone/>
            </a:pPr>
            <a:r>
              <a:rPr b="1" i="0" lang="en-US" sz="1300" u="none" cap="none" strike="noStrike">
                <a:solidFill>
                  <a:srgbClr val="0D1B4B"/>
                </a:solidFill>
                <a:latin typeface="Cambria"/>
                <a:ea typeface="Cambria"/>
                <a:cs typeface="Cambria"/>
                <a:sym typeface="Cambria"/>
              </a:rPr>
              <a:t>2</a:t>
            </a:r>
            <a:endParaRPr b="0" i="0" sz="1300" u="none" cap="none" strike="noStrike">
              <a:solidFill>
                <a:schemeClr val="dk1"/>
              </a:solidFill>
              <a:latin typeface="Calibri"/>
              <a:ea typeface="Calibri"/>
              <a:cs typeface="Calibri"/>
              <a:sym typeface="Calibri"/>
            </a:endParaRPr>
          </a:p>
        </p:txBody>
      </p:sp>
      <p:sp>
        <p:nvSpPr>
          <p:cNvPr id="236" name="Google Shape;236;p11"/>
          <p:cNvSpPr/>
          <p:nvPr/>
        </p:nvSpPr>
        <p:spPr>
          <a:xfrm>
            <a:off x="731520" y="1911096"/>
            <a:ext cx="40233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Explain when an Euler is a listed </a:t>
            </a:r>
            <a:r>
              <a:rPr lang="en-US" sz="1000">
                <a:solidFill>
                  <a:srgbClr val="FFFFFF"/>
                </a:solidFill>
                <a:latin typeface="Calibri"/>
                <a:ea typeface="Calibri"/>
                <a:cs typeface="Calibri"/>
                <a:sym typeface="Calibri"/>
              </a:rPr>
              <a:t>jump and when it is not</a:t>
            </a:r>
            <a:r>
              <a:rPr b="0" i="0" lang="en-US" sz="1000" u="none" cap="none" strike="noStrike">
                <a:solidFill>
                  <a:srgbClr val="FFFFFF"/>
                </a:solidFill>
                <a:latin typeface="Calibri"/>
                <a:ea typeface="Calibri"/>
                <a:cs typeface="Calibri"/>
                <a:sym typeface="Calibri"/>
              </a:rPr>
              <a:t> </a:t>
            </a:r>
            <a:endParaRPr b="0" i="0" sz="1000" u="none" cap="none" strike="noStrike">
              <a:solidFill>
                <a:schemeClr val="dk1"/>
              </a:solidFill>
              <a:latin typeface="Calibri"/>
              <a:ea typeface="Calibri"/>
              <a:cs typeface="Calibri"/>
              <a:sym typeface="Calibri"/>
            </a:endParaRPr>
          </a:p>
        </p:txBody>
      </p:sp>
      <p:sp>
        <p:nvSpPr>
          <p:cNvPr id="237" name="Google Shape;237;p11"/>
          <p:cNvSpPr/>
          <p:nvPr/>
        </p:nvSpPr>
        <p:spPr>
          <a:xfrm>
            <a:off x="274320" y="2587752"/>
            <a:ext cx="384048" cy="384048"/>
          </a:xfrm>
          <a:prstGeom prst="rect">
            <a:avLst/>
          </a:prstGeom>
          <a:solidFill>
            <a:srgbClr val="C8922A"/>
          </a:solidFill>
          <a:ln cap="flat" cmpd="sng" w="1270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a:off x="274320" y="258775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4B"/>
              </a:buClr>
              <a:buSzPts val="1300"/>
              <a:buFont typeface="Cambria"/>
              <a:buNone/>
            </a:pPr>
            <a:r>
              <a:rPr b="1" i="0" lang="en-US" sz="1300" u="none" cap="none" strike="noStrike">
                <a:solidFill>
                  <a:srgbClr val="0D1B4B"/>
                </a:solidFill>
                <a:latin typeface="Cambria"/>
                <a:ea typeface="Cambria"/>
                <a:cs typeface="Cambria"/>
                <a:sym typeface="Cambria"/>
              </a:rPr>
              <a:t>3</a:t>
            </a:r>
            <a:endParaRPr b="0" i="0" sz="1300" u="none" cap="none" strike="noStrike">
              <a:solidFill>
                <a:schemeClr val="dk1"/>
              </a:solidFill>
              <a:latin typeface="Calibri"/>
              <a:ea typeface="Calibri"/>
              <a:cs typeface="Calibri"/>
              <a:sym typeface="Calibri"/>
            </a:endParaRPr>
          </a:p>
        </p:txBody>
      </p:sp>
      <p:sp>
        <p:nvSpPr>
          <p:cNvPr id="239" name="Google Shape;239;p11"/>
          <p:cNvSpPr/>
          <p:nvPr/>
        </p:nvSpPr>
        <p:spPr>
          <a:xfrm>
            <a:off x="731520" y="2587752"/>
            <a:ext cx="40233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Describe what constitutes a jump attempt and why a fully popped jump still fills a box</a:t>
            </a:r>
            <a:endParaRPr b="0" i="0" sz="1000" u="none" cap="none" strike="noStrike">
              <a:solidFill>
                <a:schemeClr val="dk1"/>
              </a:solidFill>
              <a:latin typeface="Calibri"/>
              <a:ea typeface="Calibri"/>
              <a:cs typeface="Calibri"/>
              <a:sym typeface="Calibri"/>
            </a:endParaRPr>
          </a:p>
        </p:txBody>
      </p:sp>
      <p:sp>
        <p:nvSpPr>
          <p:cNvPr id="240" name="Google Shape;240;p11"/>
          <p:cNvSpPr/>
          <p:nvPr/>
        </p:nvSpPr>
        <p:spPr>
          <a:xfrm>
            <a:off x="274320" y="3264408"/>
            <a:ext cx="384048" cy="384048"/>
          </a:xfrm>
          <a:prstGeom prst="rect">
            <a:avLst/>
          </a:prstGeom>
          <a:solidFill>
            <a:srgbClr val="C8922A"/>
          </a:solidFill>
          <a:ln cap="flat" cmpd="sng" w="1270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a:off x="274320" y="326440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4B"/>
              </a:buClr>
              <a:buSzPts val="1300"/>
              <a:buFont typeface="Cambria"/>
              <a:buNone/>
            </a:pPr>
            <a:r>
              <a:rPr b="1" i="0" lang="en-US" sz="1300" u="none" cap="none" strike="noStrike">
                <a:solidFill>
                  <a:srgbClr val="0D1B4B"/>
                </a:solidFill>
                <a:latin typeface="Cambria"/>
                <a:ea typeface="Cambria"/>
                <a:cs typeface="Cambria"/>
                <a:sym typeface="Cambria"/>
              </a:rPr>
              <a:t>4</a:t>
            </a:r>
            <a:endParaRPr b="0" i="0" sz="1300" u="none" cap="none" strike="noStrike">
              <a:solidFill>
                <a:schemeClr val="dk1"/>
              </a:solidFill>
              <a:latin typeface="Calibri"/>
              <a:ea typeface="Calibri"/>
              <a:cs typeface="Calibri"/>
              <a:sym typeface="Calibri"/>
            </a:endParaRPr>
          </a:p>
        </p:txBody>
      </p:sp>
      <p:sp>
        <p:nvSpPr>
          <p:cNvPr id="242" name="Google Shape;242;p11"/>
          <p:cNvSpPr/>
          <p:nvPr/>
        </p:nvSpPr>
        <p:spPr>
          <a:xfrm>
            <a:off x="731520" y="3264408"/>
            <a:ext cx="40233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Identify the 3 types of jumping passes (solo, combination, sequence) and state definitional requirements for each</a:t>
            </a:r>
            <a:endParaRPr b="0" i="0" sz="1000" u="none" cap="none" strike="noStrike">
              <a:solidFill>
                <a:schemeClr val="dk1"/>
              </a:solidFill>
              <a:latin typeface="Calibri"/>
              <a:ea typeface="Calibri"/>
              <a:cs typeface="Calibri"/>
              <a:sym typeface="Calibri"/>
            </a:endParaRPr>
          </a:p>
        </p:txBody>
      </p:sp>
      <p:sp>
        <p:nvSpPr>
          <p:cNvPr id="243" name="Google Shape;243;p11"/>
          <p:cNvSpPr/>
          <p:nvPr/>
        </p:nvSpPr>
        <p:spPr>
          <a:xfrm>
            <a:off x="274320" y="3941064"/>
            <a:ext cx="384048" cy="384048"/>
          </a:xfrm>
          <a:prstGeom prst="rect">
            <a:avLst/>
          </a:prstGeom>
          <a:solidFill>
            <a:srgbClr val="C8922A"/>
          </a:solidFill>
          <a:ln cap="flat" cmpd="sng" w="1270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1"/>
          <p:cNvSpPr/>
          <p:nvPr/>
        </p:nvSpPr>
        <p:spPr>
          <a:xfrm>
            <a:off x="274320" y="394106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4B"/>
              </a:buClr>
              <a:buSzPts val="1300"/>
              <a:buFont typeface="Cambria"/>
              <a:buNone/>
            </a:pPr>
            <a:r>
              <a:rPr b="1" i="0" lang="en-US" sz="1300" u="none" cap="none" strike="noStrike">
                <a:solidFill>
                  <a:srgbClr val="0D1B4B"/>
                </a:solidFill>
                <a:latin typeface="Cambria"/>
                <a:ea typeface="Cambria"/>
                <a:cs typeface="Cambria"/>
                <a:sym typeface="Cambria"/>
              </a:rPr>
              <a:t>5</a:t>
            </a:r>
            <a:endParaRPr b="0" i="0" sz="1300" u="none" cap="none" strike="noStrike">
              <a:solidFill>
                <a:schemeClr val="dk1"/>
              </a:solidFill>
              <a:latin typeface="Calibri"/>
              <a:ea typeface="Calibri"/>
              <a:cs typeface="Calibri"/>
              <a:sym typeface="Calibri"/>
            </a:endParaRPr>
          </a:p>
        </p:txBody>
      </p:sp>
      <p:sp>
        <p:nvSpPr>
          <p:cNvPr id="245" name="Google Shape;245;p11"/>
          <p:cNvSpPr/>
          <p:nvPr/>
        </p:nvSpPr>
        <p:spPr>
          <a:xfrm>
            <a:off x="731520" y="3941064"/>
            <a:ext cx="40233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lang="en-US" sz="1000">
                <a:solidFill>
                  <a:srgbClr val="FFFFFF"/>
                </a:solidFill>
                <a:latin typeface="Calibri"/>
                <a:ea typeface="Calibri"/>
                <a:cs typeface="Calibri"/>
                <a:sym typeface="Calibri"/>
              </a:rPr>
              <a:t>Define the threshold for each of the </a:t>
            </a:r>
            <a:r>
              <a:rPr b="0" i="0" lang="en-US" sz="1000" u="none" cap="none" strike="noStrike">
                <a:solidFill>
                  <a:srgbClr val="FFFFFF"/>
                </a:solidFill>
                <a:latin typeface="Calibri"/>
                <a:ea typeface="Calibri"/>
                <a:cs typeface="Calibri"/>
                <a:sym typeface="Calibri"/>
              </a:rPr>
              <a:t>4 rotation outcomes </a:t>
            </a:r>
            <a:br>
              <a:rPr b="0" i="0" lang="en-US" sz="1000" u="none" cap="none" strike="noStrike">
                <a:solidFill>
                  <a:srgbClr val="FFFFFF"/>
                </a:solidFill>
                <a:latin typeface="Calibri"/>
                <a:ea typeface="Calibri"/>
                <a:cs typeface="Calibri"/>
                <a:sym typeface="Calibri"/>
              </a:rPr>
            </a:br>
            <a:r>
              <a:rPr b="0" i="1" lang="en-US" sz="1000" u="none" cap="none" strike="noStrike">
                <a:solidFill>
                  <a:srgbClr val="FFFFFF"/>
                </a:solidFill>
                <a:latin typeface="Calibri"/>
                <a:ea typeface="Calibri"/>
                <a:cs typeface="Calibri"/>
                <a:sym typeface="Calibri"/>
              </a:rPr>
              <a:t>(fully rotated, q, &lt;, &lt;&lt;)</a:t>
            </a:r>
            <a:r>
              <a:rPr b="0" i="0" lang="en-US" sz="1000" u="none" cap="none" strike="noStrike">
                <a:solidFill>
                  <a:srgbClr val="FFFFFF"/>
                </a:solidFill>
                <a:latin typeface="Calibri"/>
                <a:ea typeface="Calibri"/>
                <a:cs typeface="Calibri"/>
                <a:sym typeface="Calibri"/>
              </a:rPr>
              <a:t> </a:t>
            </a:r>
            <a:endParaRPr b="0" i="0" sz="1000" u="none" cap="none" strike="noStrike">
              <a:solidFill>
                <a:schemeClr val="dk1"/>
              </a:solidFill>
              <a:latin typeface="Calibri"/>
              <a:ea typeface="Calibri"/>
              <a:cs typeface="Calibri"/>
              <a:sym typeface="Calibri"/>
            </a:endParaRPr>
          </a:p>
        </p:txBody>
      </p:sp>
      <p:sp>
        <p:nvSpPr>
          <p:cNvPr id="246" name="Google Shape;246;p11"/>
          <p:cNvSpPr/>
          <p:nvPr/>
        </p:nvSpPr>
        <p:spPr>
          <a:xfrm>
            <a:off x="4754880" y="1234440"/>
            <a:ext cx="384048" cy="384048"/>
          </a:xfrm>
          <a:prstGeom prst="rect">
            <a:avLst/>
          </a:prstGeom>
          <a:solidFill>
            <a:srgbClr val="C8922A"/>
          </a:solidFill>
          <a:ln cap="flat" cmpd="sng" w="1270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a:off x="4754880" y="123444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4B"/>
              </a:buClr>
              <a:buSzPts val="1300"/>
              <a:buFont typeface="Cambria"/>
              <a:buNone/>
            </a:pPr>
            <a:r>
              <a:rPr b="1" i="0" lang="en-US" sz="1300" u="none" cap="none" strike="noStrike">
                <a:solidFill>
                  <a:srgbClr val="0D1B4B"/>
                </a:solidFill>
                <a:latin typeface="Cambria"/>
                <a:ea typeface="Cambria"/>
                <a:cs typeface="Cambria"/>
                <a:sym typeface="Cambria"/>
              </a:rPr>
              <a:t>6</a:t>
            </a:r>
            <a:endParaRPr b="0" i="0" sz="1300" u="none" cap="none" strike="noStrike">
              <a:solidFill>
                <a:schemeClr val="dk1"/>
              </a:solidFill>
              <a:latin typeface="Calibri"/>
              <a:ea typeface="Calibri"/>
              <a:cs typeface="Calibri"/>
              <a:sym typeface="Calibri"/>
            </a:endParaRPr>
          </a:p>
        </p:txBody>
      </p:sp>
      <p:sp>
        <p:nvSpPr>
          <p:cNvPr id="248" name="Google Shape;248;p11"/>
          <p:cNvSpPr/>
          <p:nvPr/>
        </p:nvSpPr>
        <p:spPr>
          <a:xfrm>
            <a:off x="5212080" y="1234440"/>
            <a:ext cx="40233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Explain the difference between </a:t>
            </a:r>
            <a:r>
              <a:rPr lang="en-US" sz="1000">
                <a:solidFill>
                  <a:srgbClr val="FFFFFF"/>
                </a:solidFill>
                <a:latin typeface="Calibri"/>
                <a:ea typeface="Calibri"/>
                <a:cs typeface="Calibri"/>
                <a:sym typeface="Calibri"/>
              </a:rPr>
              <a:t>‘</a:t>
            </a:r>
            <a:r>
              <a:rPr b="0" i="0" lang="en-US" sz="1000" u="none" cap="none" strike="noStrike">
                <a:solidFill>
                  <a:srgbClr val="FFFFFF"/>
                </a:solidFill>
                <a:latin typeface="Calibri"/>
                <a:ea typeface="Calibri"/>
                <a:cs typeface="Calibri"/>
                <a:sym typeface="Calibri"/>
              </a:rPr>
              <a:t>e</a:t>
            </a:r>
            <a:r>
              <a:rPr lang="en-US" sz="1000">
                <a:solidFill>
                  <a:srgbClr val="FFFFFF"/>
                </a:solidFill>
                <a:latin typeface="Calibri"/>
                <a:ea typeface="Calibri"/>
                <a:cs typeface="Calibri"/>
                <a:sym typeface="Calibri"/>
              </a:rPr>
              <a:t>’</a:t>
            </a:r>
            <a:r>
              <a:rPr b="0" i="0" lang="en-US" sz="1000" u="none" cap="none" strike="noStrike">
                <a:solidFill>
                  <a:srgbClr val="FFFFFF"/>
                </a:solidFill>
                <a:latin typeface="Calibri"/>
                <a:ea typeface="Calibri"/>
                <a:cs typeface="Calibri"/>
                <a:sym typeface="Calibri"/>
              </a:rPr>
              <a:t> and </a:t>
            </a:r>
            <a:r>
              <a:rPr lang="en-US" sz="1000">
                <a:solidFill>
                  <a:srgbClr val="FFFFFF"/>
                </a:solidFill>
                <a:latin typeface="Calibri"/>
                <a:ea typeface="Calibri"/>
                <a:cs typeface="Calibri"/>
                <a:sym typeface="Calibri"/>
              </a:rPr>
              <a:t>‘</a:t>
            </a:r>
            <a:r>
              <a:rPr b="0" i="0" lang="en-US" sz="1000" u="none" cap="none" strike="noStrike">
                <a:solidFill>
                  <a:srgbClr val="FFFFFF"/>
                </a:solidFill>
                <a:latin typeface="Calibri"/>
                <a:ea typeface="Calibri"/>
                <a:cs typeface="Calibri"/>
                <a:sym typeface="Calibri"/>
              </a:rPr>
              <a:t>!</a:t>
            </a:r>
            <a:r>
              <a:rPr lang="en-US" sz="1000">
                <a:solidFill>
                  <a:srgbClr val="FFFFFF"/>
                </a:solidFill>
                <a:latin typeface="Calibri"/>
                <a:ea typeface="Calibri"/>
                <a:cs typeface="Calibri"/>
                <a:sym typeface="Calibri"/>
              </a:rPr>
              <a:t>’</a:t>
            </a:r>
            <a:r>
              <a:rPr b="0" i="0" lang="en-US" sz="1000" u="none" cap="none" strike="noStrike">
                <a:solidFill>
                  <a:srgbClr val="FFFFFF"/>
                </a:solidFill>
                <a:latin typeface="Calibri"/>
                <a:ea typeface="Calibri"/>
                <a:cs typeface="Calibri"/>
                <a:sym typeface="Calibri"/>
              </a:rPr>
              <a:t> </a:t>
            </a:r>
            <a:endParaRPr b="0" i="0" sz="1000" u="none" cap="none" strike="noStrike">
              <a:solidFill>
                <a:schemeClr val="dk1"/>
              </a:solidFill>
              <a:latin typeface="Calibri"/>
              <a:ea typeface="Calibri"/>
              <a:cs typeface="Calibri"/>
              <a:sym typeface="Calibri"/>
            </a:endParaRPr>
          </a:p>
        </p:txBody>
      </p:sp>
      <p:sp>
        <p:nvSpPr>
          <p:cNvPr id="249" name="Google Shape;249;p11"/>
          <p:cNvSpPr/>
          <p:nvPr/>
        </p:nvSpPr>
        <p:spPr>
          <a:xfrm>
            <a:off x="4754880" y="1911096"/>
            <a:ext cx="384048" cy="384048"/>
          </a:xfrm>
          <a:prstGeom prst="rect">
            <a:avLst/>
          </a:prstGeom>
          <a:solidFill>
            <a:srgbClr val="C8922A"/>
          </a:solidFill>
          <a:ln cap="flat" cmpd="sng" w="1270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1"/>
          <p:cNvSpPr/>
          <p:nvPr/>
        </p:nvSpPr>
        <p:spPr>
          <a:xfrm>
            <a:off x="4754880" y="191109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4B"/>
              </a:buClr>
              <a:buSzPts val="1300"/>
              <a:buFont typeface="Cambria"/>
              <a:buNone/>
            </a:pPr>
            <a:r>
              <a:rPr b="1" i="0" lang="en-US" sz="1300" u="none" cap="none" strike="noStrike">
                <a:solidFill>
                  <a:srgbClr val="0D1B4B"/>
                </a:solidFill>
                <a:latin typeface="Cambria"/>
                <a:ea typeface="Cambria"/>
                <a:cs typeface="Cambria"/>
                <a:sym typeface="Cambria"/>
              </a:rPr>
              <a:t>7</a:t>
            </a:r>
            <a:endParaRPr b="0" i="0" sz="1300" u="none" cap="none" strike="noStrike">
              <a:solidFill>
                <a:schemeClr val="dk1"/>
              </a:solidFill>
              <a:latin typeface="Calibri"/>
              <a:ea typeface="Calibri"/>
              <a:cs typeface="Calibri"/>
              <a:sym typeface="Calibri"/>
            </a:endParaRPr>
          </a:p>
        </p:txBody>
      </p:sp>
      <p:sp>
        <p:nvSpPr>
          <p:cNvPr id="251" name="Google Shape;251;p11"/>
          <p:cNvSpPr/>
          <p:nvPr/>
        </p:nvSpPr>
        <p:spPr>
          <a:xfrm>
            <a:off x="5212075" y="1911100"/>
            <a:ext cx="39318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lang="en-US" sz="1000">
                <a:solidFill>
                  <a:srgbClr val="FFFFFF"/>
                </a:solidFill>
                <a:latin typeface="Calibri"/>
                <a:ea typeface="Calibri"/>
                <a:cs typeface="Calibri"/>
                <a:sym typeface="Calibri"/>
              </a:rPr>
              <a:t>Describe what review speeds are available for rotation errors at take-off and at landing</a:t>
            </a:r>
            <a:endParaRPr b="0" i="0" sz="1000" u="none" cap="none" strike="noStrike">
              <a:solidFill>
                <a:schemeClr val="dk1"/>
              </a:solidFill>
              <a:latin typeface="Calibri"/>
              <a:ea typeface="Calibri"/>
              <a:cs typeface="Calibri"/>
              <a:sym typeface="Calibri"/>
            </a:endParaRPr>
          </a:p>
        </p:txBody>
      </p:sp>
      <p:sp>
        <p:nvSpPr>
          <p:cNvPr id="252" name="Google Shape;252;p11"/>
          <p:cNvSpPr/>
          <p:nvPr/>
        </p:nvSpPr>
        <p:spPr>
          <a:xfrm>
            <a:off x="4754880" y="2587752"/>
            <a:ext cx="384048" cy="384048"/>
          </a:xfrm>
          <a:prstGeom prst="rect">
            <a:avLst/>
          </a:prstGeom>
          <a:solidFill>
            <a:srgbClr val="C8922A"/>
          </a:solidFill>
          <a:ln cap="flat" cmpd="sng" w="1270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a:off x="4754880" y="258775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4B"/>
              </a:buClr>
              <a:buSzPts val="1300"/>
              <a:buFont typeface="Cambria"/>
              <a:buNone/>
            </a:pPr>
            <a:r>
              <a:rPr b="1" i="0" lang="en-US" sz="1300" u="none" cap="none" strike="noStrike">
                <a:solidFill>
                  <a:srgbClr val="0D1B4B"/>
                </a:solidFill>
                <a:latin typeface="Cambria"/>
                <a:ea typeface="Cambria"/>
                <a:cs typeface="Cambria"/>
                <a:sym typeface="Cambria"/>
              </a:rPr>
              <a:t>8</a:t>
            </a:r>
            <a:endParaRPr b="0" i="0" sz="1300" u="none" cap="none" strike="noStrike">
              <a:solidFill>
                <a:schemeClr val="dk1"/>
              </a:solidFill>
              <a:latin typeface="Calibri"/>
              <a:ea typeface="Calibri"/>
              <a:cs typeface="Calibri"/>
              <a:sym typeface="Calibri"/>
            </a:endParaRPr>
          </a:p>
        </p:txBody>
      </p:sp>
      <p:sp>
        <p:nvSpPr>
          <p:cNvPr id="254" name="Google Shape;254;p11"/>
          <p:cNvSpPr/>
          <p:nvPr/>
        </p:nvSpPr>
        <p:spPr>
          <a:xfrm>
            <a:off x="5212075" y="2587750"/>
            <a:ext cx="39318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lang="en-US" sz="1000">
                <a:solidFill>
                  <a:srgbClr val="FFFFFF"/>
                </a:solidFill>
                <a:latin typeface="Calibri"/>
                <a:ea typeface="Calibri"/>
                <a:cs typeface="Calibri"/>
                <a:sym typeface="Calibri"/>
              </a:rPr>
              <a:t>Describe what video review speeds are available for flip and lutz take-offs</a:t>
            </a:r>
            <a:endParaRPr b="0" i="0" sz="1000" u="none" cap="none" strike="noStrike">
              <a:solidFill>
                <a:schemeClr val="dk1"/>
              </a:solidFill>
              <a:latin typeface="Calibri"/>
              <a:ea typeface="Calibri"/>
              <a:cs typeface="Calibri"/>
              <a:sym typeface="Calibri"/>
            </a:endParaRPr>
          </a:p>
        </p:txBody>
      </p:sp>
      <p:sp>
        <p:nvSpPr>
          <p:cNvPr id="255" name="Google Shape;255;p11"/>
          <p:cNvSpPr/>
          <p:nvPr/>
        </p:nvSpPr>
        <p:spPr>
          <a:xfrm>
            <a:off x="4754880" y="3264408"/>
            <a:ext cx="384048" cy="384048"/>
          </a:xfrm>
          <a:prstGeom prst="rect">
            <a:avLst/>
          </a:prstGeom>
          <a:solidFill>
            <a:srgbClr val="C8922A"/>
          </a:solidFill>
          <a:ln cap="flat" cmpd="sng" w="1270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a:off x="4754880" y="326440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4B"/>
              </a:buClr>
              <a:buSzPts val="1300"/>
              <a:buFont typeface="Cambria"/>
              <a:buNone/>
            </a:pPr>
            <a:r>
              <a:rPr b="1" i="0" lang="en-US" sz="1300" u="none" cap="none" strike="noStrike">
                <a:solidFill>
                  <a:srgbClr val="0D1B4B"/>
                </a:solidFill>
                <a:latin typeface="Cambria"/>
                <a:ea typeface="Cambria"/>
                <a:cs typeface="Cambria"/>
                <a:sym typeface="Cambria"/>
              </a:rPr>
              <a:t>9</a:t>
            </a:r>
            <a:endParaRPr b="0" i="0" sz="1300" u="none" cap="none" strike="noStrike">
              <a:solidFill>
                <a:schemeClr val="dk1"/>
              </a:solidFill>
              <a:latin typeface="Calibri"/>
              <a:ea typeface="Calibri"/>
              <a:cs typeface="Calibri"/>
              <a:sym typeface="Calibri"/>
            </a:endParaRPr>
          </a:p>
        </p:txBody>
      </p:sp>
      <p:sp>
        <p:nvSpPr>
          <p:cNvPr id="257" name="Google Shape;257;p11"/>
          <p:cNvSpPr/>
          <p:nvPr/>
        </p:nvSpPr>
        <p:spPr>
          <a:xfrm>
            <a:off x="5212080" y="3264408"/>
            <a:ext cx="40233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Explain the ERB sequence and what gets skipped when a jump is wrong edge and downgraded</a:t>
            </a:r>
            <a:endParaRPr b="0" i="0" sz="1000" u="none" cap="none" strike="noStrike">
              <a:solidFill>
                <a:schemeClr val="dk1"/>
              </a:solidFill>
              <a:latin typeface="Calibri"/>
              <a:ea typeface="Calibri"/>
              <a:cs typeface="Calibri"/>
              <a:sym typeface="Calibri"/>
            </a:endParaRPr>
          </a:p>
        </p:txBody>
      </p:sp>
      <p:sp>
        <p:nvSpPr>
          <p:cNvPr id="258" name="Google Shape;258;p11"/>
          <p:cNvSpPr/>
          <p:nvPr/>
        </p:nvSpPr>
        <p:spPr>
          <a:xfrm>
            <a:off x="4754880" y="3941064"/>
            <a:ext cx="384048" cy="384048"/>
          </a:xfrm>
          <a:prstGeom prst="rect">
            <a:avLst/>
          </a:prstGeom>
          <a:solidFill>
            <a:srgbClr val="C8922A"/>
          </a:solidFill>
          <a:ln cap="flat" cmpd="sng" w="1270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1"/>
          <p:cNvSpPr/>
          <p:nvPr/>
        </p:nvSpPr>
        <p:spPr>
          <a:xfrm>
            <a:off x="4754880" y="394106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4B"/>
              </a:buClr>
              <a:buSzPts val="1300"/>
              <a:buFont typeface="Cambria"/>
              <a:buNone/>
            </a:pPr>
            <a:r>
              <a:rPr b="1" i="0" lang="en-US" sz="1300" u="none" cap="none" strike="noStrike">
                <a:solidFill>
                  <a:srgbClr val="0D1B4B"/>
                </a:solidFill>
                <a:latin typeface="Cambria"/>
                <a:ea typeface="Cambria"/>
                <a:cs typeface="Cambria"/>
                <a:sym typeface="Cambria"/>
              </a:rPr>
              <a:t>10</a:t>
            </a:r>
            <a:endParaRPr b="0" i="0" sz="1300" u="none" cap="none" strike="noStrike">
              <a:solidFill>
                <a:schemeClr val="dk1"/>
              </a:solidFill>
              <a:latin typeface="Calibri"/>
              <a:ea typeface="Calibri"/>
              <a:cs typeface="Calibri"/>
              <a:sym typeface="Calibri"/>
            </a:endParaRPr>
          </a:p>
        </p:txBody>
      </p:sp>
      <p:sp>
        <p:nvSpPr>
          <p:cNvPr id="260" name="Google Shape;260;p11"/>
          <p:cNvSpPr/>
          <p:nvPr/>
        </p:nvSpPr>
        <p:spPr>
          <a:xfrm>
            <a:off x="5212080" y="3941064"/>
            <a:ext cx="402336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State when jumps inside a ChSq, StSq, and pChSq are and are not called</a:t>
            </a:r>
            <a:endParaRPr b="0" i="0" sz="1000" u="none" cap="none" strike="noStrike">
              <a:solidFill>
                <a:schemeClr val="dk1"/>
              </a:solidFill>
              <a:latin typeface="Calibri"/>
              <a:ea typeface="Calibri"/>
              <a:cs typeface="Calibri"/>
              <a:sym typeface="Calibri"/>
            </a:endParaRPr>
          </a:p>
        </p:txBody>
      </p:sp>
      <p:sp>
        <p:nvSpPr>
          <p:cNvPr id="261" name="Google Shape;261;p11"/>
          <p:cNvSpPr/>
          <p:nvPr/>
        </p:nvSpPr>
        <p:spPr>
          <a:xfrm>
            <a:off x="0" y="4846320"/>
            <a:ext cx="9144000" cy="297180"/>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a:off x="274320" y="4846320"/>
            <a:ext cx="8595360" cy="2971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4F0"/>
              </a:buClr>
              <a:buSzPts val="900"/>
              <a:buFont typeface="Calibri"/>
              <a:buNone/>
            </a:pPr>
            <a:r>
              <a:rPr b="0" i="1" lang="en-US" sz="900" u="none" cap="none" strike="noStrike">
                <a:solidFill>
                  <a:srgbClr val="D6E4F0"/>
                </a:solidFill>
                <a:latin typeface="Calibri"/>
                <a:ea typeface="Calibri"/>
                <a:cs typeface="Calibri"/>
                <a:sym typeface="Calibri"/>
              </a:rPr>
              <a:t>Preview: Session 3 covers Phase 4 — Rule vetting: *, +REP, +COMBO, second half bonus, and jump achievement bonus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4B"/>
        </a:solidFill>
      </p:bgPr>
    </p:bg>
    <p:spTree>
      <p:nvGrpSpPr>
        <p:cNvPr id="267" name="Shape 267"/>
        <p:cNvGrpSpPr/>
        <p:nvPr/>
      </p:nvGrpSpPr>
      <p:grpSpPr>
        <a:xfrm>
          <a:off x="0" y="0"/>
          <a:ext cx="0" cy="0"/>
          <a:chOff x="0" y="0"/>
          <a:chExt cx="0" cy="0"/>
        </a:xfrm>
      </p:grpSpPr>
      <p:sp>
        <p:nvSpPr>
          <p:cNvPr id="268" name="Google Shape;268;g3ca60d3ef69_0_1"/>
          <p:cNvSpPr/>
          <p:nvPr/>
        </p:nvSpPr>
        <p:spPr>
          <a:xfrm>
            <a:off x="0" y="0"/>
            <a:ext cx="9144000" cy="109800"/>
          </a:xfrm>
          <a:prstGeom prst="rect">
            <a:avLst/>
          </a:prstGeom>
          <a:solidFill>
            <a:srgbClr val="C8922A"/>
          </a:solidFill>
          <a:ln cap="flat" cmpd="sng" w="1270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g3ca60d3ef69_0_1"/>
          <p:cNvSpPr/>
          <p:nvPr/>
        </p:nvSpPr>
        <p:spPr>
          <a:xfrm>
            <a:off x="457200" y="228600"/>
            <a:ext cx="8229600" cy="594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Session </a:t>
            </a:r>
            <a:r>
              <a:rPr b="1" lang="en-US" sz="2800">
                <a:solidFill>
                  <a:srgbClr val="FFFFFF"/>
                </a:solidFill>
                <a:latin typeface="Cambria"/>
                <a:ea typeface="Cambria"/>
                <a:cs typeface="Cambria"/>
                <a:sym typeface="Cambria"/>
              </a:rPr>
              <a:t>3 </a:t>
            </a:r>
            <a:r>
              <a:rPr b="1" lang="en-US" sz="2800">
                <a:solidFill>
                  <a:srgbClr val="FFFFFF"/>
                </a:solidFill>
                <a:latin typeface="Cambria"/>
                <a:ea typeface="Cambria"/>
                <a:cs typeface="Cambria"/>
                <a:sym typeface="Cambria"/>
              </a:rPr>
              <a:t>Preparation</a:t>
            </a:r>
            <a:endParaRPr b="0" i="0" sz="2800" u="none" cap="none" strike="noStrike">
              <a:solidFill>
                <a:schemeClr val="dk1"/>
              </a:solidFill>
              <a:latin typeface="Calibri"/>
              <a:ea typeface="Calibri"/>
              <a:cs typeface="Calibri"/>
              <a:sym typeface="Calibri"/>
            </a:endParaRPr>
          </a:p>
        </p:txBody>
      </p:sp>
      <p:sp>
        <p:nvSpPr>
          <p:cNvPr id="270" name="Google Shape;270;g3ca60d3ef69_0_1"/>
          <p:cNvSpPr/>
          <p:nvPr/>
        </p:nvSpPr>
        <p:spPr>
          <a:xfrm>
            <a:off x="0" y="4846320"/>
            <a:ext cx="9144000" cy="297300"/>
          </a:xfrm>
          <a:prstGeom prst="rect">
            <a:avLst/>
          </a:prstGeom>
          <a:solidFill>
            <a:srgbClr val="1E3A6E"/>
          </a:solidFill>
          <a:ln cap="flat" cmpd="sng" w="12700">
            <a:solidFill>
              <a:srgbClr val="1E3A6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g3ca60d3ef69_0_1"/>
          <p:cNvSpPr/>
          <p:nvPr/>
        </p:nvSpPr>
        <p:spPr>
          <a:xfrm>
            <a:off x="274320" y="4846320"/>
            <a:ext cx="8595300" cy="29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6E4F0"/>
              </a:buClr>
              <a:buSzPts val="900"/>
              <a:buFont typeface="Calibri"/>
              <a:buNone/>
            </a:pPr>
            <a:r>
              <a:rPr b="0" i="1" lang="en-US" sz="900" u="none" cap="none" strike="noStrike">
                <a:solidFill>
                  <a:srgbClr val="D6E4F0"/>
                </a:solidFill>
                <a:latin typeface="Calibri"/>
                <a:ea typeface="Calibri"/>
                <a:cs typeface="Calibri"/>
                <a:sym typeface="Calibri"/>
              </a:rPr>
              <a:t>Preview: Session 3 covers Phase 4 — Rule vetting: *, +REP, +COMBO, second half bonus, and jump achievement bonus</a:t>
            </a:r>
            <a:endParaRPr b="0" i="0" sz="900" u="none" cap="none" strike="noStrike">
              <a:solidFill>
                <a:schemeClr val="dk1"/>
              </a:solidFill>
              <a:latin typeface="Calibri"/>
              <a:ea typeface="Calibri"/>
              <a:cs typeface="Calibri"/>
              <a:sym typeface="Calibri"/>
            </a:endParaRPr>
          </a:p>
        </p:txBody>
      </p:sp>
      <p:sp>
        <p:nvSpPr>
          <p:cNvPr id="272" name="Google Shape;272;g3ca60d3ef69_0_1"/>
          <p:cNvSpPr/>
          <p:nvPr/>
        </p:nvSpPr>
        <p:spPr>
          <a:xfrm>
            <a:off x="320050" y="1037697"/>
            <a:ext cx="2743200" cy="2162100"/>
          </a:xfrm>
          <a:prstGeom prst="rect">
            <a:avLst/>
          </a:prstGeom>
          <a:solidFill>
            <a:srgbClr val="4A6FA5"/>
          </a:solidFill>
          <a:ln cap="flat" cmpd="sng" w="12700">
            <a:solidFill>
              <a:srgbClr val="4A6FA5"/>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g3ca60d3ef69_0_1"/>
          <p:cNvSpPr/>
          <p:nvPr/>
        </p:nvSpPr>
        <p:spPr>
          <a:xfrm>
            <a:off x="448056" y="1110857"/>
            <a:ext cx="502800" cy="502800"/>
          </a:xfrm>
          <a:prstGeom prst="ellipse">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g3ca60d3ef69_0_1"/>
          <p:cNvSpPr/>
          <p:nvPr/>
        </p:nvSpPr>
        <p:spPr>
          <a:xfrm>
            <a:off x="448056" y="1110857"/>
            <a:ext cx="502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800"/>
              <a:buFont typeface="Calibri"/>
              <a:buNone/>
            </a:pPr>
            <a:r>
              <a:rPr b="1" i="0" lang="en-US" sz="1800" u="none" cap="none" strike="noStrike">
                <a:solidFill>
                  <a:srgbClr val="0D1B2A"/>
                </a:solidFill>
                <a:latin typeface="Calibri"/>
                <a:ea typeface="Calibri"/>
                <a:cs typeface="Calibri"/>
                <a:sym typeface="Calibri"/>
              </a:rPr>
              <a:t>1</a:t>
            </a:r>
            <a:endParaRPr b="0" i="0" sz="1800" u="none" cap="none" strike="noStrike">
              <a:solidFill>
                <a:srgbClr val="000000"/>
              </a:solidFill>
              <a:latin typeface="Calibri"/>
              <a:ea typeface="Calibri"/>
              <a:cs typeface="Calibri"/>
              <a:sym typeface="Calibri"/>
            </a:endParaRPr>
          </a:p>
        </p:txBody>
      </p:sp>
      <p:sp>
        <p:nvSpPr>
          <p:cNvPr id="275" name="Google Shape;275;g3ca60d3ef69_0_1"/>
          <p:cNvSpPr/>
          <p:nvPr/>
        </p:nvSpPr>
        <p:spPr>
          <a:xfrm>
            <a:off x="1051560" y="1147433"/>
            <a:ext cx="19203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300"/>
              <a:buFont typeface="Calibri"/>
              <a:buNone/>
            </a:pPr>
            <a:r>
              <a:rPr b="1" lang="en-US" sz="1300">
                <a:solidFill>
                  <a:srgbClr val="C9A84C"/>
                </a:solidFill>
                <a:latin typeface="Calibri"/>
                <a:ea typeface="Calibri"/>
                <a:cs typeface="Calibri"/>
                <a:sym typeface="Calibri"/>
              </a:rPr>
              <a:t>Tech Panel Handbook</a:t>
            </a:r>
            <a:endParaRPr b="0" i="0" sz="1300" u="none" cap="none" strike="noStrike">
              <a:solidFill>
                <a:srgbClr val="000000"/>
              </a:solidFill>
              <a:latin typeface="Calibri"/>
              <a:ea typeface="Calibri"/>
              <a:cs typeface="Calibri"/>
              <a:sym typeface="Calibri"/>
            </a:endParaRPr>
          </a:p>
        </p:txBody>
      </p:sp>
      <p:sp>
        <p:nvSpPr>
          <p:cNvPr id="276" name="Google Shape;276;g3ca60d3ef69_0_1"/>
          <p:cNvSpPr/>
          <p:nvPr/>
        </p:nvSpPr>
        <p:spPr>
          <a:xfrm>
            <a:off x="429850" y="1737077"/>
            <a:ext cx="2523600" cy="714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Focus on the guidance for the rules on pages 26-27</a:t>
            </a:r>
            <a:endParaRPr sz="1050">
              <a:solidFill>
                <a:srgbClr val="FFFFFF"/>
              </a:solidFill>
              <a:latin typeface="Calibri"/>
              <a:ea typeface="Calibri"/>
              <a:cs typeface="Calibri"/>
              <a:sym typeface="Calibri"/>
            </a:endParaRPr>
          </a:p>
        </p:txBody>
      </p:sp>
      <p:sp>
        <p:nvSpPr>
          <p:cNvPr id="277" name="Google Shape;277;g3ca60d3ef69_0_1"/>
          <p:cNvSpPr/>
          <p:nvPr/>
        </p:nvSpPr>
        <p:spPr>
          <a:xfrm>
            <a:off x="3200400" y="1037697"/>
            <a:ext cx="2743200" cy="2162100"/>
          </a:xfrm>
          <a:prstGeom prst="rect">
            <a:avLst/>
          </a:prstGeom>
          <a:solidFill>
            <a:srgbClr val="1B6E72"/>
          </a:solidFill>
          <a:ln cap="flat" cmpd="sng" w="12700">
            <a:solidFill>
              <a:srgbClr val="1B6E72"/>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g3ca60d3ef69_0_1"/>
          <p:cNvSpPr/>
          <p:nvPr/>
        </p:nvSpPr>
        <p:spPr>
          <a:xfrm>
            <a:off x="3328416" y="1110857"/>
            <a:ext cx="502800" cy="502800"/>
          </a:xfrm>
          <a:prstGeom prst="ellipse">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g3ca60d3ef69_0_1"/>
          <p:cNvSpPr/>
          <p:nvPr/>
        </p:nvSpPr>
        <p:spPr>
          <a:xfrm>
            <a:off x="3328416" y="1110857"/>
            <a:ext cx="502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800"/>
              <a:buFont typeface="Calibri"/>
              <a:buNone/>
            </a:pPr>
            <a:r>
              <a:rPr b="1" i="0" lang="en-US" sz="1800" u="none" cap="none" strike="noStrike">
                <a:solidFill>
                  <a:srgbClr val="0D1B2A"/>
                </a:solidFill>
                <a:latin typeface="Calibri"/>
                <a:ea typeface="Calibri"/>
                <a:cs typeface="Calibri"/>
                <a:sym typeface="Calibri"/>
              </a:rPr>
              <a:t>2</a:t>
            </a:r>
            <a:endParaRPr b="0" i="0" sz="1800" u="none" cap="none" strike="noStrike">
              <a:solidFill>
                <a:srgbClr val="000000"/>
              </a:solidFill>
              <a:latin typeface="Calibri"/>
              <a:ea typeface="Calibri"/>
              <a:cs typeface="Calibri"/>
              <a:sym typeface="Calibri"/>
            </a:endParaRPr>
          </a:p>
        </p:txBody>
      </p:sp>
      <p:sp>
        <p:nvSpPr>
          <p:cNvPr id="280" name="Google Shape;280;g3ca60d3ef69_0_1"/>
          <p:cNvSpPr/>
          <p:nvPr/>
        </p:nvSpPr>
        <p:spPr>
          <a:xfrm>
            <a:off x="3931920" y="1147433"/>
            <a:ext cx="19203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300"/>
              <a:buFont typeface="Calibri"/>
              <a:buNone/>
            </a:pPr>
            <a:r>
              <a:rPr b="1" lang="en-US" sz="1300">
                <a:solidFill>
                  <a:srgbClr val="C9A84C"/>
                </a:solidFill>
                <a:latin typeface="Calibri"/>
                <a:ea typeface="Calibri"/>
                <a:cs typeface="Calibri"/>
                <a:sym typeface="Calibri"/>
              </a:rPr>
              <a:t>WBP Requirements</a:t>
            </a:r>
            <a:endParaRPr b="0" i="0" sz="1300" u="none" cap="none" strike="noStrike">
              <a:solidFill>
                <a:srgbClr val="000000"/>
              </a:solidFill>
              <a:latin typeface="Calibri"/>
              <a:ea typeface="Calibri"/>
              <a:cs typeface="Calibri"/>
              <a:sym typeface="Calibri"/>
            </a:endParaRPr>
          </a:p>
        </p:txBody>
      </p:sp>
      <p:sp>
        <p:nvSpPr>
          <p:cNvPr id="281" name="Google Shape;281;g3ca60d3ef69_0_1"/>
          <p:cNvSpPr/>
          <p:nvPr/>
        </p:nvSpPr>
        <p:spPr>
          <a:xfrm>
            <a:off x="3310200" y="1737074"/>
            <a:ext cx="2523600" cy="1656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Go through the requirements for Juvenile and up FS and SP (both for 25-26 and 26-27). Read through all the requirements for each level, including rules on jump repeat rules, and jump bonuses</a:t>
            </a:r>
            <a:endParaRPr sz="1050">
              <a:solidFill>
                <a:srgbClr val="FFFFFF"/>
              </a:solidFill>
              <a:latin typeface="Calibri"/>
              <a:ea typeface="Calibri"/>
              <a:cs typeface="Calibri"/>
              <a:sym typeface="Calibri"/>
            </a:endParaRPr>
          </a:p>
          <a:p>
            <a:pPr indent="0" lvl="0" marL="0" marR="0" rtl="0" algn="l">
              <a:spcBef>
                <a:spcPts val="0"/>
              </a:spcBef>
              <a:spcAft>
                <a:spcPts val="0"/>
              </a:spcAft>
              <a:buClr>
                <a:srgbClr val="FFFFFF"/>
              </a:buClr>
              <a:buSzPts val="1050"/>
              <a:buFont typeface="Calibri"/>
              <a:buNone/>
            </a:pPr>
            <a:r>
              <a:t/>
            </a:r>
            <a:endParaRPr sz="1050">
              <a:solidFill>
                <a:srgbClr val="FFFFFF"/>
              </a:solidFill>
              <a:latin typeface="Calibri"/>
              <a:ea typeface="Calibri"/>
              <a:cs typeface="Calibri"/>
              <a:sym typeface="Calibri"/>
            </a:endParaRPr>
          </a:p>
          <a:p>
            <a:pPr indent="0" lvl="0" marL="0" marR="0" rtl="0" algn="l">
              <a:spcBef>
                <a:spcPts val="0"/>
              </a:spcBef>
              <a:spcAft>
                <a:spcPts val="0"/>
              </a:spcAft>
              <a:buClr>
                <a:srgbClr val="FFFFFF"/>
              </a:buClr>
              <a:buSzPts val="1050"/>
              <a:buFont typeface="Calibri"/>
              <a:buNone/>
            </a:pPr>
            <a:r>
              <a:t/>
            </a:r>
            <a:endParaRPr sz="1050">
              <a:solidFill>
                <a:srgbClr val="FFFFFF"/>
              </a:solidFill>
              <a:latin typeface="Calibri"/>
              <a:ea typeface="Calibri"/>
              <a:cs typeface="Calibri"/>
              <a:sym typeface="Calibri"/>
            </a:endParaRPr>
          </a:p>
          <a:p>
            <a:pPr indent="0" lvl="0" marL="0" marR="0" rtl="0" algn="l">
              <a:spcBef>
                <a:spcPts val="0"/>
              </a:spcBef>
              <a:spcAft>
                <a:spcPts val="0"/>
              </a:spcAft>
              <a:buClr>
                <a:srgbClr val="FFFFFF"/>
              </a:buClr>
              <a:buSzPts val="1050"/>
              <a:buFont typeface="Calibri"/>
              <a:buNone/>
            </a:pPr>
            <a:r>
              <a:t/>
            </a:r>
            <a:endParaRPr sz="1050">
              <a:solidFill>
                <a:srgbClr val="FFFFFF"/>
              </a:solidFill>
              <a:latin typeface="Calibri"/>
              <a:ea typeface="Calibri"/>
              <a:cs typeface="Calibri"/>
              <a:sym typeface="Calibri"/>
            </a:endParaRPr>
          </a:p>
        </p:txBody>
      </p:sp>
      <p:sp>
        <p:nvSpPr>
          <p:cNvPr id="282" name="Google Shape;282;g3ca60d3ef69_0_1"/>
          <p:cNvSpPr/>
          <p:nvPr/>
        </p:nvSpPr>
        <p:spPr>
          <a:xfrm>
            <a:off x="6080750" y="1037700"/>
            <a:ext cx="2743200" cy="2162100"/>
          </a:xfrm>
          <a:prstGeom prst="rect">
            <a:avLst/>
          </a:prstGeom>
          <a:solidFill>
            <a:srgbClr val="5C3D7A"/>
          </a:solidFill>
          <a:ln cap="flat" cmpd="sng" w="12700">
            <a:solidFill>
              <a:srgbClr val="5C3D7A"/>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g3ca60d3ef69_0_1"/>
          <p:cNvSpPr/>
          <p:nvPr/>
        </p:nvSpPr>
        <p:spPr>
          <a:xfrm>
            <a:off x="6208776" y="1110857"/>
            <a:ext cx="502800" cy="502800"/>
          </a:xfrm>
          <a:prstGeom prst="ellipse">
            <a:avLst/>
          </a:prstGeom>
          <a:solidFill>
            <a:srgbClr val="C9A84C"/>
          </a:solidFill>
          <a:ln cap="flat" cmpd="sng" w="12700">
            <a:solidFill>
              <a:srgbClr val="C9A84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g3ca60d3ef69_0_1"/>
          <p:cNvSpPr/>
          <p:nvPr/>
        </p:nvSpPr>
        <p:spPr>
          <a:xfrm>
            <a:off x="6208776" y="1110857"/>
            <a:ext cx="502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1B2A"/>
              </a:buClr>
              <a:buSzPts val="1800"/>
              <a:buFont typeface="Calibri"/>
              <a:buNone/>
            </a:pPr>
            <a:r>
              <a:rPr b="1" i="0" lang="en-US" sz="1800" u="none" cap="none" strike="noStrike">
                <a:solidFill>
                  <a:srgbClr val="0D1B2A"/>
                </a:solidFill>
                <a:latin typeface="Calibri"/>
                <a:ea typeface="Calibri"/>
                <a:cs typeface="Calibri"/>
                <a:sym typeface="Calibri"/>
              </a:rPr>
              <a:t>3</a:t>
            </a:r>
            <a:endParaRPr b="0" i="0" sz="1800" u="none" cap="none" strike="noStrike">
              <a:solidFill>
                <a:srgbClr val="000000"/>
              </a:solidFill>
              <a:latin typeface="Calibri"/>
              <a:ea typeface="Calibri"/>
              <a:cs typeface="Calibri"/>
              <a:sym typeface="Calibri"/>
            </a:endParaRPr>
          </a:p>
        </p:txBody>
      </p:sp>
      <p:sp>
        <p:nvSpPr>
          <p:cNvPr id="285" name="Google Shape;285;g3ca60d3ef69_0_1"/>
          <p:cNvSpPr/>
          <p:nvPr/>
        </p:nvSpPr>
        <p:spPr>
          <a:xfrm>
            <a:off x="6812280" y="1147433"/>
            <a:ext cx="19203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A84C"/>
              </a:buClr>
              <a:buSzPts val="1300"/>
              <a:buFont typeface="Calibri"/>
              <a:buNone/>
            </a:pPr>
            <a:r>
              <a:rPr b="1" lang="en-US" sz="1300">
                <a:solidFill>
                  <a:srgbClr val="C9A84C"/>
                </a:solidFill>
                <a:latin typeface="Calibri"/>
                <a:ea typeface="Calibri"/>
                <a:cs typeface="Calibri"/>
                <a:sym typeface="Calibri"/>
              </a:rPr>
              <a:t>Domestic Calling Clarifications</a:t>
            </a:r>
            <a:endParaRPr b="0" i="0" sz="1300" u="none" cap="none" strike="noStrike">
              <a:solidFill>
                <a:srgbClr val="000000"/>
              </a:solidFill>
              <a:latin typeface="Calibri"/>
              <a:ea typeface="Calibri"/>
              <a:cs typeface="Calibri"/>
              <a:sym typeface="Calibri"/>
            </a:endParaRPr>
          </a:p>
        </p:txBody>
      </p:sp>
      <p:sp>
        <p:nvSpPr>
          <p:cNvPr id="286" name="Google Shape;286;g3ca60d3ef69_0_1"/>
          <p:cNvSpPr/>
          <p:nvPr/>
        </p:nvSpPr>
        <p:spPr>
          <a:xfrm>
            <a:off x="6190551" y="1855957"/>
            <a:ext cx="2523600" cy="621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Read the rule vetting and bonus requirements in more detail on the calling clarifications for Juvenile through Senior</a:t>
            </a:r>
            <a:endParaRPr b="0" i="0" sz="1050" u="none" cap="none" strike="noStrike">
              <a:solidFill>
                <a:srgbClr val="000000"/>
              </a:solidFill>
              <a:latin typeface="Calibri"/>
              <a:ea typeface="Calibri"/>
              <a:cs typeface="Calibri"/>
              <a:sym typeface="Calibri"/>
            </a:endParaRPr>
          </a:p>
        </p:txBody>
      </p:sp>
      <p:sp>
        <p:nvSpPr>
          <p:cNvPr id="287" name="Google Shape;287;g3ca60d3ef69_0_1"/>
          <p:cNvSpPr/>
          <p:nvPr/>
        </p:nvSpPr>
        <p:spPr>
          <a:xfrm>
            <a:off x="274350" y="3414600"/>
            <a:ext cx="5348100" cy="1311000"/>
          </a:xfrm>
          <a:prstGeom prst="rect">
            <a:avLst/>
          </a:prstGeom>
          <a:solidFill>
            <a:srgbClr val="E8F4FD"/>
          </a:solidFill>
          <a:ln cap="flat" cmpd="sng" w="19050">
            <a:solidFill>
              <a:srgbClr val="C89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3ca60d3ef69_0_1"/>
          <p:cNvSpPr/>
          <p:nvPr/>
        </p:nvSpPr>
        <p:spPr>
          <a:xfrm>
            <a:off x="274275" y="3414525"/>
            <a:ext cx="5228100" cy="1311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4B"/>
              </a:buClr>
              <a:buSzPts val="1100"/>
              <a:buFont typeface="Calibri"/>
              <a:buNone/>
            </a:pPr>
            <a:r>
              <a:rPr lang="en-US" sz="1100">
                <a:solidFill>
                  <a:srgbClr val="0D1B4B"/>
                </a:solidFill>
                <a:latin typeface="Calibri"/>
                <a:ea typeface="Calibri"/>
                <a:cs typeface="Calibri"/>
                <a:sym typeface="Calibri"/>
              </a:rPr>
              <a:t>Next session we are covering all the various jump rule vetting rules. </a:t>
            </a:r>
            <a:br>
              <a:rPr lang="en-US" sz="1100">
                <a:solidFill>
                  <a:srgbClr val="0D1B4B"/>
                </a:solidFill>
                <a:latin typeface="Calibri"/>
                <a:ea typeface="Calibri"/>
                <a:cs typeface="Calibri"/>
                <a:sym typeface="Calibri"/>
              </a:rPr>
            </a:br>
            <a:br>
              <a:rPr lang="en-US" sz="1100">
                <a:solidFill>
                  <a:srgbClr val="0D1B4B"/>
                </a:solidFill>
                <a:latin typeface="Calibri"/>
                <a:ea typeface="Calibri"/>
                <a:cs typeface="Calibri"/>
                <a:sym typeface="Calibri"/>
              </a:rPr>
            </a:br>
            <a:r>
              <a:rPr lang="en-US" sz="1100">
                <a:solidFill>
                  <a:srgbClr val="0D1B4B"/>
                </a:solidFill>
                <a:latin typeface="Calibri"/>
                <a:ea typeface="Calibri"/>
                <a:cs typeface="Calibri"/>
                <a:sym typeface="Calibri"/>
              </a:rPr>
              <a:t>If you want to start going through flashcards/previous test questions on jumps, feel free to play around with the quiz at the QR code to the left (note we will cover the remaining material included in these quizzes in the next section, but it could be helpful in your </a:t>
            </a:r>
            <a:r>
              <a:rPr lang="en-US" sz="1100">
                <a:solidFill>
                  <a:srgbClr val="0D1B4B"/>
                </a:solidFill>
                <a:latin typeface="Calibri"/>
                <a:ea typeface="Calibri"/>
                <a:cs typeface="Calibri"/>
                <a:sym typeface="Calibri"/>
              </a:rPr>
              <a:t>preparation</a:t>
            </a:r>
            <a:r>
              <a:rPr lang="en-US" sz="1100">
                <a:solidFill>
                  <a:srgbClr val="0D1B4B"/>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pic>
        <p:nvPicPr>
          <p:cNvPr id="289" name="Google Shape;289;g3ca60d3ef69_0_1"/>
          <p:cNvPicPr preferRelativeResize="0"/>
          <p:nvPr/>
        </p:nvPicPr>
        <p:blipFill>
          <a:blip r:embed="rId3">
            <a:alphaModFix/>
          </a:blip>
          <a:stretch>
            <a:fillRect/>
          </a:stretch>
        </p:blipFill>
        <p:spPr>
          <a:xfrm>
            <a:off x="6812275" y="3345388"/>
            <a:ext cx="1355350" cy="1355350"/>
          </a:xfrm>
          <a:prstGeom prst="rect">
            <a:avLst/>
          </a:prstGeom>
          <a:noFill/>
          <a:ln cap="flat" cmpd="sng" w="19050">
            <a:solidFill>
              <a:srgbClr val="C9A84C"/>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2026-02-23T16:02:47Z</dcterms:created>
  <dc:creator>PptxGenJS</dc:creator>
</cp:coreProperties>
</file>